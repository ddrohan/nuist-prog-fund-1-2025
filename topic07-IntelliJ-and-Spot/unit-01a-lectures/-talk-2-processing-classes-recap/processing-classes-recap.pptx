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25" r:id="rId2"/>
    <p:sldId id="673" r:id="rId3"/>
    <p:sldId id="496" r:id="rId4"/>
    <p:sldId id="502" r:id="rId5"/>
    <p:sldId id="503" r:id="rId6"/>
    <p:sldId id="504" r:id="rId7"/>
    <p:sldId id="508" r:id="rId8"/>
    <p:sldId id="506" r:id="rId9"/>
    <p:sldId id="668" r:id="rId10"/>
    <p:sldId id="600" r:id="rId11"/>
    <p:sldId id="463" r:id="rId12"/>
    <p:sldId id="466" r:id="rId13"/>
    <p:sldId id="669" r:id="rId14"/>
    <p:sldId id="670" r:id="rId15"/>
    <p:sldId id="671" r:id="rId16"/>
    <p:sldId id="497" r:id="rId17"/>
    <p:sldId id="464" r:id="rId18"/>
    <p:sldId id="672" r:id="rId19"/>
    <p:sldId id="676" r:id="rId20"/>
    <p:sldId id="648" r:id="rId21"/>
    <p:sldId id="607" r:id="rId22"/>
    <p:sldId id="649" r:id="rId23"/>
    <p:sldId id="664" r:id="rId24"/>
    <p:sldId id="616" r:id="rId25"/>
    <p:sldId id="677" r:id="rId26"/>
    <p:sldId id="621" r:id="rId27"/>
    <p:sldId id="678" r:id="rId28"/>
    <p:sldId id="622" r:id="rId29"/>
    <p:sldId id="624" r:id="rId30"/>
    <p:sldId id="630" r:id="rId31"/>
    <p:sldId id="515" r:id="rId32"/>
    <p:sldId id="347" r:id="rId33"/>
    <p:sldId id="52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3" autoAdjust="0"/>
    <p:restoredTop sz="89094" autoAdjust="0"/>
  </p:normalViewPr>
  <p:slideViewPr>
    <p:cSldViewPr>
      <p:cViewPr varScale="1">
        <p:scale>
          <a:sx n="144" d="100"/>
          <a:sy n="144" d="100"/>
        </p:scale>
        <p:origin x="44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39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04/11/2022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http://momchuri.com/blueprint-house-plans/best-25-house-blueprints-ideas-on-pinterest-floor-plans-blueprint-small-b2b36c37890dbaeb4ef896380f4312f5-minecraft-building-h/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5516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http://www.odlums.ie/recipes/decadent-chocolate-cake/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46248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638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55734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919163"/>
            <a:ext cx="7772400" cy="1470025"/>
          </a:xfrm>
        </p:spPr>
        <p:txBody>
          <a:bodyPr>
            <a:normAutofit/>
          </a:bodyPr>
          <a:lstStyle/>
          <a:p>
            <a:r>
              <a:rPr lang="en-IE" sz="4000" dirty="0"/>
              <a:t>Classes and Objects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3300" y="3849776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838200" y="3124200"/>
            <a:ext cx="10972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438400" y="2057445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Recap of Spot (Processing)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77B55-D426-4543-B23A-EF19035B891C}"/>
              </a:ext>
            </a:extLst>
          </p:cNvPr>
          <p:cNvSpPr txBox="1"/>
          <p:nvPr/>
        </p:nvSpPr>
        <p:spPr>
          <a:xfrm>
            <a:off x="5867400" y="3859213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80F8F-9F88-32EF-E151-23F5384D3E2F}"/>
              </a:ext>
            </a:extLst>
          </p:cNvPr>
          <p:cNvSpPr txBox="1"/>
          <p:nvPr/>
        </p:nvSpPr>
        <p:spPr>
          <a:xfrm>
            <a:off x="8107519" y="5791200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06518B2-9255-208C-51AD-11BA3626B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75767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2057400"/>
            <a:ext cx="9753600" cy="457200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</a:t>
            </a:r>
            <a:r>
              <a:rPr lang="en-IE" b="1" dirty="0"/>
              <a:t>Classes and Objects</a:t>
            </a:r>
            <a:br>
              <a:rPr lang="en-IE" dirty="0"/>
            </a:b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Recap on the </a:t>
            </a:r>
            <a:r>
              <a:rPr lang="en-IE" b="1" dirty="0"/>
              <a:t>Spot class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v1.0 (</a:t>
            </a:r>
            <a:r>
              <a:rPr lang="en-IE" b="1" dirty="0"/>
              <a:t>default constructor</a:t>
            </a:r>
            <a:r>
              <a:rPr lang="en-IE" dirty="0"/>
              <a:t>)</a:t>
            </a:r>
          </a:p>
          <a:p>
            <a:pPr lvl="1"/>
            <a:r>
              <a:rPr lang="en-IE" dirty="0"/>
              <a:t>v2.0 (</a:t>
            </a:r>
            <a:r>
              <a:rPr lang="en-IE" b="1" dirty="0"/>
              <a:t>constructor with parameters</a:t>
            </a:r>
            <a:r>
              <a:rPr lang="en-IE" dirty="0"/>
              <a:t>)</a:t>
            </a:r>
          </a:p>
          <a:p>
            <a:pPr lvl="1"/>
            <a:r>
              <a:rPr lang="en-IE" dirty="0"/>
              <a:t>v3.0 (</a:t>
            </a:r>
            <a:r>
              <a:rPr lang="en-IE" b="1" dirty="0"/>
              <a:t>overloading</a:t>
            </a:r>
            <a:r>
              <a:rPr lang="en-IE" dirty="0"/>
              <a:t> </a:t>
            </a:r>
            <a:r>
              <a:rPr lang="en-IE" b="1" dirty="0"/>
              <a:t>constructors</a:t>
            </a:r>
            <a:r>
              <a:rPr lang="en-IE" dirty="0"/>
              <a:t>)</a:t>
            </a:r>
            <a:br>
              <a:rPr lang="en-IE" dirty="0"/>
            </a:br>
            <a:endParaRPr lang="en-IE" dirty="0"/>
          </a:p>
        </p:txBody>
      </p:sp>
      <p:sp>
        <p:nvSpPr>
          <p:cNvPr id="7" name="Rectangle 6"/>
          <p:cNvSpPr/>
          <p:nvPr/>
        </p:nvSpPr>
        <p:spPr>
          <a:xfrm>
            <a:off x="606778" y="2057400"/>
            <a:ext cx="6324600" cy="609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740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Building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0"/>
            <a:ext cx="4800600" cy="3535362"/>
          </a:xfrm>
        </p:spPr>
        <p:txBody>
          <a:bodyPr>
            <a:normAutofit/>
          </a:bodyPr>
          <a:lstStyle/>
          <a:p>
            <a:pPr marL="57150" indent="0" algn="ctr">
              <a:buNone/>
            </a:pPr>
            <a:r>
              <a:rPr lang="en-IE" dirty="0"/>
              <a:t>A </a:t>
            </a:r>
            <a:r>
              <a:rPr lang="en-IE" b="1" dirty="0">
                <a:solidFill>
                  <a:srgbClr val="FF0000"/>
                </a:solidFill>
              </a:rPr>
              <a:t>class</a:t>
            </a:r>
            <a:r>
              <a:rPr lang="en-IE" dirty="0"/>
              <a:t> is like a </a:t>
            </a:r>
            <a:r>
              <a:rPr lang="en-IE" b="1" dirty="0"/>
              <a:t>blueprint</a:t>
            </a:r>
            <a:r>
              <a:rPr lang="en-IE" dirty="0"/>
              <a:t> for a building.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5EB1D-7E0F-4819-AD37-623F06DEE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02561"/>
            <a:ext cx="3443512" cy="3194515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A8A700-5F54-48B3-8F19-32F65322A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3599182"/>
            <a:ext cx="3507397" cy="324611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968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Building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94794"/>
            <a:ext cx="4648200" cy="1676400"/>
          </a:xfrm>
        </p:spPr>
        <p:txBody>
          <a:bodyPr>
            <a:normAutofit/>
          </a:bodyPr>
          <a:lstStyle/>
          <a:p>
            <a:pPr marL="57150" indent="0" algn="ctr">
              <a:buNone/>
            </a:pPr>
            <a:r>
              <a:rPr lang="en-IE" dirty="0"/>
              <a:t>An </a:t>
            </a:r>
            <a:r>
              <a:rPr lang="en-IE" b="1" dirty="0">
                <a:solidFill>
                  <a:srgbClr val="FF0000"/>
                </a:solidFill>
              </a:rPr>
              <a:t>object </a:t>
            </a:r>
            <a:r>
              <a:rPr lang="en-IE" dirty="0"/>
              <a:t>is a </a:t>
            </a:r>
            <a:r>
              <a:rPr lang="en-IE" b="1" dirty="0"/>
              <a:t>building</a:t>
            </a:r>
            <a:r>
              <a:rPr lang="en-IE" dirty="0"/>
              <a:t> constructed from that blueprint.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5EB1D-7E0F-4819-AD37-623F06DEE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68" y="5020682"/>
            <a:ext cx="1193410" cy="1107116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A8A700-5F54-48B3-8F19-32F65322A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888" y="5023478"/>
            <a:ext cx="1234373" cy="1142420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630860-1277-4CC9-A7FA-19E6C9AA2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143" y="1905000"/>
            <a:ext cx="4769196" cy="3964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5877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Building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547" y="2197463"/>
            <a:ext cx="4404681" cy="2029601"/>
          </a:xfrm>
        </p:spPr>
        <p:txBody>
          <a:bodyPr>
            <a:normAutofit/>
          </a:bodyPr>
          <a:lstStyle/>
          <a:p>
            <a:pPr marL="57150" indent="0" algn="ctr">
              <a:buNone/>
            </a:pPr>
            <a:r>
              <a:rPr lang="en-IE" dirty="0"/>
              <a:t>You can build lots of (buildings) </a:t>
            </a:r>
            <a:r>
              <a:rPr lang="en-IE" b="1" dirty="0">
                <a:solidFill>
                  <a:srgbClr val="FF0000"/>
                </a:solidFill>
              </a:rPr>
              <a:t>objects </a:t>
            </a:r>
            <a:br>
              <a:rPr lang="en-IE" b="1" dirty="0">
                <a:solidFill>
                  <a:srgbClr val="FF0000"/>
                </a:solidFill>
              </a:rPr>
            </a:br>
            <a:r>
              <a:rPr lang="en-IE" dirty="0"/>
              <a:t>from a single blueprint.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630860-1277-4CC9-A7FA-19E6C9AA2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348" y="1679186"/>
            <a:ext cx="3024669" cy="25140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3E9A23-A0D9-49DF-9BDF-A2B2CE9E1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792" y="1718689"/>
            <a:ext cx="3024669" cy="25140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CFE5E0-59D1-486F-B816-52926EDEE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474" y="3921808"/>
            <a:ext cx="3024669" cy="25140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AFD183-1287-466B-8A90-0B8D48CCB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874" y="4056651"/>
            <a:ext cx="3024669" cy="25140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14BCCD-8A87-283C-CEFF-37DFAB927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868" y="5020682"/>
            <a:ext cx="1193410" cy="1107116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B9987A-BEBC-F045-A544-6B3AB09E3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9888" y="5023478"/>
            <a:ext cx="1234373" cy="11424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1234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Cake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971800"/>
            <a:ext cx="2667000" cy="3075801"/>
          </a:xfrm>
        </p:spPr>
        <p:txBody>
          <a:bodyPr>
            <a:normAutofit/>
          </a:bodyPr>
          <a:lstStyle/>
          <a:p>
            <a:pPr marL="57150" indent="0" algn="ctr">
              <a:buNone/>
            </a:pPr>
            <a:r>
              <a:rPr lang="en-IE" dirty="0"/>
              <a:t>A </a:t>
            </a:r>
            <a:r>
              <a:rPr lang="en-IE" b="1" dirty="0">
                <a:solidFill>
                  <a:srgbClr val="FF0000"/>
                </a:solidFill>
              </a:rPr>
              <a:t>class</a:t>
            </a:r>
            <a:r>
              <a:rPr lang="en-IE" dirty="0"/>
              <a:t> is like a </a:t>
            </a:r>
            <a:r>
              <a:rPr lang="en-IE" b="1" dirty="0"/>
              <a:t>recipe</a:t>
            </a:r>
            <a:r>
              <a:rPr lang="en-IE" dirty="0"/>
              <a:t> for a cake.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DCC8ED-EB81-4C1C-9FF6-DC81842FC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981200"/>
            <a:ext cx="8153400" cy="43610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905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Cake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895599"/>
            <a:ext cx="3124200" cy="2057399"/>
          </a:xfrm>
        </p:spPr>
        <p:txBody>
          <a:bodyPr>
            <a:normAutofit/>
          </a:bodyPr>
          <a:lstStyle/>
          <a:p>
            <a:pPr marL="57150" indent="0" algn="ctr">
              <a:buNone/>
            </a:pPr>
            <a:r>
              <a:rPr lang="en-IE" dirty="0"/>
              <a:t>An </a:t>
            </a:r>
            <a:r>
              <a:rPr lang="en-IE" b="1" dirty="0">
                <a:solidFill>
                  <a:srgbClr val="FF0000"/>
                </a:solidFill>
              </a:rPr>
              <a:t>object </a:t>
            </a:r>
            <a:r>
              <a:rPr lang="en-IE" dirty="0"/>
              <a:t>is the </a:t>
            </a:r>
            <a:r>
              <a:rPr lang="en-IE" b="1" dirty="0"/>
              <a:t>cake</a:t>
            </a:r>
            <a:r>
              <a:rPr lang="en-IE" dirty="0"/>
              <a:t> baked from that recipe.</a:t>
            </a:r>
          </a:p>
        </p:txBody>
      </p:sp>
      <p:pic>
        <p:nvPicPr>
          <p:cNvPr id="1026" name="Picture 2" descr="decadent chocolate cake">
            <a:extLst>
              <a:ext uri="{FF2B5EF4-FFF2-40B4-BE49-F238E27FC236}">
                <a16:creationId xmlns:a16="http://schemas.microsoft.com/office/drawing/2014/main" id="{6EEFE25B-1B5B-4F63-925D-2B12E1381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070099"/>
            <a:ext cx="5562600" cy="37084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08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Cake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2697550"/>
            <a:ext cx="3886200" cy="1894701"/>
          </a:xfrm>
        </p:spPr>
        <p:txBody>
          <a:bodyPr>
            <a:normAutofit/>
          </a:bodyPr>
          <a:lstStyle/>
          <a:p>
            <a:pPr marL="57150" indent="0" algn="ctr">
              <a:buNone/>
            </a:pPr>
            <a:r>
              <a:rPr lang="en-IE" dirty="0"/>
              <a:t>You can bake </a:t>
            </a:r>
            <a:r>
              <a:rPr lang="en-IE" b="1" dirty="0"/>
              <a:t>lots of </a:t>
            </a:r>
            <a:r>
              <a:rPr lang="en-IE" dirty="0"/>
              <a:t>(</a:t>
            </a:r>
            <a:r>
              <a:rPr lang="en-IE" b="1" dirty="0"/>
              <a:t>cakes</a:t>
            </a:r>
            <a:r>
              <a:rPr lang="en-IE" dirty="0"/>
              <a:t>) </a:t>
            </a:r>
            <a:r>
              <a:rPr lang="en-IE" b="1" dirty="0">
                <a:solidFill>
                  <a:srgbClr val="FF0000"/>
                </a:solidFill>
              </a:rPr>
              <a:t>objects </a:t>
            </a:r>
            <a:br>
              <a:rPr lang="en-IE" b="1" dirty="0">
                <a:solidFill>
                  <a:srgbClr val="FF0000"/>
                </a:solidFill>
              </a:rPr>
            </a:br>
            <a:r>
              <a:rPr lang="en-IE" dirty="0"/>
              <a:t>from a single recipe.</a:t>
            </a:r>
          </a:p>
        </p:txBody>
      </p:sp>
      <p:pic>
        <p:nvPicPr>
          <p:cNvPr id="12" name="Picture 2" descr="decadent chocolate cake">
            <a:extLst>
              <a:ext uri="{FF2B5EF4-FFF2-40B4-BE49-F238E27FC236}">
                <a16:creationId xmlns:a16="http://schemas.microsoft.com/office/drawing/2014/main" id="{C27844BF-DB60-4FFA-B50B-73E9D24CC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764" y="1757157"/>
            <a:ext cx="2971800" cy="1981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odlums chocolate cake recipe">
            <a:extLst>
              <a:ext uri="{FF2B5EF4-FFF2-40B4-BE49-F238E27FC236}">
                <a16:creationId xmlns:a16="http://schemas.microsoft.com/office/drawing/2014/main" id="{00074F04-3F68-4C01-B230-260033792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032088"/>
            <a:ext cx="3127802" cy="208520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odlums chocolate cake recipe">
            <a:extLst>
              <a:ext uri="{FF2B5EF4-FFF2-40B4-BE49-F238E27FC236}">
                <a16:creationId xmlns:a16="http://schemas.microsoft.com/office/drawing/2014/main" id="{0B4E1C4A-D223-4E00-A509-9C65D5D40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187" y="4021127"/>
            <a:ext cx="2767113" cy="232856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chocolate cake recipe">
            <a:extLst>
              <a:ext uri="{FF2B5EF4-FFF2-40B4-BE49-F238E27FC236}">
                <a16:creationId xmlns:a16="http://schemas.microsoft.com/office/drawing/2014/main" id="{BA0135AA-300B-4E0D-937D-8A204127A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250" y="1757157"/>
            <a:ext cx="3315727" cy="189470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004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Cake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2697550"/>
            <a:ext cx="4076700" cy="2328566"/>
          </a:xfrm>
        </p:spPr>
        <p:txBody>
          <a:bodyPr>
            <a:normAutofit fontScale="92500" lnSpcReduction="20000"/>
          </a:bodyPr>
          <a:lstStyle/>
          <a:p>
            <a:pPr marL="57150" indent="0" algn="ctr">
              <a:buNone/>
            </a:pPr>
            <a:r>
              <a:rPr lang="en-IE" dirty="0"/>
              <a:t>Each (cake) </a:t>
            </a:r>
            <a:r>
              <a:rPr lang="en-IE" b="1" dirty="0">
                <a:solidFill>
                  <a:srgbClr val="FF0000"/>
                </a:solidFill>
              </a:rPr>
              <a:t>object</a:t>
            </a:r>
            <a:br>
              <a:rPr lang="en-IE" b="1" dirty="0">
                <a:solidFill>
                  <a:srgbClr val="FF0000"/>
                </a:solidFill>
              </a:rPr>
            </a:br>
            <a:r>
              <a:rPr lang="en-IE" dirty="0"/>
              <a:t>has its own </a:t>
            </a:r>
          </a:p>
          <a:p>
            <a:pPr marL="57150" indent="0" algn="ctr">
              <a:buNone/>
            </a:pPr>
            <a:r>
              <a:rPr lang="en-IE" b="1" dirty="0">
                <a:solidFill>
                  <a:srgbClr val="FF0000"/>
                </a:solidFill>
              </a:rPr>
              <a:t>object state</a:t>
            </a:r>
            <a:r>
              <a:rPr lang="en-IE" dirty="0"/>
              <a:t> </a:t>
            </a:r>
          </a:p>
          <a:p>
            <a:pPr marL="57150" indent="0" algn="ctr">
              <a:buNone/>
            </a:pPr>
            <a:r>
              <a:rPr lang="en-IE" dirty="0"/>
              <a:t>(each cake looks different here!).</a:t>
            </a:r>
          </a:p>
        </p:txBody>
      </p:sp>
      <p:pic>
        <p:nvPicPr>
          <p:cNvPr id="12" name="Picture 2" descr="decadent chocolate cake">
            <a:extLst>
              <a:ext uri="{FF2B5EF4-FFF2-40B4-BE49-F238E27FC236}">
                <a16:creationId xmlns:a16="http://schemas.microsoft.com/office/drawing/2014/main" id="{C27844BF-DB60-4FFA-B50B-73E9D24CC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764" y="1757157"/>
            <a:ext cx="2971800" cy="1981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odlums chocolate cake recipe">
            <a:extLst>
              <a:ext uri="{FF2B5EF4-FFF2-40B4-BE49-F238E27FC236}">
                <a16:creationId xmlns:a16="http://schemas.microsoft.com/office/drawing/2014/main" id="{00074F04-3F68-4C01-B230-260033792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032088"/>
            <a:ext cx="3127802" cy="208520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odlums chocolate cake recipe">
            <a:extLst>
              <a:ext uri="{FF2B5EF4-FFF2-40B4-BE49-F238E27FC236}">
                <a16:creationId xmlns:a16="http://schemas.microsoft.com/office/drawing/2014/main" id="{0B4E1C4A-D223-4E00-A509-9C65D5D40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187" y="4021127"/>
            <a:ext cx="2767113" cy="232856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chocolate cake recipe">
            <a:extLst>
              <a:ext uri="{FF2B5EF4-FFF2-40B4-BE49-F238E27FC236}">
                <a16:creationId xmlns:a16="http://schemas.microsoft.com/office/drawing/2014/main" id="{BA0135AA-300B-4E0D-937D-8A204127A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250" y="1757157"/>
            <a:ext cx="3315727" cy="189470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07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Class names: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125200" cy="5334000"/>
          </a:xfrm>
        </p:spPr>
        <p:txBody>
          <a:bodyPr>
            <a:normAutofit/>
          </a:bodyPr>
          <a:lstStyle/>
          <a:p>
            <a:r>
              <a:rPr lang="en-IE" sz="3000" dirty="0"/>
              <a:t>should match its purpose.</a:t>
            </a:r>
          </a:p>
          <a:p>
            <a:endParaRPr lang="en-IE" sz="3000" dirty="0"/>
          </a:p>
          <a:p>
            <a:r>
              <a:rPr lang="en-IE" sz="3000" dirty="0"/>
              <a:t>can be any word or combination of words e.g.:</a:t>
            </a:r>
          </a:p>
          <a:p>
            <a:pPr lvl="1"/>
            <a:r>
              <a:rPr lang="en-IE" sz="2600" dirty="0"/>
              <a:t>Account</a:t>
            </a:r>
          </a:p>
          <a:p>
            <a:pPr lvl="1"/>
            <a:r>
              <a:rPr lang="en-IE" dirty="0" err="1"/>
              <a:t>CurrentAccount</a:t>
            </a:r>
            <a:endParaRPr lang="en-IE" dirty="0"/>
          </a:p>
          <a:p>
            <a:endParaRPr lang="en-IE" sz="3000" dirty="0"/>
          </a:p>
          <a:p>
            <a:r>
              <a:rPr lang="en-IE" sz="3000" dirty="0"/>
              <a:t>Should begin with a </a:t>
            </a:r>
            <a:r>
              <a:rPr lang="en-IE" sz="3000" b="1" dirty="0"/>
              <a:t>Capital letter</a:t>
            </a:r>
            <a:r>
              <a:rPr lang="en-IE" sz="3000" dirty="0"/>
              <a:t> and not be pluralised e.g.:</a:t>
            </a:r>
          </a:p>
          <a:p>
            <a:pPr lvl="1"/>
            <a:r>
              <a:rPr lang="en-IE" sz="2600" b="1" dirty="0">
                <a:solidFill>
                  <a:srgbClr val="C00000"/>
                </a:solidFill>
              </a:rPr>
              <a:t>S</a:t>
            </a:r>
            <a:r>
              <a:rPr lang="en-IE" sz="2600" dirty="0"/>
              <a:t>pot</a:t>
            </a:r>
          </a:p>
          <a:p>
            <a:pPr lvl="1"/>
            <a:r>
              <a:rPr lang="en-IE" sz="2600" b="1" dirty="0">
                <a:solidFill>
                  <a:srgbClr val="C00000"/>
                </a:solidFill>
              </a:rPr>
              <a:t>P</a:t>
            </a:r>
            <a:r>
              <a:rPr lang="en-IE" sz="2600" dirty="0"/>
              <a:t>roduct</a:t>
            </a:r>
          </a:p>
          <a:p>
            <a:pPr marL="0" indent="0">
              <a:buNone/>
            </a:pPr>
            <a:endParaRPr lang="en-IE" i="1" dirty="0"/>
          </a:p>
          <a:p>
            <a:pPr marL="0" indent="0">
              <a:buNone/>
            </a:pPr>
            <a:endParaRPr lang="en-IE" i="1" dirty="0"/>
          </a:p>
        </p:txBody>
      </p:sp>
      <p:sp>
        <p:nvSpPr>
          <p:cNvPr id="5" name="Rectangle 4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</p:spTree>
    <p:extLst>
      <p:ext uri="{BB962C8B-B14F-4D97-AF65-F5344CB8AC3E}">
        <p14:creationId xmlns:p14="http://schemas.microsoft.com/office/powerpoint/2010/main" val="2892871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Spot – classes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667000"/>
            <a:ext cx="5334000" cy="25145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E" dirty="0"/>
              <a:t>A </a:t>
            </a:r>
            <a:r>
              <a:rPr lang="en-IE" b="1" dirty="0">
                <a:solidFill>
                  <a:srgbClr val="FF0000"/>
                </a:solidFill>
              </a:rPr>
              <a:t>class</a:t>
            </a:r>
            <a:r>
              <a:rPr lang="en-IE" dirty="0"/>
              <a:t> defines a group of related </a:t>
            </a:r>
            <a:r>
              <a:rPr lang="en-IE" b="1" dirty="0"/>
              <a:t>methods</a:t>
            </a:r>
            <a:r>
              <a:rPr lang="en-IE" dirty="0"/>
              <a:t> (functions) and </a:t>
            </a:r>
            <a:r>
              <a:rPr lang="en-IE" b="1" dirty="0"/>
              <a:t>fields</a:t>
            </a:r>
            <a:r>
              <a:rPr lang="en-IE" dirty="0"/>
              <a:t> (variables / properties).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723BF0-CF1B-EB31-B5AD-428F34BD0DC0}"/>
              </a:ext>
            </a:extLst>
          </p:cNvPr>
          <p:cNvSpPr/>
          <p:nvPr/>
        </p:nvSpPr>
        <p:spPr>
          <a:xfrm>
            <a:off x="6705600" y="2197775"/>
            <a:ext cx="3962400" cy="378565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 class Spot</a:t>
            </a:r>
          </a:p>
          <a:p>
            <a:r>
              <a:rPr lang="en-IE" sz="2400" dirty="0"/>
              <a:t> {</a:t>
            </a:r>
          </a:p>
          <a:p>
            <a:r>
              <a:rPr lang="en-IE" sz="2400" dirty="0"/>
              <a:t>     float </a:t>
            </a:r>
            <a:r>
              <a:rPr lang="en-IE" sz="2400" dirty="0" err="1"/>
              <a:t>xCoord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  float </a:t>
            </a:r>
            <a:r>
              <a:rPr lang="en-IE" sz="2400" dirty="0" err="1"/>
              <a:t>yCoord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  float diameter;</a:t>
            </a:r>
          </a:p>
          <a:p>
            <a:endParaRPr lang="en-IE" sz="2400" dirty="0"/>
          </a:p>
          <a:p>
            <a:r>
              <a:rPr lang="en-IE" sz="2400" b="1" dirty="0">
                <a:solidFill>
                  <a:srgbClr val="FF0000"/>
                </a:solidFill>
              </a:rPr>
              <a:t>     Spot()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 {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 }</a:t>
            </a:r>
          </a:p>
          <a:p>
            <a:r>
              <a:rPr lang="en-IE" sz="24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126392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Spot – classes and objects</a:t>
            </a:r>
            <a:endParaRPr lang="en-IE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079625"/>
              </p:ext>
            </p:extLst>
          </p:nvPr>
        </p:nvGraphicFramePr>
        <p:xfrm>
          <a:off x="609600" y="2438400"/>
          <a:ext cx="58674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3200" baseline="0" dirty="0"/>
                        <a:t>Class Name</a:t>
                      </a:r>
                      <a:endParaRPr lang="en-IE" sz="32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b="1" dirty="0"/>
                        <a:t>Spot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3200" dirty="0"/>
                        <a:t>Fields (variables, properties)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dirty="0" err="1"/>
                        <a:t>xCoord</a:t>
                      </a:r>
                      <a:endParaRPr lang="en-IE" sz="3200" dirty="0"/>
                    </a:p>
                    <a:p>
                      <a:r>
                        <a:rPr lang="en-IE" sz="3200" dirty="0" err="1"/>
                        <a:t>yCoord</a:t>
                      </a:r>
                      <a:endParaRPr lang="en-IE" sz="3200" dirty="0"/>
                    </a:p>
                    <a:p>
                      <a:r>
                        <a:rPr lang="en-IE" sz="3200" dirty="0"/>
                        <a:t>diameter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3200" dirty="0"/>
                        <a:t>Methods (functions)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dirty="0"/>
                        <a:t>Spot()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24801071-05AB-BA2E-8673-B41247DB6EBB}"/>
              </a:ext>
            </a:extLst>
          </p:cNvPr>
          <p:cNvSpPr/>
          <p:nvPr/>
        </p:nvSpPr>
        <p:spPr>
          <a:xfrm>
            <a:off x="10210800" y="274638"/>
            <a:ext cx="1676400" cy="167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A9835-ADBC-B48A-207D-C95674AF4EE3}"/>
              </a:ext>
            </a:extLst>
          </p:cNvPr>
          <p:cNvSpPr/>
          <p:nvPr/>
        </p:nvSpPr>
        <p:spPr>
          <a:xfrm>
            <a:off x="9067800" y="2133600"/>
            <a:ext cx="2819400" cy="3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 class Spot</a:t>
            </a:r>
          </a:p>
          <a:p>
            <a:r>
              <a:rPr lang="en-IE" sz="2400" dirty="0"/>
              <a:t> {</a:t>
            </a:r>
          </a:p>
          <a:p>
            <a:r>
              <a:rPr lang="en-IE" sz="2400" dirty="0"/>
              <a:t>     float </a:t>
            </a:r>
            <a:r>
              <a:rPr lang="en-IE" sz="2400" dirty="0" err="1"/>
              <a:t>xCoord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  float </a:t>
            </a:r>
            <a:r>
              <a:rPr lang="en-IE" sz="2400" dirty="0" err="1"/>
              <a:t>yCoord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  float diameter;</a:t>
            </a:r>
          </a:p>
          <a:p>
            <a:endParaRPr lang="en-IE" sz="2400" dirty="0"/>
          </a:p>
          <a:p>
            <a:r>
              <a:rPr lang="en-IE" sz="2400" b="1" dirty="0">
                <a:solidFill>
                  <a:srgbClr val="FF0000"/>
                </a:solidFill>
              </a:rPr>
              <a:t>     Spot()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 {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 }</a:t>
            </a:r>
          </a:p>
          <a:p>
            <a:r>
              <a:rPr lang="en-IE" sz="24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61263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Spot – classes and objects</a:t>
            </a:r>
            <a:endParaRPr lang="en-IE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2438400"/>
          <a:ext cx="58674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3200" baseline="0" dirty="0"/>
                        <a:t>Class Name</a:t>
                      </a:r>
                      <a:endParaRPr lang="en-IE" sz="32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b="1" dirty="0"/>
                        <a:t>Spot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3200" dirty="0"/>
                        <a:t>Fields (variables, properties)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dirty="0" err="1"/>
                        <a:t>xCoord</a:t>
                      </a:r>
                      <a:endParaRPr lang="en-IE" sz="3200" dirty="0"/>
                    </a:p>
                    <a:p>
                      <a:r>
                        <a:rPr lang="en-IE" sz="3200" dirty="0" err="1"/>
                        <a:t>yCoord</a:t>
                      </a:r>
                      <a:endParaRPr lang="en-IE" sz="3200" dirty="0"/>
                    </a:p>
                    <a:p>
                      <a:r>
                        <a:rPr lang="en-IE" sz="3200" dirty="0"/>
                        <a:t>diameter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3200" dirty="0"/>
                        <a:t>Methods (functions)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dirty="0"/>
                        <a:t>Spot()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24801071-05AB-BA2E-8673-B41247DB6EBB}"/>
              </a:ext>
            </a:extLst>
          </p:cNvPr>
          <p:cNvSpPr/>
          <p:nvPr/>
        </p:nvSpPr>
        <p:spPr>
          <a:xfrm>
            <a:off x="10210800" y="274638"/>
            <a:ext cx="1676400" cy="167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A9835-ADBC-B48A-207D-C95674AF4EE3}"/>
              </a:ext>
            </a:extLst>
          </p:cNvPr>
          <p:cNvSpPr/>
          <p:nvPr/>
        </p:nvSpPr>
        <p:spPr>
          <a:xfrm>
            <a:off x="9067800" y="2133600"/>
            <a:ext cx="2819400" cy="3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 class Spot</a:t>
            </a:r>
          </a:p>
          <a:p>
            <a:r>
              <a:rPr lang="en-IE" sz="2400" dirty="0"/>
              <a:t> {</a:t>
            </a:r>
          </a:p>
          <a:p>
            <a:r>
              <a:rPr lang="en-IE" sz="2400" dirty="0"/>
              <a:t>     float </a:t>
            </a:r>
            <a:r>
              <a:rPr lang="en-IE" sz="2400" dirty="0" err="1"/>
              <a:t>xCoord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  float </a:t>
            </a:r>
            <a:r>
              <a:rPr lang="en-IE" sz="2400" dirty="0" err="1"/>
              <a:t>yCoord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  float diameter;</a:t>
            </a:r>
          </a:p>
          <a:p>
            <a:endParaRPr lang="en-IE" sz="2400" dirty="0"/>
          </a:p>
          <a:p>
            <a:r>
              <a:rPr lang="en-IE" sz="2400" b="1" dirty="0">
                <a:solidFill>
                  <a:srgbClr val="FF0000"/>
                </a:solidFill>
              </a:rPr>
              <a:t>     Spot()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 {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 }</a:t>
            </a:r>
          </a:p>
          <a:p>
            <a:r>
              <a:rPr lang="en-IE" sz="2400" dirty="0"/>
              <a:t> }</a:t>
            </a:r>
          </a:p>
        </p:txBody>
      </p:sp>
      <p:sp>
        <p:nvSpPr>
          <p:cNvPr id="7" name="Arrow: Left 2">
            <a:extLst>
              <a:ext uri="{FF2B5EF4-FFF2-40B4-BE49-F238E27FC236}">
                <a16:creationId xmlns:a16="http://schemas.microsoft.com/office/drawing/2014/main" id="{80C6BB19-6A38-9336-9B17-8290B098EA30}"/>
              </a:ext>
            </a:extLst>
          </p:cNvPr>
          <p:cNvSpPr/>
          <p:nvPr/>
        </p:nvSpPr>
        <p:spPr>
          <a:xfrm>
            <a:off x="6124222" y="2209800"/>
            <a:ext cx="2105378" cy="932000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/>
              <a:t>Class Type</a:t>
            </a:r>
          </a:p>
        </p:txBody>
      </p:sp>
    </p:spTree>
    <p:extLst>
      <p:ext uri="{BB962C8B-B14F-4D97-AF65-F5344CB8AC3E}">
        <p14:creationId xmlns:p14="http://schemas.microsoft.com/office/powerpoint/2010/main" val="202697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Spot – classes and objects</a:t>
            </a:r>
            <a:endParaRPr lang="en-IE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2438400"/>
          <a:ext cx="58674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3200" baseline="0" dirty="0"/>
                        <a:t>Class Name</a:t>
                      </a:r>
                      <a:endParaRPr lang="en-IE" sz="32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b="1" dirty="0"/>
                        <a:t>Spot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3200" dirty="0"/>
                        <a:t>Fields (variables, properties)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dirty="0" err="1"/>
                        <a:t>xCoord</a:t>
                      </a:r>
                      <a:endParaRPr lang="en-IE" sz="3200" dirty="0"/>
                    </a:p>
                    <a:p>
                      <a:r>
                        <a:rPr lang="en-IE" sz="3200" dirty="0" err="1"/>
                        <a:t>yCoord</a:t>
                      </a:r>
                      <a:endParaRPr lang="en-IE" sz="3200" dirty="0"/>
                    </a:p>
                    <a:p>
                      <a:r>
                        <a:rPr lang="en-IE" sz="3200" dirty="0"/>
                        <a:t>diameter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3200" dirty="0"/>
                        <a:t>Methods (functions)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dirty="0"/>
                        <a:t>Spot()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24801071-05AB-BA2E-8673-B41247DB6EBB}"/>
              </a:ext>
            </a:extLst>
          </p:cNvPr>
          <p:cNvSpPr/>
          <p:nvPr/>
        </p:nvSpPr>
        <p:spPr>
          <a:xfrm>
            <a:off x="10210800" y="274638"/>
            <a:ext cx="1676400" cy="167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A9835-ADBC-B48A-207D-C95674AF4EE3}"/>
              </a:ext>
            </a:extLst>
          </p:cNvPr>
          <p:cNvSpPr/>
          <p:nvPr/>
        </p:nvSpPr>
        <p:spPr>
          <a:xfrm>
            <a:off x="9067800" y="2133600"/>
            <a:ext cx="2819400" cy="3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 class Spot</a:t>
            </a:r>
          </a:p>
          <a:p>
            <a:r>
              <a:rPr lang="en-IE" sz="2400" dirty="0"/>
              <a:t> {</a:t>
            </a:r>
          </a:p>
          <a:p>
            <a:r>
              <a:rPr lang="en-IE" sz="2400" dirty="0"/>
              <a:t>     float </a:t>
            </a:r>
            <a:r>
              <a:rPr lang="en-IE" sz="2400" dirty="0" err="1"/>
              <a:t>xCoord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  float </a:t>
            </a:r>
            <a:r>
              <a:rPr lang="en-IE" sz="2400" dirty="0" err="1"/>
              <a:t>yCoord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  float diameter;</a:t>
            </a:r>
          </a:p>
          <a:p>
            <a:endParaRPr lang="en-IE" sz="2400" dirty="0"/>
          </a:p>
          <a:p>
            <a:r>
              <a:rPr lang="en-IE" sz="2400" b="1" dirty="0">
                <a:solidFill>
                  <a:srgbClr val="FF0000"/>
                </a:solidFill>
              </a:rPr>
              <a:t>     Spot()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 {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 }</a:t>
            </a:r>
          </a:p>
          <a:p>
            <a:r>
              <a:rPr lang="en-IE" sz="2400" dirty="0"/>
              <a:t> }</a:t>
            </a:r>
          </a:p>
        </p:txBody>
      </p:sp>
      <p:sp>
        <p:nvSpPr>
          <p:cNvPr id="9" name="Arrow: Left 2">
            <a:extLst>
              <a:ext uri="{FF2B5EF4-FFF2-40B4-BE49-F238E27FC236}">
                <a16:creationId xmlns:a16="http://schemas.microsoft.com/office/drawing/2014/main" id="{B09635C9-4C0D-884C-7407-648F96A11E5F}"/>
              </a:ext>
            </a:extLst>
          </p:cNvPr>
          <p:cNvSpPr/>
          <p:nvPr/>
        </p:nvSpPr>
        <p:spPr>
          <a:xfrm>
            <a:off x="6019800" y="2971800"/>
            <a:ext cx="2438400" cy="1617800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/>
              <a:t>Properties / Attributes</a:t>
            </a:r>
          </a:p>
        </p:txBody>
      </p:sp>
    </p:spTree>
    <p:extLst>
      <p:ext uri="{BB962C8B-B14F-4D97-AF65-F5344CB8AC3E}">
        <p14:creationId xmlns:p14="http://schemas.microsoft.com/office/powerpoint/2010/main" val="4098952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Spot – classes and objects</a:t>
            </a:r>
            <a:endParaRPr lang="en-IE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2438400"/>
          <a:ext cx="58674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3200" baseline="0" dirty="0"/>
                        <a:t>Class Name</a:t>
                      </a:r>
                      <a:endParaRPr lang="en-IE" sz="32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b="1" dirty="0"/>
                        <a:t>Spot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3200" dirty="0"/>
                        <a:t>Fields (variables, properties)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dirty="0" err="1"/>
                        <a:t>xCoord</a:t>
                      </a:r>
                      <a:endParaRPr lang="en-IE" sz="3200" dirty="0"/>
                    </a:p>
                    <a:p>
                      <a:r>
                        <a:rPr lang="en-IE" sz="3200" dirty="0" err="1"/>
                        <a:t>yCoord</a:t>
                      </a:r>
                      <a:endParaRPr lang="en-IE" sz="3200" dirty="0"/>
                    </a:p>
                    <a:p>
                      <a:r>
                        <a:rPr lang="en-IE" sz="3200" dirty="0"/>
                        <a:t>diameter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3200" dirty="0"/>
                        <a:t>Methods (functions)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3200" dirty="0"/>
                        <a:t>Spot()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24801071-05AB-BA2E-8673-B41247DB6EBB}"/>
              </a:ext>
            </a:extLst>
          </p:cNvPr>
          <p:cNvSpPr/>
          <p:nvPr/>
        </p:nvSpPr>
        <p:spPr>
          <a:xfrm>
            <a:off x="10210800" y="274638"/>
            <a:ext cx="1676400" cy="167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A9835-ADBC-B48A-207D-C95674AF4EE3}"/>
              </a:ext>
            </a:extLst>
          </p:cNvPr>
          <p:cNvSpPr/>
          <p:nvPr/>
        </p:nvSpPr>
        <p:spPr>
          <a:xfrm>
            <a:off x="9067800" y="2133600"/>
            <a:ext cx="2819400" cy="3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 class Spot</a:t>
            </a:r>
          </a:p>
          <a:p>
            <a:r>
              <a:rPr lang="en-IE" sz="2400" dirty="0"/>
              <a:t> {</a:t>
            </a:r>
          </a:p>
          <a:p>
            <a:r>
              <a:rPr lang="en-IE" sz="2400" dirty="0"/>
              <a:t>     float </a:t>
            </a:r>
            <a:r>
              <a:rPr lang="en-IE" sz="2400" dirty="0" err="1"/>
              <a:t>xCoord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  float </a:t>
            </a:r>
            <a:r>
              <a:rPr lang="en-IE" sz="2400" dirty="0" err="1"/>
              <a:t>yCoord</a:t>
            </a:r>
            <a:r>
              <a:rPr lang="en-IE" sz="2400" dirty="0"/>
              <a:t>;</a:t>
            </a:r>
          </a:p>
          <a:p>
            <a:r>
              <a:rPr lang="en-IE" sz="2400" dirty="0"/>
              <a:t>     float diameter;</a:t>
            </a:r>
          </a:p>
          <a:p>
            <a:endParaRPr lang="en-IE" sz="2400" dirty="0"/>
          </a:p>
          <a:p>
            <a:r>
              <a:rPr lang="en-IE" sz="2400" b="1" dirty="0">
                <a:solidFill>
                  <a:srgbClr val="FF0000"/>
                </a:solidFill>
              </a:rPr>
              <a:t>     Spot()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 {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 }</a:t>
            </a:r>
          </a:p>
          <a:p>
            <a:r>
              <a:rPr lang="en-IE" sz="2400" dirty="0"/>
              <a:t> }</a:t>
            </a:r>
          </a:p>
        </p:txBody>
      </p:sp>
      <p:sp>
        <p:nvSpPr>
          <p:cNvPr id="7" name="Arrow: Left 2">
            <a:extLst>
              <a:ext uri="{FF2B5EF4-FFF2-40B4-BE49-F238E27FC236}">
                <a16:creationId xmlns:a16="http://schemas.microsoft.com/office/drawing/2014/main" id="{AEC45765-E795-6727-E355-2680C50A42E2}"/>
              </a:ext>
            </a:extLst>
          </p:cNvPr>
          <p:cNvSpPr/>
          <p:nvPr/>
        </p:nvSpPr>
        <p:spPr>
          <a:xfrm>
            <a:off x="6096000" y="4325800"/>
            <a:ext cx="2209800" cy="1617800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/>
              <a:t>Behaviours</a:t>
            </a:r>
          </a:p>
        </p:txBody>
      </p:sp>
    </p:spTree>
    <p:extLst>
      <p:ext uri="{BB962C8B-B14F-4D97-AF65-F5344CB8AC3E}">
        <p14:creationId xmlns:p14="http://schemas.microsoft.com/office/powerpoint/2010/main" val="605178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Spot – classes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798" y="2663009"/>
            <a:ext cx="5182102" cy="2895599"/>
          </a:xfrm>
        </p:spPr>
        <p:txBody>
          <a:bodyPr>
            <a:normAutofit/>
          </a:bodyPr>
          <a:lstStyle/>
          <a:p>
            <a:r>
              <a:rPr lang="en-IE" dirty="0"/>
              <a:t>An </a:t>
            </a:r>
            <a:r>
              <a:rPr lang="en-IE" b="1" dirty="0">
                <a:solidFill>
                  <a:srgbClr val="FF0000"/>
                </a:solidFill>
              </a:rPr>
              <a:t>object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is a single instance of a class </a:t>
            </a:r>
          </a:p>
          <a:p>
            <a:pPr lvl="1"/>
            <a:r>
              <a:rPr lang="en-IE" dirty="0"/>
              <a:t>i.e. an object is created (instantiated) from a class.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6E3738E6-DB01-166E-1818-890A8A591590}"/>
              </a:ext>
            </a:extLst>
          </p:cNvPr>
          <p:cNvSpPr/>
          <p:nvPr/>
        </p:nvSpPr>
        <p:spPr>
          <a:xfrm>
            <a:off x="7010400" y="3276600"/>
            <a:ext cx="3810000" cy="228200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3C6D49-8703-8182-D577-BD735361D3D6}"/>
              </a:ext>
            </a:extLst>
          </p:cNvPr>
          <p:cNvCxnSpPr/>
          <p:nvPr/>
        </p:nvCxnSpPr>
        <p:spPr>
          <a:xfrm>
            <a:off x="7010400" y="3810000"/>
            <a:ext cx="381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67A602C-E72D-B162-4F0D-1D4CFD401B52}"/>
              </a:ext>
            </a:extLst>
          </p:cNvPr>
          <p:cNvSpPr txBox="1"/>
          <p:nvPr/>
        </p:nvSpPr>
        <p:spPr>
          <a:xfrm>
            <a:off x="7315200" y="3962400"/>
            <a:ext cx="1295400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 err="1"/>
              <a:t>xCoord</a:t>
            </a:r>
            <a:endParaRPr lang="en-I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BAE199-865C-2B2F-AE6A-E236A1E108CE}"/>
              </a:ext>
            </a:extLst>
          </p:cNvPr>
          <p:cNvSpPr txBox="1"/>
          <p:nvPr/>
        </p:nvSpPr>
        <p:spPr>
          <a:xfrm>
            <a:off x="7315200" y="4419600"/>
            <a:ext cx="1295400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 err="1"/>
              <a:t>yCoord</a:t>
            </a:r>
            <a:endParaRPr lang="en-I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45B188-8B6F-63B6-B90D-9EE3B783CDDB}"/>
              </a:ext>
            </a:extLst>
          </p:cNvPr>
          <p:cNvSpPr txBox="1"/>
          <p:nvPr/>
        </p:nvSpPr>
        <p:spPr>
          <a:xfrm>
            <a:off x="9144000" y="3962400"/>
            <a:ext cx="12954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0.0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FD4E94-44D8-B3D2-867D-F85CA3C22B69}"/>
              </a:ext>
            </a:extLst>
          </p:cNvPr>
          <p:cNvSpPr txBox="1"/>
          <p:nvPr/>
        </p:nvSpPr>
        <p:spPr>
          <a:xfrm>
            <a:off x="9144000" y="4419600"/>
            <a:ext cx="12954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0.0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48181B-FDA8-941A-CDF7-4DB3CE883EDB}"/>
              </a:ext>
            </a:extLst>
          </p:cNvPr>
          <p:cNvSpPr txBox="1"/>
          <p:nvPr/>
        </p:nvSpPr>
        <p:spPr>
          <a:xfrm>
            <a:off x="8105274" y="3350568"/>
            <a:ext cx="1648326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 err="1"/>
              <a:t>sp</a:t>
            </a:r>
            <a:endParaRPr lang="en-IE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219FBB-642F-E521-5302-A7EBF86D9D2C}"/>
              </a:ext>
            </a:extLst>
          </p:cNvPr>
          <p:cNvSpPr txBox="1"/>
          <p:nvPr/>
        </p:nvSpPr>
        <p:spPr>
          <a:xfrm>
            <a:off x="7291137" y="4884820"/>
            <a:ext cx="1295400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diameter	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329CDA-9A1B-4D05-5ABD-EEB9B3FDFD73}"/>
              </a:ext>
            </a:extLst>
          </p:cNvPr>
          <p:cNvSpPr txBox="1"/>
          <p:nvPr/>
        </p:nvSpPr>
        <p:spPr>
          <a:xfrm>
            <a:off x="9119937" y="4884820"/>
            <a:ext cx="12954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0.0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76BB64-FDC5-C377-D7A1-C53E44212FD0}"/>
              </a:ext>
            </a:extLst>
          </p:cNvPr>
          <p:cNvSpPr/>
          <p:nvPr/>
        </p:nvSpPr>
        <p:spPr>
          <a:xfrm>
            <a:off x="7733798" y="2205808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B8E7A5-FA76-BE16-028E-250D0A059432}"/>
              </a:ext>
            </a:extLst>
          </p:cNvPr>
          <p:cNvSpPr txBox="1"/>
          <p:nvPr/>
        </p:nvSpPr>
        <p:spPr>
          <a:xfrm>
            <a:off x="7029448" y="2132738"/>
            <a:ext cx="704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 err="1"/>
              <a:t>sp</a:t>
            </a:r>
            <a:endParaRPr lang="en-IE" sz="32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FE3F50-80AA-7E34-57A7-EB858F7E78D5}"/>
              </a:ext>
            </a:extLst>
          </p:cNvPr>
          <p:cNvCxnSpPr>
            <a:endCxn id="13" idx="0"/>
          </p:cNvCxnSpPr>
          <p:nvPr/>
        </p:nvCxnSpPr>
        <p:spPr>
          <a:xfrm>
            <a:off x="8152900" y="2510608"/>
            <a:ext cx="762500" cy="765992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778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Spot – classes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r>
              <a:rPr lang="en-IE" dirty="0"/>
              <a:t>Many </a:t>
            </a:r>
            <a:r>
              <a:rPr lang="en-IE" b="1" dirty="0">
                <a:solidFill>
                  <a:srgbClr val="FF0000"/>
                </a:solidFill>
              </a:rPr>
              <a:t>objects</a:t>
            </a:r>
            <a:r>
              <a:rPr lang="en-IE" dirty="0"/>
              <a:t> can be constructed </a:t>
            </a:r>
            <a:br>
              <a:rPr lang="en-IE" dirty="0"/>
            </a:br>
            <a:r>
              <a:rPr lang="en-IE" dirty="0"/>
              <a:t>from a single </a:t>
            </a:r>
            <a:r>
              <a:rPr lang="en-IE" b="1" dirty="0">
                <a:solidFill>
                  <a:srgbClr val="FF0000"/>
                </a:solidFill>
              </a:rPr>
              <a:t>class</a:t>
            </a:r>
            <a:r>
              <a:rPr lang="en-IE" dirty="0"/>
              <a:t> definition.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5BD06A49-C1DA-7592-6021-5B238E62D481}"/>
              </a:ext>
            </a:extLst>
          </p:cNvPr>
          <p:cNvSpPr/>
          <p:nvPr/>
        </p:nvSpPr>
        <p:spPr>
          <a:xfrm>
            <a:off x="6877301" y="3217551"/>
            <a:ext cx="2286000" cy="213357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2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D2646A-CF23-D191-C4DA-5630CE0A327F}"/>
              </a:ext>
            </a:extLst>
          </p:cNvPr>
          <p:cNvCxnSpPr>
            <a:cxnSpLocks/>
          </p:cNvCxnSpPr>
          <p:nvPr/>
        </p:nvCxnSpPr>
        <p:spPr>
          <a:xfrm>
            <a:off x="6877301" y="3750951"/>
            <a:ext cx="228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C8A9DA-FE65-4DAD-AD0F-64C8E2008CB6}"/>
              </a:ext>
            </a:extLst>
          </p:cNvPr>
          <p:cNvSpPr txBox="1"/>
          <p:nvPr/>
        </p:nvSpPr>
        <p:spPr>
          <a:xfrm>
            <a:off x="7182101" y="390335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xCoord</a:t>
            </a:r>
            <a:endParaRPr lang="en-I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B1DB7-DF13-3594-EEDA-03CB7F5CE98B}"/>
              </a:ext>
            </a:extLst>
          </p:cNvPr>
          <p:cNvSpPr txBox="1"/>
          <p:nvPr/>
        </p:nvSpPr>
        <p:spPr>
          <a:xfrm>
            <a:off x="7182101" y="436055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yCoord</a:t>
            </a:r>
            <a:endParaRPr lang="en-IE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C07E14-143F-DF60-125C-8E8DEB3BE3C8}"/>
              </a:ext>
            </a:extLst>
          </p:cNvPr>
          <p:cNvSpPr txBox="1"/>
          <p:nvPr/>
        </p:nvSpPr>
        <p:spPr>
          <a:xfrm>
            <a:off x="8200775" y="390335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30.0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F17B8F-2B63-67B9-B11A-C54B799C1916}"/>
              </a:ext>
            </a:extLst>
          </p:cNvPr>
          <p:cNvSpPr txBox="1"/>
          <p:nvPr/>
        </p:nvSpPr>
        <p:spPr>
          <a:xfrm>
            <a:off x="8200775" y="436055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60.0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F178E8-4833-2393-5C93-A910AB0431B7}"/>
              </a:ext>
            </a:extLst>
          </p:cNvPr>
          <p:cNvSpPr txBox="1"/>
          <p:nvPr/>
        </p:nvSpPr>
        <p:spPr>
          <a:xfrm>
            <a:off x="7577138" y="3292814"/>
            <a:ext cx="1038726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00" dirty="0"/>
              <a:t>spot1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CAB14-75F2-A17F-9622-8E955824F5CE}"/>
              </a:ext>
            </a:extLst>
          </p:cNvPr>
          <p:cNvSpPr txBox="1"/>
          <p:nvPr/>
        </p:nvSpPr>
        <p:spPr>
          <a:xfrm>
            <a:off x="7158038" y="482577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diameter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321DC2-E2E6-2A09-8267-62137F75B8DE}"/>
              </a:ext>
            </a:extLst>
          </p:cNvPr>
          <p:cNvSpPr txBox="1"/>
          <p:nvPr/>
        </p:nvSpPr>
        <p:spPr>
          <a:xfrm>
            <a:off x="8176712" y="482577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30.0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2BFC0-8A24-E805-EBDB-A44CB1005CAA}"/>
              </a:ext>
            </a:extLst>
          </p:cNvPr>
          <p:cNvSpPr/>
          <p:nvPr/>
        </p:nvSpPr>
        <p:spPr>
          <a:xfrm>
            <a:off x="7105649" y="2073180"/>
            <a:ext cx="41910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F076AF-1225-B05B-54FC-FEB76CB88F7E}"/>
              </a:ext>
            </a:extLst>
          </p:cNvPr>
          <p:cNvSpPr txBox="1"/>
          <p:nvPr/>
        </p:nvSpPr>
        <p:spPr>
          <a:xfrm>
            <a:off x="6877301" y="1729473"/>
            <a:ext cx="875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/>
              <a:t>spot1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E9B3EA-46A6-6257-86C0-F7FDB6AA0C8F}"/>
              </a:ext>
            </a:extLst>
          </p:cNvPr>
          <p:cNvCxnSpPr>
            <a:cxnSpLocks/>
          </p:cNvCxnSpPr>
          <p:nvPr/>
        </p:nvCxnSpPr>
        <p:spPr>
          <a:xfrm>
            <a:off x="7328987" y="2427583"/>
            <a:ext cx="762500" cy="765992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D2372FDB-643C-082F-80F0-7FD9C9BFBDCC}"/>
              </a:ext>
            </a:extLst>
          </p:cNvPr>
          <p:cNvSpPr/>
          <p:nvPr/>
        </p:nvSpPr>
        <p:spPr>
          <a:xfrm>
            <a:off x="9631790" y="3217551"/>
            <a:ext cx="2286000" cy="213357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2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DCF099-5B07-4957-F4B7-2E6B902673D9}"/>
              </a:ext>
            </a:extLst>
          </p:cNvPr>
          <p:cNvCxnSpPr>
            <a:cxnSpLocks/>
          </p:cNvCxnSpPr>
          <p:nvPr/>
        </p:nvCxnSpPr>
        <p:spPr>
          <a:xfrm>
            <a:off x="9631790" y="3750951"/>
            <a:ext cx="228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90ECDA-572E-290B-0316-50CA3437D272}"/>
              </a:ext>
            </a:extLst>
          </p:cNvPr>
          <p:cNvSpPr txBox="1"/>
          <p:nvPr/>
        </p:nvSpPr>
        <p:spPr>
          <a:xfrm>
            <a:off x="9936590" y="390335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xCoord</a:t>
            </a:r>
            <a:endParaRPr lang="en-IE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99B84A-7B16-6D01-9EEA-648C2A457116}"/>
              </a:ext>
            </a:extLst>
          </p:cNvPr>
          <p:cNvSpPr txBox="1"/>
          <p:nvPr/>
        </p:nvSpPr>
        <p:spPr>
          <a:xfrm>
            <a:off x="9936590" y="436055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yCoord</a:t>
            </a:r>
            <a:endParaRPr lang="en-IE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CD3DAF-65FC-39A1-509A-D87B41EEC710}"/>
              </a:ext>
            </a:extLst>
          </p:cNvPr>
          <p:cNvSpPr txBox="1"/>
          <p:nvPr/>
        </p:nvSpPr>
        <p:spPr>
          <a:xfrm>
            <a:off x="10955264" y="390335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10.0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D4BB34-CC6F-1637-8AB1-6D25EA441550}"/>
              </a:ext>
            </a:extLst>
          </p:cNvPr>
          <p:cNvSpPr txBox="1"/>
          <p:nvPr/>
        </p:nvSpPr>
        <p:spPr>
          <a:xfrm>
            <a:off x="10955264" y="436055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20.0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801BFE-F30D-6CB4-F163-4B4EF9BC51D8}"/>
              </a:ext>
            </a:extLst>
          </p:cNvPr>
          <p:cNvSpPr txBox="1"/>
          <p:nvPr/>
        </p:nvSpPr>
        <p:spPr>
          <a:xfrm>
            <a:off x="10331627" y="3292814"/>
            <a:ext cx="1038726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00" dirty="0"/>
              <a:t>spot2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2E9FBB-8C26-7B1A-5446-72F2CD79A115}"/>
              </a:ext>
            </a:extLst>
          </p:cNvPr>
          <p:cNvSpPr txBox="1"/>
          <p:nvPr/>
        </p:nvSpPr>
        <p:spPr>
          <a:xfrm>
            <a:off x="9912527" y="482577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diameter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FB8521-4A94-B529-A4A1-09374E0C3D12}"/>
              </a:ext>
            </a:extLst>
          </p:cNvPr>
          <p:cNvSpPr txBox="1"/>
          <p:nvPr/>
        </p:nvSpPr>
        <p:spPr>
          <a:xfrm>
            <a:off x="10931201" y="482577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60.0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BC26B4-08DB-633B-EEDC-995BFB006225}"/>
              </a:ext>
            </a:extLst>
          </p:cNvPr>
          <p:cNvSpPr/>
          <p:nvPr/>
        </p:nvSpPr>
        <p:spPr>
          <a:xfrm>
            <a:off x="9860138" y="2073180"/>
            <a:ext cx="41910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957A1B-B0BC-9A69-1C5C-70F2A64110AE}"/>
              </a:ext>
            </a:extLst>
          </p:cNvPr>
          <p:cNvSpPr txBox="1"/>
          <p:nvPr/>
        </p:nvSpPr>
        <p:spPr>
          <a:xfrm>
            <a:off x="9631790" y="1729473"/>
            <a:ext cx="875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/>
              <a:t>spot2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7059F5-5FFA-8772-1BC6-DC329C2332CF}"/>
              </a:ext>
            </a:extLst>
          </p:cNvPr>
          <p:cNvCxnSpPr>
            <a:cxnSpLocks/>
          </p:cNvCxnSpPr>
          <p:nvPr/>
        </p:nvCxnSpPr>
        <p:spPr>
          <a:xfrm>
            <a:off x="10083476" y="2427583"/>
            <a:ext cx="762500" cy="765992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73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Spot – classes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r>
              <a:rPr lang="en-IE" dirty="0"/>
              <a:t>Many </a:t>
            </a:r>
            <a:r>
              <a:rPr lang="en-IE" b="1" dirty="0">
                <a:solidFill>
                  <a:srgbClr val="FF0000"/>
                </a:solidFill>
              </a:rPr>
              <a:t>objects</a:t>
            </a:r>
            <a:r>
              <a:rPr lang="en-IE" dirty="0"/>
              <a:t> can be constructed </a:t>
            </a:r>
            <a:br>
              <a:rPr lang="en-IE" dirty="0"/>
            </a:br>
            <a:r>
              <a:rPr lang="en-IE" dirty="0"/>
              <a:t>from a single </a:t>
            </a:r>
            <a:r>
              <a:rPr lang="en-IE" b="1" dirty="0">
                <a:solidFill>
                  <a:srgbClr val="FF0000"/>
                </a:solidFill>
              </a:rPr>
              <a:t>class</a:t>
            </a:r>
            <a:r>
              <a:rPr lang="en-IE" dirty="0"/>
              <a:t> definition.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5BD06A49-C1DA-7592-6021-5B238E62D481}"/>
              </a:ext>
            </a:extLst>
          </p:cNvPr>
          <p:cNvSpPr/>
          <p:nvPr/>
        </p:nvSpPr>
        <p:spPr>
          <a:xfrm>
            <a:off x="6877301" y="3217551"/>
            <a:ext cx="2286000" cy="213357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2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D2646A-CF23-D191-C4DA-5630CE0A327F}"/>
              </a:ext>
            </a:extLst>
          </p:cNvPr>
          <p:cNvCxnSpPr>
            <a:cxnSpLocks/>
          </p:cNvCxnSpPr>
          <p:nvPr/>
        </p:nvCxnSpPr>
        <p:spPr>
          <a:xfrm>
            <a:off x="6877301" y="3750951"/>
            <a:ext cx="228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C8A9DA-FE65-4DAD-AD0F-64C8E2008CB6}"/>
              </a:ext>
            </a:extLst>
          </p:cNvPr>
          <p:cNvSpPr txBox="1"/>
          <p:nvPr/>
        </p:nvSpPr>
        <p:spPr>
          <a:xfrm>
            <a:off x="7182101" y="390335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xCoord</a:t>
            </a:r>
            <a:endParaRPr lang="en-I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B1DB7-DF13-3594-EEDA-03CB7F5CE98B}"/>
              </a:ext>
            </a:extLst>
          </p:cNvPr>
          <p:cNvSpPr txBox="1"/>
          <p:nvPr/>
        </p:nvSpPr>
        <p:spPr>
          <a:xfrm>
            <a:off x="7182101" y="436055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yCoord</a:t>
            </a:r>
            <a:endParaRPr lang="en-IE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C07E14-143F-DF60-125C-8E8DEB3BE3C8}"/>
              </a:ext>
            </a:extLst>
          </p:cNvPr>
          <p:cNvSpPr txBox="1"/>
          <p:nvPr/>
        </p:nvSpPr>
        <p:spPr>
          <a:xfrm>
            <a:off x="8200775" y="390335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30.0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F17B8F-2B63-67B9-B11A-C54B799C1916}"/>
              </a:ext>
            </a:extLst>
          </p:cNvPr>
          <p:cNvSpPr txBox="1"/>
          <p:nvPr/>
        </p:nvSpPr>
        <p:spPr>
          <a:xfrm>
            <a:off x="8200775" y="436055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60.0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F178E8-4833-2393-5C93-A910AB0431B7}"/>
              </a:ext>
            </a:extLst>
          </p:cNvPr>
          <p:cNvSpPr txBox="1"/>
          <p:nvPr/>
        </p:nvSpPr>
        <p:spPr>
          <a:xfrm>
            <a:off x="7577138" y="3292814"/>
            <a:ext cx="1038726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00" dirty="0"/>
              <a:t>spot1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CAB14-75F2-A17F-9622-8E955824F5CE}"/>
              </a:ext>
            </a:extLst>
          </p:cNvPr>
          <p:cNvSpPr txBox="1"/>
          <p:nvPr/>
        </p:nvSpPr>
        <p:spPr>
          <a:xfrm>
            <a:off x="7158038" y="482577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diameter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321DC2-E2E6-2A09-8267-62137F75B8DE}"/>
              </a:ext>
            </a:extLst>
          </p:cNvPr>
          <p:cNvSpPr txBox="1"/>
          <p:nvPr/>
        </p:nvSpPr>
        <p:spPr>
          <a:xfrm>
            <a:off x="8176712" y="482577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30.0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2BFC0-8A24-E805-EBDB-A44CB1005CAA}"/>
              </a:ext>
            </a:extLst>
          </p:cNvPr>
          <p:cNvSpPr/>
          <p:nvPr/>
        </p:nvSpPr>
        <p:spPr>
          <a:xfrm>
            <a:off x="7105649" y="2073180"/>
            <a:ext cx="41910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F076AF-1225-B05B-54FC-FEB76CB88F7E}"/>
              </a:ext>
            </a:extLst>
          </p:cNvPr>
          <p:cNvSpPr txBox="1"/>
          <p:nvPr/>
        </p:nvSpPr>
        <p:spPr>
          <a:xfrm>
            <a:off x="6877301" y="1729473"/>
            <a:ext cx="875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/>
              <a:t>spot1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E9B3EA-46A6-6257-86C0-F7FDB6AA0C8F}"/>
              </a:ext>
            </a:extLst>
          </p:cNvPr>
          <p:cNvCxnSpPr>
            <a:cxnSpLocks/>
          </p:cNvCxnSpPr>
          <p:nvPr/>
        </p:nvCxnSpPr>
        <p:spPr>
          <a:xfrm>
            <a:off x="7328987" y="2427583"/>
            <a:ext cx="762500" cy="765992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D2372FDB-643C-082F-80F0-7FD9C9BFBDCC}"/>
              </a:ext>
            </a:extLst>
          </p:cNvPr>
          <p:cNvSpPr/>
          <p:nvPr/>
        </p:nvSpPr>
        <p:spPr>
          <a:xfrm>
            <a:off x="9631790" y="3217551"/>
            <a:ext cx="2286000" cy="213357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2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DCF099-5B07-4957-F4B7-2E6B902673D9}"/>
              </a:ext>
            </a:extLst>
          </p:cNvPr>
          <p:cNvCxnSpPr>
            <a:cxnSpLocks/>
          </p:cNvCxnSpPr>
          <p:nvPr/>
        </p:nvCxnSpPr>
        <p:spPr>
          <a:xfrm>
            <a:off x="9631790" y="3750951"/>
            <a:ext cx="228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90ECDA-572E-290B-0316-50CA3437D272}"/>
              </a:ext>
            </a:extLst>
          </p:cNvPr>
          <p:cNvSpPr txBox="1"/>
          <p:nvPr/>
        </p:nvSpPr>
        <p:spPr>
          <a:xfrm>
            <a:off x="9936590" y="390335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xCoord</a:t>
            </a:r>
            <a:endParaRPr lang="en-IE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99B84A-7B16-6D01-9EEA-648C2A457116}"/>
              </a:ext>
            </a:extLst>
          </p:cNvPr>
          <p:cNvSpPr txBox="1"/>
          <p:nvPr/>
        </p:nvSpPr>
        <p:spPr>
          <a:xfrm>
            <a:off x="9936590" y="436055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yCoord</a:t>
            </a:r>
            <a:endParaRPr lang="en-IE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CD3DAF-65FC-39A1-509A-D87B41EEC710}"/>
              </a:ext>
            </a:extLst>
          </p:cNvPr>
          <p:cNvSpPr txBox="1"/>
          <p:nvPr/>
        </p:nvSpPr>
        <p:spPr>
          <a:xfrm>
            <a:off x="10955264" y="390335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10.0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D4BB34-CC6F-1637-8AB1-6D25EA441550}"/>
              </a:ext>
            </a:extLst>
          </p:cNvPr>
          <p:cNvSpPr txBox="1"/>
          <p:nvPr/>
        </p:nvSpPr>
        <p:spPr>
          <a:xfrm>
            <a:off x="10955264" y="436055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20.0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801BFE-F30D-6CB4-F163-4B4EF9BC51D8}"/>
              </a:ext>
            </a:extLst>
          </p:cNvPr>
          <p:cNvSpPr txBox="1"/>
          <p:nvPr/>
        </p:nvSpPr>
        <p:spPr>
          <a:xfrm>
            <a:off x="10331627" y="3292814"/>
            <a:ext cx="1038726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00" dirty="0"/>
              <a:t>spot2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2E9FBB-8C26-7B1A-5446-72F2CD79A115}"/>
              </a:ext>
            </a:extLst>
          </p:cNvPr>
          <p:cNvSpPr txBox="1"/>
          <p:nvPr/>
        </p:nvSpPr>
        <p:spPr>
          <a:xfrm>
            <a:off x="9912527" y="4825771"/>
            <a:ext cx="76200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diameter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FB8521-4A94-B529-A4A1-09374E0C3D12}"/>
              </a:ext>
            </a:extLst>
          </p:cNvPr>
          <p:cNvSpPr txBox="1"/>
          <p:nvPr/>
        </p:nvSpPr>
        <p:spPr>
          <a:xfrm>
            <a:off x="10931201" y="4825771"/>
            <a:ext cx="6096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60.0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BC26B4-08DB-633B-EEDC-995BFB006225}"/>
              </a:ext>
            </a:extLst>
          </p:cNvPr>
          <p:cNvSpPr/>
          <p:nvPr/>
        </p:nvSpPr>
        <p:spPr>
          <a:xfrm>
            <a:off x="9860138" y="2073180"/>
            <a:ext cx="41910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957A1B-B0BC-9A69-1C5C-70F2A64110AE}"/>
              </a:ext>
            </a:extLst>
          </p:cNvPr>
          <p:cNvSpPr txBox="1"/>
          <p:nvPr/>
        </p:nvSpPr>
        <p:spPr>
          <a:xfrm>
            <a:off x="9631790" y="1729473"/>
            <a:ext cx="875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/>
              <a:t>spot2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7059F5-5FFA-8772-1BC6-DC329C2332CF}"/>
              </a:ext>
            </a:extLst>
          </p:cNvPr>
          <p:cNvCxnSpPr>
            <a:cxnSpLocks/>
          </p:cNvCxnSpPr>
          <p:nvPr/>
        </p:nvCxnSpPr>
        <p:spPr>
          <a:xfrm>
            <a:off x="10083476" y="2427583"/>
            <a:ext cx="762500" cy="765992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0404A3E-F1EA-D468-0FF6-81E38943569D}"/>
              </a:ext>
            </a:extLst>
          </p:cNvPr>
          <p:cNvSpPr txBox="1"/>
          <p:nvPr/>
        </p:nvSpPr>
        <p:spPr>
          <a:xfrm>
            <a:off x="894878" y="4401870"/>
            <a:ext cx="5725750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Two objects.  </a:t>
            </a:r>
          </a:p>
          <a:p>
            <a:r>
              <a:rPr lang="en-IE" sz="2400" dirty="0"/>
              <a:t>Each has a unique name, </a:t>
            </a:r>
            <a:r>
              <a:rPr lang="en-IE" sz="2400" i="1" dirty="0"/>
              <a:t>spot1</a:t>
            </a:r>
            <a:r>
              <a:rPr lang="en-IE" sz="2400" dirty="0"/>
              <a:t> and </a:t>
            </a:r>
            <a:r>
              <a:rPr lang="en-IE" sz="2400" i="1" dirty="0"/>
              <a:t>spot2</a:t>
            </a:r>
            <a:r>
              <a:rPr lang="en-IE" sz="2400" dirty="0"/>
              <a:t>.</a:t>
            </a:r>
          </a:p>
          <a:p>
            <a:r>
              <a:rPr lang="en-IE" sz="2400" dirty="0"/>
              <a:t>Each has it’s own copy (values) of the fields.</a:t>
            </a:r>
          </a:p>
        </p:txBody>
      </p:sp>
    </p:spTree>
    <p:extLst>
      <p:ext uri="{BB962C8B-B14F-4D97-AF65-F5344CB8AC3E}">
        <p14:creationId xmlns:p14="http://schemas.microsoft.com/office/powerpoint/2010/main" val="17662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2057400"/>
            <a:ext cx="9753600" cy="457200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</a:t>
            </a:r>
            <a:r>
              <a:rPr lang="en-IE" b="1" dirty="0"/>
              <a:t>Classes and Objects</a:t>
            </a:r>
            <a:br>
              <a:rPr lang="en-IE" dirty="0"/>
            </a:b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Recap on the </a:t>
            </a:r>
            <a:r>
              <a:rPr lang="en-IE" b="1" dirty="0"/>
              <a:t>Spot class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v1.0 (</a:t>
            </a:r>
            <a:r>
              <a:rPr lang="en-IE" b="1" dirty="0"/>
              <a:t>default constructor</a:t>
            </a:r>
            <a:r>
              <a:rPr lang="en-IE" dirty="0"/>
              <a:t>)</a:t>
            </a:r>
          </a:p>
          <a:p>
            <a:pPr lvl="1"/>
            <a:r>
              <a:rPr lang="en-IE" dirty="0"/>
              <a:t>v2.0 (</a:t>
            </a:r>
            <a:r>
              <a:rPr lang="en-IE" b="1" dirty="0"/>
              <a:t>constructor with parameters</a:t>
            </a:r>
            <a:r>
              <a:rPr lang="en-IE" dirty="0"/>
              <a:t>)</a:t>
            </a:r>
          </a:p>
          <a:p>
            <a:pPr lvl="1"/>
            <a:r>
              <a:rPr lang="en-IE" dirty="0"/>
              <a:t>v3.0 (</a:t>
            </a:r>
            <a:r>
              <a:rPr lang="en-IE" b="1" dirty="0"/>
              <a:t>overloading</a:t>
            </a:r>
            <a:r>
              <a:rPr lang="en-IE" dirty="0"/>
              <a:t> </a:t>
            </a:r>
            <a:r>
              <a:rPr lang="en-IE" b="1" dirty="0"/>
              <a:t>constructors</a:t>
            </a:r>
            <a:r>
              <a:rPr lang="en-IE" dirty="0"/>
              <a:t>)</a:t>
            </a:r>
            <a:br>
              <a:rPr lang="en-IE" dirty="0"/>
            </a:br>
            <a:endParaRPr lang="en-IE" dirty="0"/>
          </a:p>
        </p:txBody>
      </p:sp>
      <p:sp>
        <p:nvSpPr>
          <p:cNvPr id="7" name="Rectangle 6"/>
          <p:cNvSpPr/>
          <p:nvPr/>
        </p:nvSpPr>
        <p:spPr>
          <a:xfrm>
            <a:off x="609600" y="3657600"/>
            <a:ext cx="6324600" cy="609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969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4157475" y="2553832"/>
            <a:ext cx="3894221" cy="22467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class </a:t>
            </a:r>
            <a:r>
              <a:rPr lang="en-IE" sz="2800" b="1" dirty="0"/>
              <a:t>Spot</a:t>
            </a:r>
          </a:p>
          <a:p>
            <a:r>
              <a:rPr lang="en-IE" sz="2800" dirty="0"/>
              <a:t>{</a:t>
            </a:r>
          </a:p>
          <a:p>
            <a:r>
              <a:rPr lang="en-IE" sz="2800" dirty="0"/>
              <a:t>  float </a:t>
            </a:r>
            <a:r>
              <a:rPr lang="en-IE" sz="2800" dirty="0" err="1"/>
              <a:t>xCoord</a:t>
            </a:r>
            <a:r>
              <a:rPr lang="en-IE" sz="2800" dirty="0"/>
              <a:t>, </a:t>
            </a:r>
            <a:r>
              <a:rPr lang="en-IE" sz="2800" dirty="0" err="1"/>
              <a:t>yCoord</a:t>
            </a:r>
            <a:r>
              <a:rPr lang="en-IE" sz="2800" dirty="0"/>
              <a:t>;</a:t>
            </a:r>
          </a:p>
          <a:p>
            <a:r>
              <a:rPr lang="en-IE" sz="2800" dirty="0"/>
              <a:t>  float diameter;</a:t>
            </a:r>
          </a:p>
          <a:p>
            <a:r>
              <a:rPr lang="en-IE" sz="2800" dirty="0"/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Spot Class – Version 1.0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909" y="28075"/>
            <a:ext cx="1190624" cy="1384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524000"/>
            <a:ext cx="27432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800" dirty="0"/>
              <a:t>Defining the </a:t>
            </a:r>
            <a:r>
              <a:rPr lang="en-IE" sz="2800" b="1" dirty="0"/>
              <a:t>class</a:t>
            </a:r>
          </a:p>
        </p:txBody>
      </p:sp>
      <p:cxnSp>
        <p:nvCxnSpPr>
          <p:cNvPr id="9" name="Straight Arrow Connector 8"/>
          <p:cNvCxnSpPr>
            <a:stCxn id="7" idx="2"/>
          </p:cNvCxnSpPr>
          <p:nvPr/>
        </p:nvCxnSpPr>
        <p:spPr>
          <a:xfrm>
            <a:off x="3886200" y="2047220"/>
            <a:ext cx="1219200" cy="6197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27094" y="2667000"/>
            <a:ext cx="2296904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Rectangle 12"/>
          <p:cNvSpPr/>
          <p:nvPr/>
        </p:nvSpPr>
        <p:spPr>
          <a:xfrm>
            <a:off x="4227094" y="3435697"/>
            <a:ext cx="3592304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TextBox 13"/>
          <p:cNvSpPr txBox="1"/>
          <p:nvPr/>
        </p:nvSpPr>
        <p:spPr>
          <a:xfrm>
            <a:off x="8382000" y="3200401"/>
            <a:ext cx="2133600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800" dirty="0"/>
              <a:t>Declaring the </a:t>
            </a:r>
          </a:p>
          <a:p>
            <a:r>
              <a:rPr lang="en-IE" sz="2800" b="1" dirty="0"/>
              <a:t>fields</a:t>
            </a:r>
            <a:r>
              <a:rPr lang="en-IE" sz="2800" dirty="0"/>
              <a:t> in the </a:t>
            </a:r>
          </a:p>
          <a:p>
            <a:r>
              <a:rPr lang="en-IE" sz="2800" dirty="0"/>
              <a:t>class</a:t>
            </a:r>
          </a:p>
        </p:txBody>
      </p:sp>
      <p:cxnSp>
        <p:nvCxnSpPr>
          <p:cNvPr id="15" name="Straight Arrow Connector 14"/>
          <p:cNvCxnSpPr>
            <a:endCxn id="13" idx="3"/>
          </p:cNvCxnSpPr>
          <p:nvPr/>
        </p:nvCxnSpPr>
        <p:spPr>
          <a:xfrm flipH="1">
            <a:off x="7819398" y="3892897"/>
            <a:ext cx="63165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FC6909A-2B06-4C28-A2AE-79738CE882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799" b="4674"/>
          <a:stretch/>
        </p:blipFill>
        <p:spPr>
          <a:xfrm>
            <a:off x="1652902" y="4976338"/>
            <a:ext cx="2995299" cy="18816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105400" y="5523260"/>
            <a:ext cx="4372602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800" dirty="0"/>
              <a:t>In the PDE, place this code in a new </a:t>
            </a:r>
            <a:r>
              <a:rPr lang="en-IE" sz="2800" b="1" dirty="0"/>
              <a:t>tab</a:t>
            </a:r>
            <a:r>
              <a:rPr lang="en-IE" sz="2800" dirty="0"/>
              <a:t>, called Spot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5562600"/>
            <a:ext cx="91440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8CA506-4FB6-42D8-BC3F-22153F096678}"/>
              </a:ext>
            </a:extLst>
          </p:cNvPr>
          <p:cNvCxnSpPr>
            <a:cxnSpLocks/>
          </p:cNvCxnSpPr>
          <p:nvPr/>
        </p:nvCxnSpPr>
        <p:spPr>
          <a:xfrm flipH="1" flipV="1">
            <a:off x="4108622" y="6035200"/>
            <a:ext cx="996778" cy="1751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0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Spot Class – Version 1.0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909" y="28075"/>
            <a:ext cx="1190624" cy="1384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1537186"/>
            <a:ext cx="5257800" cy="53553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100" b="1" dirty="0">
                <a:solidFill>
                  <a:schemeClr val="tx1"/>
                </a:solidFill>
              </a:rPr>
              <a:t>Spot </a:t>
            </a:r>
            <a:r>
              <a:rPr lang="en-IE" sz="2100" b="1" dirty="0" err="1">
                <a:solidFill>
                  <a:schemeClr val="tx1"/>
                </a:solidFill>
              </a:rPr>
              <a:t>sp</a:t>
            </a:r>
            <a:r>
              <a:rPr lang="en-IE" sz="2100" b="1" dirty="0">
                <a:solidFill>
                  <a:schemeClr val="tx1"/>
                </a:solidFill>
              </a:rPr>
              <a:t>;</a:t>
            </a:r>
          </a:p>
          <a:p>
            <a:endParaRPr lang="en-IE" sz="2100" dirty="0">
              <a:solidFill>
                <a:schemeClr val="tx1"/>
              </a:solidFill>
            </a:endParaRPr>
          </a:p>
          <a:p>
            <a:r>
              <a:rPr lang="en-IE" sz="2100" dirty="0">
                <a:solidFill>
                  <a:schemeClr val="tx1"/>
                </a:solidFill>
              </a:rPr>
              <a:t>void setup(){</a:t>
            </a:r>
          </a:p>
          <a:p>
            <a:r>
              <a:rPr lang="en-IE" sz="2100" dirty="0">
                <a:solidFill>
                  <a:schemeClr val="tx1"/>
                </a:solidFill>
              </a:rPr>
              <a:t>  size (100,100);</a:t>
            </a:r>
          </a:p>
          <a:p>
            <a:r>
              <a:rPr lang="en-IE" sz="2100" dirty="0">
                <a:solidFill>
                  <a:schemeClr val="tx1"/>
                </a:solidFill>
              </a:rPr>
              <a:t>  </a:t>
            </a:r>
            <a:r>
              <a:rPr lang="en-IE" sz="2100" dirty="0" err="1">
                <a:solidFill>
                  <a:schemeClr val="tx1"/>
                </a:solidFill>
              </a:rPr>
              <a:t>noStroke</a:t>
            </a:r>
            <a:r>
              <a:rPr lang="en-IE" sz="2100" dirty="0">
                <a:solidFill>
                  <a:schemeClr val="tx1"/>
                </a:solidFill>
              </a:rPr>
              <a:t>();</a:t>
            </a:r>
          </a:p>
          <a:p>
            <a:r>
              <a:rPr lang="en-IE" sz="2100" b="1" dirty="0">
                <a:solidFill>
                  <a:schemeClr val="tx1"/>
                </a:solidFill>
              </a:rPr>
              <a:t>  </a:t>
            </a:r>
            <a:r>
              <a:rPr lang="en-IE" sz="2100" b="1" dirty="0" err="1">
                <a:solidFill>
                  <a:schemeClr val="tx1"/>
                </a:solidFill>
              </a:rPr>
              <a:t>sp</a:t>
            </a:r>
            <a:r>
              <a:rPr lang="en-IE" sz="2100" b="1" dirty="0">
                <a:solidFill>
                  <a:schemeClr val="tx1"/>
                </a:solidFill>
              </a:rPr>
              <a:t> = new Spot();</a:t>
            </a:r>
          </a:p>
          <a:p>
            <a:r>
              <a:rPr lang="en-IE" sz="2100" b="1" dirty="0">
                <a:solidFill>
                  <a:schemeClr val="tx1"/>
                </a:solidFill>
              </a:rPr>
              <a:t>  </a:t>
            </a:r>
            <a:r>
              <a:rPr lang="en-IE" sz="2100" b="1" dirty="0" err="1">
                <a:solidFill>
                  <a:schemeClr val="tx1"/>
                </a:solidFill>
              </a:rPr>
              <a:t>sp.xCoord</a:t>
            </a:r>
            <a:r>
              <a:rPr lang="en-IE" sz="2100" b="1" dirty="0">
                <a:solidFill>
                  <a:schemeClr val="tx1"/>
                </a:solidFill>
              </a:rPr>
              <a:t> = 33;</a:t>
            </a:r>
          </a:p>
          <a:p>
            <a:r>
              <a:rPr lang="en-IE" sz="2100" b="1" dirty="0">
                <a:solidFill>
                  <a:schemeClr val="tx1"/>
                </a:solidFill>
              </a:rPr>
              <a:t>  </a:t>
            </a:r>
            <a:r>
              <a:rPr lang="en-IE" sz="2100" b="1" dirty="0" err="1">
                <a:solidFill>
                  <a:schemeClr val="tx1"/>
                </a:solidFill>
              </a:rPr>
              <a:t>sp.yCoord</a:t>
            </a:r>
            <a:r>
              <a:rPr lang="en-IE" sz="2100" b="1" dirty="0">
                <a:solidFill>
                  <a:schemeClr val="tx1"/>
                </a:solidFill>
              </a:rPr>
              <a:t> = 50;</a:t>
            </a:r>
          </a:p>
          <a:p>
            <a:r>
              <a:rPr lang="en-IE" sz="2100" b="1" dirty="0">
                <a:solidFill>
                  <a:schemeClr val="tx1"/>
                </a:solidFill>
              </a:rPr>
              <a:t>  </a:t>
            </a:r>
            <a:r>
              <a:rPr lang="en-IE" sz="2100" b="1" dirty="0" err="1">
                <a:solidFill>
                  <a:schemeClr val="tx1"/>
                </a:solidFill>
              </a:rPr>
              <a:t>sp.diameter</a:t>
            </a:r>
            <a:r>
              <a:rPr lang="en-IE" sz="2100" b="1" dirty="0">
                <a:solidFill>
                  <a:schemeClr val="tx1"/>
                </a:solidFill>
              </a:rPr>
              <a:t> = 30;</a:t>
            </a:r>
          </a:p>
          <a:p>
            <a:r>
              <a:rPr lang="en-IE" sz="2100" dirty="0">
                <a:solidFill>
                  <a:schemeClr val="tx1"/>
                </a:solidFill>
              </a:rPr>
              <a:t>}</a:t>
            </a:r>
          </a:p>
          <a:p>
            <a:endParaRPr lang="en-IE" sz="2100" dirty="0"/>
          </a:p>
          <a:p>
            <a:r>
              <a:rPr lang="en-IE" sz="2100" dirty="0"/>
              <a:t>void draw(){</a:t>
            </a:r>
          </a:p>
          <a:p>
            <a:r>
              <a:rPr lang="en-IE" sz="2100" dirty="0"/>
              <a:t>  background(0);</a:t>
            </a:r>
          </a:p>
          <a:p>
            <a:r>
              <a:rPr lang="en-IE" sz="2000" dirty="0"/>
              <a:t>  </a:t>
            </a:r>
            <a:r>
              <a:rPr lang="en-IE" sz="2000" b="1" dirty="0">
                <a:solidFill>
                  <a:srgbClr val="FF0000"/>
                </a:solidFill>
              </a:rPr>
              <a:t>ellipse(</a:t>
            </a:r>
            <a:r>
              <a:rPr lang="en-IE" sz="2000" b="1" dirty="0" err="1">
                <a:solidFill>
                  <a:srgbClr val="FF0000"/>
                </a:solidFill>
              </a:rPr>
              <a:t>sp.xCoord</a:t>
            </a:r>
            <a:r>
              <a:rPr lang="en-IE" sz="2000" b="1" dirty="0">
                <a:solidFill>
                  <a:srgbClr val="FF0000"/>
                </a:solidFill>
              </a:rPr>
              <a:t>, </a:t>
            </a:r>
            <a:r>
              <a:rPr lang="en-IE" sz="2000" b="1" dirty="0" err="1">
                <a:solidFill>
                  <a:srgbClr val="FF0000"/>
                </a:solidFill>
              </a:rPr>
              <a:t>sp.yCoord</a:t>
            </a:r>
            <a:r>
              <a:rPr lang="en-IE" sz="2000" b="1" dirty="0">
                <a:solidFill>
                  <a:srgbClr val="FF0000"/>
                </a:solidFill>
              </a:rPr>
              <a:t>, </a:t>
            </a:r>
            <a:br>
              <a:rPr lang="en-IE" sz="2000" b="1" dirty="0">
                <a:solidFill>
                  <a:srgbClr val="FF0000"/>
                </a:solidFill>
              </a:rPr>
            </a:br>
            <a:r>
              <a:rPr lang="en-IE" sz="2000" b="1" dirty="0">
                <a:solidFill>
                  <a:srgbClr val="FF0000"/>
                </a:solidFill>
              </a:rPr>
              <a:t>                         </a:t>
            </a:r>
            <a:r>
              <a:rPr lang="en-IE" sz="2000" b="1" dirty="0" err="1">
                <a:solidFill>
                  <a:srgbClr val="FF0000"/>
                </a:solidFill>
              </a:rPr>
              <a:t>sp.diameter</a:t>
            </a:r>
            <a:r>
              <a:rPr lang="en-IE" sz="2000" b="1" dirty="0">
                <a:solidFill>
                  <a:srgbClr val="FF0000"/>
                </a:solidFill>
              </a:rPr>
              <a:t>, </a:t>
            </a:r>
            <a:r>
              <a:rPr lang="en-IE" sz="2000" b="1" dirty="0" err="1">
                <a:solidFill>
                  <a:srgbClr val="FF0000"/>
                </a:solidFill>
              </a:rPr>
              <a:t>sp.diameter</a:t>
            </a:r>
            <a:r>
              <a:rPr lang="en-IE" sz="2000" b="1" dirty="0">
                <a:solidFill>
                  <a:srgbClr val="FF0000"/>
                </a:solidFill>
              </a:rPr>
              <a:t>);</a:t>
            </a:r>
          </a:p>
          <a:p>
            <a:r>
              <a:rPr lang="en-IE" sz="21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1567191"/>
            <a:ext cx="2933700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Declaring an object </a:t>
            </a:r>
            <a:r>
              <a:rPr lang="en-IE" sz="2200" b="1" dirty="0" err="1">
                <a:solidFill>
                  <a:srgbClr val="FF0000"/>
                </a:solidFill>
              </a:rPr>
              <a:t>sp</a:t>
            </a:r>
            <a:r>
              <a:rPr lang="en-IE" sz="2200" dirty="0"/>
              <a:t>, of type </a:t>
            </a:r>
            <a:r>
              <a:rPr lang="en-IE" sz="2200" b="1" dirty="0">
                <a:solidFill>
                  <a:srgbClr val="FF0000"/>
                </a:solidFill>
              </a:rPr>
              <a:t>Spot</a:t>
            </a:r>
            <a:r>
              <a:rPr lang="en-IE" sz="2200" dirty="0"/>
              <a:t>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914900" y="1828800"/>
            <a:ext cx="34290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81200" y="2438400"/>
            <a:ext cx="2933700" cy="11079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Calling the </a:t>
            </a:r>
            <a:r>
              <a:rPr lang="en-IE" sz="2200" b="1" dirty="0">
                <a:solidFill>
                  <a:srgbClr val="FF0000"/>
                </a:solidFill>
              </a:rPr>
              <a:t>Spot() </a:t>
            </a:r>
            <a:r>
              <a:rPr lang="en-IE" sz="2200" i="1" dirty="0"/>
              <a:t>constructor</a:t>
            </a:r>
            <a:r>
              <a:rPr lang="en-IE" sz="2200" dirty="0"/>
              <a:t> to build the </a:t>
            </a:r>
            <a:r>
              <a:rPr lang="en-IE" sz="2200" b="1" dirty="0" err="1">
                <a:solidFill>
                  <a:srgbClr val="FF0000"/>
                </a:solidFill>
              </a:rPr>
              <a:t>sp</a:t>
            </a:r>
            <a:r>
              <a:rPr lang="en-IE" sz="2200" b="1" dirty="0">
                <a:solidFill>
                  <a:srgbClr val="FF0000"/>
                </a:solidFill>
              </a:rPr>
              <a:t> </a:t>
            </a:r>
            <a:r>
              <a:rPr lang="en-IE" sz="2200" dirty="0"/>
              <a:t>object in memory.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914900" y="3393013"/>
            <a:ext cx="34290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81200" y="3657600"/>
            <a:ext cx="2933700" cy="11079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Initialising the fields in the </a:t>
            </a:r>
            <a:r>
              <a:rPr lang="en-IE" sz="2200" b="1" dirty="0" err="1">
                <a:solidFill>
                  <a:srgbClr val="FF0000"/>
                </a:solidFill>
              </a:rPr>
              <a:t>sp</a:t>
            </a:r>
            <a:r>
              <a:rPr lang="en-IE" sz="2200" dirty="0">
                <a:solidFill>
                  <a:srgbClr val="FF0000"/>
                </a:solidFill>
              </a:rPr>
              <a:t> </a:t>
            </a:r>
            <a:r>
              <a:rPr lang="en-IE" sz="2200" dirty="0"/>
              <a:t>object with a starting value.</a:t>
            </a:r>
          </a:p>
        </p:txBody>
      </p:sp>
      <p:sp>
        <p:nvSpPr>
          <p:cNvPr id="13" name="Left Brace 12"/>
          <p:cNvSpPr/>
          <p:nvPr/>
        </p:nvSpPr>
        <p:spPr>
          <a:xfrm>
            <a:off x="4914900" y="3546396"/>
            <a:ext cx="571500" cy="949404"/>
          </a:xfrm>
          <a:prstGeom prst="leftBrac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TextBox 16"/>
          <p:cNvSpPr txBox="1"/>
          <p:nvPr/>
        </p:nvSpPr>
        <p:spPr>
          <a:xfrm>
            <a:off x="1981200" y="4876800"/>
            <a:ext cx="2933700" cy="1446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Calling the ellipse method, using the fields in the </a:t>
            </a:r>
            <a:r>
              <a:rPr lang="en-IE" sz="2200" b="1" dirty="0" err="1">
                <a:solidFill>
                  <a:srgbClr val="FF0000"/>
                </a:solidFill>
              </a:rPr>
              <a:t>sp</a:t>
            </a:r>
            <a:r>
              <a:rPr lang="en-IE" sz="2200" dirty="0">
                <a:solidFill>
                  <a:srgbClr val="FF0000"/>
                </a:solidFill>
              </a:rPr>
              <a:t> </a:t>
            </a:r>
            <a:r>
              <a:rPr lang="en-IE" sz="2200" dirty="0"/>
              <a:t>object as arguments. 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914900" y="5943600"/>
            <a:ext cx="34290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74EA519-B1CE-4CE9-AFF8-1414231F13F9}"/>
              </a:ext>
            </a:extLst>
          </p:cNvPr>
          <p:cNvSpPr/>
          <p:nvPr/>
        </p:nvSpPr>
        <p:spPr>
          <a:xfrm>
            <a:off x="7924801" y="1503164"/>
            <a:ext cx="2605965" cy="14686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class Spot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float </a:t>
            </a:r>
            <a:r>
              <a:rPr lang="en-IE" dirty="0" err="1"/>
              <a:t>xCoord</a:t>
            </a:r>
            <a:r>
              <a:rPr lang="en-IE" dirty="0"/>
              <a:t>, </a:t>
            </a:r>
            <a:r>
              <a:rPr lang="en-IE" dirty="0" err="1"/>
              <a:t>yCoord</a:t>
            </a:r>
            <a:r>
              <a:rPr lang="en-IE" dirty="0"/>
              <a:t>;</a:t>
            </a:r>
          </a:p>
          <a:p>
            <a:r>
              <a:rPr lang="en-IE" dirty="0"/>
              <a:t>  float diameter;</a:t>
            </a:r>
          </a:p>
          <a:p>
            <a:r>
              <a:rPr lang="en-IE" dirty="0"/>
              <a:t>}</a:t>
            </a:r>
          </a:p>
        </p:txBody>
      </p:sp>
      <p:sp>
        <p:nvSpPr>
          <p:cNvPr id="16" name="Rectangle 15"/>
          <p:cNvSpPr/>
          <p:nvPr/>
        </p:nvSpPr>
        <p:spPr>
          <a:xfrm flipV="1">
            <a:off x="5242635" y="1567189"/>
            <a:ext cx="1158166" cy="37802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9" name="Rectangle 18"/>
          <p:cNvSpPr/>
          <p:nvPr/>
        </p:nvSpPr>
        <p:spPr>
          <a:xfrm flipV="1">
            <a:off x="5257800" y="3165396"/>
            <a:ext cx="2438400" cy="34968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Rectangle 19"/>
          <p:cNvSpPr/>
          <p:nvPr/>
        </p:nvSpPr>
        <p:spPr>
          <a:xfrm flipV="1">
            <a:off x="5273930" y="3580436"/>
            <a:ext cx="2438400" cy="90312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Rectangle 20"/>
          <p:cNvSpPr/>
          <p:nvPr/>
        </p:nvSpPr>
        <p:spPr>
          <a:xfrm flipV="1">
            <a:off x="5257800" y="5693609"/>
            <a:ext cx="4495800" cy="76311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648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4" grpId="0" animBg="1"/>
      <p:bldP spid="13" grpId="0" animBg="1"/>
      <p:bldP spid="17" grpId="0" animBg="1"/>
      <p:bldP spid="16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Constructors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7433" y="1524001"/>
            <a:ext cx="3505200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>
                <a:solidFill>
                  <a:schemeClr val="tx1"/>
                </a:solidFill>
              </a:rPr>
              <a:t>  Spot </a:t>
            </a:r>
            <a:r>
              <a:rPr lang="en-IE" sz="2800" dirty="0" err="1">
                <a:solidFill>
                  <a:schemeClr val="tx1"/>
                </a:solidFill>
              </a:rPr>
              <a:t>sp</a:t>
            </a:r>
            <a:r>
              <a:rPr lang="en-IE" sz="2800" dirty="0">
                <a:solidFill>
                  <a:schemeClr val="tx1"/>
                </a:solidFill>
              </a:rPr>
              <a:t>;</a:t>
            </a:r>
          </a:p>
          <a:p>
            <a:r>
              <a:rPr lang="en-IE" sz="2800" dirty="0">
                <a:solidFill>
                  <a:schemeClr val="tx1"/>
                </a:solidFill>
              </a:rPr>
              <a:t>  </a:t>
            </a:r>
            <a:r>
              <a:rPr lang="en-IE" sz="2800" dirty="0" err="1">
                <a:solidFill>
                  <a:srgbClr val="FF0000"/>
                </a:solidFill>
              </a:rPr>
              <a:t>sp</a:t>
            </a:r>
            <a:r>
              <a:rPr lang="en-IE" sz="2800" dirty="0">
                <a:solidFill>
                  <a:srgbClr val="FF0000"/>
                </a:solidFill>
              </a:rPr>
              <a:t> </a:t>
            </a:r>
            <a:r>
              <a:rPr lang="en-IE" sz="2800" dirty="0">
                <a:solidFill>
                  <a:schemeClr val="tx1"/>
                </a:solidFill>
              </a:rPr>
              <a:t>= </a:t>
            </a:r>
            <a:r>
              <a:rPr lang="en-IE" sz="2800" b="1" dirty="0">
                <a:solidFill>
                  <a:srgbClr val="FF0000"/>
                </a:solidFill>
              </a:rPr>
              <a:t>new</a:t>
            </a:r>
            <a:r>
              <a:rPr lang="en-IE" sz="2800" dirty="0">
                <a:solidFill>
                  <a:schemeClr val="tx1"/>
                </a:solidFill>
              </a:rPr>
              <a:t> </a:t>
            </a:r>
            <a:r>
              <a:rPr lang="en-IE" sz="2800" dirty="0">
                <a:solidFill>
                  <a:srgbClr val="FF0000"/>
                </a:solidFill>
              </a:rPr>
              <a:t>Spot()</a:t>
            </a:r>
            <a:r>
              <a:rPr lang="en-IE" sz="2800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1868905" y="2982145"/>
            <a:ext cx="2960529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The </a:t>
            </a:r>
            <a:r>
              <a:rPr lang="en-IE" sz="2800" dirty="0" err="1">
                <a:solidFill>
                  <a:srgbClr val="FF0000"/>
                </a:solidFill>
              </a:rPr>
              <a:t>sp</a:t>
            </a:r>
            <a:r>
              <a:rPr lang="en-IE" sz="2800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object </a:t>
            </a:r>
            <a:br>
              <a:rPr lang="en-IE" sz="2800" dirty="0"/>
            </a:br>
            <a:r>
              <a:rPr lang="en-IE" sz="2800" dirty="0"/>
              <a:t>is </a:t>
            </a:r>
            <a:r>
              <a:rPr lang="en-IE" sz="2800" b="1" dirty="0"/>
              <a:t>constructed</a:t>
            </a:r>
            <a:r>
              <a:rPr lang="en-IE" sz="2800" dirty="0"/>
              <a:t> with the keyword </a:t>
            </a:r>
            <a:r>
              <a:rPr lang="en-IE" sz="2800" b="1" dirty="0">
                <a:solidFill>
                  <a:srgbClr val="FF0000"/>
                </a:solidFill>
              </a:rPr>
              <a:t>new</a:t>
            </a:r>
            <a:r>
              <a:rPr lang="en-IE" sz="2800" dirty="0"/>
              <a:t>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000633" y="2362200"/>
            <a:ext cx="2057400" cy="61994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81834" y="2984251"/>
            <a:ext cx="5228967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>
                <a:solidFill>
                  <a:srgbClr val="FF0000"/>
                </a:solidFill>
              </a:rPr>
              <a:t>Spot() </a:t>
            </a:r>
            <a:r>
              <a:rPr lang="en-IE" sz="2800" dirty="0"/>
              <a:t>is the </a:t>
            </a:r>
            <a:r>
              <a:rPr lang="en-IE" sz="2800" b="1" i="1" dirty="0"/>
              <a:t>default constructo</a:t>
            </a:r>
            <a:r>
              <a:rPr lang="en-IE" sz="2800" i="1" dirty="0"/>
              <a:t>r </a:t>
            </a:r>
            <a:r>
              <a:rPr lang="en-IE" sz="2800" dirty="0"/>
              <a:t>that is called to build the </a:t>
            </a:r>
            <a:r>
              <a:rPr lang="en-IE" sz="2800" b="1" dirty="0" err="1">
                <a:solidFill>
                  <a:srgbClr val="FF0000"/>
                </a:solidFill>
              </a:rPr>
              <a:t>sp</a:t>
            </a:r>
            <a:r>
              <a:rPr lang="en-IE" sz="2800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object in memory. 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6008532" y="2364306"/>
            <a:ext cx="1382869" cy="6178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41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Constructors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7433" y="1524001"/>
            <a:ext cx="3505200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>
                <a:solidFill>
                  <a:schemeClr val="tx1"/>
                </a:solidFill>
              </a:rPr>
              <a:t>  Spot </a:t>
            </a:r>
            <a:r>
              <a:rPr lang="en-IE" sz="2800" dirty="0" err="1">
                <a:solidFill>
                  <a:schemeClr val="tx1"/>
                </a:solidFill>
              </a:rPr>
              <a:t>sp</a:t>
            </a:r>
            <a:r>
              <a:rPr lang="en-IE" sz="2800" dirty="0">
                <a:solidFill>
                  <a:schemeClr val="tx1"/>
                </a:solidFill>
              </a:rPr>
              <a:t>;</a:t>
            </a:r>
          </a:p>
          <a:p>
            <a:r>
              <a:rPr lang="en-IE" sz="2800" dirty="0">
                <a:solidFill>
                  <a:schemeClr val="tx1"/>
                </a:solidFill>
              </a:rPr>
              <a:t>  </a:t>
            </a:r>
            <a:r>
              <a:rPr lang="en-IE" sz="2800" dirty="0" err="1">
                <a:solidFill>
                  <a:srgbClr val="FF0000"/>
                </a:solidFill>
              </a:rPr>
              <a:t>sp</a:t>
            </a:r>
            <a:r>
              <a:rPr lang="en-IE" sz="2800" dirty="0">
                <a:solidFill>
                  <a:srgbClr val="FF0000"/>
                </a:solidFill>
              </a:rPr>
              <a:t> </a:t>
            </a:r>
            <a:r>
              <a:rPr lang="en-IE" sz="2800" dirty="0">
                <a:solidFill>
                  <a:schemeClr val="tx1"/>
                </a:solidFill>
              </a:rPr>
              <a:t>= </a:t>
            </a:r>
            <a:r>
              <a:rPr lang="en-IE" sz="2800" b="1" dirty="0">
                <a:solidFill>
                  <a:srgbClr val="FF0000"/>
                </a:solidFill>
              </a:rPr>
              <a:t>new</a:t>
            </a:r>
            <a:r>
              <a:rPr lang="en-IE" sz="2800" dirty="0">
                <a:solidFill>
                  <a:schemeClr val="tx1"/>
                </a:solidFill>
              </a:rPr>
              <a:t> </a:t>
            </a:r>
            <a:r>
              <a:rPr lang="en-IE" sz="2800" dirty="0">
                <a:solidFill>
                  <a:srgbClr val="FF0000"/>
                </a:solidFill>
              </a:rPr>
              <a:t>Spot()</a:t>
            </a:r>
            <a:r>
              <a:rPr lang="en-IE" sz="2800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1868905" y="2982145"/>
            <a:ext cx="2960529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The </a:t>
            </a:r>
            <a:r>
              <a:rPr lang="en-IE" sz="2800" dirty="0" err="1">
                <a:solidFill>
                  <a:srgbClr val="FF0000"/>
                </a:solidFill>
              </a:rPr>
              <a:t>sp</a:t>
            </a:r>
            <a:r>
              <a:rPr lang="en-IE" sz="2800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object </a:t>
            </a:r>
            <a:br>
              <a:rPr lang="en-IE" sz="2800" dirty="0"/>
            </a:br>
            <a:r>
              <a:rPr lang="en-IE" sz="2800" dirty="0"/>
              <a:t>is </a:t>
            </a:r>
            <a:r>
              <a:rPr lang="en-IE" sz="2800" b="1" dirty="0"/>
              <a:t>constructed</a:t>
            </a:r>
            <a:r>
              <a:rPr lang="en-IE" sz="2800" dirty="0"/>
              <a:t> with the keyword </a:t>
            </a:r>
            <a:r>
              <a:rPr lang="en-IE" sz="2800" b="1" dirty="0">
                <a:solidFill>
                  <a:srgbClr val="FF0000"/>
                </a:solidFill>
              </a:rPr>
              <a:t>new</a:t>
            </a:r>
            <a:r>
              <a:rPr lang="en-IE" sz="2800" dirty="0"/>
              <a:t>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000633" y="2362200"/>
            <a:ext cx="2057400" cy="61994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81834" y="2984251"/>
            <a:ext cx="5228967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>
                <a:solidFill>
                  <a:srgbClr val="FF0000"/>
                </a:solidFill>
              </a:rPr>
              <a:t>Spot() </a:t>
            </a:r>
            <a:r>
              <a:rPr lang="en-IE" sz="2800" dirty="0"/>
              <a:t>is the </a:t>
            </a:r>
            <a:r>
              <a:rPr lang="en-IE" sz="2800" b="1" i="1" dirty="0"/>
              <a:t>default constructo</a:t>
            </a:r>
            <a:r>
              <a:rPr lang="en-IE" sz="2800" i="1" dirty="0"/>
              <a:t>r </a:t>
            </a:r>
            <a:r>
              <a:rPr lang="en-IE" sz="2800" dirty="0"/>
              <a:t>that is called to build the </a:t>
            </a:r>
            <a:r>
              <a:rPr lang="en-IE" sz="2800" b="1" dirty="0" err="1">
                <a:solidFill>
                  <a:srgbClr val="FF0000"/>
                </a:solidFill>
              </a:rPr>
              <a:t>sp</a:t>
            </a:r>
            <a:r>
              <a:rPr lang="en-IE" sz="2800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object in memory. 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6008532" y="2364306"/>
            <a:ext cx="1382869" cy="6178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296401" y="5155848"/>
            <a:ext cx="1206843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>
                <a:solidFill>
                  <a:schemeClr val="tx1"/>
                </a:solidFill>
              </a:rPr>
              <a:t>Spot()</a:t>
            </a:r>
          </a:p>
          <a:p>
            <a:r>
              <a:rPr lang="en-IE" sz="2800" dirty="0">
                <a:solidFill>
                  <a:schemeClr val="tx1"/>
                </a:solidFill>
              </a:rPr>
              <a:t>{</a:t>
            </a:r>
          </a:p>
          <a:p>
            <a:r>
              <a:rPr lang="en-IE" sz="28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68904" y="5155849"/>
            <a:ext cx="7351296" cy="1384995"/>
          </a:xfrm>
          <a:prstGeom prst="rect">
            <a:avLst/>
          </a:prstGeom>
          <a:solidFill>
            <a:srgbClr val="FFFF00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E" sz="2800" dirty="0"/>
              <a:t>A </a:t>
            </a:r>
            <a:r>
              <a:rPr lang="en-IE" sz="2800" b="1" dirty="0"/>
              <a:t>CONSTRUCTOR</a:t>
            </a:r>
            <a:r>
              <a:rPr lang="en-IE" sz="2800" dirty="0"/>
              <a:t> </a:t>
            </a:r>
            <a:br>
              <a:rPr lang="en-IE" sz="2800" dirty="0"/>
            </a:br>
            <a:r>
              <a:rPr lang="en-IE" sz="2800" dirty="0"/>
              <a:t>is a method that has the </a:t>
            </a:r>
            <a:r>
              <a:rPr lang="en-IE" sz="2800" b="1" dirty="0"/>
              <a:t>same name as the class </a:t>
            </a:r>
            <a:r>
              <a:rPr lang="en-IE" sz="2800" dirty="0"/>
              <a:t>but has </a:t>
            </a:r>
            <a:r>
              <a:rPr lang="en-IE" sz="2800" b="1" dirty="0"/>
              <a:t>no return type</a:t>
            </a:r>
            <a:r>
              <a:rPr lang="en-IE" sz="2800" dirty="0"/>
              <a:t>.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7772400" y="3429001"/>
            <a:ext cx="1524000" cy="172684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90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3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Default</a:t>
            </a:r>
            <a:r>
              <a:rPr lang="en-IE" dirty="0"/>
              <a:t> Constructor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0" y="1847195"/>
            <a:ext cx="3962400" cy="4832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 class Spot</a:t>
            </a:r>
          </a:p>
          <a:p>
            <a:r>
              <a:rPr lang="en-IE" sz="2800" dirty="0"/>
              <a:t> {</a:t>
            </a:r>
          </a:p>
          <a:p>
            <a:r>
              <a:rPr lang="en-IE" sz="2800" dirty="0"/>
              <a:t>     float </a:t>
            </a:r>
            <a:r>
              <a:rPr lang="en-IE" sz="2800" dirty="0" err="1"/>
              <a:t>xCoord</a:t>
            </a:r>
            <a:r>
              <a:rPr lang="en-IE" sz="2800" dirty="0"/>
              <a:t>;</a:t>
            </a:r>
          </a:p>
          <a:p>
            <a:r>
              <a:rPr lang="en-IE" sz="2800" dirty="0"/>
              <a:t>     float </a:t>
            </a:r>
            <a:r>
              <a:rPr lang="en-IE" sz="2800" dirty="0" err="1"/>
              <a:t>yCoord</a:t>
            </a:r>
            <a:r>
              <a:rPr lang="en-IE" sz="2800" dirty="0"/>
              <a:t>;</a:t>
            </a:r>
          </a:p>
          <a:p>
            <a:r>
              <a:rPr lang="en-IE" sz="2800" dirty="0"/>
              <a:t>     float diameter;</a:t>
            </a:r>
          </a:p>
          <a:p>
            <a:endParaRPr lang="en-IE" sz="2800" dirty="0"/>
          </a:p>
          <a:p>
            <a:r>
              <a:rPr lang="en-IE" sz="2800" dirty="0"/>
              <a:t>      </a:t>
            </a:r>
            <a:r>
              <a:rPr lang="en-IE" sz="2800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IE" sz="2800" b="1" dirty="0">
                <a:solidFill>
                  <a:schemeClr val="bg1">
                    <a:lumMod val="50000"/>
                  </a:schemeClr>
                </a:solidFill>
              </a:rPr>
              <a:t>Default</a:t>
            </a:r>
            <a:r>
              <a:rPr lang="en-IE" sz="2800" dirty="0">
                <a:solidFill>
                  <a:schemeClr val="bg1">
                    <a:lumMod val="50000"/>
                  </a:schemeClr>
                </a:solidFill>
              </a:rPr>
              <a:t> Constructor</a:t>
            </a:r>
          </a:p>
          <a:p>
            <a:r>
              <a:rPr lang="en-IE" sz="2800" dirty="0">
                <a:solidFill>
                  <a:srgbClr val="FF0000"/>
                </a:solidFill>
              </a:rPr>
              <a:t>      </a:t>
            </a:r>
            <a:r>
              <a:rPr lang="en-IE" sz="2800" b="1" dirty="0">
                <a:solidFill>
                  <a:srgbClr val="FF0000"/>
                </a:solidFill>
              </a:rPr>
              <a:t>Spot()</a:t>
            </a:r>
          </a:p>
          <a:p>
            <a:r>
              <a:rPr lang="en-IE" sz="2800" b="1" dirty="0">
                <a:solidFill>
                  <a:srgbClr val="FF0000"/>
                </a:solidFill>
              </a:rPr>
              <a:t>      {</a:t>
            </a:r>
          </a:p>
          <a:p>
            <a:r>
              <a:rPr lang="en-IE" sz="2800" b="1" dirty="0">
                <a:solidFill>
                  <a:srgbClr val="FF0000"/>
                </a:solidFill>
              </a:rPr>
              <a:t>      }</a:t>
            </a:r>
          </a:p>
          <a:p>
            <a:r>
              <a:rPr lang="en-IE" sz="2800" dirty="0"/>
              <a:t> 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F777A2-F0B1-470F-9C8C-F550ABFFD43B}"/>
              </a:ext>
            </a:extLst>
          </p:cNvPr>
          <p:cNvSpPr txBox="1">
            <a:spLocks/>
          </p:cNvSpPr>
          <p:nvPr/>
        </p:nvSpPr>
        <p:spPr>
          <a:xfrm>
            <a:off x="6224337" y="5764887"/>
            <a:ext cx="4191000" cy="91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constructor stores initial values in the fields.</a:t>
            </a:r>
            <a:endParaRPr lang="en-IE" dirty="0"/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84CDF9D1-88C5-4FCA-93FB-C7E99C917471}"/>
              </a:ext>
            </a:extLst>
          </p:cNvPr>
          <p:cNvSpPr/>
          <p:nvPr/>
        </p:nvSpPr>
        <p:spPr>
          <a:xfrm>
            <a:off x="6400800" y="2874767"/>
            <a:ext cx="3810000" cy="228200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345A7D-A0E9-4671-88FE-73D993B5784E}"/>
              </a:ext>
            </a:extLst>
          </p:cNvPr>
          <p:cNvCxnSpPr/>
          <p:nvPr/>
        </p:nvCxnSpPr>
        <p:spPr>
          <a:xfrm>
            <a:off x="6400800" y="3408167"/>
            <a:ext cx="381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49B2CBD-1E48-447E-AE4F-FE1F2F80B7D1}"/>
              </a:ext>
            </a:extLst>
          </p:cNvPr>
          <p:cNvSpPr txBox="1"/>
          <p:nvPr/>
        </p:nvSpPr>
        <p:spPr>
          <a:xfrm>
            <a:off x="6705600" y="3560567"/>
            <a:ext cx="1295400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 err="1"/>
              <a:t>xCoord</a:t>
            </a:r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98FC39-33BB-45BA-8BC2-D390DEB297F6}"/>
              </a:ext>
            </a:extLst>
          </p:cNvPr>
          <p:cNvSpPr txBox="1"/>
          <p:nvPr/>
        </p:nvSpPr>
        <p:spPr>
          <a:xfrm>
            <a:off x="6705600" y="4017767"/>
            <a:ext cx="1295400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 err="1"/>
              <a:t>yCoord</a:t>
            </a:r>
            <a:endParaRPr lang="en-I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E7587-AC2C-4F23-BD24-6872AC896E3A}"/>
              </a:ext>
            </a:extLst>
          </p:cNvPr>
          <p:cNvSpPr txBox="1"/>
          <p:nvPr/>
        </p:nvSpPr>
        <p:spPr>
          <a:xfrm>
            <a:off x="8534400" y="3560567"/>
            <a:ext cx="12954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0.0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300F4-6DF1-4D51-AD64-AE28B8B8AEFD}"/>
              </a:ext>
            </a:extLst>
          </p:cNvPr>
          <p:cNvSpPr txBox="1"/>
          <p:nvPr/>
        </p:nvSpPr>
        <p:spPr>
          <a:xfrm>
            <a:off x="8534400" y="4017767"/>
            <a:ext cx="12954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0.0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6939D9-BDF6-4B2C-ADD1-D76D26B44752}"/>
              </a:ext>
            </a:extLst>
          </p:cNvPr>
          <p:cNvSpPr txBox="1"/>
          <p:nvPr/>
        </p:nvSpPr>
        <p:spPr>
          <a:xfrm>
            <a:off x="7495674" y="2948735"/>
            <a:ext cx="1648326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 err="1"/>
              <a:t>sp</a:t>
            </a:r>
            <a:endParaRPr lang="en-IE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2757AB-E20B-406E-8F33-A7147AA8497D}"/>
              </a:ext>
            </a:extLst>
          </p:cNvPr>
          <p:cNvSpPr txBox="1"/>
          <p:nvPr/>
        </p:nvSpPr>
        <p:spPr>
          <a:xfrm>
            <a:off x="6681537" y="4482987"/>
            <a:ext cx="1295400" cy="381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diameter	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88B660-120C-4EEB-BFC1-5357BD4B47C0}"/>
              </a:ext>
            </a:extLst>
          </p:cNvPr>
          <p:cNvSpPr txBox="1"/>
          <p:nvPr/>
        </p:nvSpPr>
        <p:spPr>
          <a:xfrm>
            <a:off x="8510337" y="4482987"/>
            <a:ext cx="1295400" cy="381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0.0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F02C9-9BC6-4DE1-8088-476B0896B9CF}"/>
              </a:ext>
            </a:extLst>
          </p:cNvPr>
          <p:cNvSpPr/>
          <p:nvPr/>
        </p:nvSpPr>
        <p:spPr>
          <a:xfrm>
            <a:off x="7124198" y="1803975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616B76-E552-4683-926D-26EA45B4F896}"/>
              </a:ext>
            </a:extLst>
          </p:cNvPr>
          <p:cNvSpPr txBox="1"/>
          <p:nvPr/>
        </p:nvSpPr>
        <p:spPr>
          <a:xfrm>
            <a:off x="6552198" y="169100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 err="1"/>
              <a:t>sp</a:t>
            </a:r>
            <a:endParaRPr lang="en-IE" sz="32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95FAB6-FFA7-4C42-9857-0DC8EA9BB7D2}"/>
              </a:ext>
            </a:extLst>
          </p:cNvPr>
          <p:cNvCxnSpPr>
            <a:endCxn id="8" idx="0"/>
          </p:cNvCxnSpPr>
          <p:nvPr/>
        </p:nvCxnSpPr>
        <p:spPr>
          <a:xfrm>
            <a:off x="7543300" y="2108775"/>
            <a:ext cx="762500" cy="765992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BA1B90-605A-4102-81AC-23DD169428C9}"/>
              </a:ext>
            </a:extLst>
          </p:cNvPr>
          <p:cNvCxnSpPr>
            <a:cxnSpLocks/>
          </p:cNvCxnSpPr>
          <p:nvPr/>
        </p:nvCxnSpPr>
        <p:spPr>
          <a:xfrm flipH="1" flipV="1">
            <a:off x="8991600" y="4598285"/>
            <a:ext cx="152400" cy="116609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BA1B90-605A-4102-81AC-23DD169428C9}"/>
              </a:ext>
            </a:extLst>
          </p:cNvPr>
          <p:cNvCxnSpPr>
            <a:cxnSpLocks/>
          </p:cNvCxnSpPr>
          <p:nvPr/>
        </p:nvCxnSpPr>
        <p:spPr>
          <a:xfrm flipH="1" flipV="1">
            <a:off x="9064234" y="4091737"/>
            <a:ext cx="536966" cy="167264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5BA1B90-605A-4102-81AC-23DD169428C9}"/>
              </a:ext>
            </a:extLst>
          </p:cNvPr>
          <p:cNvCxnSpPr>
            <a:cxnSpLocks/>
          </p:cNvCxnSpPr>
          <p:nvPr/>
        </p:nvCxnSpPr>
        <p:spPr>
          <a:xfrm flipH="1" flipV="1">
            <a:off x="9075679" y="3751067"/>
            <a:ext cx="989475" cy="200470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79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2057400"/>
            <a:ext cx="9753600" cy="457200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</a:t>
            </a:r>
            <a:r>
              <a:rPr lang="en-IE" b="1" dirty="0"/>
              <a:t>Classes and Objects</a:t>
            </a:r>
            <a:br>
              <a:rPr lang="en-IE" dirty="0"/>
            </a:b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Recap on the </a:t>
            </a:r>
            <a:r>
              <a:rPr lang="en-IE" b="1" dirty="0"/>
              <a:t>Spot class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v1.0 (</a:t>
            </a:r>
            <a:r>
              <a:rPr lang="en-IE" b="1" dirty="0"/>
              <a:t>default constructor</a:t>
            </a:r>
            <a:r>
              <a:rPr lang="en-IE" dirty="0"/>
              <a:t>)</a:t>
            </a:r>
          </a:p>
          <a:p>
            <a:pPr lvl="1"/>
            <a:r>
              <a:rPr lang="en-IE" dirty="0"/>
              <a:t>v2.0 (</a:t>
            </a:r>
            <a:r>
              <a:rPr lang="en-IE" b="1" dirty="0"/>
              <a:t>constructor with parameters</a:t>
            </a:r>
            <a:r>
              <a:rPr lang="en-IE" dirty="0"/>
              <a:t>)</a:t>
            </a:r>
          </a:p>
          <a:p>
            <a:pPr lvl="1"/>
            <a:r>
              <a:rPr lang="en-IE" dirty="0"/>
              <a:t>v3.0 (</a:t>
            </a:r>
            <a:r>
              <a:rPr lang="en-IE" b="1" dirty="0"/>
              <a:t>overloading</a:t>
            </a:r>
            <a:r>
              <a:rPr lang="en-IE" dirty="0"/>
              <a:t> </a:t>
            </a:r>
            <a:r>
              <a:rPr lang="en-IE" b="1" dirty="0"/>
              <a:t>constructors</a:t>
            </a:r>
            <a:r>
              <a:rPr lang="en-IE" dirty="0"/>
              <a:t>)</a:t>
            </a:r>
            <a:br>
              <a:rPr lang="en-IE" dirty="0"/>
            </a:br>
            <a:endParaRPr lang="en-IE" dirty="0"/>
          </a:p>
        </p:txBody>
      </p:sp>
      <p:sp>
        <p:nvSpPr>
          <p:cNvPr id="7" name="Rectangle 6"/>
          <p:cNvSpPr/>
          <p:nvPr/>
        </p:nvSpPr>
        <p:spPr>
          <a:xfrm>
            <a:off x="609600" y="4191000"/>
            <a:ext cx="6324600" cy="609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422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Spot Class – Version 2.0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909" y="28075"/>
            <a:ext cx="1190624" cy="1384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5000" y="1591176"/>
            <a:ext cx="6705600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100" dirty="0"/>
              <a:t>Spot </a:t>
            </a:r>
            <a:r>
              <a:rPr lang="en-IE" sz="2100" dirty="0" err="1"/>
              <a:t>sp</a:t>
            </a:r>
            <a:r>
              <a:rPr lang="en-IE" sz="2100" dirty="0"/>
              <a:t>;</a:t>
            </a:r>
          </a:p>
          <a:p>
            <a:endParaRPr lang="en-IE" sz="2100" dirty="0"/>
          </a:p>
          <a:p>
            <a:r>
              <a:rPr lang="en-IE" sz="2100" dirty="0"/>
              <a:t>void setup()</a:t>
            </a:r>
          </a:p>
          <a:p>
            <a:r>
              <a:rPr lang="en-IE" sz="2100" dirty="0"/>
              <a:t>{</a:t>
            </a:r>
          </a:p>
          <a:p>
            <a:r>
              <a:rPr lang="en-IE" sz="2100" dirty="0"/>
              <a:t>  size (100,100);</a:t>
            </a:r>
          </a:p>
          <a:p>
            <a:r>
              <a:rPr lang="en-IE" sz="2100" dirty="0"/>
              <a:t>  </a:t>
            </a:r>
            <a:r>
              <a:rPr lang="en-IE" sz="2100" dirty="0" err="1"/>
              <a:t>noStroke</a:t>
            </a:r>
            <a:r>
              <a:rPr lang="en-IE" sz="2100" dirty="0"/>
              <a:t>();</a:t>
            </a:r>
          </a:p>
          <a:p>
            <a:r>
              <a:rPr lang="en-IE" sz="2100" b="1" dirty="0">
                <a:solidFill>
                  <a:srgbClr val="FF0000"/>
                </a:solidFill>
              </a:rPr>
              <a:t>  </a:t>
            </a:r>
            <a:r>
              <a:rPr lang="en-IE" sz="2100" b="1" dirty="0" err="1">
                <a:solidFill>
                  <a:srgbClr val="FF0000"/>
                </a:solidFill>
              </a:rPr>
              <a:t>sp</a:t>
            </a:r>
            <a:r>
              <a:rPr lang="en-IE" sz="2100" b="1" dirty="0">
                <a:solidFill>
                  <a:srgbClr val="FF0000"/>
                </a:solidFill>
              </a:rPr>
              <a:t> = new Spot (33, 50, 30);</a:t>
            </a:r>
          </a:p>
          <a:p>
            <a:r>
              <a:rPr lang="en-IE" sz="2100" dirty="0"/>
              <a:t>}</a:t>
            </a:r>
          </a:p>
          <a:p>
            <a:endParaRPr lang="en-IE" sz="2100" dirty="0"/>
          </a:p>
          <a:p>
            <a:r>
              <a:rPr lang="en-IE" sz="2100" dirty="0"/>
              <a:t>void draw()</a:t>
            </a:r>
          </a:p>
          <a:p>
            <a:r>
              <a:rPr lang="en-IE" sz="2100" dirty="0"/>
              <a:t>{</a:t>
            </a:r>
          </a:p>
          <a:p>
            <a:r>
              <a:rPr lang="en-IE" sz="2100" dirty="0"/>
              <a:t>  background(0);</a:t>
            </a:r>
          </a:p>
          <a:p>
            <a:r>
              <a:rPr lang="en-IE" sz="2100" dirty="0"/>
              <a:t>  ellipse(</a:t>
            </a:r>
            <a:r>
              <a:rPr lang="en-IE" sz="2100" dirty="0" err="1"/>
              <a:t>sp.xCoord</a:t>
            </a:r>
            <a:r>
              <a:rPr lang="en-IE" sz="2100" dirty="0"/>
              <a:t>, </a:t>
            </a:r>
            <a:r>
              <a:rPr lang="en-IE" sz="2100" dirty="0" err="1"/>
              <a:t>sp.yCoord</a:t>
            </a:r>
            <a:r>
              <a:rPr lang="en-IE" sz="2100" dirty="0"/>
              <a:t>, </a:t>
            </a:r>
            <a:r>
              <a:rPr lang="en-IE" sz="2100" dirty="0" err="1"/>
              <a:t>sp.diameter</a:t>
            </a:r>
            <a:r>
              <a:rPr lang="en-IE" sz="2100" dirty="0"/>
              <a:t>, </a:t>
            </a:r>
            <a:r>
              <a:rPr lang="en-IE" sz="2100" dirty="0" err="1"/>
              <a:t>sp.diameter</a:t>
            </a:r>
            <a:r>
              <a:rPr lang="en-IE" sz="2100" dirty="0"/>
              <a:t>);</a:t>
            </a:r>
          </a:p>
          <a:p>
            <a:r>
              <a:rPr lang="en-IE" sz="2100" dirty="0"/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5273842" y="1524000"/>
            <a:ext cx="5089358" cy="378565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class Spot</a:t>
            </a:r>
          </a:p>
          <a:p>
            <a:r>
              <a:rPr lang="en-IE" sz="2000" dirty="0"/>
              <a:t>{</a:t>
            </a:r>
          </a:p>
          <a:p>
            <a:r>
              <a:rPr lang="en-IE" sz="2000" dirty="0"/>
              <a:t>  float </a:t>
            </a:r>
            <a:r>
              <a:rPr lang="en-IE" sz="2000" dirty="0" err="1"/>
              <a:t>xCoord</a:t>
            </a:r>
            <a:r>
              <a:rPr lang="en-IE" sz="2000" dirty="0"/>
              <a:t>, </a:t>
            </a:r>
            <a:r>
              <a:rPr lang="en-IE" sz="2000" dirty="0" err="1"/>
              <a:t>yCoord</a:t>
            </a:r>
            <a:r>
              <a:rPr lang="en-IE" sz="2000" dirty="0"/>
              <a:t>;</a:t>
            </a:r>
          </a:p>
          <a:p>
            <a:r>
              <a:rPr lang="en-IE" sz="2000" dirty="0"/>
              <a:t>  float diameter;</a:t>
            </a:r>
          </a:p>
          <a:p>
            <a:r>
              <a:rPr lang="en-IE" sz="2000" dirty="0"/>
              <a:t>  </a:t>
            </a:r>
          </a:p>
          <a:p>
            <a:r>
              <a:rPr lang="en-IE" sz="2000" b="1" dirty="0">
                <a:solidFill>
                  <a:srgbClr val="FF0000"/>
                </a:solidFill>
              </a:rPr>
              <a:t>  Spot (</a:t>
            </a:r>
            <a:r>
              <a:rPr lang="en-IE" sz="2000" dirty="0">
                <a:solidFill>
                  <a:srgbClr val="FF0000"/>
                </a:solidFill>
              </a:rPr>
              <a:t>float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b="1" dirty="0" err="1">
                <a:solidFill>
                  <a:srgbClr val="FF0000"/>
                </a:solidFill>
              </a:rPr>
              <a:t>xPos</a:t>
            </a:r>
            <a:r>
              <a:rPr lang="en-IE" sz="2000" b="1" dirty="0">
                <a:solidFill>
                  <a:srgbClr val="FF0000"/>
                </a:solidFill>
              </a:rPr>
              <a:t>, </a:t>
            </a:r>
            <a:r>
              <a:rPr lang="en-IE" sz="2000" dirty="0">
                <a:solidFill>
                  <a:srgbClr val="FF0000"/>
                </a:solidFill>
              </a:rPr>
              <a:t>float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b="1" dirty="0" err="1">
                <a:solidFill>
                  <a:srgbClr val="FF0000"/>
                </a:solidFill>
              </a:rPr>
              <a:t>yPos</a:t>
            </a:r>
            <a:r>
              <a:rPr lang="en-IE" sz="2000" b="1" dirty="0">
                <a:solidFill>
                  <a:srgbClr val="FF0000"/>
                </a:solidFill>
              </a:rPr>
              <a:t>, </a:t>
            </a:r>
            <a:r>
              <a:rPr lang="en-IE" sz="2000" dirty="0">
                <a:solidFill>
                  <a:srgbClr val="FF0000"/>
                </a:solidFill>
              </a:rPr>
              <a:t>float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b="1" dirty="0" err="1">
                <a:solidFill>
                  <a:srgbClr val="FF0000"/>
                </a:solidFill>
              </a:rPr>
              <a:t>diamtr</a:t>
            </a:r>
            <a:r>
              <a:rPr lang="en-IE" sz="2000" b="1" dirty="0">
                <a:solidFill>
                  <a:srgbClr val="FF0000"/>
                </a:solidFill>
              </a:rPr>
              <a:t>)</a:t>
            </a:r>
          </a:p>
          <a:p>
            <a:r>
              <a:rPr lang="en-IE" sz="2000" b="1" dirty="0">
                <a:solidFill>
                  <a:srgbClr val="FF0000"/>
                </a:solidFill>
              </a:rPr>
              <a:t>  {</a:t>
            </a:r>
          </a:p>
          <a:p>
            <a:r>
              <a:rPr lang="en-IE" sz="2000" b="1" dirty="0">
                <a:solidFill>
                  <a:srgbClr val="FF0000"/>
                </a:solidFill>
              </a:rPr>
              <a:t>    </a:t>
            </a:r>
            <a:r>
              <a:rPr lang="en-IE" sz="2000" b="1" dirty="0" err="1">
                <a:solidFill>
                  <a:srgbClr val="FF0000"/>
                </a:solidFill>
              </a:rPr>
              <a:t>xCoord</a:t>
            </a:r>
            <a:r>
              <a:rPr lang="en-IE" sz="2000" b="1" dirty="0">
                <a:solidFill>
                  <a:srgbClr val="FF0000"/>
                </a:solidFill>
              </a:rPr>
              <a:t> = </a:t>
            </a:r>
            <a:r>
              <a:rPr lang="en-IE" sz="2000" b="1" dirty="0" err="1">
                <a:solidFill>
                  <a:srgbClr val="FF0000"/>
                </a:solidFill>
              </a:rPr>
              <a:t>xPos</a:t>
            </a:r>
            <a:r>
              <a:rPr lang="en-IE" sz="2000" b="1" dirty="0">
                <a:solidFill>
                  <a:srgbClr val="FF0000"/>
                </a:solidFill>
              </a:rPr>
              <a:t>;</a:t>
            </a:r>
          </a:p>
          <a:p>
            <a:r>
              <a:rPr lang="en-IE" sz="2000" b="1" dirty="0">
                <a:solidFill>
                  <a:srgbClr val="FF0000"/>
                </a:solidFill>
              </a:rPr>
              <a:t>    </a:t>
            </a:r>
            <a:r>
              <a:rPr lang="en-IE" sz="2000" b="1" dirty="0" err="1">
                <a:solidFill>
                  <a:srgbClr val="FF0000"/>
                </a:solidFill>
              </a:rPr>
              <a:t>yCoord</a:t>
            </a:r>
            <a:r>
              <a:rPr lang="en-IE" sz="2000" b="1" dirty="0">
                <a:solidFill>
                  <a:srgbClr val="FF0000"/>
                </a:solidFill>
              </a:rPr>
              <a:t> = </a:t>
            </a:r>
            <a:r>
              <a:rPr lang="en-IE" sz="2000" b="1" dirty="0" err="1">
                <a:solidFill>
                  <a:srgbClr val="FF0000"/>
                </a:solidFill>
              </a:rPr>
              <a:t>yPos</a:t>
            </a:r>
            <a:r>
              <a:rPr lang="en-IE" sz="2000" b="1" dirty="0">
                <a:solidFill>
                  <a:srgbClr val="FF0000"/>
                </a:solidFill>
              </a:rPr>
              <a:t>;</a:t>
            </a:r>
          </a:p>
          <a:p>
            <a:r>
              <a:rPr lang="en-IE" sz="2000" b="1" dirty="0">
                <a:solidFill>
                  <a:srgbClr val="FF0000"/>
                </a:solidFill>
              </a:rPr>
              <a:t>    diameter = </a:t>
            </a:r>
            <a:r>
              <a:rPr lang="en-IE" sz="2000" b="1" dirty="0" err="1">
                <a:solidFill>
                  <a:srgbClr val="FF0000"/>
                </a:solidFill>
              </a:rPr>
              <a:t>diamtr</a:t>
            </a:r>
            <a:r>
              <a:rPr lang="en-IE" sz="2000" b="1" dirty="0">
                <a:solidFill>
                  <a:srgbClr val="FF0000"/>
                </a:solidFill>
              </a:rPr>
              <a:t>;</a:t>
            </a:r>
          </a:p>
          <a:p>
            <a:r>
              <a:rPr lang="en-IE" sz="2000" b="1" dirty="0">
                <a:solidFill>
                  <a:srgbClr val="FF0000"/>
                </a:solidFill>
              </a:rPr>
              <a:t>  }</a:t>
            </a:r>
          </a:p>
          <a:p>
            <a:r>
              <a:rPr lang="en-IE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9362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2057400"/>
            <a:ext cx="9753600" cy="457200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Recap: </a:t>
            </a:r>
            <a:r>
              <a:rPr lang="en-IE" b="1" dirty="0"/>
              <a:t>Classes and Objects</a:t>
            </a:r>
            <a:br>
              <a:rPr lang="en-IE" dirty="0"/>
            </a:b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Recap on the </a:t>
            </a:r>
            <a:r>
              <a:rPr lang="en-IE" b="1" dirty="0"/>
              <a:t>Spot class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v1.0 (</a:t>
            </a:r>
            <a:r>
              <a:rPr lang="en-IE" b="1" dirty="0"/>
              <a:t>default constructor</a:t>
            </a:r>
            <a:r>
              <a:rPr lang="en-IE" dirty="0"/>
              <a:t>)</a:t>
            </a:r>
          </a:p>
          <a:p>
            <a:pPr lvl="1"/>
            <a:r>
              <a:rPr lang="en-IE" dirty="0"/>
              <a:t>v2.0 (</a:t>
            </a:r>
            <a:r>
              <a:rPr lang="en-IE" b="1" dirty="0"/>
              <a:t>constructor with parameters</a:t>
            </a:r>
            <a:r>
              <a:rPr lang="en-IE" dirty="0"/>
              <a:t>)</a:t>
            </a:r>
          </a:p>
          <a:p>
            <a:pPr lvl="1"/>
            <a:r>
              <a:rPr lang="en-IE" dirty="0"/>
              <a:t>v3.0 (</a:t>
            </a:r>
            <a:r>
              <a:rPr lang="en-IE" b="1" dirty="0"/>
              <a:t>overloading</a:t>
            </a:r>
            <a:r>
              <a:rPr lang="en-IE" dirty="0"/>
              <a:t> </a:t>
            </a:r>
            <a:r>
              <a:rPr lang="en-IE" b="1" dirty="0"/>
              <a:t>constructors</a:t>
            </a:r>
            <a:r>
              <a:rPr lang="en-IE" dirty="0"/>
              <a:t>)</a:t>
            </a:r>
            <a:br>
              <a:rPr lang="en-IE" dirty="0"/>
            </a:br>
            <a:endParaRPr lang="en-IE" dirty="0"/>
          </a:p>
        </p:txBody>
      </p:sp>
      <p:sp>
        <p:nvSpPr>
          <p:cNvPr id="7" name="Rectangle 6"/>
          <p:cNvSpPr/>
          <p:nvPr/>
        </p:nvSpPr>
        <p:spPr>
          <a:xfrm>
            <a:off x="539045" y="4724400"/>
            <a:ext cx="6324600" cy="609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4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Overloading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799" cy="4525963"/>
          </a:xfrm>
        </p:spPr>
        <p:txBody>
          <a:bodyPr>
            <a:normAutofit/>
          </a:bodyPr>
          <a:lstStyle/>
          <a:p>
            <a:r>
              <a:rPr lang="en-IE" altLang="en-US" dirty="0"/>
              <a:t>We can have as many constructors as our design requires, ONCE they have unique parameter lists.</a:t>
            </a:r>
          </a:p>
          <a:p>
            <a:pPr marL="0" indent="0">
              <a:buNone/>
            </a:pPr>
            <a:endParaRPr lang="en-IE" altLang="en-US" dirty="0"/>
          </a:p>
          <a:p>
            <a:r>
              <a:rPr lang="en-IE" altLang="en-US" dirty="0"/>
              <a:t>We are </a:t>
            </a:r>
            <a:r>
              <a:rPr lang="en-IE" altLang="en-US" dirty="0">
                <a:solidFill>
                  <a:srgbClr val="FF0000"/>
                </a:solidFill>
              </a:rPr>
              <a:t>overloading </a:t>
            </a:r>
            <a:r>
              <a:rPr lang="en-IE" altLang="en-US" dirty="0"/>
              <a:t>our constructors in Version 3.0…</a:t>
            </a:r>
          </a:p>
          <a:p>
            <a:endParaRPr lang="en-IE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422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Spot Class – Version 3.0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909" y="28075"/>
            <a:ext cx="1190624" cy="1384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42021" y="1575390"/>
            <a:ext cx="5089358" cy="50167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class Spot{</a:t>
            </a:r>
          </a:p>
          <a:p>
            <a:r>
              <a:rPr lang="en-IE" sz="2000" dirty="0"/>
              <a:t>  float </a:t>
            </a:r>
            <a:r>
              <a:rPr lang="en-IE" sz="2000" dirty="0" err="1"/>
              <a:t>xCoord</a:t>
            </a:r>
            <a:r>
              <a:rPr lang="en-IE" sz="2000" dirty="0"/>
              <a:t>, </a:t>
            </a:r>
            <a:r>
              <a:rPr lang="en-IE" sz="2000" dirty="0" err="1"/>
              <a:t>yCoord</a:t>
            </a:r>
            <a:r>
              <a:rPr lang="en-IE" sz="2000" dirty="0"/>
              <a:t>;</a:t>
            </a:r>
          </a:p>
          <a:p>
            <a:r>
              <a:rPr lang="en-IE" sz="2000" dirty="0"/>
              <a:t>  float diameter;</a:t>
            </a:r>
          </a:p>
          <a:p>
            <a:r>
              <a:rPr lang="en-IE" sz="2000" dirty="0"/>
              <a:t>  </a:t>
            </a:r>
          </a:p>
          <a:p>
            <a:r>
              <a:rPr lang="en-IE" sz="2000" dirty="0"/>
              <a:t>  </a:t>
            </a:r>
            <a:r>
              <a:rPr lang="en-IE" sz="2000" b="1" dirty="0">
                <a:solidFill>
                  <a:srgbClr val="FF0000"/>
                </a:solidFill>
              </a:rPr>
              <a:t>Spot() {</a:t>
            </a:r>
          </a:p>
          <a:p>
            <a:r>
              <a:rPr lang="en-IE" sz="2000" b="1" dirty="0">
                <a:solidFill>
                  <a:srgbClr val="FF0000"/>
                </a:solidFill>
              </a:rPr>
              <a:t>  }</a:t>
            </a:r>
          </a:p>
          <a:p>
            <a:endParaRPr lang="en-IE" sz="2000" b="1" dirty="0">
              <a:solidFill>
                <a:srgbClr val="FF0000"/>
              </a:solidFill>
            </a:endParaRPr>
          </a:p>
          <a:p>
            <a:endParaRPr lang="en-IE" sz="2000" b="1" dirty="0">
              <a:solidFill>
                <a:srgbClr val="FF0000"/>
              </a:solidFill>
            </a:endParaRPr>
          </a:p>
          <a:p>
            <a:endParaRPr lang="en-IE" sz="2000" b="1" dirty="0">
              <a:solidFill>
                <a:srgbClr val="FF0000"/>
              </a:solidFill>
            </a:endParaRPr>
          </a:p>
          <a:p>
            <a:r>
              <a:rPr lang="en-IE" sz="2000" dirty="0"/>
              <a:t>  </a:t>
            </a:r>
          </a:p>
          <a:p>
            <a:r>
              <a:rPr lang="en-IE" sz="2000" dirty="0"/>
              <a:t> </a:t>
            </a:r>
            <a:r>
              <a:rPr lang="en-IE" sz="2000" b="1" dirty="0">
                <a:solidFill>
                  <a:srgbClr val="FF0000"/>
                </a:solidFill>
              </a:rPr>
              <a:t>Spot</a:t>
            </a:r>
            <a:r>
              <a:rPr lang="en-IE" sz="2000" dirty="0">
                <a:solidFill>
                  <a:srgbClr val="FF0000"/>
                </a:solidFill>
              </a:rPr>
              <a:t> (float </a:t>
            </a:r>
            <a:r>
              <a:rPr lang="en-IE" sz="2000" dirty="0" err="1">
                <a:solidFill>
                  <a:srgbClr val="FF0000"/>
                </a:solidFill>
              </a:rPr>
              <a:t>xPos</a:t>
            </a:r>
            <a:r>
              <a:rPr lang="en-IE" sz="2000" dirty="0">
                <a:solidFill>
                  <a:srgbClr val="FF0000"/>
                </a:solidFill>
              </a:rPr>
              <a:t>, float </a:t>
            </a:r>
            <a:r>
              <a:rPr lang="en-IE" sz="2000" dirty="0" err="1">
                <a:solidFill>
                  <a:srgbClr val="FF0000"/>
                </a:solidFill>
              </a:rPr>
              <a:t>yPos</a:t>
            </a:r>
            <a:r>
              <a:rPr lang="en-IE" sz="2000" dirty="0">
                <a:solidFill>
                  <a:srgbClr val="FF0000"/>
                </a:solidFill>
              </a:rPr>
              <a:t>, float </a:t>
            </a:r>
            <a:r>
              <a:rPr lang="en-IE" sz="2000" dirty="0" err="1">
                <a:solidFill>
                  <a:srgbClr val="FF0000"/>
                </a:solidFill>
              </a:rPr>
              <a:t>diamtr</a:t>
            </a:r>
            <a:r>
              <a:rPr lang="en-IE" sz="2000" dirty="0">
                <a:solidFill>
                  <a:srgbClr val="FF0000"/>
                </a:solidFill>
              </a:rPr>
              <a:t>){</a:t>
            </a:r>
          </a:p>
          <a:p>
            <a:r>
              <a:rPr lang="en-IE" sz="2000" dirty="0">
                <a:solidFill>
                  <a:srgbClr val="FF0000"/>
                </a:solidFill>
              </a:rPr>
              <a:t>    </a:t>
            </a:r>
            <a:r>
              <a:rPr lang="en-IE" sz="2000" dirty="0" err="1">
                <a:solidFill>
                  <a:srgbClr val="FF0000"/>
                </a:solidFill>
              </a:rPr>
              <a:t>xCoord</a:t>
            </a:r>
            <a:r>
              <a:rPr lang="en-IE" sz="2000" dirty="0">
                <a:solidFill>
                  <a:srgbClr val="FF0000"/>
                </a:solidFill>
              </a:rPr>
              <a:t> = </a:t>
            </a:r>
            <a:r>
              <a:rPr lang="en-IE" sz="2000" dirty="0" err="1">
                <a:solidFill>
                  <a:srgbClr val="FF0000"/>
                </a:solidFill>
              </a:rPr>
              <a:t>xPos</a:t>
            </a:r>
            <a:r>
              <a:rPr lang="en-IE" sz="2000" dirty="0">
                <a:solidFill>
                  <a:srgbClr val="FF0000"/>
                </a:solidFill>
              </a:rPr>
              <a:t>;</a:t>
            </a:r>
          </a:p>
          <a:p>
            <a:r>
              <a:rPr lang="en-IE" sz="2000" dirty="0">
                <a:solidFill>
                  <a:srgbClr val="FF0000"/>
                </a:solidFill>
              </a:rPr>
              <a:t>    </a:t>
            </a:r>
            <a:r>
              <a:rPr lang="en-IE" sz="2000" dirty="0" err="1">
                <a:solidFill>
                  <a:srgbClr val="FF0000"/>
                </a:solidFill>
              </a:rPr>
              <a:t>yCoord</a:t>
            </a:r>
            <a:r>
              <a:rPr lang="en-IE" sz="2000" dirty="0">
                <a:solidFill>
                  <a:srgbClr val="FF0000"/>
                </a:solidFill>
              </a:rPr>
              <a:t> = </a:t>
            </a:r>
            <a:r>
              <a:rPr lang="en-IE" sz="2000" dirty="0" err="1">
                <a:solidFill>
                  <a:srgbClr val="FF0000"/>
                </a:solidFill>
              </a:rPr>
              <a:t>yPos</a:t>
            </a:r>
            <a:r>
              <a:rPr lang="en-IE" sz="2000" dirty="0">
                <a:solidFill>
                  <a:srgbClr val="FF0000"/>
                </a:solidFill>
              </a:rPr>
              <a:t>;</a:t>
            </a:r>
          </a:p>
          <a:p>
            <a:r>
              <a:rPr lang="en-IE" sz="2000" dirty="0">
                <a:solidFill>
                  <a:srgbClr val="FF0000"/>
                </a:solidFill>
              </a:rPr>
              <a:t>    diameter = </a:t>
            </a:r>
            <a:r>
              <a:rPr lang="en-IE" sz="2000" dirty="0" err="1">
                <a:solidFill>
                  <a:srgbClr val="FF0000"/>
                </a:solidFill>
              </a:rPr>
              <a:t>diamtr</a:t>
            </a:r>
            <a:r>
              <a:rPr lang="en-IE" sz="2000" dirty="0">
                <a:solidFill>
                  <a:srgbClr val="FF0000"/>
                </a:solidFill>
              </a:rPr>
              <a:t>;</a:t>
            </a:r>
          </a:p>
          <a:p>
            <a:r>
              <a:rPr lang="en-IE" sz="2000" dirty="0">
                <a:solidFill>
                  <a:srgbClr val="FF0000"/>
                </a:solidFill>
              </a:rPr>
              <a:t>  }</a:t>
            </a:r>
          </a:p>
          <a:p>
            <a:r>
              <a:rPr lang="en-IE" sz="2000" dirty="0"/>
              <a:t>}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B0BC4BA-B1F4-4CB1-9019-A4B024AAC42E}"/>
              </a:ext>
            </a:extLst>
          </p:cNvPr>
          <p:cNvSpPr/>
          <p:nvPr/>
        </p:nvSpPr>
        <p:spPr>
          <a:xfrm flipH="1">
            <a:off x="6477000" y="2096995"/>
            <a:ext cx="3733801" cy="1981201"/>
          </a:xfrm>
          <a:prstGeom prst="rightArrow">
            <a:avLst>
              <a:gd name="adj1" fmla="val 64756"/>
              <a:gd name="adj2" fmla="val 712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2000" b="1" dirty="0"/>
              <a:t>Default Constructor </a:t>
            </a:r>
            <a:r>
              <a:rPr lang="en-IE" sz="2000" dirty="0"/>
              <a:t>with NO parameters</a:t>
            </a:r>
          </a:p>
        </p:txBody>
      </p:sp>
      <p:sp>
        <p:nvSpPr>
          <p:cNvPr id="9" name="Arrow: Right 6">
            <a:extLst>
              <a:ext uri="{FF2B5EF4-FFF2-40B4-BE49-F238E27FC236}">
                <a16:creationId xmlns:a16="http://schemas.microsoft.com/office/drawing/2014/main" id="{0B0BC4BA-B1F4-4CB1-9019-A4B024AAC42E}"/>
              </a:ext>
            </a:extLst>
          </p:cNvPr>
          <p:cNvSpPr/>
          <p:nvPr/>
        </p:nvSpPr>
        <p:spPr>
          <a:xfrm>
            <a:off x="1676400" y="4425652"/>
            <a:ext cx="3886200" cy="1981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dirty="0"/>
              <a:t>A second  </a:t>
            </a:r>
            <a:r>
              <a:rPr lang="en-IE" b="1" dirty="0"/>
              <a:t>Constructor with a</a:t>
            </a:r>
            <a:r>
              <a:rPr lang="en-IE" dirty="0"/>
              <a:t> (float, float, float) </a:t>
            </a:r>
            <a:r>
              <a:rPr lang="en-IE" b="1" dirty="0"/>
              <a:t>parameter list</a:t>
            </a:r>
            <a:endParaRPr lang="en-IE" dirty="0"/>
          </a:p>
        </p:txBody>
      </p:sp>
      <p:sp>
        <p:nvSpPr>
          <p:cNvPr id="10" name="Rectangle 9"/>
          <p:cNvSpPr/>
          <p:nvPr/>
        </p:nvSpPr>
        <p:spPr>
          <a:xfrm>
            <a:off x="1981200" y="2880085"/>
            <a:ext cx="22992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altLang="en-US" sz="3200" b="1" dirty="0">
                <a:solidFill>
                  <a:srgbClr val="FF0000"/>
                </a:solidFill>
              </a:rPr>
              <a:t>overloading </a:t>
            </a:r>
            <a:endParaRPr lang="en-GB" sz="3200" b="1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365306" y="2971800"/>
            <a:ext cx="1044895" cy="20067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360644" y="3278834"/>
            <a:ext cx="1049557" cy="152176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82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Class Diagram for Spot Version 3.0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2123363"/>
            <a:ext cx="22098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b="1" dirty="0"/>
              <a:t>Object</a:t>
            </a:r>
            <a:r>
              <a:rPr lang="en-IE" sz="2400" dirty="0"/>
              <a:t> Type/ </a:t>
            </a:r>
            <a:r>
              <a:rPr lang="en-IE" sz="2400" b="1" dirty="0"/>
              <a:t>Class</a:t>
            </a:r>
            <a:r>
              <a:rPr lang="en-IE" sz="2400" dirty="0"/>
              <a:t> Name</a:t>
            </a:r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4267200" y="2538861"/>
            <a:ext cx="19050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57400" y="3207604"/>
            <a:ext cx="28956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Fields</a:t>
            </a:r>
            <a:r>
              <a:rPr lang="en-IE" sz="2400" dirty="0"/>
              <a:t> i.e. the attributes of the class</a:t>
            </a:r>
          </a:p>
        </p:txBody>
      </p:sp>
      <p:cxnSp>
        <p:nvCxnSpPr>
          <p:cNvPr id="13" name="Straight Arrow Connector 12"/>
          <p:cNvCxnSpPr>
            <a:stCxn id="12" idx="3"/>
          </p:cNvCxnSpPr>
          <p:nvPr/>
        </p:nvCxnSpPr>
        <p:spPr>
          <a:xfrm>
            <a:off x="4953000" y="3623102"/>
            <a:ext cx="1219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57400" y="4419601"/>
            <a:ext cx="2895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Methods</a:t>
            </a:r>
            <a:r>
              <a:rPr lang="en-IE" sz="2400" dirty="0"/>
              <a:t> i.e. the behaviours of the class</a:t>
            </a:r>
          </a:p>
        </p:txBody>
      </p:sp>
      <p:cxnSp>
        <p:nvCxnSpPr>
          <p:cNvPr id="19" name="Straight Arrow Connector 18"/>
          <p:cNvCxnSpPr>
            <a:stCxn id="18" idx="3"/>
          </p:cNvCxnSpPr>
          <p:nvPr/>
        </p:nvCxnSpPr>
        <p:spPr>
          <a:xfrm>
            <a:off x="4953000" y="5019765"/>
            <a:ext cx="1219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0326116"/>
              </p:ext>
            </p:extLst>
          </p:nvPr>
        </p:nvGraphicFramePr>
        <p:xfrm>
          <a:off x="6172200" y="2226461"/>
          <a:ext cx="4114800" cy="3384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4434">
                <a:tc>
                  <a:txBody>
                    <a:bodyPr/>
                    <a:lstStyle/>
                    <a:p>
                      <a:pPr algn="ctr"/>
                      <a:r>
                        <a:rPr lang="en-IE" sz="3200" i="1" dirty="0"/>
                        <a:t>Spot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7692">
                <a:tc>
                  <a:txBody>
                    <a:bodyPr/>
                    <a:lstStyle/>
                    <a:p>
                      <a:r>
                        <a:rPr lang="en-IE" sz="3200" i="1" dirty="0" err="1"/>
                        <a:t>xCoord</a:t>
                      </a:r>
                      <a:endParaRPr lang="en-IE" sz="3200" i="1" dirty="0"/>
                    </a:p>
                    <a:p>
                      <a:r>
                        <a:rPr lang="en-IE" sz="3200" i="1" dirty="0" err="1"/>
                        <a:t>yCoord</a:t>
                      </a:r>
                      <a:endParaRPr lang="en-IE" sz="3200" i="1" dirty="0"/>
                    </a:p>
                    <a:p>
                      <a:r>
                        <a:rPr lang="en-IE" sz="3200" i="1" dirty="0"/>
                        <a:t>diameter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944">
                <a:tc>
                  <a:txBody>
                    <a:bodyPr/>
                    <a:lstStyle/>
                    <a:p>
                      <a:r>
                        <a:rPr lang="en-IE" sz="3200" i="1" dirty="0"/>
                        <a:t>Spot()</a:t>
                      </a:r>
                    </a:p>
                    <a:p>
                      <a:r>
                        <a:rPr lang="en-IE" sz="3200" i="1" dirty="0"/>
                        <a:t>Spot</a:t>
                      </a:r>
                      <a:r>
                        <a:rPr lang="en-IE" sz="3200" i="1" baseline="0" dirty="0"/>
                        <a:t>(float, float, float)</a:t>
                      </a:r>
                      <a:endParaRPr lang="en-IE" sz="3200" i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518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Class Diagram for Spot Version 3.0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graphicFrame>
        <p:nvGraphicFramePr>
          <p:cNvPr id="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932959"/>
              </p:ext>
            </p:extLst>
          </p:nvPr>
        </p:nvGraphicFramePr>
        <p:xfrm>
          <a:off x="6172200" y="2226461"/>
          <a:ext cx="4114800" cy="3384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4434">
                <a:tc>
                  <a:txBody>
                    <a:bodyPr/>
                    <a:lstStyle/>
                    <a:p>
                      <a:pPr algn="ctr"/>
                      <a:r>
                        <a:rPr lang="en-IE" sz="3200" i="1" dirty="0"/>
                        <a:t>Spot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7692">
                <a:tc>
                  <a:txBody>
                    <a:bodyPr/>
                    <a:lstStyle/>
                    <a:p>
                      <a:r>
                        <a:rPr lang="en-IE" sz="3200" i="1" dirty="0" err="1"/>
                        <a:t>xCoord</a:t>
                      </a:r>
                      <a:endParaRPr lang="en-IE" sz="3200" i="1" dirty="0"/>
                    </a:p>
                    <a:p>
                      <a:r>
                        <a:rPr lang="en-IE" sz="3200" i="1" dirty="0" err="1"/>
                        <a:t>yCoord</a:t>
                      </a:r>
                      <a:endParaRPr lang="en-IE" sz="3200" i="1" dirty="0"/>
                    </a:p>
                    <a:p>
                      <a:r>
                        <a:rPr lang="en-IE" sz="3200" i="1" dirty="0"/>
                        <a:t>diameter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944">
                <a:tc>
                  <a:txBody>
                    <a:bodyPr/>
                    <a:lstStyle/>
                    <a:p>
                      <a:r>
                        <a:rPr lang="en-IE" sz="3200" i="1" dirty="0"/>
                        <a:t>Spot()</a:t>
                      </a:r>
                    </a:p>
                    <a:p>
                      <a:r>
                        <a:rPr lang="en-IE" sz="3200" i="1" dirty="0"/>
                        <a:t>Spot</a:t>
                      </a:r>
                      <a:r>
                        <a:rPr lang="en-IE" sz="3200" i="1" baseline="0" dirty="0"/>
                        <a:t>(float, float, float)</a:t>
                      </a:r>
                      <a:endParaRPr lang="en-IE" sz="3200" i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33400" y="1994862"/>
            <a:ext cx="5181600" cy="34778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dirty="0"/>
              <a:t>So far, we only have overloaded constructors for our class (they create the objects of our class).</a:t>
            </a:r>
          </a:p>
          <a:p>
            <a:endParaRPr lang="en-IE" sz="2000" dirty="0"/>
          </a:p>
          <a:p>
            <a:r>
              <a:rPr lang="en-IE" sz="2000" dirty="0"/>
              <a:t>We have not defined any </a:t>
            </a:r>
            <a:r>
              <a:rPr lang="en-IE" sz="2000" b="1" dirty="0"/>
              <a:t>behaviours</a:t>
            </a:r>
            <a:r>
              <a:rPr lang="en-IE" sz="2000" dirty="0"/>
              <a:t> for our class e.g.</a:t>
            </a:r>
          </a:p>
          <a:p>
            <a:r>
              <a:rPr lang="en-IE" sz="2000" dirty="0"/>
              <a:t>    </a:t>
            </a:r>
            <a:r>
              <a:rPr lang="en-IE" sz="2000" b="1" dirty="0"/>
              <a:t>display</a:t>
            </a:r>
            <a:r>
              <a:rPr lang="en-IE" sz="2000" dirty="0"/>
              <a:t> the spot,</a:t>
            </a:r>
          </a:p>
          <a:p>
            <a:r>
              <a:rPr lang="en-IE" sz="2000" dirty="0"/>
              <a:t>    </a:t>
            </a:r>
            <a:r>
              <a:rPr lang="en-IE" sz="2000" b="1" dirty="0"/>
              <a:t>colour</a:t>
            </a:r>
            <a:r>
              <a:rPr lang="en-IE" sz="2000" dirty="0"/>
              <a:t> the spot,</a:t>
            </a:r>
          </a:p>
          <a:p>
            <a:r>
              <a:rPr lang="en-IE" sz="2000" dirty="0"/>
              <a:t>    </a:t>
            </a:r>
            <a:r>
              <a:rPr lang="en-IE" sz="2000" b="1" dirty="0"/>
              <a:t>move</a:t>
            </a:r>
            <a:r>
              <a:rPr lang="en-IE" sz="2000" dirty="0"/>
              <a:t> the spot, </a:t>
            </a:r>
          </a:p>
          <a:p>
            <a:r>
              <a:rPr lang="en-IE" sz="2000" dirty="0"/>
              <a:t>    and so on.</a:t>
            </a:r>
          </a:p>
          <a:p>
            <a:endParaRPr lang="en-IE" sz="2000" dirty="0"/>
          </a:p>
          <a:p>
            <a:r>
              <a:rPr lang="en-IE" sz="2000" dirty="0"/>
              <a:t>As it stands, the Spot class is not very useful!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715000" y="3733800"/>
            <a:ext cx="4572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83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err="1"/>
              <a:t>Reas</a:t>
            </a:r>
            <a:r>
              <a:rPr lang="en-IE" dirty="0"/>
              <a:t>, C. &amp; Fry, B. (2014) Processing – A Programming Handbook for Visual Designers and Artists, 2</a:t>
            </a:r>
            <a:r>
              <a:rPr lang="en-IE" baseline="30000" dirty="0"/>
              <a:t>nd</a:t>
            </a:r>
            <a:r>
              <a:rPr lang="en-IE" dirty="0"/>
              <a:t> Edition, MIT Press, London.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55011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2849</TotalTime>
  <Words>1486</Words>
  <Application>Microsoft Macintosh PowerPoint</Application>
  <PresentationFormat>Widescreen</PresentationFormat>
  <Paragraphs>369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Classes and Objects</vt:lpstr>
      <vt:lpstr>Topics list</vt:lpstr>
      <vt:lpstr>Building Analogy</vt:lpstr>
      <vt:lpstr>Building Analogy</vt:lpstr>
      <vt:lpstr>Building Analogy</vt:lpstr>
      <vt:lpstr>Cake Analogy</vt:lpstr>
      <vt:lpstr>Cake Analogy</vt:lpstr>
      <vt:lpstr>Cake Analogy</vt:lpstr>
      <vt:lpstr>Cake Analogy</vt:lpstr>
      <vt:lpstr>Class names:</vt:lpstr>
      <vt:lpstr>Spot – classes and objects</vt:lpstr>
      <vt:lpstr>Spot – classes and objects</vt:lpstr>
      <vt:lpstr>Spot – classes and objects</vt:lpstr>
      <vt:lpstr>Spot – classes and objects</vt:lpstr>
      <vt:lpstr>Spot – classes and objects</vt:lpstr>
      <vt:lpstr>Spot – classes and objects</vt:lpstr>
      <vt:lpstr>Spot – classes and objects</vt:lpstr>
      <vt:lpstr>Spot – classes and objects</vt:lpstr>
      <vt:lpstr>Topics list</vt:lpstr>
      <vt:lpstr>Spot Class – Version 1.0</vt:lpstr>
      <vt:lpstr>Spot Class – Version 1.0</vt:lpstr>
      <vt:lpstr>Constructors</vt:lpstr>
      <vt:lpstr>Constructors</vt:lpstr>
      <vt:lpstr>Default Constructor</vt:lpstr>
      <vt:lpstr>Topics list</vt:lpstr>
      <vt:lpstr>Spot Class – Version 2.0</vt:lpstr>
      <vt:lpstr>Topics list</vt:lpstr>
      <vt:lpstr>Overloading Constructors</vt:lpstr>
      <vt:lpstr>Spot Class – Version 3.0</vt:lpstr>
      <vt:lpstr>Class Diagram for Spot Version 3.0</vt:lpstr>
      <vt:lpstr>Class Diagram for Spot Version 3.0</vt:lpstr>
      <vt:lpstr>Questions?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- adding behaviour</dc:title>
  <dc:creator>Siobhan Drohan</dc:creator>
  <cp:lastModifiedBy>Mairead Meagher</cp:lastModifiedBy>
  <cp:revision>348</cp:revision>
  <cp:lastPrinted>2018-02-13T22:25:55Z</cp:lastPrinted>
  <dcterms:created xsi:type="dcterms:W3CDTF">2006-08-16T00:00:00Z</dcterms:created>
  <dcterms:modified xsi:type="dcterms:W3CDTF">2022-11-04T15:37:29Z</dcterms:modified>
</cp:coreProperties>
</file>