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465" r:id="rId3"/>
    <p:sldId id="346" r:id="rId4"/>
    <p:sldId id="341" r:id="rId5"/>
    <p:sldId id="309" r:id="rId6"/>
    <p:sldId id="383" r:id="rId7"/>
    <p:sldId id="671" r:id="rId8"/>
    <p:sldId id="313" r:id="rId9"/>
    <p:sldId id="672" r:id="rId10"/>
    <p:sldId id="315" r:id="rId11"/>
    <p:sldId id="316" r:id="rId12"/>
    <p:sldId id="312" r:id="rId13"/>
    <p:sldId id="281" r:id="rId14"/>
    <p:sldId id="298" r:id="rId15"/>
  </p:sldIdLst>
  <p:sldSz cx="9144000" cy="5143500" type="screen16x9"/>
  <p:notesSz cx="6858000" cy="9144000"/>
  <p:defaultTextStyle>
    <a:lvl1pPr algn="ctr" defTabSz="366737">
      <a:defRPr sz="2250">
        <a:latin typeface="+mn-lt"/>
        <a:ea typeface="+mn-ea"/>
        <a:cs typeface="+mn-cs"/>
        <a:sym typeface="Helvetica Light"/>
      </a:defRPr>
    </a:lvl1pPr>
    <a:lvl2pPr indent="143505" algn="ctr" defTabSz="366737">
      <a:defRPr sz="2250">
        <a:latin typeface="+mn-lt"/>
        <a:ea typeface="+mn-ea"/>
        <a:cs typeface="+mn-cs"/>
        <a:sym typeface="Helvetica Light"/>
      </a:defRPr>
    </a:lvl2pPr>
    <a:lvl3pPr indent="287012" algn="ctr" defTabSz="366737">
      <a:defRPr sz="2250">
        <a:latin typeface="+mn-lt"/>
        <a:ea typeface="+mn-ea"/>
        <a:cs typeface="+mn-cs"/>
        <a:sym typeface="Helvetica Light"/>
      </a:defRPr>
    </a:lvl3pPr>
    <a:lvl4pPr indent="430517" algn="ctr" defTabSz="366737">
      <a:defRPr sz="2250">
        <a:latin typeface="+mn-lt"/>
        <a:ea typeface="+mn-ea"/>
        <a:cs typeface="+mn-cs"/>
        <a:sym typeface="Helvetica Light"/>
      </a:defRPr>
    </a:lvl4pPr>
    <a:lvl5pPr indent="574022" algn="ctr" defTabSz="366737">
      <a:defRPr sz="2250">
        <a:latin typeface="+mn-lt"/>
        <a:ea typeface="+mn-ea"/>
        <a:cs typeface="+mn-cs"/>
        <a:sym typeface="Helvetica Light"/>
      </a:defRPr>
    </a:lvl5pPr>
    <a:lvl6pPr indent="717528" algn="ctr" defTabSz="366737">
      <a:defRPr sz="2250">
        <a:latin typeface="+mn-lt"/>
        <a:ea typeface="+mn-ea"/>
        <a:cs typeface="+mn-cs"/>
        <a:sym typeface="Helvetica Light"/>
      </a:defRPr>
    </a:lvl6pPr>
    <a:lvl7pPr indent="861034" algn="ctr" defTabSz="366737">
      <a:defRPr sz="2250">
        <a:latin typeface="+mn-lt"/>
        <a:ea typeface="+mn-ea"/>
        <a:cs typeface="+mn-cs"/>
        <a:sym typeface="Helvetica Light"/>
      </a:defRPr>
    </a:lvl7pPr>
    <a:lvl8pPr indent="1004539" algn="ctr" defTabSz="366737">
      <a:defRPr sz="2250">
        <a:latin typeface="+mn-lt"/>
        <a:ea typeface="+mn-ea"/>
        <a:cs typeface="+mn-cs"/>
        <a:sym typeface="Helvetica Light"/>
      </a:defRPr>
    </a:lvl8pPr>
    <a:lvl9pPr indent="1148045" algn="ctr" defTabSz="366737">
      <a:defRPr sz="2250"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8CBE"/>
    <a:srgbClr val="2F486B"/>
    <a:srgbClr val="0368FF"/>
    <a:srgbClr val="194699"/>
    <a:srgbClr val="1F33AB"/>
    <a:srgbClr val="84AEFF"/>
    <a:srgbClr val="0E9647"/>
    <a:srgbClr val="FDE111"/>
    <a:srgbClr val="ED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00882B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/>
    <p:restoredTop sz="85442"/>
  </p:normalViewPr>
  <p:slideViewPr>
    <p:cSldViewPr snapToGrid="0" snapToObjects="1">
      <p:cViewPr varScale="1">
        <p:scale>
          <a:sx n="135" d="100"/>
          <a:sy n="135" d="100"/>
        </p:scale>
        <p:origin x="184" y="23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49E08-5597-3E45-8582-EEB58189C482}" type="datetimeFigureOut">
              <a:rPr lang="en-US" smtClean="0"/>
              <a:t>7/27/23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69502-A57F-A84E-93AF-100B756C632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7028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pPr lvl="0"/>
            <a:endParaRPr dirty="0"/>
          </a:p>
        </p:txBody>
      </p:sp>
      <p:sp>
        <p:nvSpPr>
          <p:cNvPr id="73" name="Shape 7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9514939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1pPr>
    <a:lvl2pPr indent="143505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2pPr>
    <a:lvl3pPr indent="287012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3pPr>
    <a:lvl4pPr indent="430517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4pPr>
    <a:lvl5pPr indent="574022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5pPr>
    <a:lvl6pPr indent="717528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6pPr>
    <a:lvl7pPr indent="861034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7pPr>
    <a:lvl8pPr indent="1004539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8pPr>
    <a:lvl9pPr indent="1148045" defTabSz="287012">
      <a:lnSpc>
        <a:spcPct val="125000"/>
      </a:lnSpc>
      <a:defRPr sz="15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defTabSz="287012" rtl="0">
              <a:lnSpc>
                <a:spcPct val="125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40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http://viralpatel.net/blogs/java-virtual-machine-an-inside-story/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98782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IE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46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hyperlink" Target="mailto:ddrohan@wit.ie" TargetMode="Externa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 close-up of a metal structure&#10;&#10;Description automatically generated with low confidence">
            <a:extLst>
              <a:ext uri="{FF2B5EF4-FFF2-40B4-BE49-F238E27FC236}">
                <a16:creationId xmlns:a16="http://schemas.microsoft.com/office/drawing/2014/main" id="{14F6341F-72F0-BFA6-6798-9AC71A86B3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5096" t="1189" r="36524" b="51187"/>
          <a:stretch/>
        </p:blipFill>
        <p:spPr>
          <a:xfrm>
            <a:off x="-6264" y="-6182"/>
            <a:ext cx="9150263" cy="5147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</p:pic>
      <p:sp>
        <p:nvSpPr>
          <p:cNvPr id="12" name="Shape 33">
            <a:extLst>
              <a:ext uri="{FF2B5EF4-FFF2-40B4-BE49-F238E27FC236}">
                <a16:creationId xmlns:a16="http://schemas.microsoft.com/office/drawing/2014/main" id="{EAD08510-7D5A-594A-AAEC-59C7087561FC}"/>
              </a:ext>
            </a:extLst>
          </p:cNvPr>
          <p:cNvSpPr/>
          <p:nvPr userDrawn="1"/>
        </p:nvSpPr>
        <p:spPr>
          <a:xfrm>
            <a:off x="3778568" y="2059379"/>
            <a:ext cx="4846151" cy="0"/>
          </a:xfrm>
          <a:prstGeom prst="line">
            <a:avLst/>
          </a:prstGeom>
          <a:ln w="3175">
            <a:solidFill>
              <a:schemeClr val="tx1"/>
            </a:solidFill>
            <a:miter lim="400000"/>
          </a:ln>
        </p:spPr>
        <p:txBody>
          <a:bodyPr lIns="0" tIns="0" rIns="0" bIns="0" anchor="ctr"/>
          <a:lstStyle/>
          <a:p>
            <a:pPr lvl="0" algn="l" defTabSz="286973" rtl="0">
              <a:defRPr sz="1100">
                <a:latin typeface="Helvetica"/>
                <a:ea typeface="Helvetica"/>
                <a:cs typeface="Helvetica"/>
                <a:sym typeface="Helvetica"/>
              </a:defRPr>
            </a:pPr>
            <a:endParaRPr sz="825" dirty="0"/>
          </a:p>
        </p:txBody>
      </p:sp>
      <p:sp>
        <p:nvSpPr>
          <p:cNvPr id="13" name="Shape 34">
            <a:extLst>
              <a:ext uri="{FF2B5EF4-FFF2-40B4-BE49-F238E27FC236}">
                <a16:creationId xmlns:a16="http://schemas.microsoft.com/office/drawing/2014/main" id="{BB2C258E-D81B-5B4E-8B1B-562CE71165EB}"/>
              </a:ext>
            </a:extLst>
          </p:cNvPr>
          <p:cNvSpPr/>
          <p:nvPr userDrawn="1"/>
        </p:nvSpPr>
        <p:spPr>
          <a:xfrm>
            <a:off x="3613319" y="2299116"/>
            <a:ext cx="1208664" cy="590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 lvl="0" algn="r">
              <a:lnSpc>
                <a:spcPct val="80000"/>
              </a:lnSpc>
              <a:defRPr sz="1800"/>
            </a:pPr>
            <a:r>
              <a:rPr sz="2400" b="1" i="0" baseline="0" dirty="0">
                <a:solidFill>
                  <a:schemeClr val="bg1">
                    <a:lumMod val="85000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Produced</a:t>
            </a:r>
          </a:p>
          <a:p>
            <a:pPr lvl="0" algn="r">
              <a:lnSpc>
                <a:spcPct val="80000"/>
              </a:lnSpc>
              <a:defRPr sz="1800"/>
            </a:pPr>
            <a:r>
              <a:rPr sz="2400" b="1" i="0" baseline="0" dirty="0">
                <a:solidFill>
                  <a:schemeClr val="bg1">
                    <a:lumMod val="85000"/>
                  </a:schemeClr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rPr>
              <a:t>by</a:t>
            </a:r>
          </a:p>
        </p:txBody>
      </p:sp>
      <p:sp>
        <p:nvSpPr>
          <p:cNvPr id="15" name="Shape 35">
            <a:extLst>
              <a:ext uri="{FF2B5EF4-FFF2-40B4-BE49-F238E27FC236}">
                <a16:creationId xmlns:a16="http://schemas.microsoft.com/office/drawing/2014/main" id="{885F7572-8BDA-2441-A5EC-7D945A8A5010}"/>
              </a:ext>
            </a:extLst>
          </p:cNvPr>
          <p:cNvSpPr/>
          <p:nvPr/>
        </p:nvSpPr>
        <p:spPr>
          <a:xfrm>
            <a:off x="4970252" y="3114062"/>
            <a:ext cx="3241478" cy="545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numCol="1" anchor="ctr">
            <a:noAutofit/>
          </a:bodyPr>
          <a:lstStyle/>
          <a:p>
            <a:pPr lvl="0" algn="l">
              <a:lnSpc>
                <a:spcPct val="120000"/>
              </a:lnSpc>
              <a:defRPr sz="1800"/>
            </a:pPr>
            <a:r>
              <a:rPr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Department of Computing &amp; Mathematics</a:t>
            </a:r>
          </a:p>
          <a:p>
            <a:pPr lvl="0" algn="l">
              <a:lnSpc>
                <a:spcPct val="120000"/>
              </a:lnSpc>
              <a:defRPr sz="1800"/>
            </a:pPr>
            <a: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South East Technological University</a:t>
            </a:r>
            <a:b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IE" sz="975" b="1" i="0" baseline="0" dirty="0">
                <a:solidFill>
                  <a:srgbClr val="1334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Waterford, Ireland</a:t>
            </a: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F323B0CE-A19A-E748-98EC-D40F56CC33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187903" y="4360424"/>
            <a:ext cx="730559" cy="730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5E7D44-1D07-9340-B610-CE9A2D7BB0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58289" y="188773"/>
            <a:ext cx="560173" cy="63879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0A583B1-550B-C14A-A9E9-8D176BDC6F6E}"/>
              </a:ext>
            </a:extLst>
          </p:cNvPr>
          <p:cNvSpPr txBox="1"/>
          <p:nvPr userDrawn="1"/>
        </p:nvSpPr>
        <p:spPr>
          <a:xfrm>
            <a:off x="4721847" y="4551298"/>
            <a:ext cx="3425984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r" fontAlgn="auto"/>
            <a:r>
              <a:rPr lang="en-IE" sz="1600" b="1" i="0" u="none" strike="noStrike" baseline="0" dirty="0" err="1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  <a:sym typeface="Helvetica Light"/>
              </a:rPr>
              <a:t>setu.ie</a:t>
            </a:r>
            <a:endParaRPr lang="en-IE" sz="1600" b="1" i="0" u="none" strike="noStrike" baseline="0" dirty="0">
              <a:solidFill>
                <a:schemeClr val="bg1">
                  <a:lumMod val="85000"/>
                </a:schemeClr>
              </a:solidFill>
              <a:effectLst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21" name="Shape 35">
            <a:extLst>
              <a:ext uri="{FF2B5EF4-FFF2-40B4-BE49-F238E27FC236}">
                <a16:creationId xmlns:a16="http://schemas.microsoft.com/office/drawing/2014/main" id="{1EC3B031-7C7C-5846-BACC-8C65A8064D86}"/>
              </a:ext>
            </a:extLst>
          </p:cNvPr>
          <p:cNvSpPr/>
          <p:nvPr userDrawn="1"/>
        </p:nvSpPr>
        <p:spPr>
          <a:xfrm>
            <a:off x="4963941" y="2144699"/>
            <a:ext cx="3954521" cy="10468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0" rIns="0" bIns="0" numCol="1" anchor="ctr">
            <a:noAutofit/>
          </a:bodyPr>
          <a:lstStyle/>
          <a:p>
            <a:pPr algn="l"/>
            <a:r>
              <a:rPr lang="en-IE" sz="1800" b="1" i="0" baseline="0" dirty="0"/>
              <a:t>Mr. Dave Drohan </a:t>
            </a:r>
            <a:r>
              <a:rPr lang="en-IE" sz="1600" b="1" i="0" baseline="0" dirty="0"/>
              <a:t>(</a:t>
            </a:r>
            <a:r>
              <a:rPr lang="en-IE" sz="1600" b="1" i="0" baseline="0" dirty="0">
                <a:solidFill>
                  <a:srgbClr val="006699"/>
                </a:solidFill>
                <a:uFill>
                  <a:solidFill>
                    <a:srgbClr val="006699"/>
                  </a:solidFill>
                </a:uFill>
                <a:hlinkClick r:id="rId5"/>
              </a:rPr>
              <a:t>david.drohan@setu.ie</a:t>
            </a:r>
            <a:r>
              <a:rPr lang="en-IE" sz="1600" b="1" i="0" baseline="0" dirty="0"/>
              <a:t>)</a:t>
            </a:r>
            <a:br>
              <a:rPr lang="en-IE" sz="1600" b="1" i="0" baseline="0" dirty="0"/>
            </a:br>
            <a:r>
              <a:rPr lang="en-IE" sz="1800" dirty="0" err="1">
                <a:solidFill>
                  <a:schemeClr val="tx1"/>
                </a:solidFill>
              </a:rPr>
              <a:t>Dr.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Siobhán</a:t>
            </a:r>
            <a:r>
              <a:rPr lang="en-IE" sz="1800" dirty="0">
                <a:solidFill>
                  <a:schemeClr val="tx1"/>
                </a:solidFill>
              </a:rPr>
              <a:t> </a:t>
            </a:r>
            <a:r>
              <a:rPr lang="en-IE" sz="1800" dirty="0" err="1">
                <a:solidFill>
                  <a:schemeClr val="tx1"/>
                </a:solidFill>
              </a:rPr>
              <a:t>Drohan</a:t>
            </a:r>
            <a:endParaRPr lang="en-IE" sz="1800" dirty="0">
              <a:solidFill>
                <a:schemeClr val="tx1"/>
              </a:solidFill>
            </a:endParaRPr>
          </a:p>
          <a:p>
            <a:pPr algn="l"/>
            <a:r>
              <a:rPr lang="en-IE" sz="1800" dirty="0">
                <a:solidFill>
                  <a:schemeClr val="tx1"/>
                </a:solidFill>
              </a:rPr>
              <a:t>Ms. Mairead Meagher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BBD13589-119E-31F3-037B-F798E38525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9399" y="1324611"/>
            <a:ext cx="7893844" cy="542479"/>
          </a:xfrm>
        </p:spPr>
        <p:txBody>
          <a:bodyPr/>
          <a:lstStyle>
            <a:lvl1pPr>
              <a:defRPr sz="2800" b="1"/>
            </a:lvl1pPr>
          </a:lstStyle>
          <a:p>
            <a:pPr algn="r" defTabSz="366688" rtl="0"/>
            <a:r>
              <a:rPr lang="en-US" dirty="0"/>
              <a:t>Programming Fundamentals 1</a:t>
            </a:r>
          </a:p>
        </p:txBody>
      </p:sp>
    </p:spTree>
    <p:extLst>
      <p:ext uri="{BB962C8B-B14F-4D97-AF65-F5344CB8AC3E}">
        <p14:creationId xmlns:p14="http://schemas.microsoft.com/office/powerpoint/2010/main" val="312442219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200" baseline="0"/>
            </a:lvl1pPr>
          </a:lstStyle>
          <a:p>
            <a:pPr lvl="0">
              <a:defRPr sz="1800"/>
            </a:pPr>
            <a:r>
              <a:rPr sz="2775" dirty="0"/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>
                <a:srgbClr val="194699"/>
              </a:buClr>
              <a:defRPr/>
            </a:lvl1pPr>
            <a:lvl2pPr>
              <a:buClr>
                <a:srgbClr val="194699"/>
              </a:buClr>
              <a:defRPr/>
            </a:lvl2pPr>
            <a:lvl3pPr>
              <a:buClr>
                <a:srgbClr val="194699"/>
              </a:buClr>
              <a:defRPr/>
            </a:lvl3pPr>
            <a:lvl4pPr>
              <a:buClr>
                <a:srgbClr val="194699"/>
              </a:buClr>
              <a:defRPr/>
            </a:lvl4pPr>
            <a:lvl5pPr>
              <a:buClr>
                <a:srgbClr val="194699"/>
              </a:buClr>
              <a:defRPr/>
            </a:lvl5pPr>
          </a:lstStyle>
          <a:p>
            <a:pPr lvl="0">
              <a:defRPr sz="1800"/>
            </a:pPr>
            <a:r>
              <a:rPr sz="2400" dirty="0"/>
              <a:t>Body Level One</a:t>
            </a:r>
          </a:p>
          <a:p>
            <a:pPr lvl="1">
              <a:defRPr sz="1800"/>
            </a:pPr>
            <a:r>
              <a:rPr sz="2400" dirty="0"/>
              <a:t>Body Level Two</a:t>
            </a:r>
          </a:p>
          <a:p>
            <a:pPr lvl="2">
              <a:defRPr sz="1800"/>
            </a:pPr>
            <a:r>
              <a:rPr sz="2400" dirty="0"/>
              <a:t>Body Level Three</a:t>
            </a:r>
          </a:p>
          <a:p>
            <a:pPr lvl="3">
              <a:defRPr sz="1800"/>
            </a:pPr>
            <a:r>
              <a:rPr sz="2400" dirty="0"/>
              <a:t>Body Level Four</a:t>
            </a:r>
          </a:p>
          <a:p>
            <a:pPr lvl="4">
              <a:defRPr sz="1800"/>
            </a:pPr>
            <a:r>
              <a:rPr sz="2400" dirty="0"/>
              <a:t>Body Level Five</a:t>
            </a:r>
          </a:p>
        </p:txBody>
      </p:sp>
      <p:sp>
        <p:nvSpPr>
          <p:cNvPr id="50" name="Shape 50"/>
          <p:cNvSpPr>
            <a:spLocks noGrp="1"/>
          </p:cNvSpPr>
          <p:nvPr>
            <p:ph type="sldNum" sz="quarter" idx="2"/>
          </p:nvPr>
        </p:nvSpPr>
        <p:spPr>
          <a:xfrm>
            <a:off x="6553201" y="4875912"/>
            <a:ext cx="1905000" cy="283023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rPr/>
              <a:t>‹#›</a:t>
            </a:fld>
            <a:endParaRPr dirty="0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4688" y="4895886"/>
            <a:ext cx="2430270" cy="24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526" tIns="38263" rIns="76526" bIns="38263" numCol="1" anchor="b" anchorCtr="0" compatLnSpc="1">
            <a:prstTxWarp prst="textNoShape">
              <a:avLst/>
            </a:prstTxWarp>
          </a:bodyPr>
          <a:lstStyle>
            <a:lvl1pPr algn="ctr">
              <a:defRPr sz="1125" b="0" i="0">
                <a:latin typeface="Helvetica Neue Light"/>
                <a:cs typeface="Helvetica Neue Light"/>
              </a:defRPr>
            </a:lvl1pPr>
          </a:lstStyle>
          <a:p>
            <a:r>
              <a:rPr lang="en-IE"/>
              <a:t>https://www.java.com</a:t>
            </a:r>
            <a:endParaRPr lang="en-IE"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FE51DA-9AF5-F835-204E-B5376FB7A7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46552-8ABC-2684-8EA3-A12C826FB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AC3EAD-3ACD-68D9-A159-986D3E0E55D6}"/>
              </a:ext>
            </a:extLst>
          </p:cNvPr>
          <p:cNvSpPr/>
          <p:nvPr userDrawn="1"/>
        </p:nvSpPr>
        <p:spPr>
          <a:xfrm>
            <a:off x="375385" y="683393"/>
            <a:ext cx="7324826" cy="327259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64145168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27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7200" y="108585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9047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1" y="4902399"/>
            <a:ext cx="9143989" cy="241102"/>
          </a:xfrm>
          <a:prstGeom prst="rect">
            <a:avLst/>
          </a:prstGeom>
          <a:solidFill>
            <a:srgbClr val="59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defTabSz="366737" rtl="0"/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21" y="4867339"/>
            <a:ext cx="9143978" cy="35060"/>
          </a:xfrm>
          <a:prstGeom prst="rect">
            <a:avLst/>
          </a:prstGeom>
          <a:solidFill>
            <a:srgbClr val="2F4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4418" tIns="54418" rIns="54418" bIns="54418" anchor="b"/>
          <a:lstStyle/>
          <a:p>
            <a:pPr lvl="0">
              <a:defRPr sz="1800"/>
            </a:pPr>
            <a:r>
              <a:rPr sz="2775" dirty="0"/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395536" y="843558"/>
            <a:ext cx="7772401" cy="4299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4418" tIns="54418" rIns="54418" bIns="54418"/>
          <a:lstStyle/>
          <a:p>
            <a:pPr lvl="0">
              <a:defRPr sz="1800"/>
            </a:pPr>
            <a:r>
              <a:rPr sz="2400" dirty="0"/>
              <a:t>Body Level One</a:t>
            </a:r>
          </a:p>
          <a:p>
            <a:pPr lvl="1">
              <a:defRPr sz="1800"/>
            </a:pPr>
            <a:r>
              <a:rPr sz="2400" dirty="0"/>
              <a:t>Body Level Two</a:t>
            </a:r>
          </a:p>
          <a:p>
            <a:pPr lvl="2">
              <a:defRPr sz="1800"/>
            </a:pPr>
            <a:r>
              <a:rPr sz="2400" dirty="0"/>
              <a:t>Body Level Three</a:t>
            </a:r>
          </a:p>
          <a:p>
            <a:pPr lvl="3">
              <a:defRPr sz="1800"/>
            </a:pPr>
            <a:r>
              <a:rPr sz="2400" dirty="0"/>
              <a:t>Body Level Four</a:t>
            </a:r>
          </a:p>
          <a:p>
            <a:pPr lvl="4">
              <a:defRPr sz="1800"/>
            </a:pPr>
            <a:r>
              <a:rPr sz="2400" dirty="0"/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553201" y="4847061"/>
            <a:ext cx="1905000" cy="283023"/>
          </a:xfrm>
          <a:prstGeom prst="rect">
            <a:avLst/>
          </a:prstGeom>
          <a:ln w="12700">
            <a:miter lim="400000"/>
          </a:ln>
        </p:spPr>
        <p:txBody>
          <a:bodyPr lIns="54418" tIns="54418" rIns="54418" bIns="54418" anchor="b">
            <a:spAutoFit/>
          </a:bodyPr>
          <a:lstStyle>
            <a:lvl1pPr algn="r" defTabSz="573946">
              <a:defRPr sz="1125">
                <a:solidFill>
                  <a:srgbClr val="FFFFFF"/>
                </a:solidFill>
                <a:latin typeface="+mn-lt"/>
                <a:ea typeface="Tahoma"/>
                <a:cs typeface="Tahoma"/>
                <a:sym typeface="Tahoma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hape 5"/>
          <p:cNvSpPr/>
          <p:nvPr/>
        </p:nvSpPr>
        <p:spPr>
          <a:xfrm>
            <a:off x="467545" y="789552"/>
            <a:ext cx="7128792" cy="1"/>
          </a:xfrm>
          <a:prstGeom prst="line">
            <a:avLst/>
          </a:prstGeom>
          <a:ln w="12700">
            <a:solidFill>
              <a:srgbClr val="94BBE7"/>
            </a:solidFill>
          </a:ln>
          <a:effectLst>
            <a:outerShdw blurRad="101600" dist="12700" dir="2700000" rotWithShape="0">
              <a:srgbClr val="003D62">
                <a:alpha val="20000"/>
              </a:srgbClr>
            </a:outerShdw>
          </a:effectLst>
        </p:spPr>
        <p:txBody>
          <a:bodyPr lIns="40814" tIns="40814" rIns="40814" bIns="40814"/>
          <a:lstStyle/>
          <a:p>
            <a:pPr lvl="0" algn="l" defTabSz="286973">
              <a:defRPr sz="1600">
                <a:latin typeface="Helvetica"/>
                <a:ea typeface="Helvetica"/>
                <a:cs typeface="Helvetica"/>
                <a:sym typeface="Helvetica"/>
              </a:defRPr>
            </a:pPr>
            <a:endParaRPr sz="1200" dirty="0"/>
          </a:p>
        </p:txBody>
      </p:sp>
      <p:sp>
        <p:nvSpPr>
          <p:cNvPr id="10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14688" y="4888982"/>
            <a:ext cx="2430270" cy="241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526" tIns="38263" rIns="76526" bIns="38263" numCol="1" anchor="b" anchorCtr="0" compatLnSpc="1">
            <a:prstTxWarp prst="textNoShape">
              <a:avLst/>
            </a:prstTxWarp>
          </a:bodyPr>
          <a:lstStyle>
            <a:lvl1pPr algn="ctr">
              <a:defRPr sz="1125" b="0" i="0">
                <a:solidFill>
                  <a:schemeClr val="bg1"/>
                </a:solidFill>
                <a:latin typeface="Helvetica Neue Light"/>
                <a:cs typeface="Helvetica Neue Light"/>
              </a:defRPr>
            </a:lvl1pPr>
          </a:lstStyle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3B9B00-B977-E94D-8CAA-76ABE98D04E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7621" y="5935"/>
            <a:ext cx="741809" cy="68672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3" r:id="rId2"/>
    <p:sldLayoutId id="2147483668" r:id="rId3"/>
    <p:sldLayoutId id="2147483669" r:id="rId4"/>
    <p:sldLayoutId id="2147483670" r:id="rId5"/>
  </p:sldLayoutIdLst>
  <p:transition spd="med"/>
  <p:hf hdr="0" dt="0"/>
  <p:txStyles>
    <p:titleStyle>
      <a:lvl1pPr>
        <a:defRPr sz="2800">
          <a:latin typeface="Helvetica Neue Light"/>
          <a:ea typeface="Helvetica Neue Light"/>
          <a:cs typeface="Helvetica Neue Light"/>
          <a:sym typeface="Helvetica Neue Light"/>
        </a:defRPr>
      </a:lvl1pPr>
      <a:lvl2pPr>
        <a:defRPr sz="2775">
          <a:latin typeface="Helvetica Neue Light"/>
          <a:ea typeface="Helvetica Neue Light"/>
          <a:cs typeface="Helvetica Neue Light"/>
          <a:sym typeface="Helvetica Neue Light"/>
        </a:defRPr>
      </a:lvl2pPr>
      <a:lvl3pPr>
        <a:defRPr sz="2775">
          <a:latin typeface="Helvetica Neue Light"/>
          <a:ea typeface="Helvetica Neue Light"/>
          <a:cs typeface="Helvetica Neue Light"/>
          <a:sym typeface="Helvetica Neue Light"/>
        </a:defRPr>
      </a:lvl3pPr>
      <a:lvl4pPr>
        <a:defRPr sz="2775">
          <a:latin typeface="Helvetica Neue Light"/>
          <a:ea typeface="Helvetica Neue Light"/>
          <a:cs typeface="Helvetica Neue Light"/>
          <a:sym typeface="Helvetica Neue Light"/>
        </a:defRPr>
      </a:lvl4pPr>
      <a:lvl5pPr>
        <a:defRPr sz="2775">
          <a:latin typeface="Helvetica Neue Light"/>
          <a:ea typeface="Helvetica Neue Light"/>
          <a:cs typeface="Helvetica Neue Light"/>
          <a:sym typeface="Helvetica Neue Light"/>
        </a:defRPr>
      </a:lvl5pPr>
      <a:lvl6pPr indent="286973">
        <a:defRPr sz="2775">
          <a:latin typeface="Helvetica Neue Light"/>
          <a:ea typeface="Helvetica Neue Light"/>
          <a:cs typeface="Helvetica Neue Light"/>
          <a:sym typeface="Helvetica Neue Light"/>
        </a:defRPr>
      </a:lvl6pPr>
      <a:lvl7pPr indent="573946">
        <a:defRPr sz="2775">
          <a:latin typeface="Helvetica Neue Light"/>
          <a:ea typeface="Helvetica Neue Light"/>
          <a:cs typeface="Helvetica Neue Light"/>
          <a:sym typeface="Helvetica Neue Light"/>
        </a:defRPr>
      </a:lvl7pPr>
      <a:lvl8pPr indent="860919">
        <a:defRPr sz="2775">
          <a:latin typeface="Helvetica Neue Light"/>
          <a:ea typeface="Helvetica Neue Light"/>
          <a:cs typeface="Helvetica Neue Light"/>
          <a:sym typeface="Helvetica Neue Light"/>
        </a:defRPr>
      </a:lvl8pPr>
      <a:lvl9pPr indent="1147892">
        <a:defRPr sz="2775">
          <a:latin typeface="Helvetica Neue Light"/>
          <a:ea typeface="Helvetica Neue Light"/>
          <a:cs typeface="Helvetica Neue Light"/>
          <a:sym typeface="Helvetica Neue Light"/>
        </a:defRPr>
      </a:lvl9pPr>
    </p:titleStyle>
    <p:bodyStyle>
      <a:lvl1pPr marL="292097" indent="-292097">
        <a:spcBef>
          <a:spcPts val="377"/>
        </a:spcBef>
        <a:buClr>
          <a:srgbClr val="008000"/>
        </a:buClr>
        <a:buSzPct val="100000"/>
        <a:buFont typeface="Wingdings"/>
        <a:buChar char="❑"/>
        <a:defRPr sz="2400">
          <a:latin typeface="Helvetica Neue Light"/>
          <a:ea typeface="Helvetica Neue Light"/>
          <a:cs typeface="Helvetica Neue Light"/>
          <a:sym typeface="Helvetica Neue Light"/>
        </a:defRPr>
      </a:lvl1pPr>
      <a:lvl2pPr marL="570956" indent="-283984">
        <a:spcBef>
          <a:spcPts val="377"/>
        </a:spcBef>
        <a:buClr>
          <a:srgbClr val="008000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2pPr>
      <a:lvl3pPr marL="846570" indent="-272624">
        <a:spcBef>
          <a:spcPts val="377"/>
        </a:spcBef>
        <a:buClr>
          <a:srgbClr val="008000"/>
        </a:buClr>
        <a:buSzPct val="95000"/>
        <a:buFont typeface="Wingdings"/>
        <a:buChar char="⬥"/>
        <a:defRPr sz="2400">
          <a:latin typeface="Helvetica Neue Light"/>
          <a:ea typeface="Helvetica Neue Light"/>
          <a:cs typeface="Helvetica Neue Light"/>
          <a:sym typeface="Helvetica Neue Light"/>
        </a:defRPr>
      </a:lvl3pPr>
      <a:lvl4pPr marL="1163835" indent="-302916">
        <a:spcBef>
          <a:spcPts val="377"/>
        </a:spcBef>
        <a:buClr>
          <a:srgbClr val="008000"/>
        </a:buClr>
        <a:buSzPct val="65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4pPr>
      <a:lvl5pPr marL="1450808" indent="-302916">
        <a:spcBef>
          <a:spcPts val="377"/>
        </a:spcBef>
        <a:buClr>
          <a:srgbClr val="008000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5pPr>
      <a:lvl6pPr marL="1737781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6pPr>
      <a:lvl7pPr marL="2024754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7pPr>
      <a:lvl8pPr marL="2311727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8pPr>
      <a:lvl9pPr marL="2598700" indent="-302916">
        <a:spcBef>
          <a:spcPts val="377"/>
        </a:spcBef>
        <a:buClr>
          <a:srgbClr val="006699"/>
        </a:buClr>
        <a:buSzPct val="60000"/>
        <a:buFont typeface="Wingdings"/>
        <a:buChar char="■"/>
        <a:defRPr sz="2400">
          <a:latin typeface="Helvetica Neue Light"/>
          <a:ea typeface="Helvetica Neue Light"/>
          <a:cs typeface="Helvetica Neue Light"/>
          <a:sym typeface="Helvetica Neue Light"/>
        </a:defRPr>
      </a:lvl9pPr>
    </p:bodyStyle>
    <p:otherStyle>
      <a:lvl1pPr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1pPr>
      <a:lvl2pPr indent="286973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2pPr>
      <a:lvl3pPr indent="573946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3pPr>
      <a:lvl4pPr indent="860919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4pPr>
      <a:lvl5pPr indent="1147892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5pPr>
      <a:lvl6pPr indent="1434865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6pPr>
      <a:lvl7pPr indent="1721838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7pPr>
      <a:lvl8pPr indent="2008811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8pPr>
      <a:lvl9pPr indent="2295784" algn="r">
        <a:defRPr>
          <a:solidFill>
            <a:schemeClr val="tx1"/>
          </a:solidFill>
          <a:latin typeface="+mn-lt"/>
          <a:ea typeface="+mn-ea"/>
          <a:cs typeface="+mn-cs"/>
          <a:sym typeface="Tahom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viralpatel.net/blogs/java-virtual-machine-an-inside-story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viralpatel.net/blogs/java-virtual-machine-an-inside-story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viralpatel.net/blogs/java-virtual-machine-an-inside-story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6A5DAE-8FD5-49CE-E28B-6EDA2BB1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747" y="1010648"/>
            <a:ext cx="7893844" cy="1077818"/>
          </a:xfrm>
        </p:spPr>
        <p:txBody>
          <a:bodyPr/>
          <a:lstStyle/>
          <a:p>
            <a:pPr algn="r" defTabSz="366688" rtl="0"/>
            <a:r>
              <a:rPr lang="en-US" sz="3200" dirty="0"/>
              <a:t>Programming Fundamentals 1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5F8875-BE14-6F78-797D-7623587C6E38}"/>
              </a:ext>
            </a:extLst>
          </p:cNvPr>
          <p:cNvCxnSpPr/>
          <p:nvPr/>
        </p:nvCxnSpPr>
        <p:spPr>
          <a:xfrm>
            <a:off x="192024" y="2240280"/>
            <a:ext cx="8705088" cy="0"/>
          </a:xfrm>
          <a:prstGeom prst="line">
            <a:avLst/>
          </a:prstGeom>
          <a:noFill/>
          <a:ln w="15875" cap="flat">
            <a:solidFill>
              <a:srgbClr val="84AEFF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Title 2">
            <a:extLst>
              <a:ext uri="{FF2B5EF4-FFF2-40B4-BE49-F238E27FC236}">
                <a16:creationId xmlns:a16="http://schemas.microsoft.com/office/drawing/2014/main" id="{F3D22CC2-63B9-5CB6-174A-205E5A7B9B8B}"/>
              </a:ext>
            </a:extLst>
          </p:cNvPr>
          <p:cNvSpPr txBox="1">
            <a:spLocks/>
          </p:cNvSpPr>
          <p:nvPr/>
        </p:nvSpPr>
        <p:spPr>
          <a:xfrm>
            <a:off x="192024" y="1269402"/>
            <a:ext cx="7772401" cy="1063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l" defTabSz="914400"/>
            <a:endParaRPr lang="en-IE" sz="2800" dirty="0">
              <a:solidFill>
                <a:schemeClr val="tx1"/>
              </a:solidFill>
            </a:endParaRPr>
          </a:p>
          <a:p>
            <a:pPr algn="l" defTabSz="914400"/>
            <a:r>
              <a:rPr lang="en-IE" sz="2800" dirty="0">
                <a:solidFill>
                  <a:schemeClr val="tx1"/>
                </a:solidFill>
              </a:rPr>
              <a:t>Introduction to the JVM</a:t>
            </a: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8C56AC-B899-2568-9517-5FD54D9A7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47657" y="227556"/>
            <a:ext cx="2810081" cy="4487065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92B49638-F999-2A91-FA44-4A9EC7335E24}"/>
              </a:ext>
            </a:extLst>
          </p:cNvPr>
          <p:cNvSpPr txBox="1">
            <a:spLocks/>
          </p:cNvSpPr>
          <p:nvPr/>
        </p:nvSpPr>
        <p:spPr>
          <a:xfrm>
            <a:off x="192024" y="2262468"/>
            <a:ext cx="7772401" cy="161162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286973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573946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860919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1147892">
              <a:defRPr sz="2775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algn="l" defTabSz="914400"/>
            <a:r>
              <a:rPr lang="en-IE" sz="2400" dirty="0">
                <a:solidFill>
                  <a:schemeClr val="bg1">
                    <a:lumMod val="75000"/>
                  </a:schemeClr>
                </a:solidFill>
              </a:rPr>
              <a:t>The Java Virtual Machine and </a:t>
            </a:r>
            <a:br>
              <a:rPr lang="en-IE" sz="2400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IE" sz="2400" dirty="0">
                <a:solidFill>
                  <a:schemeClr val="bg1">
                    <a:lumMod val="75000"/>
                  </a:schemeClr>
                </a:solidFill>
              </a:rPr>
              <a:t>the main method</a:t>
            </a:r>
          </a:p>
          <a:p>
            <a:pPr algn="l" defTabSz="914400"/>
            <a:endParaRPr lang="en-IE"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94E400-A0C7-BE1B-44A0-8F17F3B22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BDE2ED-9613-EC3D-7D95-0004F92FA4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553201" y="4884769"/>
            <a:ext cx="1905000" cy="283023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49061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F8B8A-BE9E-4D04-2451-E715F6A97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0"/>
            <a:ext cx="7772401" cy="761815"/>
          </a:xfrm>
        </p:spPr>
        <p:txBody>
          <a:bodyPr/>
          <a:lstStyle/>
          <a:p>
            <a:r>
              <a:rPr lang="en-US" sz="3200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BD6FB-AF6E-8217-F9F7-1F14B2F62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536" y="806983"/>
            <a:ext cx="8382703" cy="3618714"/>
          </a:xfrm>
        </p:spPr>
        <p:txBody>
          <a:bodyPr/>
          <a:lstStyle/>
          <a:p>
            <a:pPr algn="l" rtl="0">
              <a:buClr>
                <a:srgbClr val="194699"/>
              </a:buClr>
            </a:pPr>
            <a:r>
              <a:rPr lang="en-US" sz="3200" dirty="0"/>
              <a:t>Files in Java</a:t>
            </a:r>
          </a:p>
          <a:p>
            <a:pPr algn="l" rtl="0">
              <a:buClr>
                <a:srgbClr val="194699"/>
              </a:buClr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r>
              <a:rPr lang="en-US" sz="3200" dirty="0"/>
              <a:t>Java Virtual Machine (JVM)</a:t>
            </a:r>
          </a:p>
          <a:p>
            <a:pPr algn="l" rtl="0">
              <a:buClr>
                <a:srgbClr val="194699"/>
              </a:buClr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r>
              <a:rPr lang="en-US" sz="3200" dirty="0">
                <a:latin typeface="Monaco" pitchFamily="2" charset="77"/>
              </a:rPr>
              <a:t>main() </a:t>
            </a:r>
            <a:r>
              <a:rPr lang="en-US" sz="3200" dirty="0"/>
              <a:t>method</a:t>
            </a:r>
          </a:p>
          <a:p>
            <a:pPr algn="l" rtl="0">
              <a:buClr>
                <a:srgbClr val="194699"/>
              </a:buClr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endParaRPr lang="en-US" sz="3200" dirty="0"/>
          </a:p>
          <a:p>
            <a:pPr algn="l" rtl="0">
              <a:buClr>
                <a:srgbClr val="194699"/>
              </a:buClr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  <a:p>
            <a:pPr marL="292097" indent="-292097" algn="l" rtl="0">
              <a:spcBef>
                <a:spcPts val="377"/>
              </a:spcBef>
              <a:buClr>
                <a:srgbClr val="194699"/>
              </a:buClr>
              <a:buSzPct val="100000"/>
              <a:buFont typeface="Wingdings"/>
              <a:buChar char="❑"/>
            </a:pP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2201E-8983-5C5E-8827-2194B58BEE0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3</a:t>
            </a:fld>
            <a:endParaRPr lang="en-I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30C4F-E4E1-59F1-E8DB-B1C6155ED3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862320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97038" y="500922"/>
            <a:ext cx="2549921" cy="1102519"/>
          </a:xfrm>
        </p:spPr>
        <p:txBody>
          <a:bodyPr/>
          <a:lstStyle/>
          <a:p>
            <a:pPr>
              <a:spcBef>
                <a:spcPts val="633"/>
              </a:spcBef>
            </a:pPr>
            <a:r>
              <a:rPr lang="en-IE" sz="3600" dirty="0">
                <a:solidFill>
                  <a:schemeClr val="tx1"/>
                </a:solidFill>
              </a:rPr>
              <a:t>Files in Java</a:t>
            </a:r>
            <a:endParaRPr lang="en-IE" sz="3600" b="1" dirty="0">
              <a:solidFill>
                <a:srgbClr val="0368FF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256709" y="1722350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www.java.com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138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Files in Java</a:t>
            </a:r>
          </a:p>
        </p:txBody>
      </p:sp>
      <p:sp>
        <p:nvSpPr>
          <p:cNvPr id="4" name="AutoShape 2" descr="Image result for jvm"/>
          <p:cNvSpPr>
            <a:spLocks noChangeAspect="1" noChangeArrowheads="1"/>
          </p:cNvSpPr>
          <p:nvPr/>
        </p:nvSpPr>
        <p:spPr bwMode="auto">
          <a:xfrm>
            <a:off x="1259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E" sz="1688"/>
          </a:p>
        </p:txBody>
      </p:sp>
      <p:sp>
        <p:nvSpPr>
          <p:cNvPr id="5" name="AutoShape 4" descr="Image result for jvm"/>
          <p:cNvSpPr>
            <a:spLocks noChangeAspect="1" noChangeArrowheads="1"/>
          </p:cNvSpPr>
          <p:nvPr/>
        </p:nvSpPr>
        <p:spPr bwMode="auto">
          <a:xfrm>
            <a:off x="1373981" y="5954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E" sz="1688"/>
          </a:p>
        </p:txBody>
      </p:sp>
      <p:sp>
        <p:nvSpPr>
          <p:cNvPr id="6" name="AutoShape 6" descr="Image result for jvm"/>
          <p:cNvSpPr>
            <a:spLocks noChangeAspect="1" noChangeArrowheads="1"/>
          </p:cNvSpPr>
          <p:nvPr/>
        </p:nvSpPr>
        <p:spPr bwMode="auto">
          <a:xfrm>
            <a:off x="1488281" y="120254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E" sz="1688"/>
          </a:p>
        </p:txBody>
      </p:sp>
      <p:sp>
        <p:nvSpPr>
          <p:cNvPr id="7" name="AutoShape 8" descr="Image result for jvm"/>
          <p:cNvSpPr>
            <a:spLocks noChangeAspect="1" noChangeArrowheads="1"/>
          </p:cNvSpPr>
          <p:nvPr/>
        </p:nvSpPr>
        <p:spPr bwMode="auto">
          <a:xfrm>
            <a:off x="1602581" y="234554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E" sz="1688"/>
          </a:p>
        </p:txBody>
      </p:sp>
      <p:sp>
        <p:nvSpPr>
          <p:cNvPr id="8" name="AutoShape 10" descr="Image result for jvm"/>
          <p:cNvSpPr>
            <a:spLocks noChangeAspect="1" noChangeArrowheads="1"/>
          </p:cNvSpPr>
          <p:nvPr/>
        </p:nvSpPr>
        <p:spPr bwMode="auto">
          <a:xfrm>
            <a:off x="1716881" y="348854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IE" sz="1688"/>
          </a:p>
        </p:txBody>
      </p:sp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177" y="962407"/>
            <a:ext cx="5608074" cy="3616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1960469" y="209238"/>
            <a:ext cx="596387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050" dirty="0">
                <a:hlinkClick r:id="rId4"/>
              </a:rPr>
              <a:t>http://viralpatel.net/blogs/java-virtual-machine-an-inside-story/</a:t>
            </a:r>
            <a:r>
              <a:rPr lang="en-IE" sz="1050" dirty="0"/>
              <a:t>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428846" y="3143250"/>
            <a:ext cx="6341269" cy="0"/>
          </a:xfrm>
          <a:prstGeom prst="line">
            <a:avLst/>
          </a:prstGeom>
          <a:ln w="19050">
            <a:solidFill>
              <a:schemeClr val="accent1">
                <a:shade val="95000"/>
                <a:satMod val="10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 rot="16200000">
            <a:off x="945018" y="3565206"/>
            <a:ext cx="1035991" cy="611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88" dirty="0">
                <a:solidFill>
                  <a:srgbClr val="0070C0"/>
                </a:solidFill>
              </a:rPr>
              <a:t>Platform </a:t>
            </a:r>
          </a:p>
          <a:p>
            <a:r>
              <a:rPr lang="en-GB" sz="1688" dirty="0">
                <a:solidFill>
                  <a:srgbClr val="0070C0"/>
                </a:solidFill>
              </a:rPr>
              <a:t>specific</a:t>
            </a:r>
          </a:p>
        </p:txBody>
      </p:sp>
      <p:sp>
        <p:nvSpPr>
          <p:cNvPr id="13" name="TextBox 12"/>
          <p:cNvSpPr txBox="1"/>
          <p:nvPr/>
        </p:nvSpPr>
        <p:spPr>
          <a:xfrm rot="16200000">
            <a:off x="762691" y="1837303"/>
            <a:ext cx="1400644" cy="611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88" dirty="0">
                <a:solidFill>
                  <a:srgbClr val="0070C0"/>
                </a:solidFill>
              </a:rPr>
              <a:t>Platform </a:t>
            </a:r>
          </a:p>
          <a:p>
            <a:r>
              <a:rPr lang="en-GB" sz="1688" b="1" dirty="0">
                <a:solidFill>
                  <a:srgbClr val="0070C0"/>
                </a:solidFill>
              </a:rPr>
              <a:t>independent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ABA11-3278-A475-11C3-29147A3369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FD81669-27B7-6CEF-DE83-DA154612AA5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5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9425620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Files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802985"/>
            <a:ext cx="8286750" cy="3714750"/>
          </a:xfrm>
        </p:spPr>
        <p:txBody>
          <a:bodyPr>
            <a:normAutofit/>
          </a:bodyPr>
          <a:lstStyle/>
          <a:p>
            <a:r>
              <a:rPr lang="en-IE" sz="2100" b="1" dirty="0"/>
              <a:t>Java code </a:t>
            </a:r>
            <a:r>
              <a:rPr lang="en-IE" sz="2100" dirty="0"/>
              <a:t>is written in </a:t>
            </a:r>
            <a:r>
              <a:rPr lang="en-IE" sz="2100" b="1" dirty="0">
                <a:solidFill>
                  <a:srgbClr val="FF0000"/>
                </a:solidFill>
              </a:rPr>
              <a:t>.java </a:t>
            </a:r>
            <a:r>
              <a:rPr lang="en-IE" sz="2100" dirty="0"/>
              <a:t>file </a:t>
            </a:r>
          </a:p>
          <a:p>
            <a:pPr lvl="1"/>
            <a:r>
              <a:rPr lang="en-IE" sz="2000" dirty="0"/>
              <a:t>code contains one or more Java language constructs </a:t>
            </a:r>
            <a:br>
              <a:rPr lang="en-IE" sz="2000" dirty="0"/>
            </a:br>
            <a:r>
              <a:rPr lang="en-IE" sz="2000" dirty="0"/>
              <a:t>e.g. Classes, Methods, Variable, Objects etc. </a:t>
            </a:r>
          </a:p>
          <a:p>
            <a:r>
              <a:rPr lang="en-IE" sz="2100" b="1" dirty="0"/>
              <a:t>Compiling</a:t>
            </a:r>
            <a:r>
              <a:rPr lang="en-IE" sz="2100" dirty="0"/>
              <a:t> this code generates a </a:t>
            </a:r>
            <a:r>
              <a:rPr lang="en-IE" sz="2100" b="1" dirty="0">
                <a:solidFill>
                  <a:srgbClr val="FF0000"/>
                </a:solidFill>
              </a:rPr>
              <a:t>.class</a:t>
            </a:r>
            <a:r>
              <a:rPr lang="en-IE" sz="2100" dirty="0"/>
              <a:t> file</a:t>
            </a:r>
          </a:p>
          <a:p>
            <a:r>
              <a:rPr lang="en-IE" sz="2100" dirty="0"/>
              <a:t>A </a:t>
            </a:r>
            <a:r>
              <a:rPr lang="en-IE" sz="2100" dirty="0">
                <a:solidFill>
                  <a:srgbClr val="FF0000"/>
                </a:solidFill>
              </a:rPr>
              <a:t>.class </a:t>
            </a:r>
            <a:r>
              <a:rPr lang="en-IE" sz="2100" dirty="0"/>
              <a:t>file </a:t>
            </a:r>
          </a:p>
          <a:p>
            <a:pPr lvl="1"/>
            <a:r>
              <a:rPr lang="en-IE" sz="2100" dirty="0"/>
              <a:t>“byte code” </a:t>
            </a:r>
          </a:p>
          <a:p>
            <a:pPr lvl="1"/>
            <a:r>
              <a:rPr lang="en-IE" sz="2100" dirty="0"/>
              <a:t>the input to Java Virtual Machine (JVM) </a:t>
            </a:r>
          </a:p>
          <a:p>
            <a:r>
              <a:rPr lang="en-IE" sz="2100" dirty="0"/>
              <a:t>The JVM (for a specific platform) reads this byte code, interprets it as machine code instructions (for that platform) and executes the program (on that platform)</a:t>
            </a:r>
          </a:p>
          <a:p>
            <a:pPr lvl="1"/>
            <a:endParaRPr lang="en-IE" sz="2100" dirty="0"/>
          </a:p>
          <a:p>
            <a:pPr lvl="1"/>
            <a:endParaRPr lang="en-IE" sz="2100" dirty="0"/>
          </a:p>
        </p:txBody>
      </p:sp>
      <p:pic>
        <p:nvPicPr>
          <p:cNvPr id="7" name="Picture 12">
            <a:extLst>
              <a:ext uri="{FF2B5EF4-FFF2-40B4-BE49-F238E27FC236}">
                <a16:creationId xmlns:a16="http://schemas.microsoft.com/office/drawing/2014/main" id="{648456D5-610A-412C-9EA1-75C0004E7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1" y="1640257"/>
            <a:ext cx="2463413" cy="1588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E01E81-02C7-F25F-081E-A7428A6EC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ECF6BC-7B03-F467-CF81-509F05F463E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6</a:t>
            </a:fld>
            <a:endParaRPr lang="en-IE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50CDDE-FFE9-FF09-A0EC-FF76190C76B0}"/>
              </a:ext>
            </a:extLst>
          </p:cNvPr>
          <p:cNvSpPr/>
          <p:nvPr/>
        </p:nvSpPr>
        <p:spPr>
          <a:xfrm>
            <a:off x="3214688" y="209238"/>
            <a:ext cx="470966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050" dirty="0">
                <a:hlinkClick r:id="rId3"/>
              </a:rPr>
              <a:t>http://viralpatel.net/blogs/java-virtual-machine-an-inside-story/</a:t>
            </a:r>
            <a:r>
              <a:rPr lang="en-IE" sz="10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6526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9947" y="510066"/>
            <a:ext cx="5404104" cy="1102519"/>
          </a:xfrm>
        </p:spPr>
        <p:txBody>
          <a:bodyPr/>
          <a:lstStyle/>
          <a:p>
            <a:pPr>
              <a:spcBef>
                <a:spcPts val="633"/>
              </a:spcBef>
            </a:pPr>
            <a:r>
              <a:rPr lang="en-IE" sz="3600" dirty="0">
                <a:solidFill>
                  <a:schemeClr val="tx1"/>
                </a:solidFill>
              </a:rPr>
              <a:t>Java Virtual Machine (JVM)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256709" y="1722350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189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2700" dirty="0"/>
              <a:t>Java Virtual Machine (JVM)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802742"/>
            <a:ext cx="6005264" cy="3394472"/>
          </a:xfrm>
        </p:spPr>
        <p:txBody>
          <a:bodyPr/>
          <a:lstStyle/>
          <a:p>
            <a:r>
              <a:rPr lang="en-IE" dirty="0"/>
              <a:t>A “</a:t>
            </a:r>
            <a:r>
              <a:rPr lang="en-IE" b="1" dirty="0"/>
              <a:t>virtual</a:t>
            </a:r>
            <a:r>
              <a:rPr lang="en-IE" dirty="0"/>
              <a:t>” computer that resides in the “real” computer as a software process</a:t>
            </a:r>
          </a:p>
          <a:p>
            <a:r>
              <a:rPr lang="en-IE" dirty="0"/>
              <a:t>Gives Java the flexibility of </a:t>
            </a:r>
            <a:r>
              <a:rPr lang="en-IE" b="1" dirty="0"/>
              <a:t>platform independence</a:t>
            </a:r>
            <a:r>
              <a:rPr lang="en-IE" dirty="0"/>
              <a:t>. </a:t>
            </a:r>
          </a:p>
          <a:p>
            <a:r>
              <a:rPr lang="en-IE" dirty="0"/>
              <a:t>The </a:t>
            </a:r>
            <a:r>
              <a:rPr lang="en-IE" b="1" dirty="0">
                <a:solidFill>
                  <a:srgbClr val="FF0000"/>
                </a:solidFill>
              </a:rPr>
              <a:t>.class </a:t>
            </a:r>
            <a:r>
              <a:rPr lang="en-IE" dirty="0"/>
              <a:t>files can be run on any OS, once a JVM has been installed </a:t>
            </a:r>
          </a:p>
          <a:p>
            <a:pPr lvl="1"/>
            <a:r>
              <a:rPr lang="en-IE" dirty="0"/>
              <a:t>(NB: JVM is installed when </a:t>
            </a:r>
            <a:br>
              <a:rPr lang="en-IE" dirty="0"/>
            </a:br>
            <a:r>
              <a:rPr lang="en-IE" dirty="0"/>
              <a:t>you install the JDK).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1BB1C-22ED-E885-009E-585A553EBA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22013-6694-4A14-2ECB-CF5E6913CB1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8</a:t>
            </a:fld>
            <a:endParaRPr lang="en-I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1E65DA-7A3D-2E7B-36C0-C40D93E56E16}"/>
              </a:ext>
            </a:extLst>
          </p:cNvPr>
          <p:cNvSpPr/>
          <p:nvPr/>
        </p:nvSpPr>
        <p:spPr>
          <a:xfrm>
            <a:off x="3458277" y="72532"/>
            <a:ext cx="470966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sz="1050" dirty="0">
                <a:hlinkClick r:id="rId2"/>
              </a:rPr>
              <a:t>http://viralpatel.net/blogs/java-virtual-machine-an-inside-story/</a:t>
            </a:r>
            <a:r>
              <a:rPr lang="en-IE" sz="1050" dirty="0"/>
              <a:t> </a:t>
            </a:r>
          </a:p>
        </p:txBody>
      </p:sp>
      <p:pic>
        <p:nvPicPr>
          <p:cNvPr id="9" name="Picture 12">
            <a:extLst>
              <a:ext uri="{FF2B5EF4-FFF2-40B4-BE49-F238E27FC236}">
                <a16:creationId xmlns:a16="http://schemas.microsoft.com/office/drawing/2014/main" id="{9BF630BE-18DB-9248-64B6-134DE03A2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1" y="1640257"/>
            <a:ext cx="2463413" cy="1588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17922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0078" y="455202"/>
            <a:ext cx="3743842" cy="1102519"/>
          </a:xfrm>
        </p:spPr>
        <p:txBody>
          <a:bodyPr/>
          <a:lstStyle/>
          <a:p>
            <a:pPr>
              <a:spcBef>
                <a:spcPts val="633"/>
              </a:spcBef>
            </a:pPr>
            <a:r>
              <a:rPr lang="en-IE" sz="3600" dirty="0">
                <a:solidFill>
                  <a:schemeClr val="tx1"/>
                </a:solidFill>
                <a:latin typeface="Monaco" pitchFamily="2" charset="77"/>
              </a:rPr>
              <a:t>main() </a:t>
            </a:r>
            <a:r>
              <a:rPr lang="en-IE" sz="3600" dirty="0">
                <a:solidFill>
                  <a:schemeClr val="tx1"/>
                </a:solidFill>
              </a:rPr>
              <a:t>method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0B48627-70FE-4B45-9414-DD660DBF2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256709" y="1722350"/>
            <a:ext cx="2630581" cy="2630581"/>
          </a:xfrm>
          <a:prstGeom prst="rect">
            <a:avLst/>
          </a:prstGeom>
          <a:noFill/>
          <a:ln w="38100">
            <a:noFill/>
          </a:ln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EBBC8-D8C4-AD98-5A2D-86C001100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1" y="4865349"/>
            <a:ext cx="1905000" cy="283023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E5978C-2993-225B-79D6-A53E710FF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https://www.java.com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910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>
                <a:solidFill>
                  <a:srgbClr val="FF0000"/>
                </a:solidFill>
                <a:latin typeface="Monaco" pitchFamily="2" charset="77"/>
              </a:rPr>
              <a:t>main() </a:t>
            </a:r>
            <a:r>
              <a:rPr lang="en-IE" dirty="0"/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798391"/>
            <a:ext cx="8229600" cy="2171700"/>
          </a:xfrm>
        </p:spPr>
        <p:txBody>
          <a:bodyPr>
            <a:normAutofit/>
          </a:bodyPr>
          <a:lstStyle/>
          <a:p>
            <a:r>
              <a:rPr lang="en-IE" dirty="0"/>
              <a:t>When you want to run a java project, the Java Virtual Machine (JVM) invokes the </a:t>
            </a:r>
            <a:r>
              <a:rPr lang="en-IE" b="1" dirty="0">
                <a:solidFill>
                  <a:srgbClr val="FF0000"/>
                </a:solidFill>
              </a:rPr>
              <a:t>main() </a:t>
            </a:r>
            <a:r>
              <a:rPr lang="en-IE" dirty="0"/>
              <a:t>method</a:t>
            </a:r>
            <a:r>
              <a:rPr lang="en-IE" b="1" dirty="0"/>
              <a:t> </a:t>
            </a:r>
            <a:r>
              <a:rPr lang="en-IE" dirty="0"/>
              <a:t>in the project</a:t>
            </a:r>
            <a:br>
              <a:rPr lang="en-IE" dirty="0"/>
            </a:br>
            <a:endParaRPr lang="en-IE" dirty="0"/>
          </a:p>
          <a:p>
            <a:r>
              <a:rPr lang="en-IE" dirty="0"/>
              <a:t>For the JVM to recognise it, the main() method </a:t>
            </a:r>
            <a:r>
              <a:rPr lang="en-IE" u="sng" dirty="0"/>
              <a:t>must</a:t>
            </a:r>
            <a:r>
              <a:rPr lang="en-IE" dirty="0"/>
              <a:t> have a specific method </a:t>
            </a:r>
            <a:r>
              <a:rPr lang="en-IE" b="1" dirty="0"/>
              <a:t>signature</a:t>
            </a:r>
            <a:endParaRPr lang="en-IE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828800" y="3188395"/>
            <a:ext cx="5486400" cy="13716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68580" tIns="34290" rIns="68580" bIns="3429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800" b="1" dirty="0">
                <a:latin typeface="Courier New" charset="0"/>
              </a:rPr>
              <a:t>public static void </a:t>
            </a:r>
            <a:r>
              <a:rPr lang="en-AU" sz="1800" b="1" dirty="0">
                <a:solidFill>
                  <a:srgbClr val="FF0000"/>
                </a:solidFill>
                <a:latin typeface="Courier New" charset="0"/>
              </a:rPr>
              <a:t>main</a:t>
            </a:r>
            <a:r>
              <a:rPr lang="en-AU" sz="1800" b="1" dirty="0">
                <a:latin typeface="Courier New" charset="0"/>
              </a:rPr>
              <a:t>(String[] </a:t>
            </a:r>
            <a:r>
              <a:rPr lang="en-AU" sz="1800" b="1" dirty="0" err="1">
                <a:latin typeface="Courier New" charset="0"/>
              </a:rPr>
              <a:t>args</a:t>
            </a:r>
            <a:r>
              <a:rPr lang="en-AU" sz="1800" b="1" dirty="0">
                <a:latin typeface="Courier New" charset="0"/>
              </a:rPr>
              <a:t>)</a:t>
            </a:r>
            <a:br>
              <a:rPr lang="en-AU" sz="1800" b="1" dirty="0">
                <a:latin typeface="Courier New" charset="0"/>
              </a:rPr>
            </a:br>
            <a:r>
              <a:rPr lang="en-AU" sz="1800" b="1" dirty="0">
                <a:latin typeface="Courier New" charset="0"/>
              </a:rPr>
              <a:t>{ </a:t>
            </a:r>
          </a:p>
          <a:p>
            <a:pPr marL="0" indent="0">
              <a:buNone/>
            </a:pPr>
            <a:r>
              <a:rPr lang="en-AU" sz="1800" b="1" dirty="0">
                <a:latin typeface="Courier New" charset="0"/>
              </a:rPr>
              <a:t>  ...</a:t>
            </a:r>
            <a:br>
              <a:rPr lang="en-AU" sz="1800" b="1" dirty="0">
                <a:latin typeface="Courier New" charset="0"/>
              </a:rPr>
            </a:br>
            <a:r>
              <a:rPr lang="en-AU" sz="1800" b="1" dirty="0">
                <a:latin typeface="Courier New" charset="0"/>
              </a:rPr>
              <a:t>}</a:t>
            </a:r>
            <a:endParaRPr lang="en-IE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86684A-206D-09AD-5E47-CCE67B8CAE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F25E8-C2B0-F3C2-AA38-AC719FC706D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10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23583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>
                <a:solidFill>
                  <a:srgbClr val="FF0000"/>
                </a:solidFill>
                <a:latin typeface="Monaco" pitchFamily="2" charset="77"/>
              </a:rPr>
              <a:t>main() </a:t>
            </a:r>
            <a:r>
              <a:rPr lang="en-IE" dirty="0"/>
              <a:t>method - </a:t>
            </a:r>
            <a:r>
              <a:rPr lang="en-IE" b="1" dirty="0"/>
              <a:t>signature</a:t>
            </a:r>
            <a:endParaRPr lang="en-IE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95535" y="802961"/>
            <a:ext cx="7772401" cy="2286000"/>
          </a:xfrm>
        </p:spPr>
        <p:txBody>
          <a:bodyPr>
            <a:noAutofit/>
          </a:bodyPr>
          <a:lstStyle/>
          <a:p>
            <a:r>
              <a:rPr lang="ja-JP" altLang="en-AU" dirty="0">
                <a:latin typeface="Trebuchet MS" charset="0"/>
              </a:rPr>
              <a:t>“</a:t>
            </a:r>
            <a:r>
              <a:rPr lang="en-AU" dirty="0">
                <a:solidFill>
                  <a:srgbClr val="598CBE"/>
                </a:solidFill>
                <a:latin typeface="Trebuchet MS" charset="0"/>
              </a:rPr>
              <a:t>main</a:t>
            </a:r>
            <a:r>
              <a:rPr lang="ja-JP" altLang="en-AU" dirty="0">
                <a:latin typeface="Trebuchet MS" charset="0"/>
              </a:rPr>
              <a:t>”</a:t>
            </a:r>
            <a:r>
              <a:rPr lang="en-AU" dirty="0">
                <a:latin typeface="Trebuchet MS" charset="0"/>
              </a:rPr>
              <a:t> must exist</a:t>
            </a:r>
          </a:p>
          <a:p>
            <a:r>
              <a:rPr lang="ja-JP" altLang="en-AU" dirty="0">
                <a:latin typeface="Trebuchet MS" charset="0"/>
              </a:rPr>
              <a:t>“</a:t>
            </a:r>
            <a:r>
              <a:rPr lang="en-AU" dirty="0">
                <a:latin typeface="Trebuchet MS" charset="0"/>
              </a:rPr>
              <a:t>main</a:t>
            </a:r>
            <a:r>
              <a:rPr lang="ja-JP" altLang="en-AU" dirty="0">
                <a:latin typeface="Trebuchet MS" charset="0"/>
              </a:rPr>
              <a:t>”</a:t>
            </a:r>
            <a:r>
              <a:rPr lang="en-AU" dirty="0">
                <a:latin typeface="Trebuchet MS" charset="0"/>
              </a:rPr>
              <a:t> must be </a:t>
            </a:r>
            <a:r>
              <a:rPr lang="en-AU" b="1" dirty="0">
                <a:solidFill>
                  <a:srgbClr val="598CBE"/>
                </a:solidFill>
                <a:latin typeface="Trebuchet MS" charset="0"/>
              </a:rPr>
              <a:t>public</a:t>
            </a:r>
          </a:p>
          <a:p>
            <a:r>
              <a:rPr lang="ja-JP" altLang="en-AU" dirty="0">
                <a:latin typeface="Trebuchet MS" charset="0"/>
              </a:rPr>
              <a:t>“</a:t>
            </a:r>
            <a:r>
              <a:rPr lang="en-AU" dirty="0">
                <a:latin typeface="Trebuchet MS" charset="0"/>
              </a:rPr>
              <a:t>main</a:t>
            </a:r>
            <a:r>
              <a:rPr lang="ja-JP" altLang="en-AU" dirty="0">
                <a:latin typeface="Trebuchet MS" charset="0"/>
              </a:rPr>
              <a:t>”</a:t>
            </a:r>
            <a:r>
              <a:rPr lang="en-AU" dirty="0">
                <a:latin typeface="Trebuchet MS" charset="0"/>
              </a:rPr>
              <a:t> must be </a:t>
            </a:r>
            <a:r>
              <a:rPr lang="en-AU" b="1" dirty="0">
                <a:solidFill>
                  <a:srgbClr val="598CBE"/>
                </a:solidFill>
                <a:latin typeface="Trebuchet MS" charset="0"/>
              </a:rPr>
              <a:t>static</a:t>
            </a:r>
            <a:r>
              <a:rPr lang="en-AU" dirty="0">
                <a:latin typeface="Trebuchet MS" charset="0"/>
              </a:rPr>
              <a:t> (class method)</a:t>
            </a:r>
          </a:p>
          <a:p>
            <a:r>
              <a:rPr lang="ja-JP" altLang="en-AU" dirty="0">
                <a:latin typeface="Trebuchet MS" charset="0"/>
              </a:rPr>
              <a:t>“</a:t>
            </a:r>
            <a:r>
              <a:rPr lang="en-AU" dirty="0">
                <a:latin typeface="Trebuchet MS" charset="0"/>
              </a:rPr>
              <a:t>main</a:t>
            </a:r>
            <a:r>
              <a:rPr lang="ja-JP" altLang="en-AU" dirty="0">
                <a:latin typeface="Trebuchet MS" charset="0"/>
              </a:rPr>
              <a:t>”</a:t>
            </a:r>
            <a:r>
              <a:rPr lang="en-AU" dirty="0">
                <a:latin typeface="Trebuchet MS" charset="0"/>
              </a:rPr>
              <a:t> must have a </a:t>
            </a:r>
            <a:r>
              <a:rPr lang="en-AU" b="1" dirty="0">
                <a:solidFill>
                  <a:srgbClr val="598CBE"/>
                </a:solidFill>
                <a:latin typeface="Trebuchet MS" charset="0"/>
              </a:rPr>
              <a:t>String array parameter</a:t>
            </a:r>
          </a:p>
          <a:p>
            <a:r>
              <a:rPr lang="en-AU" dirty="0">
                <a:latin typeface="Trebuchet MS" charset="0"/>
              </a:rPr>
              <a:t>Only </a:t>
            </a:r>
            <a:r>
              <a:rPr lang="ja-JP" altLang="en-AU" dirty="0">
                <a:latin typeface="Trebuchet MS" charset="0"/>
              </a:rPr>
              <a:t>“</a:t>
            </a:r>
            <a:r>
              <a:rPr lang="en-AU" dirty="0">
                <a:latin typeface="Trebuchet MS" charset="0"/>
              </a:rPr>
              <a:t>main</a:t>
            </a:r>
            <a:r>
              <a:rPr lang="ja-JP" altLang="en-AU" dirty="0">
                <a:latin typeface="Trebuchet MS" charset="0"/>
              </a:rPr>
              <a:t>”</a:t>
            </a:r>
            <a:r>
              <a:rPr lang="en-AU" dirty="0">
                <a:latin typeface="Trebuchet MS" charset="0"/>
              </a:rPr>
              <a:t> can be invoked automatically</a:t>
            </a:r>
          </a:p>
          <a:p>
            <a:endParaRPr lang="en-I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56E3AC-071B-E349-0C76-8B5F1E592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ECD75B-CA50-2884-7E78-237EAC9B869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11</a:t>
            </a:fld>
            <a:endParaRPr lang="en-IE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E1F1B61-39C3-9789-4E43-405267BE65F7}"/>
              </a:ext>
            </a:extLst>
          </p:cNvPr>
          <p:cNvSpPr txBox="1">
            <a:spLocks/>
          </p:cNvSpPr>
          <p:nvPr/>
        </p:nvSpPr>
        <p:spPr>
          <a:xfrm>
            <a:off x="1828800" y="3188395"/>
            <a:ext cx="5486400" cy="13716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lIns="68580" tIns="34290" rIns="68580" bIns="3429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800" b="1" dirty="0">
                <a:latin typeface="Courier New" charset="0"/>
              </a:rPr>
              <a:t>public static void </a:t>
            </a:r>
            <a:r>
              <a:rPr lang="en-AU" sz="1800" b="1" dirty="0">
                <a:solidFill>
                  <a:srgbClr val="FF0000"/>
                </a:solidFill>
                <a:latin typeface="Courier New" charset="0"/>
              </a:rPr>
              <a:t>main</a:t>
            </a:r>
            <a:r>
              <a:rPr lang="en-AU" sz="1800" b="1" dirty="0">
                <a:latin typeface="Courier New" charset="0"/>
              </a:rPr>
              <a:t>(String[] </a:t>
            </a:r>
            <a:r>
              <a:rPr lang="en-AU" sz="1800" b="1" dirty="0" err="1">
                <a:latin typeface="Courier New" charset="0"/>
              </a:rPr>
              <a:t>args</a:t>
            </a:r>
            <a:r>
              <a:rPr lang="en-AU" sz="1800" b="1" dirty="0">
                <a:latin typeface="Courier New" charset="0"/>
              </a:rPr>
              <a:t>)</a:t>
            </a:r>
            <a:br>
              <a:rPr lang="en-AU" sz="1800" b="1" dirty="0">
                <a:latin typeface="Courier New" charset="0"/>
              </a:rPr>
            </a:br>
            <a:r>
              <a:rPr lang="en-AU" sz="1800" b="1" dirty="0">
                <a:latin typeface="Courier New" charset="0"/>
              </a:rPr>
              <a:t>{ </a:t>
            </a:r>
          </a:p>
          <a:p>
            <a:pPr marL="0" indent="0">
              <a:buNone/>
            </a:pPr>
            <a:r>
              <a:rPr lang="en-AU" sz="1800" b="1" dirty="0">
                <a:latin typeface="Courier New" charset="0"/>
              </a:rPr>
              <a:t>  ...</a:t>
            </a:r>
            <a:br>
              <a:rPr lang="en-AU" sz="1800" b="1" dirty="0">
                <a:latin typeface="Courier New" charset="0"/>
              </a:rPr>
            </a:br>
            <a:r>
              <a:rPr lang="en-AU" sz="1800" b="1" dirty="0">
                <a:latin typeface="Courier New" charset="0"/>
              </a:rPr>
              <a:t>}</a:t>
            </a:r>
            <a:endParaRPr lang="en-IE" sz="1800" dirty="0"/>
          </a:p>
        </p:txBody>
      </p:sp>
    </p:spTree>
    <p:extLst>
      <p:ext uri="{BB962C8B-B14F-4D97-AF65-F5344CB8AC3E}">
        <p14:creationId xmlns:p14="http://schemas.microsoft.com/office/powerpoint/2010/main" val="107450126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5"/>
          <p:cNvSpPr>
            <a:spLocks noChangeArrowheads="1"/>
          </p:cNvSpPr>
          <p:nvPr/>
        </p:nvSpPr>
        <p:spPr bwMode="auto">
          <a:xfrm>
            <a:off x="1257300" y="1734746"/>
            <a:ext cx="5372100" cy="1421376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en-AU" sz="1800" b="1" dirty="0">
                <a:latin typeface="Courier New" charset="0"/>
              </a:rPr>
              <a:t>public static void </a:t>
            </a:r>
            <a:r>
              <a:rPr lang="en-AU" sz="1800" b="1" dirty="0">
                <a:solidFill>
                  <a:srgbClr val="FF0000"/>
                </a:solidFill>
                <a:latin typeface="Courier New" charset="0"/>
              </a:rPr>
              <a:t>main</a:t>
            </a:r>
            <a:r>
              <a:rPr lang="en-AU" sz="1800" b="1" dirty="0">
                <a:latin typeface="Courier New" charset="0"/>
              </a:rPr>
              <a:t>(String[] </a:t>
            </a:r>
            <a:r>
              <a:rPr lang="en-AU" sz="1800" b="1" dirty="0" err="1">
                <a:latin typeface="Courier New" charset="0"/>
              </a:rPr>
              <a:t>args</a:t>
            </a:r>
            <a:r>
              <a:rPr lang="en-AU" sz="1800" b="1" dirty="0">
                <a:latin typeface="Courier New" charset="0"/>
              </a:rPr>
              <a:t>)</a:t>
            </a:r>
          </a:p>
          <a:p>
            <a:pPr algn="l"/>
            <a:r>
              <a:rPr lang="en-AU" sz="1800" b="1" dirty="0">
                <a:latin typeface="Courier New" charset="0"/>
              </a:rPr>
              <a:t>{</a:t>
            </a:r>
          </a:p>
          <a:p>
            <a:pPr algn="l"/>
            <a:r>
              <a:rPr lang="en-AU" sz="1800" b="1" dirty="0">
                <a:latin typeface="Courier New" charset="0"/>
              </a:rPr>
              <a:t>    Driver driver = new Driver();</a:t>
            </a:r>
          </a:p>
          <a:p>
            <a:pPr algn="l"/>
            <a:r>
              <a:rPr lang="en-AU" sz="1800" b="1" dirty="0">
                <a:latin typeface="Courier New" charset="0"/>
              </a:rPr>
              <a:t>    </a:t>
            </a:r>
            <a:r>
              <a:rPr lang="en-AU" sz="1800" b="1" dirty="0" err="1">
                <a:latin typeface="Courier New" charset="0"/>
              </a:rPr>
              <a:t>driver.runMenu</a:t>
            </a:r>
            <a:r>
              <a:rPr lang="en-AU" sz="1800" b="1" dirty="0">
                <a:latin typeface="Courier New" charset="0"/>
              </a:rPr>
              <a:t>();</a:t>
            </a:r>
          </a:p>
          <a:p>
            <a:pPr algn="l"/>
            <a:r>
              <a:rPr lang="en-AU" sz="1800" b="1" dirty="0">
                <a:latin typeface="Courier New" charset="0"/>
              </a:rPr>
              <a:t>}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chemeClr val="tx1"/>
                </a:solidFill>
              </a:rPr>
              <a:t>The </a:t>
            </a:r>
            <a:r>
              <a:rPr lang="en-IE" b="1" dirty="0">
                <a:solidFill>
                  <a:srgbClr val="FF0000"/>
                </a:solidFill>
                <a:latin typeface="Monaco" pitchFamily="2" charset="77"/>
              </a:rPr>
              <a:t>main() </a:t>
            </a:r>
            <a:r>
              <a:rPr lang="en-IE" dirty="0"/>
              <a:t>method typically…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7F048D-8C9D-40D4-833E-6D94C727D0CE}"/>
              </a:ext>
            </a:extLst>
          </p:cNvPr>
          <p:cNvSpPr/>
          <p:nvPr/>
        </p:nvSpPr>
        <p:spPr>
          <a:xfrm>
            <a:off x="6753050" y="2284214"/>
            <a:ext cx="202651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1800" dirty="0">
                <a:latin typeface="Trebuchet MS" charset="0"/>
              </a:rPr>
              <a:t>Creates an object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C8DC77-1F24-4F57-ACDD-DF26806D27CC}"/>
              </a:ext>
            </a:extLst>
          </p:cNvPr>
          <p:cNvSpPr/>
          <p:nvPr/>
        </p:nvSpPr>
        <p:spPr>
          <a:xfrm>
            <a:off x="5962299" y="2805754"/>
            <a:ext cx="1581502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>
                <a:latin typeface="Trebuchet MS" charset="0"/>
              </a:rPr>
              <a:t>Calls the first method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B4FFF27-7A82-4241-8138-25E8D4B444FE}"/>
              </a:ext>
            </a:extLst>
          </p:cNvPr>
          <p:cNvCxnSpPr>
            <a:cxnSpLocks/>
          </p:cNvCxnSpPr>
          <p:nvPr/>
        </p:nvCxnSpPr>
        <p:spPr>
          <a:xfrm flipH="1" flipV="1">
            <a:off x="5943600" y="2473215"/>
            <a:ext cx="809450" cy="48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88E237-8FC5-484E-9252-42ADF4A609B7}"/>
              </a:ext>
            </a:extLst>
          </p:cNvPr>
          <p:cNvCxnSpPr>
            <a:cxnSpLocks/>
          </p:cNvCxnSpPr>
          <p:nvPr/>
        </p:nvCxnSpPr>
        <p:spPr>
          <a:xfrm flipH="1" flipV="1">
            <a:off x="4229100" y="2743200"/>
            <a:ext cx="1714500" cy="3631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4DC64E-9902-F9A3-FF6C-E6A80D702C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4A42B-472B-295B-6048-95028CF0A19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12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23086902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0" y="1543051"/>
            <a:ext cx="3257550" cy="263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ABF721-2CD3-DD75-D63E-7BCC6F10EB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8BDD31-F005-E822-3A17-240BABB4EFA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IE" smtClean="0"/>
              <a:t>13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logo&#13;&#10;&#13;&#10;Description automatically generated">
            <a:extLst>
              <a:ext uri="{FF2B5EF4-FFF2-40B4-BE49-F238E27FC236}">
                <a16:creationId xmlns:a16="http://schemas.microsoft.com/office/drawing/2014/main" id="{64886AB6-DCB6-9645-8125-CA11F57910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2" r="1" b="1"/>
          <a:stretch/>
        </p:blipFill>
        <p:spPr>
          <a:xfrm>
            <a:off x="1347374" y="473974"/>
            <a:ext cx="5821443" cy="4007299"/>
          </a:xfrm>
          <a:custGeom>
            <a:avLst/>
            <a:gdLst>
              <a:gd name="connsiteX0" fmla="*/ 3025687 w 7761924"/>
              <a:gd name="connsiteY0" fmla="*/ 76 h 5343065"/>
              <a:gd name="connsiteX1" fmla="*/ 3372722 w 7761924"/>
              <a:gd name="connsiteY1" fmla="*/ 16088 h 5343065"/>
              <a:gd name="connsiteX2" fmla="*/ 7761924 w 7761924"/>
              <a:gd name="connsiteY2" fmla="*/ 3316816 h 5343065"/>
              <a:gd name="connsiteX3" fmla="*/ 3701109 w 7761924"/>
              <a:gd name="connsiteY3" fmla="*/ 5320611 h 5343065"/>
              <a:gd name="connsiteX4" fmla="*/ 36290 w 7761924"/>
              <a:gd name="connsiteY4" fmla="*/ 2696959 h 5343065"/>
              <a:gd name="connsiteX5" fmla="*/ 3025687 w 7761924"/>
              <a:gd name="connsiteY5" fmla="*/ 76 h 53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61924" h="5343065">
                <a:moveTo>
                  <a:pt x="3025687" y="76"/>
                </a:moveTo>
                <a:cubicBezTo>
                  <a:pt x="3140786" y="756"/>
                  <a:pt x="3256631" y="6055"/>
                  <a:pt x="3372722" y="16088"/>
                </a:cubicBezTo>
                <a:cubicBezTo>
                  <a:pt x="5230178" y="176616"/>
                  <a:pt x="7761924" y="1424594"/>
                  <a:pt x="7761924" y="3316816"/>
                </a:cubicBezTo>
                <a:cubicBezTo>
                  <a:pt x="7646022" y="5237647"/>
                  <a:pt x="4988715" y="5423921"/>
                  <a:pt x="3701109" y="5320611"/>
                </a:cubicBezTo>
                <a:cubicBezTo>
                  <a:pt x="2413504" y="5217301"/>
                  <a:pt x="351800" y="4486992"/>
                  <a:pt x="36290" y="2696959"/>
                </a:cubicBezTo>
                <a:cubicBezTo>
                  <a:pt x="-259500" y="1018804"/>
                  <a:pt x="1299198" y="-10133"/>
                  <a:pt x="3025687" y="76"/>
                </a:cubicBezTo>
                <a:close/>
              </a:path>
            </a:pathLst>
          </a:custGeom>
          <a:solidFill>
            <a:srgbClr val="FDE111"/>
          </a:solidFill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EEA231-6D6B-5147-A9A7-1A48939EB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https://www.java.com</a:t>
            </a:r>
            <a:endParaRPr lang="en-IE" dirty="0"/>
          </a:p>
        </p:txBody>
      </p:sp>
      <p:pic>
        <p:nvPicPr>
          <p:cNvPr id="7" name="Picture 6" descr="A close up of a toy&#13;&#10;&#13;&#10;Description automatically generated">
            <a:extLst>
              <a:ext uri="{FF2B5EF4-FFF2-40B4-BE49-F238E27FC236}">
                <a16:creationId xmlns:a16="http://schemas.microsoft.com/office/drawing/2014/main" id="{2D47C071-A929-7E49-8327-BB4D84AA98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971" y="4095032"/>
            <a:ext cx="628034" cy="7724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79B5407-EB5B-AF48-8192-C2BB3AEC3F33}"/>
              </a:ext>
            </a:extLst>
          </p:cNvPr>
          <p:cNvSpPr/>
          <p:nvPr/>
        </p:nvSpPr>
        <p:spPr>
          <a:xfrm>
            <a:off x="11" y="4902399"/>
            <a:ext cx="9143989" cy="241102"/>
          </a:xfrm>
          <a:prstGeom prst="rect">
            <a:avLst/>
          </a:prstGeom>
          <a:solidFill>
            <a:srgbClr val="598C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9025A5-5106-3945-8404-F8F73E40F972}"/>
              </a:ext>
            </a:extLst>
          </p:cNvPr>
          <p:cNvSpPr/>
          <p:nvPr/>
        </p:nvSpPr>
        <p:spPr>
          <a:xfrm>
            <a:off x="21" y="4867339"/>
            <a:ext cx="9143978" cy="35060"/>
          </a:xfrm>
          <a:prstGeom prst="rect">
            <a:avLst/>
          </a:prstGeom>
          <a:solidFill>
            <a:srgbClr val="2F4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E905818B-C982-6824-2D72-82CAA50EB15F}"/>
              </a:ext>
            </a:extLst>
          </p:cNvPr>
          <p:cNvSpPr/>
          <p:nvPr/>
        </p:nvSpPr>
        <p:spPr>
          <a:xfrm>
            <a:off x="3119770" y="246781"/>
            <a:ext cx="4825046" cy="4363451"/>
          </a:xfrm>
          <a:custGeom>
            <a:avLst/>
            <a:gdLst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  <a:gd name="connsiteX2" fmla="*/ 4294291 w 4825046"/>
              <a:gd name="connsiteY2" fmla="*/ 2181726 h 4363451"/>
              <a:gd name="connsiteX3" fmla="*/ 3835912 w 4825046"/>
              <a:gd name="connsiteY3" fmla="*/ 2181726 h 4363451"/>
              <a:gd name="connsiteX4" fmla="*/ 3401657 w 4825046"/>
              <a:gd name="connsiteY4" fmla="*/ 2181726 h 4363451"/>
              <a:gd name="connsiteX5" fmla="*/ 2895028 w 4825046"/>
              <a:gd name="connsiteY5" fmla="*/ 2181726 h 4363451"/>
              <a:gd name="connsiteX6" fmla="*/ 2412523 w 4825046"/>
              <a:gd name="connsiteY6" fmla="*/ 2181726 h 4363451"/>
              <a:gd name="connsiteX7" fmla="*/ 2412523 w 4825046"/>
              <a:gd name="connsiteY7" fmla="*/ 1592660 h 4363451"/>
              <a:gd name="connsiteX8" fmla="*/ 2412523 w 4825046"/>
              <a:gd name="connsiteY8" fmla="*/ 1003594 h 4363451"/>
              <a:gd name="connsiteX9" fmla="*/ 2412523 w 4825046"/>
              <a:gd name="connsiteY9" fmla="*/ 0 h 4363451"/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5046" h="4363451" stroke="0" extrusionOk="0">
                <a:moveTo>
                  <a:pt x="2412523" y="0"/>
                </a:moveTo>
                <a:cubicBezTo>
                  <a:pt x="3628794" y="-71631"/>
                  <a:pt x="4778611" y="994220"/>
                  <a:pt x="4825046" y="2181726"/>
                </a:cubicBezTo>
                <a:cubicBezTo>
                  <a:pt x="4648381" y="2216667"/>
                  <a:pt x="4555722" y="2178687"/>
                  <a:pt x="4294291" y="2181726"/>
                </a:cubicBezTo>
                <a:cubicBezTo>
                  <a:pt x="4032860" y="2184765"/>
                  <a:pt x="3930079" y="2128263"/>
                  <a:pt x="3835912" y="2181726"/>
                </a:cubicBezTo>
                <a:cubicBezTo>
                  <a:pt x="3741745" y="2235189"/>
                  <a:pt x="3611727" y="2130904"/>
                  <a:pt x="3401657" y="2181726"/>
                </a:cubicBezTo>
                <a:cubicBezTo>
                  <a:pt x="3191588" y="2232548"/>
                  <a:pt x="3023759" y="2129332"/>
                  <a:pt x="2895028" y="2181726"/>
                </a:cubicBezTo>
                <a:cubicBezTo>
                  <a:pt x="2766297" y="2234120"/>
                  <a:pt x="2573145" y="2144605"/>
                  <a:pt x="2412523" y="2181726"/>
                </a:cubicBezTo>
                <a:cubicBezTo>
                  <a:pt x="2399089" y="2048791"/>
                  <a:pt x="2438220" y="1759814"/>
                  <a:pt x="2412523" y="1592660"/>
                </a:cubicBezTo>
                <a:cubicBezTo>
                  <a:pt x="2386826" y="1425506"/>
                  <a:pt x="2428532" y="1262217"/>
                  <a:pt x="2412523" y="1003594"/>
                </a:cubicBezTo>
                <a:cubicBezTo>
                  <a:pt x="2396514" y="744971"/>
                  <a:pt x="2425062" y="317837"/>
                  <a:pt x="2412523" y="0"/>
                </a:cubicBezTo>
                <a:close/>
              </a:path>
              <a:path w="4825046" h="4363451" fill="none" extrusionOk="0">
                <a:moveTo>
                  <a:pt x="2412523" y="0"/>
                </a:moveTo>
                <a:cubicBezTo>
                  <a:pt x="3893069" y="220530"/>
                  <a:pt x="4841856" y="1150891"/>
                  <a:pt x="4825046" y="2181726"/>
                </a:cubicBezTo>
              </a:path>
              <a:path w="4825046" h="4363451" fill="none" stroke="0" extrusionOk="0">
                <a:moveTo>
                  <a:pt x="2412523" y="0"/>
                </a:moveTo>
                <a:cubicBezTo>
                  <a:pt x="3594218" y="-24376"/>
                  <a:pt x="4991083" y="1112579"/>
                  <a:pt x="4825046" y="2181726"/>
                </a:cubicBezTo>
              </a:path>
            </a:pathLst>
          </a:custGeom>
          <a:ln w="161925">
            <a:solidFill>
              <a:srgbClr val="598CB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0E12D8E3-B5EB-1F63-44BF-C8DFC4B7792B}"/>
              </a:ext>
            </a:extLst>
          </p:cNvPr>
          <p:cNvSpPr/>
          <p:nvPr/>
        </p:nvSpPr>
        <p:spPr>
          <a:xfrm rot="10800000">
            <a:off x="1199184" y="241101"/>
            <a:ext cx="4825046" cy="4363451"/>
          </a:xfrm>
          <a:custGeom>
            <a:avLst/>
            <a:gdLst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  <a:gd name="connsiteX2" fmla="*/ 4294291 w 4825046"/>
              <a:gd name="connsiteY2" fmla="*/ 2181726 h 4363451"/>
              <a:gd name="connsiteX3" fmla="*/ 3835912 w 4825046"/>
              <a:gd name="connsiteY3" fmla="*/ 2181726 h 4363451"/>
              <a:gd name="connsiteX4" fmla="*/ 3401657 w 4825046"/>
              <a:gd name="connsiteY4" fmla="*/ 2181726 h 4363451"/>
              <a:gd name="connsiteX5" fmla="*/ 2895028 w 4825046"/>
              <a:gd name="connsiteY5" fmla="*/ 2181726 h 4363451"/>
              <a:gd name="connsiteX6" fmla="*/ 2412523 w 4825046"/>
              <a:gd name="connsiteY6" fmla="*/ 2181726 h 4363451"/>
              <a:gd name="connsiteX7" fmla="*/ 2412523 w 4825046"/>
              <a:gd name="connsiteY7" fmla="*/ 1592660 h 4363451"/>
              <a:gd name="connsiteX8" fmla="*/ 2412523 w 4825046"/>
              <a:gd name="connsiteY8" fmla="*/ 1003594 h 4363451"/>
              <a:gd name="connsiteX9" fmla="*/ 2412523 w 4825046"/>
              <a:gd name="connsiteY9" fmla="*/ 0 h 4363451"/>
              <a:gd name="connsiteX0" fmla="*/ 2412523 w 4825046"/>
              <a:gd name="connsiteY0" fmla="*/ 0 h 4363451"/>
              <a:gd name="connsiteX1" fmla="*/ 4825046 w 4825046"/>
              <a:gd name="connsiteY1" fmla="*/ 2181726 h 4363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5046" h="4363451" stroke="0" extrusionOk="0">
                <a:moveTo>
                  <a:pt x="2412523" y="0"/>
                </a:moveTo>
                <a:cubicBezTo>
                  <a:pt x="3628794" y="-71631"/>
                  <a:pt x="4778611" y="994220"/>
                  <a:pt x="4825046" y="2181726"/>
                </a:cubicBezTo>
                <a:cubicBezTo>
                  <a:pt x="4648381" y="2216667"/>
                  <a:pt x="4555722" y="2178687"/>
                  <a:pt x="4294291" y="2181726"/>
                </a:cubicBezTo>
                <a:cubicBezTo>
                  <a:pt x="4032860" y="2184765"/>
                  <a:pt x="3930079" y="2128263"/>
                  <a:pt x="3835912" y="2181726"/>
                </a:cubicBezTo>
                <a:cubicBezTo>
                  <a:pt x="3741745" y="2235189"/>
                  <a:pt x="3611727" y="2130904"/>
                  <a:pt x="3401657" y="2181726"/>
                </a:cubicBezTo>
                <a:cubicBezTo>
                  <a:pt x="3191588" y="2232548"/>
                  <a:pt x="3023759" y="2129332"/>
                  <a:pt x="2895028" y="2181726"/>
                </a:cubicBezTo>
                <a:cubicBezTo>
                  <a:pt x="2766297" y="2234120"/>
                  <a:pt x="2573145" y="2144605"/>
                  <a:pt x="2412523" y="2181726"/>
                </a:cubicBezTo>
                <a:cubicBezTo>
                  <a:pt x="2399089" y="2048791"/>
                  <a:pt x="2438220" y="1759814"/>
                  <a:pt x="2412523" y="1592660"/>
                </a:cubicBezTo>
                <a:cubicBezTo>
                  <a:pt x="2386826" y="1425506"/>
                  <a:pt x="2428532" y="1262217"/>
                  <a:pt x="2412523" y="1003594"/>
                </a:cubicBezTo>
                <a:cubicBezTo>
                  <a:pt x="2396514" y="744971"/>
                  <a:pt x="2425062" y="317837"/>
                  <a:pt x="2412523" y="0"/>
                </a:cubicBezTo>
                <a:close/>
              </a:path>
              <a:path w="4825046" h="4363451" fill="none" extrusionOk="0">
                <a:moveTo>
                  <a:pt x="2412523" y="0"/>
                </a:moveTo>
                <a:cubicBezTo>
                  <a:pt x="3893069" y="220530"/>
                  <a:pt x="4841856" y="1150891"/>
                  <a:pt x="4825046" y="2181726"/>
                </a:cubicBezTo>
              </a:path>
              <a:path w="4825046" h="4363451" fill="none" stroke="0" extrusionOk="0">
                <a:moveTo>
                  <a:pt x="2412523" y="0"/>
                </a:moveTo>
                <a:cubicBezTo>
                  <a:pt x="3594218" y="-24376"/>
                  <a:pt x="4991083" y="1112579"/>
                  <a:pt x="4825046" y="2181726"/>
                </a:cubicBezTo>
              </a:path>
            </a:pathLst>
          </a:custGeom>
          <a:ln w="161925">
            <a:solidFill>
              <a:srgbClr val="598CBE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arc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1" vertOverflow="overflow" horzOverflow="overflow" vert="horz" wrap="square" lIns="91439" tIns="45719" rIns="91439" bIns="45719" numCol="1" spcCol="38100" rtlCol="0" anchor="t">
            <a:no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BA07139-B4B0-117B-EC27-2D34964457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6852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21062</TotalTime>
  <Words>501</Words>
  <Application>Microsoft Macintosh PowerPoint</Application>
  <PresentationFormat>On-screen Show (16:9)</PresentationFormat>
  <Paragraphs>89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8" baseType="lpstr">
      <vt:lpstr>Times</vt:lpstr>
      <vt:lpstr>Arial</vt:lpstr>
      <vt:lpstr>Avenir</vt:lpstr>
      <vt:lpstr>Calibri</vt:lpstr>
      <vt:lpstr>Courier New</vt:lpstr>
      <vt:lpstr>Helvetica</vt:lpstr>
      <vt:lpstr>Helvetica Light</vt:lpstr>
      <vt:lpstr>Helvetica Neue</vt:lpstr>
      <vt:lpstr>Helvetica Neue Light</vt:lpstr>
      <vt:lpstr>Helvetica Neue UltraLight</vt:lpstr>
      <vt:lpstr>Monaco</vt:lpstr>
      <vt:lpstr>Trebuchet MS</vt:lpstr>
      <vt:lpstr>Wingdings</vt:lpstr>
      <vt:lpstr>White</vt:lpstr>
      <vt:lpstr>Programming Fundamentals 1</vt:lpstr>
      <vt:lpstr>PowerPoint Presentation</vt:lpstr>
      <vt:lpstr>Agenda</vt:lpstr>
      <vt:lpstr>Files in Java</vt:lpstr>
      <vt:lpstr>Files in Java</vt:lpstr>
      <vt:lpstr>Files in Java</vt:lpstr>
      <vt:lpstr>Java Virtual Machine (JVM)</vt:lpstr>
      <vt:lpstr>Java Virtual Machine (JVM)</vt:lpstr>
      <vt:lpstr>main() method</vt:lpstr>
      <vt:lpstr>main() method</vt:lpstr>
      <vt:lpstr>main() method - signature</vt:lpstr>
      <vt:lpstr>The main() method typically…</vt:lpstr>
      <vt:lpstr>Questions?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Application Development</dc:title>
  <dc:creator>David Drohan</dc:creator>
  <cp:lastModifiedBy>David Drohan</cp:lastModifiedBy>
  <cp:revision>203</cp:revision>
  <dcterms:created xsi:type="dcterms:W3CDTF">2019-01-29T16:40:14Z</dcterms:created>
  <dcterms:modified xsi:type="dcterms:W3CDTF">2023-07-27T07:04:24Z</dcterms:modified>
</cp:coreProperties>
</file>