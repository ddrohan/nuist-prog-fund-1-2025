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465" r:id="rId3"/>
    <p:sldId id="346" r:id="rId4"/>
    <p:sldId id="341" r:id="rId5"/>
    <p:sldId id="665" r:id="rId6"/>
    <p:sldId id="688" r:id="rId7"/>
    <p:sldId id="672" r:id="rId8"/>
    <p:sldId id="667" r:id="rId9"/>
    <p:sldId id="689" r:id="rId10"/>
    <p:sldId id="704" r:id="rId11"/>
    <p:sldId id="705" r:id="rId12"/>
    <p:sldId id="692" r:id="rId13"/>
    <p:sldId id="693" r:id="rId14"/>
    <p:sldId id="695" r:id="rId15"/>
    <p:sldId id="694" r:id="rId16"/>
    <p:sldId id="678" r:id="rId17"/>
    <p:sldId id="696" r:id="rId18"/>
    <p:sldId id="697" r:id="rId19"/>
    <p:sldId id="698" r:id="rId20"/>
    <p:sldId id="699" r:id="rId21"/>
    <p:sldId id="671" r:id="rId22"/>
    <p:sldId id="700" r:id="rId23"/>
    <p:sldId id="701" r:id="rId24"/>
    <p:sldId id="702" r:id="rId25"/>
    <p:sldId id="703" r:id="rId26"/>
    <p:sldId id="281" r:id="rId27"/>
    <p:sldId id="298" r:id="rId28"/>
  </p:sldIdLst>
  <p:sldSz cx="9144000" cy="5143500" type="screen16x9"/>
  <p:notesSz cx="6858000" cy="9144000"/>
  <p:defaultTextStyle>
    <a:lvl1pPr algn="ctr" defTabSz="366737">
      <a:defRPr sz="2250">
        <a:latin typeface="+mn-lt"/>
        <a:ea typeface="+mn-ea"/>
        <a:cs typeface="+mn-cs"/>
        <a:sym typeface="Helvetica Light"/>
      </a:defRPr>
    </a:lvl1pPr>
    <a:lvl2pPr indent="143505" algn="ctr" defTabSz="366737">
      <a:defRPr sz="2250">
        <a:latin typeface="+mn-lt"/>
        <a:ea typeface="+mn-ea"/>
        <a:cs typeface="+mn-cs"/>
        <a:sym typeface="Helvetica Light"/>
      </a:defRPr>
    </a:lvl2pPr>
    <a:lvl3pPr indent="287012" algn="ctr" defTabSz="366737">
      <a:defRPr sz="2250">
        <a:latin typeface="+mn-lt"/>
        <a:ea typeface="+mn-ea"/>
        <a:cs typeface="+mn-cs"/>
        <a:sym typeface="Helvetica Light"/>
      </a:defRPr>
    </a:lvl3pPr>
    <a:lvl4pPr indent="430517" algn="ctr" defTabSz="366737">
      <a:defRPr sz="2250">
        <a:latin typeface="+mn-lt"/>
        <a:ea typeface="+mn-ea"/>
        <a:cs typeface="+mn-cs"/>
        <a:sym typeface="Helvetica Light"/>
      </a:defRPr>
    </a:lvl4pPr>
    <a:lvl5pPr indent="574022" algn="ctr" defTabSz="366737">
      <a:defRPr sz="2250">
        <a:latin typeface="+mn-lt"/>
        <a:ea typeface="+mn-ea"/>
        <a:cs typeface="+mn-cs"/>
        <a:sym typeface="Helvetica Light"/>
      </a:defRPr>
    </a:lvl5pPr>
    <a:lvl6pPr indent="717528" algn="ctr" defTabSz="366737">
      <a:defRPr sz="2250">
        <a:latin typeface="+mn-lt"/>
        <a:ea typeface="+mn-ea"/>
        <a:cs typeface="+mn-cs"/>
        <a:sym typeface="Helvetica Light"/>
      </a:defRPr>
    </a:lvl6pPr>
    <a:lvl7pPr indent="861034" algn="ctr" defTabSz="366737">
      <a:defRPr sz="2250">
        <a:latin typeface="+mn-lt"/>
        <a:ea typeface="+mn-ea"/>
        <a:cs typeface="+mn-cs"/>
        <a:sym typeface="Helvetica Light"/>
      </a:defRPr>
    </a:lvl7pPr>
    <a:lvl8pPr indent="1004539" algn="ctr" defTabSz="366737">
      <a:defRPr sz="2250">
        <a:latin typeface="+mn-lt"/>
        <a:ea typeface="+mn-ea"/>
        <a:cs typeface="+mn-cs"/>
        <a:sym typeface="Helvetica Light"/>
      </a:defRPr>
    </a:lvl8pPr>
    <a:lvl9pPr indent="1148045" algn="ctr" defTabSz="366737">
      <a:defRPr sz="225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8CBE"/>
    <a:srgbClr val="2F486B"/>
    <a:srgbClr val="0368FF"/>
    <a:srgbClr val="194699"/>
    <a:srgbClr val="1F33AB"/>
    <a:srgbClr val="84AEFF"/>
    <a:srgbClr val="0E9647"/>
    <a:srgbClr val="FDE111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71"/>
    <p:restoredTop sz="85442"/>
  </p:normalViewPr>
  <p:slideViewPr>
    <p:cSldViewPr snapToGrid="0" snapToObjects="1">
      <p:cViewPr varScale="1">
        <p:scale>
          <a:sx n="139" d="100"/>
          <a:sy n="139" d="100"/>
        </p:scale>
        <p:origin x="488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9E08-5597-3E45-8582-EEB58189C482}" type="datetimeFigureOut">
              <a:rPr lang="en-US" smtClean="0"/>
              <a:t>10/11/24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502-A57F-A84E-93AF-100B756C63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02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951493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1pPr>
    <a:lvl2pPr indent="14350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2pPr>
    <a:lvl3pPr indent="28701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3pPr>
    <a:lvl4pPr indent="430517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4pPr>
    <a:lvl5pPr indent="57402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5pPr>
    <a:lvl6pPr indent="717528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6pPr>
    <a:lvl7pPr indent="861034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7pPr>
    <a:lvl8pPr indent="1004539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8pPr>
    <a:lvl9pPr indent="114804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7012" rtl="0">
              <a:lnSpc>
                <a:spcPct val="125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40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hyperlink" Target="mailto:ddrohan@wit.ie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close-up of a metal structure&#10;&#10;Description automatically generated with low confidence">
            <a:extLst>
              <a:ext uri="{FF2B5EF4-FFF2-40B4-BE49-F238E27FC236}">
                <a16:creationId xmlns:a16="http://schemas.microsoft.com/office/drawing/2014/main" id="{14F6341F-72F0-BFA6-6798-9AC71A86B3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096" t="1189" r="36524" b="51187"/>
          <a:stretch/>
        </p:blipFill>
        <p:spPr>
          <a:xfrm>
            <a:off x="-6264" y="-6182"/>
            <a:ext cx="9150263" cy="5147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</p:pic>
      <p:sp>
        <p:nvSpPr>
          <p:cNvPr id="12" name="Shape 33">
            <a:extLst>
              <a:ext uri="{FF2B5EF4-FFF2-40B4-BE49-F238E27FC236}">
                <a16:creationId xmlns:a16="http://schemas.microsoft.com/office/drawing/2014/main" id="{EAD08510-7D5A-594A-AAEC-59C7087561FC}"/>
              </a:ext>
            </a:extLst>
          </p:cNvPr>
          <p:cNvSpPr/>
          <p:nvPr userDrawn="1"/>
        </p:nvSpPr>
        <p:spPr>
          <a:xfrm>
            <a:off x="3778568" y="2059379"/>
            <a:ext cx="4846151" cy="0"/>
          </a:xfrm>
          <a:prstGeom prst="line">
            <a:avLst/>
          </a:prstGeom>
          <a:ln w="3175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 lvl="0" algn="l" defTabSz="286973" rtl="0">
              <a:defRPr sz="1100">
                <a:latin typeface="Helvetica"/>
                <a:ea typeface="Helvetica"/>
                <a:cs typeface="Helvetica"/>
                <a:sym typeface="Helvetica"/>
              </a:defRPr>
            </a:pPr>
            <a:endParaRPr sz="825" dirty="0"/>
          </a:p>
        </p:txBody>
      </p:sp>
      <p:sp>
        <p:nvSpPr>
          <p:cNvPr id="13" name="Shape 34">
            <a:extLst>
              <a:ext uri="{FF2B5EF4-FFF2-40B4-BE49-F238E27FC236}">
                <a16:creationId xmlns:a16="http://schemas.microsoft.com/office/drawing/2014/main" id="{BB2C258E-D81B-5B4E-8B1B-562CE71165EB}"/>
              </a:ext>
            </a:extLst>
          </p:cNvPr>
          <p:cNvSpPr/>
          <p:nvPr userDrawn="1"/>
        </p:nvSpPr>
        <p:spPr>
          <a:xfrm>
            <a:off x="3613319" y="2299116"/>
            <a:ext cx="1208664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Produced</a:t>
            </a:r>
          </a:p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by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885F7572-8BDA-2441-A5EC-7D945A8A5010}"/>
              </a:ext>
            </a:extLst>
          </p:cNvPr>
          <p:cNvSpPr/>
          <p:nvPr/>
        </p:nvSpPr>
        <p:spPr>
          <a:xfrm>
            <a:off x="4970252" y="3114062"/>
            <a:ext cx="3241478" cy="54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lvl="0" algn="l">
              <a:lnSpc>
                <a:spcPct val="120000"/>
              </a:lnSpc>
              <a:defRPr sz="1800"/>
            </a:pPr>
            <a:r>
              <a:rPr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of Computing &amp; Mathematics</a:t>
            </a:r>
          </a:p>
          <a:p>
            <a:pPr lvl="0" algn="l">
              <a:lnSpc>
                <a:spcPct val="120000"/>
              </a:lnSpc>
              <a:defRPr sz="1800"/>
            </a:pP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South East Technological University</a:t>
            </a:r>
            <a:b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Waterford, Ireland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F323B0CE-A19A-E748-98EC-D40F56CC33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87903" y="4360424"/>
            <a:ext cx="730559" cy="73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5E7D44-1D07-9340-B610-CE9A2D7BB0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289" y="188773"/>
            <a:ext cx="560173" cy="6387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A583B1-550B-C14A-A9E9-8D176BDC6F6E}"/>
              </a:ext>
            </a:extLst>
          </p:cNvPr>
          <p:cNvSpPr txBox="1"/>
          <p:nvPr userDrawn="1"/>
        </p:nvSpPr>
        <p:spPr>
          <a:xfrm>
            <a:off x="4721847" y="4551298"/>
            <a:ext cx="342598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r" fontAlgn="auto"/>
            <a:r>
              <a:rPr lang="en-IE" sz="1600" b="1" i="0" u="none" strike="noStrike" baseline="0" dirty="0" err="1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  <a:sym typeface="Helvetica Light"/>
              </a:rPr>
              <a:t>setu.ie</a:t>
            </a:r>
            <a:endParaRPr lang="en-IE" sz="1600" b="1" i="0" u="none" strike="noStrike" baseline="0" dirty="0">
              <a:solidFill>
                <a:schemeClr val="bg1">
                  <a:lumMod val="85000"/>
                </a:schemeClr>
              </a:solidFill>
              <a:effectLst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Shape 35">
            <a:extLst>
              <a:ext uri="{FF2B5EF4-FFF2-40B4-BE49-F238E27FC236}">
                <a16:creationId xmlns:a16="http://schemas.microsoft.com/office/drawing/2014/main" id="{1EC3B031-7C7C-5846-BACC-8C65A8064D86}"/>
              </a:ext>
            </a:extLst>
          </p:cNvPr>
          <p:cNvSpPr/>
          <p:nvPr userDrawn="1"/>
        </p:nvSpPr>
        <p:spPr>
          <a:xfrm>
            <a:off x="4963941" y="2144699"/>
            <a:ext cx="3954521" cy="1046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algn="l"/>
            <a:r>
              <a:rPr lang="en-IE" sz="1800" b="1" i="0" baseline="0" dirty="0"/>
              <a:t>Mr. Dave Drohan </a:t>
            </a:r>
            <a:r>
              <a:rPr lang="en-IE" sz="1600" b="1" i="0" baseline="0" dirty="0"/>
              <a:t>(</a:t>
            </a:r>
            <a:r>
              <a:rPr lang="en-IE" sz="1600" b="1" i="0" baseline="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hlinkClick r:id="rId5"/>
              </a:rPr>
              <a:t>david.drohan@setu.ie</a:t>
            </a:r>
            <a:r>
              <a:rPr lang="en-IE" sz="1600" b="1" i="0" baseline="0" dirty="0"/>
              <a:t>)</a:t>
            </a:r>
            <a:br>
              <a:rPr lang="en-IE" sz="1600" b="1" i="0" baseline="0" dirty="0"/>
            </a:br>
            <a:r>
              <a:rPr lang="en-IE" sz="1800" dirty="0" err="1">
                <a:solidFill>
                  <a:schemeClr val="tx1"/>
                </a:solidFill>
              </a:rPr>
              <a:t>Dr.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Siobhán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Drohan</a:t>
            </a:r>
            <a:endParaRPr lang="en-IE" sz="1800" dirty="0">
              <a:solidFill>
                <a:schemeClr val="tx1"/>
              </a:solidFill>
            </a:endParaRPr>
          </a:p>
          <a:p>
            <a:pPr algn="l"/>
            <a:r>
              <a:rPr lang="en-IE" sz="1800" dirty="0">
                <a:solidFill>
                  <a:schemeClr val="tx1"/>
                </a:solidFill>
              </a:rPr>
              <a:t>Ms. Mairead Meagher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BD13589-119E-31F3-037B-F798E3852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9399" y="1324611"/>
            <a:ext cx="7893844" cy="542479"/>
          </a:xfrm>
        </p:spPr>
        <p:txBody>
          <a:bodyPr/>
          <a:lstStyle>
            <a:lvl1pPr>
              <a:defRPr sz="2800" b="1"/>
            </a:lvl1pPr>
          </a:lstStyle>
          <a:p>
            <a:pPr algn="r" defTabSz="366688" rtl="0"/>
            <a:r>
              <a:rPr lang="en-US" dirty="0"/>
              <a:t>Programming Fundamentals 1</a:t>
            </a:r>
          </a:p>
        </p:txBody>
      </p:sp>
    </p:spTree>
    <p:extLst>
      <p:ext uri="{BB962C8B-B14F-4D97-AF65-F5344CB8AC3E}">
        <p14:creationId xmlns:p14="http://schemas.microsoft.com/office/powerpoint/2010/main" val="312442219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 baseline="0"/>
            </a:lvl1pPr>
          </a:lstStyle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194699"/>
              </a:buClr>
              <a:defRPr/>
            </a:lvl1pPr>
            <a:lvl2pPr>
              <a:buClr>
                <a:srgbClr val="194699"/>
              </a:buClr>
              <a:defRPr/>
            </a:lvl2pPr>
            <a:lvl3pPr>
              <a:buClr>
                <a:srgbClr val="194699"/>
              </a:buClr>
              <a:defRPr/>
            </a:lvl3pPr>
            <a:lvl4pPr>
              <a:buClr>
                <a:srgbClr val="194699"/>
              </a:buClr>
              <a:defRPr/>
            </a:lvl4pPr>
            <a:lvl5pPr>
              <a:buClr>
                <a:srgbClr val="194699"/>
              </a:buClr>
              <a:defRPr/>
            </a:lvl5pPr>
          </a:lstStyle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6553201" y="4875912"/>
            <a:ext cx="1905000" cy="283023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95886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FE51DA-9AF5-F835-204E-B5376FB7A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6552-8ABC-2684-8EA3-A12C826F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C3EAD-3ACD-68D9-A159-986D3E0E55D6}"/>
              </a:ext>
            </a:extLst>
          </p:cNvPr>
          <p:cNvSpPr/>
          <p:nvPr userDrawn="1"/>
        </p:nvSpPr>
        <p:spPr>
          <a:xfrm>
            <a:off x="375385" y="683393"/>
            <a:ext cx="7324826" cy="32725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41451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27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08585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047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defTabSz="366737" rtl="0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 anchor="b"/>
          <a:lstStyle/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7772401" cy="4299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/>
          <a:lstStyle/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847061"/>
            <a:ext cx="1905000" cy="283023"/>
          </a:xfrm>
          <a:prstGeom prst="rect">
            <a:avLst/>
          </a:prstGeom>
          <a:ln w="12700">
            <a:miter lim="400000"/>
          </a:ln>
        </p:spPr>
        <p:txBody>
          <a:bodyPr lIns="54418" tIns="54418" rIns="54418" bIns="54418" anchor="b">
            <a:spAutoFit/>
          </a:bodyPr>
          <a:lstStyle>
            <a:lvl1pPr algn="r" defTabSz="573946">
              <a:defRPr sz="1125">
                <a:solidFill>
                  <a:srgbClr val="FFFFFF"/>
                </a:solidFill>
                <a:latin typeface="+mn-lt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467545" y="789552"/>
            <a:ext cx="7128792" cy="1"/>
          </a:xfrm>
          <a:prstGeom prst="line">
            <a:avLst/>
          </a:prstGeom>
          <a:ln w="12700">
            <a:solidFill>
              <a:srgbClr val="94BBE7"/>
            </a:solidFill>
          </a:ln>
          <a:effectLst>
            <a:outerShdw blurRad="101600" dist="12700" dir="2700000" rotWithShape="0">
              <a:srgbClr val="003D62">
                <a:alpha val="20000"/>
              </a:srgbClr>
            </a:outerShdw>
          </a:effectLst>
        </p:spPr>
        <p:txBody>
          <a:bodyPr lIns="40814" tIns="40814" rIns="40814" bIns="40814"/>
          <a:lstStyle/>
          <a:p>
            <a:pPr lvl="0" algn="l" defTabSz="286973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1200" dirty="0"/>
          </a:p>
        </p:txBody>
      </p:sp>
      <p:sp>
        <p:nvSpPr>
          <p:cNvPr id="1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88982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solidFill>
                  <a:schemeClr val="bg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3B9B00-B977-E94D-8CAA-76ABE98D04E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621" y="5935"/>
            <a:ext cx="741809" cy="6867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3" r:id="rId2"/>
    <p:sldLayoutId id="2147483668" r:id="rId3"/>
    <p:sldLayoutId id="2147483669" r:id="rId4"/>
    <p:sldLayoutId id="2147483670" r:id="rId5"/>
  </p:sldLayoutIdLst>
  <p:transition spd="med"/>
  <p:hf hdr="0" dt="0"/>
  <p:txStyles>
    <p:titleStyle>
      <a:lvl1pPr>
        <a:defRPr sz="2800">
          <a:latin typeface="Helvetica Neue Light"/>
          <a:ea typeface="Helvetica Neue Light"/>
          <a:cs typeface="Helvetica Neue Light"/>
          <a:sym typeface="Helvetica Neue Light"/>
        </a:defRPr>
      </a:lvl1pPr>
      <a:lvl2pPr>
        <a:defRPr sz="2775">
          <a:latin typeface="Helvetica Neue Light"/>
          <a:ea typeface="Helvetica Neue Light"/>
          <a:cs typeface="Helvetica Neue Light"/>
          <a:sym typeface="Helvetica Neue Light"/>
        </a:defRPr>
      </a:lvl2pPr>
      <a:lvl3pPr>
        <a:defRPr sz="2775">
          <a:latin typeface="Helvetica Neue Light"/>
          <a:ea typeface="Helvetica Neue Light"/>
          <a:cs typeface="Helvetica Neue Light"/>
          <a:sym typeface="Helvetica Neue Light"/>
        </a:defRPr>
      </a:lvl3pPr>
      <a:lvl4pPr>
        <a:defRPr sz="2775">
          <a:latin typeface="Helvetica Neue Light"/>
          <a:ea typeface="Helvetica Neue Light"/>
          <a:cs typeface="Helvetica Neue Light"/>
          <a:sym typeface="Helvetica Neue Light"/>
        </a:defRPr>
      </a:lvl4pPr>
      <a:lvl5pPr>
        <a:defRPr sz="2775">
          <a:latin typeface="Helvetica Neue Light"/>
          <a:ea typeface="Helvetica Neue Light"/>
          <a:cs typeface="Helvetica Neue Light"/>
          <a:sym typeface="Helvetica Neue Light"/>
        </a:defRPr>
      </a:lvl5pPr>
      <a:lvl6pPr indent="286973">
        <a:defRPr sz="2775">
          <a:latin typeface="Helvetica Neue Light"/>
          <a:ea typeface="Helvetica Neue Light"/>
          <a:cs typeface="Helvetica Neue Light"/>
          <a:sym typeface="Helvetica Neue Light"/>
        </a:defRPr>
      </a:lvl6pPr>
      <a:lvl7pPr indent="573946">
        <a:defRPr sz="2775">
          <a:latin typeface="Helvetica Neue Light"/>
          <a:ea typeface="Helvetica Neue Light"/>
          <a:cs typeface="Helvetica Neue Light"/>
          <a:sym typeface="Helvetica Neue Light"/>
        </a:defRPr>
      </a:lvl7pPr>
      <a:lvl8pPr indent="860919">
        <a:defRPr sz="2775">
          <a:latin typeface="Helvetica Neue Light"/>
          <a:ea typeface="Helvetica Neue Light"/>
          <a:cs typeface="Helvetica Neue Light"/>
          <a:sym typeface="Helvetica Neue Light"/>
        </a:defRPr>
      </a:lvl8pPr>
      <a:lvl9pPr indent="1147892">
        <a:defRPr sz="2775"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292097" indent="-292097">
        <a:spcBef>
          <a:spcPts val="377"/>
        </a:spcBef>
        <a:buClr>
          <a:srgbClr val="008000"/>
        </a:buClr>
        <a:buSzPct val="100000"/>
        <a:buFont typeface="Wingdings"/>
        <a:buChar char="❑"/>
        <a:defRPr sz="2400">
          <a:latin typeface="Helvetica Neue Light"/>
          <a:ea typeface="Helvetica Neue Light"/>
          <a:cs typeface="Helvetica Neue Light"/>
          <a:sym typeface="Helvetica Neue Light"/>
        </a:defRPr>
      </a:lvl1pPr>
      <a:lvl2pPr marL="570956" indent="-283984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2pPr>
      <a:lvl3pPr marL="846570" indent="-272624">
        <a:spcBef>
          <a:spcPts val="377"/>
        </a:spcBef>
        <a:buClr>
          <a:srgbClr val="008000"/>
        </a:buClr>
        <a:buSzPct val="95000"/>
        <a:buFont typeface="Wingdings"/>
        <a:buChar char="⬥"/>
        <a:defRPr sz="2400">
          <a:latin typeface="Helvetica Neue Light"/>
          <a:ea typeface="Helvetica Neue Light"/>
          <a:cs typeface="Helvetica Neue Light"/>
          <a:sym typeface="Helvetica Neue Light"/>
        </a:defRPr>
      </a:lvl3pPr>
      <a:lvl4pPr marL="1163835" indent="-302916">
        <a:spcBef>
          <a:spcPts val="377"/>
        </a:spcBef>
        <a:buClr>
          <a:srgbClr val="008000"/>
        </a:buClr>
        <a:buSzPct val="65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4pPr>
      <a:lvl5pPr marL="1450808" indent="-302916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5pPr>
      <a:lvl6pPr marL="1737781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6pPr>
      <a:lvl7pPr marL="2024754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7pPr>
      <a:lvl8pPr marL="2311727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8pPr>
      <a:lvl9pPr marL="2598700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1pPr>
      <a:lvl2pPr indent="286973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2pPr>
      <a:lvl3pPr indent="573946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3pPr>
      <a:lvl4pPr indent="860919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4pPr>
      <a:lvl5pPr indent="1147892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5pPr>
      <a:lvl6pPr indent="1434865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6pPr>
      <a:lvl7pPr indent="1721838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7pPr>
      <a:lvl8pPr indent="2008811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8pPr>
      <a:lvl9pPr indent="2295784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6A5DAE-8FD5-49CE-E28B-6EDA2BB1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747" y="1010648"/>
            <a:ext cx="7893844" cy="1077818"/>
          </a:xfrm>
        </p:spPr>
        <p:txBody>
          <a:bodyPr/>
          <a:lstStyle/>
          <a:p>
            <a:pPr algn="r" defTabSz="366688" rtl="0"/>
            <a:r>
              <a:rPr lang="en-US" sz="3200" dirty="0"/>
              <a:t>Programming Fundamentals 1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5F8875-BE14-6F78-797D-7623587C6E38}"/>
              </a:ext>
            </a:extLst>
          </p:cNvPr>
          <p:cNvCxnSpPr/>
          <p:nvPr/>
        </p:nvCxnSpPr>
        <p:spPr>
          <a:xfrm>
            <a:off x="192024" y="2240280"/>
            <a:ext cx="8705088" cy="0"/>
          </a:xfrm>
          <a:prstGeom prst="line">
            <a:avLst/>
          </a:prstGeom>
          <a:noFill/>
          <a:ln w="15875" cap="flat">
            <a:solidFill>
              <a:srgbClr val="84AEFF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itle 2">
            <a:extLst>
              <a:ext uri="{FF2B5EF4-FFF2-40B4-BE49-F238E27FC236}">
                <a16:creationId xmlns:a16="http://schemas.microsoft.com/office/drawing/2014/main" id="{F3D22CC2-63B9-5CB6-174A-205E5A7B9B8B}"/>
              </a:ext>
            </a:extLst>
          </p:cNvPr>
          <p:cNvSpPr txBox="1">
            <a:spLocks/>
          </p:cNvSpPr>
          <p:nvPr/>
        </p:nvSpPr>
        <p:spPr>
          <a:xfrm>
            <a:off x="192024" y="1269402"/>
            <a:ext cx="7772401" cy="1063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endParaRPr lang="en-IE" sz="2800" dirty="0">
              <a:solidFill>
                <a:schemeClr val="tx1"/>
              </a:solidFill>
            </a:endParaRPr>
          </a:p>
          <a:p>
            <a:pPr algn="l" defTabSz="914400"/>
            <a:r>
              <a:rPr lang="en-IE" sz="2800" dirty="0">
                <a:solidFill>
                  <a:schemeClr val="tx1"/>
                </a:solidFill>
              </a:rPr>
              <a:t>IntelliJ and Spot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C56AC-B899-2568-9517-5FD54D9A7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7657" y="239884"/>
            <a:ext cx="2810081" cy="4462408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2B49638-F999-2A91-FA44-4A9EC7335E24}"/>
              </a:ext>
            </a:extLst>
          </p:cNvPr>
          <p:cNvSpPr txBox="1">
            <a:spLocks/>
          </p:cNvSpPr>
          <p:nvPr/>
        </p:nvSpPr>
        <p:spPr>
          <a:xfrm>
            <a:off x="192024" y="2262468"/>
            <a:ext cx="7772401" cy="16116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r>
              <a:rPr lang="en-IE" sz="2400" dirty="0">
                <a:solidFill>
                  <a:schemeClr val="bg1">
                    <a:lumMod val="75000"/>
                  </a:schemeClr>
                </a:solidFill>
              </a:rPr>
              <a:t>Basic Spot Class in our new IDE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94E400-A0C7-BE1B-44A0-8F17F3B2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DE2ED-9613-EC3D-7D95-0004F92FA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53201" y="4884769"/>
            <a:ext cx="1905000" cy="283023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906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8B8A-BE9E-4D04-2451-E715F6A9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/>
          <a:lstStyle/>
          <a:p>
            <a:r>
              <a:rPr lang="en-US" sz="3200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BD6FB-AF6E-8217-F9F7-1F14B2F6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06983"/>
            <a:ext cx="8382703" cy="3618714"/>
          </a:xfrm>
        </p:spPr>
        <p:txBody>
          <a:bodyPr/>
          <a:lstStyle/>
          <a:p>
            <a:pPr algn="l" rtl="0">
              <a:buClr>
                <a:srgbClr val="194699"/>
              </a:buClr>
            </a:pPr>
            <a:r>
              <a:rPr lang="en-US" sz="3200" dirty="0"/>
              <a:t>The IntelliJ IDE</a:t>
            </a:r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r>
              <a:rPr lang="en-US" sz="3200" dirty="0"/>
              <a:t>New Project Setup</a:t>
            </a:r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r>
              <a:rPr lang="en-US" sz="3200" dirty="0"/>
              <a:t>Basic Spot Class</a:t>
            </a:r>
          </a:p>
          <a:p>
            <a:pPr marL="0" indent="0" algn="l" rtl="0">
              <a:buClr>
                <a:srgbClr val="194699"/>
              </a:buClr>
              <a:buNone/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201E-8983-5C5E-8827-2194B58BEE0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</a:t>
            </a:fld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30C4F-E4E1-59F1-E8DB-B1C6155ED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862320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0974" y="491778"/>
            <a:ext cx="3122050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The IntelliJ IDE</a:t>
            </a:r>
            <a:endParaRPr lang="en-IE" sz="3600" b="1" dirty="0">
              <a:solidFill>
                <a:srgbClr val="0368FF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56709" y="1722350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138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D816-8677-CB3E-C9F7-372AF52C2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IntelliJ - An industry standard IDE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B001F-6BE2-4575-E045-69AC8EA19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5041" y="761815"/>
            <a:ext cx="6113389" cy="4211446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5F67647-FD27-31DB-3FA2-BF2F2DA11650}"/>
              </a:ext>
            </a:extLst>
          </p:cNvPr>
          <p:cNvCxnSpPr>
            <a:cxnSpLocks/>
          </p:cNvCxnSpPr>
          <p:nvPr/>
        </p:nvCxnSpPr>
        <p:spPr>
          <a:xfrm flipV="1">
            <a:off x="395534" y="2326652"/>
            <a:ext cx="1296523" cy="490195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73CA4-7A37-D3F1-D883-637A58EB4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944A7-E1B3-428B-08AC-7DA8A1F02D7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57038729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D816-8677-CB3E-C9F7-372AF52C2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IntelliJ - An industry standard IDE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B001F-6BE2-4575-E045-69AC8EA19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5041" y="761815"/>
            <a:ext cx="6113389" cy="421144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0A64ABA-03FB-C6DA-C30E-5DBA63BA3F7C}"/>
              </a:ext>
            </a:extLst>
          </p:cNvPr>
          <p:cNvCxnSpPr>
            <a:cxnSpLocks/>
          </p:cNvCxnSpPr>
          <p:nvPr/>
        </p:nvCxnSpPr>
        <p:spPr>
          <a:xfrm flipH="1">
            <a:off x="4977353" y="2571750"/>
            <a:ext cx="1423447" cy="295787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0E9E6-29DE-DE6D-D418-A89482D6A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F6E67A-E36E-9F79-A5C6-F7925BAD0A2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9981013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1618" y="470677"/>
            <a:ext cx="4020762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New Project Setup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56709" y="1722350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910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B3334-F850-ADE4-669A-01F16F6B7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09" y="1244339"/>
            <a:ext cx="1631227" cy="1110688"/>
          </a:xfrm>
        </p:spPr>
        <p:txBody>
          <a:bodyPr/>
          <a:lstStyle/>
          <a:p>
            <a:pPr algn="ctr"/>
            <a:r>
              <a:rPr lang="en-US" dirty="0"/>
              <a:t>Launch</a:t>
            </a:r>
            <a:br>
              <a:rPr lang="en-US" dirty="0"/>
            </a:br>
            <a:r>
              <a:rPr lang="en-US" dirty="0"/>
              <a:t>IntelliJ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ACAA9E-6C2C-3C71-9B43-856EC5C1C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4718" y="-71186"/>
            <a:ext cx="6371954" cy="53004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A147F7-98D9-E99E-4064-92661A3E5750}"/>
              </a:ext>
            </a:extLst>
          </p:cNvPr>
          <p:cNvCxnSpPr>
            <a:cxnSpLocks/>
          </p:cNvCxnSpPr>
          <p:nvPr/>
        </p:nvCxnSpPr>
        <p:spPr>
          <a:xfrm flipV="1">
            <a:off x="3912124" y="2362296"/>
            <a:ext cx="1170149" cy="296063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B88BD8-A094-C2F5-93C3-F12F14567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0A865C-5DB3-7343-F668-0AB39C75282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1084386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B3334-F850-ADE4-669A-01F16F6B7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09" y="1677972"/>
            <a:ext cx="1631227" cy="1110688"/>
          </a:xfrm>
        </p:spPr>
        <p:txBody>
          <a:bodyPr/>
          <a:lstStyle/>
          <a:p>
            <a:pPr algn="ctr"/>
            <a:r>
              <a:rPr lang="en-US" dirty="0"/>
              <a:t>New </a:t>
            </a:r>
            <a:r>
              <a:rPr lang="en-US" b="1" dirty="0">
                <a:solidFill>
                  <a:srgbClr val="598CBE"/>
                </a:solidFill>
              </a:rPr>
              <a:t>Java</a:t>
            </a:r>
            <a:r>
              <a:rPr lang="en-US" dirty="0"/>
              <a:t> Project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ACAA9E-6C2C-3C71-9B43-856EC5C1C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74862" y="-54917"/>
            <a:ext cx="5291666" cy="52678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A147F7-98D9-E99E-4064-92661A3E5750}"/>
              </a:ext>
            </a:extLst>
          </p:cNvPr>
          <p:cNvCxnSpPr>
            <a:cxnSpLocks/>
          </p:cNvCxnSpPr>
          <p:nvPr/>
        </p:nvCxnSpPr>
        <p:spPr>
          <a:xfrm>
            <a:off x="1556471" y="793073"/>
            <a:ext cx="1584929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B88BD8-A094-C2F5-93C3-F12F14567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0A865C-5DB3-7343-F668-0AB39C75282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9</a:t>
            </a:fld>
            <a:endParaRPr lang="en-IE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65A41A-2DAD-FF11-C3CD-930105757AB1}"/>
              </a:ext>
            </a:extLst>
          </p:cNvPr>
          <p:cNvCxnSpPr>
            <a:cxnSpLocks/>
          </p:cNvCxnSpPr>
          <p:nvPr/>
        </p:nvCxnSpPr>
        <p:spPr>
          <a:xfrm flipH="1">
            <a:off x="6375142" y="347221"/>
            <a:ext cx="1068279" cy="208108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1A3797-DF01-4122-E86C-D90F83ECFFCB}"/>
              </a:ext>
            </a:extLst>
          </p:cNvPr>
          <p:cNvCxnSpPr>
            <a:cxnSpLocks/>
          </p:cNvCxnSpPr>
          <p:nvPr/>
        </p:nvCxnSpPr>
        <p:spPr>
          <a:xfrm>
            <a:off x="3975938" y="932405"/>
            <a:ext cx="907770" cy="424925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6C167C-9150-77C1-6FEC-73BAD7085997}"/>
              </a:ext>
            </a:extLst>
          </p:cNvPr>
          <p:cNvCxnSpPr>
            <a:cxnSpLocks/>
          </p:cNvCxnSpPr>
          <p:nvPr/>
        </p:nvCxnSpPr>
        <p:spPr>
          <a:xfrm flipH="1">
            <a:off x="7443421" y="1776634"/>
            <a:ext cx="749291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90005984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B3334-F850-ADE4-669A-01F16F6B7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09" y="1677972"/>
            <a:ext cx="1631227" cy="1110688"/>
          </a:xfrm>
        </p:spPr>
        <p:txBody>
          <a:bodyPr/>
          <a:lstStyle/>
          <a:p>
            <a:pPr algn="ctr"/>
            <a:r>
              <a:rPr lang="en-US" dirty="0"/>
              <a:t>New </a:t>
            </a:r>
            <a:r>
              <a:rPr lang="en-US" b="1" dirty="0">
                <a:solidFill>
                  <a:srgbClr val="598CBE"/>
                </a:solidFill>
              </a:rPr>
              <a:t>Java</a:t>
            </a:r>
            <a:r>
              <a:rPr lang="en-US" dirty="0"/>
              <a:t> Project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ACAA9E-6C2C-3C71-9B43-856EC5C1C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74862" y="-54917"/>
            <a:ext cx="5291666" cy="52678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A147F7-98D9-E99E-4064-92661A3E5750}"/>
              </a:ext>
            </a:extLst>
          </p:cNvPr>
          <p:cNvCxnSpPr>
            <a:cxnSpLocks/>
          </p:cNvCxnSpPr>
          <p:nvPr/>
        </p:nvCxnSpPr>
        <p:spPr>
          <a:xfrm>
            <a:off x="1556471" y="793073"/>
            <a:ext cx="1584929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B88BD8-A094-C2F5-93C3-F12F14567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0A865C-5DB3-7343-F668-0AB39C75282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10</a:t>
            </a:fld>
            <a:endParaRPr lang="en-IE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65A41A-2DAD-FF11-C3CD-930105757AB1}"/>
              </a:ext>
            </a:extLst>
          </p:cNvPr>
          <p:cNvCxnSpPr>
            <a:cxnSpLocks/>
          </p:cNvCxnSpPr>
          <p:nvPr/>
        </p:nvCxnSpPr>
        <p:spPr>
          <a:xfrm flipH="1">
            <a:off x="6375142" y="347221"/>
            <a:ext cx="1068279" cy="208108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1A3797-DF01-4122-E86C-D90F83ECFFCB}"/>
              </a:ext>
            </a:extLst>
          </p:cNvPr>
          <p:cNvCxnSpPr>
            <a:cxnSpLocks/>
          </p:cNvCxnSpPr>
          <p:nvPr/>
        </p:nvCxnSpPr>
        <p:spPr>
          <a:xfrm>
            <a:off x="3975938" y="932405"/>
            <a:ext cx="907770" cy="424925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6C167C-9150-77C1-6FEC-73BAD7085997}"/>
              </a:ext>
            </a:extLst>
          </p:cNvPr>
          <p:cNvCxnSpPr>
            <a:cxnSpLocks/>
          </p:cNvCxnSpPr>
          <p:nvPr/>
        </p:nvCxnSpPr>
        <p:spPr>
          <a:xfrm flipH="1">
            <a:off x="7443421" y="1776634"/>
            <a:ext cx="749291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6F528F5-26B8-F6DD-5A10-F9478ABAB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536" y="1798015"/>
            <a:ext cx="4467383" cy="205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7865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B3334-F850-ADE4-669A-01F16F6B7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09" y="1677972"/>
            <a:ext cx="1631227" cy="1110688"/>
          </a:xfrm>
        </p:spPr>
        <p:txBody>
          <a:bodyPr/>
          <a:lstStyle/>
          <a:p>
            <a:pPr algn="ctr"/>
            <a:r>
              <a:rPr lang="en-US" dirty="0"/>
              <a:t>New </a:t>
            </a:r>
            <a:r>
              <a:rPr lang="en-US" b="1" dirty="0">
                <a:solidFill>
                  <a:srgbClr val="598CBE"/>
                </a:solidFill>
              </a:rPr>
              <a:t>Java</a:t>
            </a:r>
            <a:r>
              <a:rPr lang="en-US" dirty="0"/>
              <a:t> Project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ACAA9E-6C2C-3C71-9B43-856EC5C1C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74862" y="-54917"/>
            <a:ext cx="5291666" cy="52678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B88BD8-A094-C2F5-93C3-F12F14567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0A865C-5DB3-7343-F668-0AB39C75282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11</a:t>
            </a:fld>
            <a:endParaRPr lang="en-IE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1A3797-DF01-4122-E86C-D90F83ECFFCB}"/>
              </a:ext>
            </a:extLst>
          </p:cNvPr>
          <p:cNvCxnSpPr>
            <a:cxnSpLocks/>
          </p:cNvCxnSpPr>
          <p:nvPr/>
        </p:nvCxnSpPr>
        <p:spPr>
          <a:xfrm>
            <a:off x="6234506" y="4215101"/>
            <a:ext cx="907770" cy="424925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89001351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B3334-F850-ADE4-669A-01F16F6B7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334" y="1734534"/>
            <a:ext cx="1631227" cy="1110688"/>
          </a:xfrm>
        </p:spPr>
        <p:txBody>
          <a:bodyPr/>
          <a:lstStyle/>
          <a:p>
            <a:pPr algn="ctr"/>
            <a:r>
              <a:rPr lang="en-US" dirty="0"/>
              <a:t>New Project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ACAA9E-6C2C-3C71-9B43-856EC5C1C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00578" y="149590"/>
            <a:ext cx="7116489" cy="49126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A147F7-98D9-E99E-4064-92661A3E5750}"/>
              </a:ext>
            </a:extLst>
          </p:cNvPr>
          <p:cNvCxnSpPr>
            <a:cxnSpLocks/>
          </p:cNvCxnSpPr>
          <p:nvPr/>
        </p:nvCxnSpPr>
        <p:spPr>
          <a:xfrm flipH="1" flipV="1">
            <a:off x="3331806" y="1149217"/>
            <a:ext cx="759427" cy="415632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B88BD8-A094-C2F5-93C3-F12F14567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0A865C-5DB3-7343-F668-0AB39C75282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6153034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835843E-0DA0-7EBA-96EB-D2F325EB2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74205" y="333186"/>
            <a:ext cx="6566480" cy="43393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BB3334-F850-ADE4-669A-01F16F6B7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334" y="1734534"/>
            <a:ext cx="1631227" cy="1110688"/>
          </a:xfrm>
        </p:spPr>
        <p:txBody>
          <a:bodyPr/>
          <a:lstStyle/>
          <a:p>
            <a:pPr algn="ctr"/>
            <a:r>
              <a:rPr lang="en-US" dirty="0"/>
              <a:t>Create New </a:t>
            </a:r>
            <a:r>
              <a:rPr lang="en-US" b="1" dirty="0">
                <a:solidFill>
                  <a:srgbClr val="598CBE"/>
                </a:solidFill>
              </a:rPr>
              <a:t>Class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A147F7-98D9-E99E-4064-92661A3E5750}"/>
              </a:ext>
            </a:extLst>
          </p:cNvPr>
          <p:cNvCxnSpPr>
            <a:cxnSpLocks/>
          </p:cNvCxnSpPr>
          <p:nvPr/>
        </p:nvCxnSpPr>
        <p:spPr>
          <a:xfrm flipH="1">
            <a:off x="5509398" y="848412"/>
            <a:ext cx="938536" cy="244244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B88BD8-A094-C2F5-93C3-F12F14567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0A865C-5DB3-7343-F668-0AB39C75282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64075598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835843E-0DA0-7EBA-96EB-D2F325EB2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79735" y="333186"/>
            <a:ext cx="6555419" cy="43393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A147F7-98D9-E99E-4064-92661A3E5750}"/>
              </a:ext>
            </a:extLst>
          </p:cNvPr>
          <p:cNvCxnSpPr>
            <a:cxnSpLocks/>
          </p:cNvCxnSpPr>
          <p:nvPr/>
        </p:nvCxnSpPr>
        <p:spPr>
          <a:xfrm flipH="1">
            <a:off x="5961885" y="1998483"/>
            <a:ext cx="938536" cy="244244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B88BD8-A094-C2F5-93C3-F12F14567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0A865C-5DB3-7343-F668-0AB39C75282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14</a:t>
            </a:fld>
            <a:endParaRPr lang="en-IE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777E98-395B-B7DA-214C-B4EBA73D680F}"/>
              </a:ext>
            </a:extLst>
          </p:cNvPr>
          <p:cNvSpPr txBox="1">
            <a:spLocks/>
          </p:cNvSpPr>
          <p:nvPr/>
        </p:nvSpPr>
        <p:spPr>
          <a:xfrm>
            <a:off x="221334" y="2705498"/>
            <a:ext cx="1631227" cy="1110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 anchor="b"/>
          <a:lstStyle>
            <a:lvl1pPr>
              <a:defRPr sz="3200" baseline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ctr" defTabSz="914400"/>
            <a:r>
              <a:rPr lang="en-US"/>
              <a:t>Create New </a:t>
            </a:r>
            <a:r>
              <a:rPr lang="en-US" b="1">
                <a:solidFill>
                  <a:srgbClr val="598CBE"/>
                </a:solidFill>
              </a:rPr>
              <a:t>Class</a:t>
            </a:r>
            <a:br>
              <a:rPr lang="en-US" b="1">
                <a:solidFill>
                  <a:srgbClr val="598CBE"/>
                </a:solidFill>
              </a:rPr>
            </a:br>
            <a:br>
              <a:rPr lang="en-US" b="1">
                <a:solidFill>
                  <a:srgbClr val="598CBE"/>
                </a:solidFill>
              </a:rPr>
            </a:br>
            <a:r>
              <a:rPr lang="en-US" b="1">
                <a:solidFill>
                  <a:srgbClr val="598CBE"/>
                </a:solidFill>
                <a:latin typeface="Monaco" pitchFamily="2" charset="77"/>
              </a:rPr>
              <a:t>Driver</a:t>
            </a:r>
            <a:endParaRPr lang="en-US" b="1" dirty="0">
              <a:solidFill>
                <a:srgbClr val="598CBE"/>
              </a:solidFill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5320987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835843E-0DA0-7EBA-96EB-D2F325EB2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78340" y="333186"/>
            <a:ext cx="6558210" cy="43393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A147F7-98D9-E99E-4064-92661A3E5750}"/>
              </a:ext>
            </a:extLst>
          </p:cNvPr>
          <p:cNvCxnSpPr>
            <a:cxnSpLocks/>
          </p:cNvCxnSpPr>
          <p:nvPr/>
        </p:nvCxnSpPr>
        <p:spPr>
          <a:xfrm>
            <a:off x="4877802" y="86235"/>
            <a:ext cx="0" cy="493902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B88BD8-A094-C2F5-93C3-F12F14567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0A865C-5DB3-7343-F668-0AB39C75282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15</a:t>
            </a:fld>
            <a:endParaRPr lang="en-IE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777E98-395B-B7DA-214C-B4EBA73D680F}"/>
              </a:ext>
            </a:extLst>
          </p:cNvPr>
          <p:cNvSpPr txBox="1">
            <a:spLocks/>
          </p:cNvSpPr>
          <p:nvPr/>
        </p:nvSpPr>
        <p:spPr>
          <a:xfrm>
            <a:off x="221334" y="2705498"/>
            <a:ext cx="1631227" cy="1110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 anchor="b"/>
          <a:lstStyle>
            <a:lvl1pPr>
              <a:defRPr sz="3200" baseline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ctr" defTabSz="914400"/>
            <a:r>
              <a:rPr lang="en-US"/>
              <a:t>Create New </a:t>
            </a:r>
            <a:r>
              <a:rPr lang="en-US" b="1">
                <a:solidFill>
                  <a:srgbClr val="598CBE"/>
                </a:solidFill>
              </a:rPr>
              <a:t>Class</a:t>
            </a:r>
            <a:br>
              <a:rPr lang="en-US" b="1">
                <a:solidFill>
                  <a:srgbClr val="598CBE"/>
                </a:solidFill>
              </a:rPr>
            </a:br>
            <a:br>
              <a:rPr lang="en-US" b="1">
                <a:solidFill>
                  <a:srgbClr val="598CBE"/>
                </a:solidFill>
              </a:rPr>
            </a:br>
            <a:r>
              <a:rPr lang="en-US" b="1">
                <a:solidFill>
                  <a:srgbClr val="598CBE"/>
                </a:solidFill>
                <a:latin typeface="Monaco" pitchFamily="2" charset="77"/>
              </a:rPr>
              <a:t>Driver</a:t>
            </a:r>
            <a:endParaRPr lang="en-US" b="1" dirty="0">
              <a:solidFill>
                <a:srgbClr val="598CBE"/>
              </a:solidFill>
              <a:latin typeface="Monaco" pitchFamily="2" charset="77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8EB2E2-E995-1E57-C49E-3B75C94A491D}"/>
              </a:ext>
            </a:extLst>
          </p:cNvPr>
          <p:cNvCxnSpPr>
            <a:cxnSpLocks/>
          </p:cNvCxnSpPr>
          <p:nvPr/>
        </p:nvCxnSpPr>
        <p:spPr>
          <a:xfrm flipH="1">
            <a:off x="6144137" y="998625"/>
            <a:ext cx="616453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DDEDF6-0E96-443C-6FF1-9642A882C2C0}"/>
              </a:ext>
            </a:extLst>
          </p:cNvPr>
          <p:cNvCxnSpPr>
            <a:cxnSpLocks/>
          </p:cNvCxnSpPr>
          <p:nvPr/>
        </p:nvCxnSpPr>
        <p:spPr>
          <a:xfrm flipH="1">
            <a:off x="2987877" y="1179305"/>
            <a:ext cx="616453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69112410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F0649-3217-07F3-C116-BBA26DB1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543" y="1291472"/>
            <a:ext cx="1725495" cy="135746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598CBE"/>
                </a:solidFill>
                <a:latin typeface="Monaco" pitchFamily="2" charset="77"/>
              </a:rPr>
              <a:t>main()</a:t>
            </a:r>
            <a:r>
              <a:rPr lang="en-US" dirty="0"/>
              <a:t> method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CDE7B-C052-467F-FB32-341173CC4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4833C-5B78-CE9A-FC03-858EC5CEAA8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16</a:t>
            </a:fld>
            <a:endParaRPr lang="en-IE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6282AA7-BE9D-0CA8-69B1-41D4B9C85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82465" y="333186"/>
            <a:ext cx="6549960" cy="43393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5DFE782-C1B4-A86D-9706-51061C62BF7F}"/>
              </a:ext>
            </a:extLst>
          </p:cNvPr>
          <p:cNvCxnSpPr>
            <a:cxnSpLocks/>
          </p:cNvCxnSpPr>
          <p:nvPr/>
        </p:nvCxnSpPr>
        <p:spPr>
          <a:xfrm flipH="1">
            <a:off x="6339242" y="537328"/>
            <a:ext cx="646020" cy="555566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503317-3F54-5635-CE54-D79B5F132513}"/>
              </a:ext>
            </a:extLst>
          </p:cNvPr>
          <p:cNvCxnSpPr>
            <a:cxnSpLocks/>
          </p:cNvCxnSpPr>
          <p:nvPr/>
        </p:nvCxnSpPr>
        <p:spPr>
          <a:xfrm flipH="1">
            <a:off x="7302347" y="1291472"/>
            <a:ext cx="795278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3795958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4E4C3BA8-ED1F-3973-6472-1AC2BD260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82465" y="333186"/>
            <a:ext cx="6549960" cy="43393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3F0649-3217-07F3-C116-BBA26DB1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543" y="1545996"/>
            <a:ext cx="1725495" cy="110293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+mn-lt"/>
              </a:rPr>
              <a:t>Run</a:t>
            </a:r>
            <a:br>
              <a:rPr lang="en-US" b="1" dirty="0">
                <a:solidFill>
                  <a:schemeClr val="tx1"/>
                </a:solidFill>
                <a:latin typeface="+mn-lt"/>
              </a:rPr>
            </a:br>
            <a:r>
              <a:rPr lang="en-US" b="1" dirty="0">
                <a:solidFill>
                  <a:schemeClr val="tx1"/>
                </a:solidFill>
                <a:latin typeface="+mn-lt"/>
              </a:rPr>
              <a:t>App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CDE7B-C052-467F-FB32-341173CC4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4833C-5B78-CE9A-FC03-858EC5CEAA8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17</a:t>
            </a:fld>
            <a:endParaRPr lang="en-IE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0F084C3-9286-65CC-DDC6-2D61C540FE88}"/>
              </a:ext>
            </a:extLst>
          </p:cNvPr>
          <p:cNvCxnSpPr>
            <a:cxnSpLocks/>
          </p:cNvCxnSpPr>
          <p:nvPr/>
        </p:nvCxnSpPr>
        <p:spPr>
          <a:xfrm>
            <a:off x="4163658" y="791851"/>
            <a:ext cx="588891" cy="338749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0059374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CDE7B-C052-467F-FB32-341173CC4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4833C-5B78-CE9A-FC03-858EC5CEAA8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18</a:t>
            </a:fld>
            <a:endParaRPr lang="en-IE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6282AA7-BE9D-0CA8-69B1-41D4B9C85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82465" y="333186"/>
            <a:ext cx="6549960" cy="43393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0F084C3-9286-65CC-DDC6-2D61C540FE88}"/>
              </a:ext>
            </a:extLst>
          </p:cNvPr>
          <p:cNvCxnSpPr>
            <a:cxnSpLocks/>
          </p:cNvCxnSpPr>
          <p:nvPr/>
        </p:nvCxnSpPr>
        <p:spPr>
          <a:xfrm>
            <a:off x="4163658" y="791851"/>
            <a:ext cx="588891" cy="338749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DB258585-24CF-A637-1A9E-2054873C8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543" y="1545996"/>
            <a:ext cx="1725495" cy="110293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+mn-lt"/>
              </a:rPr>
              <a:t>Run</a:t>
            </a:r>
            <a:br>
              <a:rPr lang="en-US" b="1" dirty="0">
                <a:solidFill>
                  <a:schemeClr val="tx1"/>
                </a:solidFill>
                <a:latin typeface="+mn-lt"/>
              </a:rPr>
            </a:br>
            <a:r>
              <a:rPr lang="en-US" b="1" dirty="0">
                <a:solidFill>
                  <a:schemeClr val="tx1"/>
                </a:solidFill>
                <a:latin typeface="+mn-lt"/>
              </a:rPr>
              <a:t>App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6694690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CDE7B-C052-467F-FB32-341173CC4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4833C-5B78-CE9A-FC03-858EC5CEAA8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19</a:t>
            </a:fld>
            <a:endParaRPr lang="en-IE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6282AA7-BE9D-0CA8-69B1-41D4B9C85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82465" y="333186"/>
            <a:ext cx="6549959" cy="43393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0F084C3-9286-65CC-DDC6-2D61C540FE88}"/>
              </a:ext>
            </a:extLst>
          </p:cNvPr>
          <p:cNvCxnSpPr>
            <a:cxnSpLocks/>
          </p:cNvCxnSpPr>
          <p:nvPr/>
        </p:nvCxnSpPr>
        <p:spPr>
          <a:xfrm>
            <a:off x="4163658" y="791851"/>
            <a:ext cx="588891" cy="338749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0C8639-7529-C05B-AA80-F2F12A8E41EF}"/>
              </a:ext>
            </a:extLst>
          </p:cNvPr>
          <p:cNvCxnSpPr>
            <a:cxnSpLocks/>
          </p:cNvCxnSpPr>
          <p:nvPr/>
        </p:nvCxnSpPr>
        <p:spPr>
          <a:xfrm flipH="1">
            <a:off x="5673457" y="923517"/>
            <a:ext cx="746197" cy="277783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8EDBD422-2025-F5DF-6FA2-A8E493C36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543" y="1545996"/>
            <a:ext cx="1725495" cy="110293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+mn-lt"/>
              </a:rPr>
              <a:t>Run</a:t>
            </a:r>
            <a:br>
              <a:rPr lang="en-US" b="1" dirty="0">
                <a:solidFill>
                  <a:schemeClr val="tx1"/>
                </a:solidFill>
                <a:latin typeface="+mn-lt"/>
              </a:rPr>
            </a:br>
            <a:r>
              <a:rPr lang="en-US" b="1" dirty="0">
                <a:solidFill>
                  <a:schemeClr val="tx1"/>
                </a:solidFill>
                <a:latin typeface="+mn-lt"/>
              </a:rPr>
              <a:t>App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813616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CDE7B-C052-467F-FB32-341173CC4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4833C-5B78-CE9A-FC03-858EC5CEAA8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20</a:t>
            </a:fld>
            <a:endParaRPr lang="en-IE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6282AA7-BE9D-0CA8-69B1-41D4B9C85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82465" y="333186"/>
            <a:ext cx="6549959" cy="43393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0C8639-7529-C05B-AA80-F2F12A8E41EF}"/>
              </a:ext>
            </a:extLst>
          </p:cNvPr>
          <p:cNvCxnSpPr>
            <a:cxnSpLocks/>
          </p:cNvCxnSpPr>
          <p:nvPr/>
        </p:nvCxnSpPr>
        <p:spPr>
          <a:xfrm flipH="1">
            <a:off x="2986818" y="3727684"/>
            <a:ext cx="906452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09C0D6-4C0E-6004-46CD-2DFD6F245EEF}"/>
              </a:ext>
            </a:extLst>
          </p:cNvPr>
          <p:cNvCxnSpPr>
            <a:cxnSpLocks/>
          </p:cNvCxnSpPr>
          <p:nvPr/>
        </p:nvCxnSpPr>
        <p:spPr>
          <a:xfrm flipH="1">
            <a:off x="7249305" y="1306567"/>
            <a:ext cx="906452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BC2ABAD9-4F65-1406-26F9-F8CA55AB7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543" y="1545996"/>
            <a:ext cx="1725495" cy="110293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+mn-lt"/>
              </a:rPr>
              <a:t>Run</a:t>
            </a:r>
            <a:br>
              <a:rPr lang="en-US" b="1" dirty="0">
                <a:solidFill>
                  <a:schemeClr val="tx1"/>
                </a:solidFill>
                <a:latin typeface="+mn-lt"/>
              </a:rPr>
            </a:br>
            <a:r>
              <a:rPr lang="en-US" b="1" dirty="0">
                <a:solidFill>
                  <a:schemeClr val="tx1"/>
                </a:solidFill>
                <a:latin typeface="+mn-lt"/>
              </a:rPr>
              <a:t>App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B8953FD-1440-00E1-BEA4-77CAA9C19F96}"/>
              </a:ext>
            </a:extLst>
          </p:cNvPr>
          <p:cNvSpPr txBox="1">
            <a:spLocks/>
          </p:cNvSpPr>
          <p:nvPr/>
        </p:nvSpPr>
        <p:spPr>
          <a:xfrm>
            <a:off x="162703" y="3176216"/>
            <a:ext cx="1725495" cy="1102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 anchor="b"/>
          <a:lstStyle>
            <a:lvl1pPr>
              <a:defRPr sz="3200" baseline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ctr" defTabSz="914400"/>
            <a:r>
              <a:rPr lang="en-US" b="1" dirty="0">
                <a:solidFill>
                  <a:schemeClr val="tx1"/>
                </a:solidFill>
                <a:latin typeface="+mn-lt"/>
              </a:rPr>
              <a:t>Console</a:t>
            </a:r>
            <a:br>
              <a:rPr lang="en-US" b="1" dirty="0">
                <a:solidFill>
                  <a:schemeClr val="tx1"/>
                </a:solidFill>
                <a:latin typeface="+mn-lt"/>
              </a:rPr>
            </a:br>
            <a:r>
              <a:rPr lang="en-US" b="1" dirty="0">
                <a:solidFill>
                  <a:schemeClr val="tx1"/>
                </a:solidFill>
                <a:latin typeface="+mn-lt"/>
              </a:rPr>
              <a:t>Output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042154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3208" y="351805"/>
            <a:ext cx="3497581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Basic Spot Class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56709" y="1722350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189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CDE7B-C052-467F-FB32-341173CC4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4833C-5B78-CE9A-FC03-858EC5CEAA8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22</a:t>
            </a:fld>
            <a:endParaRPr lang="en-IE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6282AA7-BE9D-0CA8-69B1-41D4B9C85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82465" y="333186"/>
            <a:ext cx="6549959" cy="43393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0F084C3-9286-65CC-DDC6-2D61C540FE88}"/>
              </a:ext>
            </a:extLst>
          </p:cNvPr>
          <p:cNvCxnSpPr>
            <a:cxnSpLocks/>
          </p:cNvCxnSpPr>
          <p:nvPr/>
        </p:nvCxnSpPr>
        <p:spPr>
          <a:xfrm>
            <a:off x="5551889" y="109833"/>
            <a:ext cx="0" cy="392727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0C8639-7529-C05B-AA80-F2F12A8E41EF}"/>
              </a:ext>
            </a:extLst>
          </p:cNvPr>
          <p:cNvCxnSpPr>
            <a:cxnSpLocks/>
          </p:cNvCxnSpPr>
          <p:nvPr/>
        </p:nvCxnSpPr>
        <p:spPr>
          <a:xfrm flipH="1">
            <a:off x="5984541" y="1013072"/>
            <a:ext cx="840465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8EDBD422-2025-F5DF-6FA2-A8E493C36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970" y="1885361"/>
            <a:ext cx="1725495" cy="110293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+mn-lt"/>
              </a:rPr>
              <a:t>New</a:t>
            </a:r>
            <a:br>
              <a:rPr lang="en-US" b="1" dirty="0">
                <a:solidFill>
                  <a:schemeClr val="tx1"/>
                </a:solidFill>
                <a:latin typeface="+mn-lt"/>
              </a:rPr>
            </a:br>
            <a:r>
              <a:rPr lang="en-US" b="1" dirty="0">
                <a:solidFill>
                  <a:srgbClr val="598CBE"/>
                </a:solidFill>
                <a:latin typeface="Monaco" pitchFamily="2" charset="77"/>
              </a:rPr>
              <a:t>Spot</a:t>
            </a:r>
            <a:br>
              <a:rPr lang="en-US" b="1" dirty="0">
                <a:solidFill>
                  <a:schemeClr val="tx1"/>
                </a:solidFill>
                <a:latin typeface="+mn-lt"/>
              </a:rPr>
            </a:br>
            <a:r>
              <a:rPr lang="en-US" b="1" dirty="0">
                <a:solidFill>
                  <a:schemeClr val="tx1"/>
                </a:solidFill>
                <a:latin typeface="+mn-lt"/>
              </a:rPr>
              <a:t>Class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143784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CDE7B-C052-467F-FB32-341173CC4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4833C-5B78-CE9A-FC03-858EC5CEAA8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23</a:t>
            </a:fld>
            <a:endParaRPr lang="en-IE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6282AA7-BE9D-0CA8-69B1-41D4B9C85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82466" y="333186"/>
            <a:ext cx="6549957" cy="43393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0C8639-7529-C05B-AA80-F2F12A8E41EF}"/>
              </a:ext>
            </a:extLst>
          </p:cNvPr>
          <p:cNvCxnSpPr>
            <a:cxnSpLocks/>
          </p:cNvCxnSpPr>
          <p:nvPr/>
        </p:nvCxnSpPr>
        <p:spPr>
          <a:xfrm flipH="1">
            <a:off x="6132968" y="1408998"/>
            <a:ext cx="840465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ED5B8A4-08E6-F7CD-71F8-C84358EDE0FA}"/>
              </a:ext>
            </a:extLst>
          </p:cNvPr>
          <p:cNvCxnSpPr>
            <a:cxnSpLocks/>
          </p:cNvCxnSpPr>
          <p:nvPr/>
        </p:nvCxnSpPr>
        <p:spPr>
          <a:xfrm flipH="1">
            <a:off x="6483331" y="2324969"/>
            <a:ext cx="840465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6F6C046-1971-9490-A5AE-DCD71BFB94A4}"/>
              </a:ext>
            </a:extLst>
          </p:cNvPr>
          <p:cNvSpPr txBox="1"/>
          <p:nvPr/>
        </p:nvSpPr>
        <p:spPr>
          <a:xfrm>
            <a:off x="228600" y="1314451"/>
            <a:ext cx="1609725" cy="28623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dirty="0"/>
              <a:t>Three fields:</a:t>
            </a:r>
          </a:p>
          <a:p>
            <a:pPr marL="214313" indent="-214313">
              <a:buFontTx/>
              <a:buChar char="-"/>
            </a:pPr>
            <a:r>
              <a:rPr lang="en-US" sz="1800" dirty="0" err="1">
                <a:latin typeface="Monaco" pitchFamily="2" charset="77"/>
              </a:rPr>
              <a:t>xCoord</a:t>
            </a:r>
            <a:endParaRPr lang="en-US" sz="1800" dirty="0">
              <a:latin typeface="Monaco" pitchFamily="2" charset="77"/>
            </a:endParaRPr>
          </a:p>
          <a:p>
            <a:pPr marL="214313" indent="-214313">
              <a:buFontTx/>
              <a:buChar char="-"/>
            </a:pPr>
            <a:r>
              <a:rPr lang="en-US" sz="1800" dirty="0" err="1">
                <a:latin typeface="Monaco" pitchFamily="2" charset="77"/>
              </a:rPr>
              <a:t>yCoord</a:t>
            </a:r>
            <a:endParaRPr lang="en-US" sz="1800" dirty="0">
              <a:latin typeface="Monaco" pitchFamily="2" charset="77"/>
            </a:endParaRPr>
          </a:p>
          <a:p>
            <a:pPr marL="214313" indent="-214313">
              <a:buFontTx/>
              <a:buChar char="-"/>
            </a:pPr>
            <a:r>
              <a:rPr lang="en-US" sz="1800" dirty="0">
                <a:latin typeface="Monaco" pitchFamily="2" charset="77"/>
              </a:rPr>
              <a:t>diameter</a:t>
            </a:r>
          </a:p>
          <a:p>
            <a:pPr marL="214313" indent="-214313">
              <a:buFontTx/>
              <a:buChar char="-"/>
            </a:pPr>
            <a:endParaRPr lang="en-US" sz="1800" dirty="0"/>
          </a:p>
          <a:p>
            <a:r>
              <a:rPr lang="en-US" sz="1800" dirty="0"/>
              <a:t>Default constructor to </a:t>
            </a:r>
            <a:r>
              <a:rPr lang="en-US" sz="1800" dirty="0" err="1"/>
              <a:t>initialise</a:t>
            </a:r>
            <a:r>
              <a:rPr lang="en-US" sz="1800" dirty="0"/>
              <a:t> the fields with starting data</a:t>
            </a:r>
          </a:p>
        </p:txBody>
      </p:sp>
    </p:spTree>
    <p:extLst>
      <p:ext uri="{BB962C8B-B14F-4D97-AF65-F5344CB8AC3E}">
        <p14:creationId xmlns:p14="http://schemas.microsoft.com/office/powerpoint/2010/main" val="284933482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CDE7B-C052-467F-FB32-341173CC4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4833C-5B78-CE9A-FC03-858EC5CEAA8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24</a:t>
            </a:fld>
            <a:endParaRPr lang="en-IE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6282AA7-BE9D-0CA8-69B1-41D4B9C85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82466" y="333186"/>
            <a:ext cx="6549957" cy="43393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0C8639-7529-C05B-AA80-F2F12A8E41EF}"/>
              </a:ext>
            </a:extLst>
          </p:cNvPr>
          <p:cNvCxnSpPr>
            <a:cxnSpLocks/>
          </p:cNvCxnSpPr>
          <p:nvPr/>
        </p:nvCxnSpPr>
        <p:spPr>
          <a:xfrm flipH="1">
            <a:off x="7144037" y="1168924"/>
            <a:ext cx="727344" cy="306061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8EDBD422-2025-F5DF-6FA2-A8E493C36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970" y="772995"/>
            <a:ext cx="1725495" cy="1102936"/>
          </a:xfrm>
          <a:solidFill>
            <a:srgbClr val="FFFFFF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+mn-lt"/>
              </a:rPr>
              <a:t>New</a:t>
            </a:r>
            <a:br>
              <a:rPr lang="en-US" b="1" dirty="0">
                <a:solidFill>
                  <a:schemeClr val="tx1"/>
                </a:solidFill>
                <a:latin typeface="+mn-lt"/>
              </a:rPr>
            </a:br>
            <a:r>
              <a:rPr lang="en-US" b="1" dirty="0">
                <a:solidFill>
                  <a:srgbClr val="598CBE"/>
                </a:solidFill>
                <a:latin typeface="Monaco" pitchFamily="2" charset="77"/>
              </a:rPr>
              <a:t>Driver</a:t>
            </a:r>
            <a:br>
              <a:rPr lang="en-US" b="1" dirty="0">
                <a:solidFill>
                  <a:schemeClr val="tx1"/>
                </a:solidFill>
                <a:latin typeface="+mn-lt"/>
              </a:rPr>
            </a:br>
            <a:r>
              <a:rPr lang="en-US" b="1" dirty="0">
                <a:solidFill>
                  <a:schemeClr val="tx1"/>
                </a:solidFill>
                <a:latin typeface="+mn-lt"/>
              </a:rPr>
              <a:t>Class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8A9761-1CEB-127B-4122-BD02B3D9E2C0}"/>
              </a:ext>
            </a:extLst>
          </p:cNvPr>
          <p:cNvSpPr txBox="1"/>
          <p:nvPr/>
        </p:nvSpPr>
        <p:spPr>
          <a:xfrm>
            <a:off x="241173" y="2081016"/>
            <a:ext cx="1609725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dirty="0"/>
              <a:t>Includes the </a:t>
            </a:r>
            <a:r>
              <a:rPr lang="en-US" sz="1800" dirty="0">
                <a:latin typeface="Monaco" pitchFamily="2" charset="77"/>
              </a:rPr>
              <a:t>main()</a:t>
            </a:r>
            <a:r>
              <a:rPr lang="en-US" sz="1800" dirty="0"/>
              <a:t> method</a:t>
            </a:r>
          </a:p>
          <a:p>
            <a:endParaRPr lang="en-US" sz="1800" dirty="0"/>
          </a:p>
          <a:p>
            <a:r>
              <a:rPr lang="en-US" sz="1800" dirty="0">
                <a:latin typeface="Monaco" pitchFamily="2" charset="77"/>
              </a:rPr>
              <a:t>main() </a:t>
            </a:r>
            <a:r>
              <a:rPr lang="en-US" sz="1800" dirty="0"/>
              <a:t>method calls the </a:t>
            </a:r>
            <a:r>
              <a:rPr lang="en-US" sz="1800" dirty="0">
                <a:latin typeface="Monaco" pitchFamily="2" charset="77"/>
              </a:rPr>
              <a:t>Driver</a:t>
            </a:r>
            <a:r>
              <a:rPr lang="en-US" sz="1800" dirty="0"/>
              <a:t> constructor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8B3919-09DB-04A1-504E-CCBD1911F90F}"/>
              </a:ext>
            </a:extLst>
          </p:cNvPr>
          <p:cNvCxnSpPr>
            <a:cxnSpLocks/>
          </p:cNvCxnSpPr>
          <p:nvPr/>
        </p:nvCxnSpPr>
        <p:spPr>
          <a:xfrm flipH="1">
            <a:off x="5948404" y="2181992"/>
            <a:ext cx="801188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907D15-8081-D642-ABA9-62E5EA20B021}"/>
              </a:ext>
            </a:extLst>
          </p:cNvPr>
          <p:cNvCxnSpPr>
            <a:cxnSpLocks/>
          </p:cNvCxnSpPr>
          <p:nvPr/>
        </p:nvCxnSpPr>
        <p:spPr>
          <a:xfrm flipH="1">
            <a:off x="6300339" y="2834013"/>
            <a:ext cx="801188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AA3D8E-23E9-8C68-F7FE-655F602BA45E}"/>
              </a:ext>
            </a:extLst>
          </p:cNvPr>
          <p:cNvCxnSpPr>
            <a:cxnSpLocks/>
          </p:cNvCxnSpPr>
          <p:nvPr/>
        </p:nvCxnSpPr>
        <p:spPr>
          <a:xfrm flipH="1">
            <a:off x="6556434" y="2997724"/>
            <a:ext cx="787046" cy="337481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02787701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CDE7B-C052-467F-FB32-341173CC4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4833C-5B78-CE9A-FC03-858EC5CEAA8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25</a:t>
            </a:fld>
            <a:endParaRPr lang="en-IE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6282AA7-BE9D-0CA8-69B1-41D4B9C85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82466" y="333186"/>
            <a:ext cx="6549957" cy="4339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0C8639-7529-C05B-AA80-F2F12A8E41EF}"/>
              </a:ext>
            </a:extLst>
          </p:cNvPr>
          <p:cNvCxnSpPr>
            <a:cxnSpLocks/>
          </p:cNvCxnSpPr>
          <p:nvPr/>
        </p:nvCxnSpPr>
        <p:spPr>
          <a:xfrm flipH="1">
            <a:off x="7144037" y="1168924"/>
            <a:ext cx="727344" cy="306061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8EDBD422-2025-F5DF-6FA2-A8E493C36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970" y="772995"/>
            <a:ext cx="1725495" cy="1102936"/>
          </a:xfrm>
          <a:solidFill>
            <a:srgbClr val="FFFFFF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+mn-lt"/>
              </a:rPr>
              <a:t>New</a:t>
            </a:r>
            <a:br>
              <a:rPr lang="en-US" b="1" dirty="0">
                <a:solidFill>
                  <a:schemeClr val="tx1"/>
                </a:solidFill>
                <a:latin typeface="+mn-lt"/>
              </a:rPr>
            </a:br>
            <a:r>
              <a:rPr lang="en-US" b="1" dirty="0">
                <a:solidFill>
                  <a:srgbClr val="598CBE"/>
                </a:solidFill>
                <a:latin typeface="Monaco" pitchFamily="2" charset="77"/>
              </a:rPr>
              <a:t>Driver</a:t>
            </a:r>
            <a:br>
              <a:rPr lang="en-US" b="1" dirty="0">
                <a:solidFill>
                  <a:schemeClr val="tx1"/>
                </a:solidFill>
                <a:latin typeface="+mn-lt"/>
              </a:rPr>
            </a:br>
            <a:r>
              <a:rPr lang="en-US" b="1" dirty="0">
                <a:solidFill>
                  <a:schemeClr val="tx1"/>
                </a:solidFill>
                <a:latin typeface="+mn-lt"/>
              </a:rPr>
              <a:t>Class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8A9761-1CEB-127B-4122-BD02B3D9E2C0}"/>
              </a:ext>
            </a:extLst>
          </p:cNvPr>
          <p:cNvSpPr txBox="1"/>
          <p:nvPr/>
        </p:nvSpPr>
        <p:spPr>
          <a:xfrm>
            <a:off x="218098" y="3348347"/>
            <a:ext cx="1609725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Console</a:t>
            </a:r>
            <a:br>
              <a:rPr lang="en-US" sz="2800" dirty="0"/>
            </a:br>
            <a:r>
              <a:rPr lang="en-US" sz="2800" dirty="0"/>
              <a:t>Output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AA3D8E-23E9-8C68-F7FE-655F602BA45E}"/>
              </a:ext>
            </a:extLst>
          </p:cNvPr>
          <p:cNvCxnSpPr>
            <a:cxnSpLocks/>
          </p:cNvCxnSpPr>
          <p:nvPr/>
        </p:nvCxnSpPr>
        <p:spPr>
          <a:xfrm flipH="1">
            <a:off x="3642777" y="3721704"/>
            <a:ext cx="1098905" cy="0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393992672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543051"/>
            <a:ext cx="3257550" cy="2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ABF721-2CD3-DD75-D63E-7BCC6F10EB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BDD31-F005-E822-3A17-240BABB4EFA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3;&#10;&#13;&#10;Description automatically generated">
            <a:extLst>
              <a:ext uri="{FF2B5EF4-FFF2-40B4-BE49-F238E27FC236}">
                <a16:creationId xmlns:a16="http://schemas.microsoft.com/office/drawing/2014/main" id="{64886AB6-DCB6-9645-8125-CA11F5791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r="1" b="1"/>
          <a:stretch/>
        </p:blipFill>
        <p:spPr>
          <a:xfrm>
            <a:off x="1347374" y="473974"/>
            <a:ext cx="5821443" cy="4007299"/>
          </a:xfrm>
          <a:custGeom>
            <a:avLst/>
            <a:gdLst>
              <a:gd name="connsiteX0" fmla="*/ 3025687 w 7761924"/>
              <a:gd name="connsiteY0" fmla="*/ 76 h 5343065"/>
              <a:gd name="connsiteX1" fmla="*/ 3372722 w 7761924"/>
              <a:gd name="connsiteY1" fmla="*/ 16088 h 5343065"/>
              <a:gd name="connsiteX2" fmla="*/ 7761924 w 7761924"/>
              <a:gd name="connsiteY2" fmla="*/ 3316816 h 5343065"/>
              <a:gd name="connsiteX3" fmla="*/ 3701109 w 7761924"/>
              <a:gd name="connsiteY3" fmla="*/ 5320611 h 5343065"/>
              <a:gd name="connsiteX4" fmla="*/ 36290 w 7761924"/>
              <a:gd name="connsiteY4" fmla="*/ 2696959 h 5343065"/>
              <a:gd name="connsiteX5" fmla="*/ 3025687 w 7761924"/>
              <a:gd name="connsiteY5" fmla="*/ 76 h 53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solidFill>
            <a:srgbClr val="FDE111"/>
          </a:solidFill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EEA231-6D6B-5147-A9A7-1A48939E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7" name="Picture 6" descr="A close up of a toy&#13;&#10;&#13;&#10;Description automatically generated">
            <a:extLst>
              <a:ext uri="{FF2B5EF4-FFF2-40B4-BE49-F238E27FC236}">
                <a16:creationId xmlns:a16="http://schemas.microsoft.com/office/drawing/2014/main" id="{2D47C071-A929-7E49-8327-BB4D84AA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971" y="4095032"/>
            <a:ext cx="628034" cy="7724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9B5407-EB5B-AF48-8192-C2BB3AEC3F33}"/>
              </a:ext>
            </a:extLst>
          </p:cNvPr>
          <p:cNvSpPr/>
          <p:nvPr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025A5-5106-3945-8404-F8F73E40F972}"/>
              </a:ext>
            </a:extLst>
          </p:cNvPr>
          <p:cNvSpPr/>
          <p:nvPr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905818B-C982-6824-2D72-82CAA50EB15F}"/>
              </a:ext>
            </a:extLst>
          </p:cNvPr>
          <p:cNvSpPr/>
          <p:nvPr/>
        </p:nvSpPr>
        <p:spPr>
          <a:xfrm>
            <a:off x="3119770" y="24678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E12D8E3-B5EB-1F63-44BF-C8DFC4B7792B}"/>
              </a:ext>
            </a:extLst>
          </p:cNvPr>
          <p:cNvSpPr/>
          <p:nvPr/>
        </p:nvSpPr>
        <p:spPr>
          <a:xfrm rot="10800000">
            <a:off x="1199184" y="24110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A07139-B4B0-117B-EC27-2D3496445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852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22425</TotalTime>
  <Words>346</Words>
  <Application>Microsoft Macintosh PowerPoint</Application>
  <PresentationFormat>On-screen Show (16:9)</PresentationFormat>
  <Paragraphs>100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Avenir</vt:lpstr>
      <vt:lpstr>Calibri</vt:lpstr>
      <vt:lpstr>Helvetica</vt:lpstr>
      <vt:lpstr>Helvetica Light</vt:lpstr>
      <vt:lpstr>Helvetica Neue</vt:lpstr>
      <vt:lpstr>Helvetica Neue Light</vt:lpstr>
      <vt:lpstr>Helvetica Neue UltraLight</vt:lpstr>
      <vt:lpstr>Monaco</vt:lpstr>
      <vt:lpstr>Wingdings</vt:lpstr>
      <vt:lpstr>White</vt:lpstr>
      <vt:lpstr>Programming Fundamentals 1</vt:lpstr>
      <vt:lpstr>PowerPoint Presentation</vt:lpstr>
      <vt:lpstr>Agenda</vt:lpstr>
      <vt:lpstr>The IntelliJ IDE</vt:lpstr>
      <vt:lpstr>IntelliJ - An industry standard IDE</vt:lpstr>
      <vt:lpstr>IntelliJ - An industry standard IDE</vt:lpstr>
      <vt:lpstr>New Project Setup</vt:lpstr>
      <vt:lpstr>Launch IntelliJ</vt:lpstr>
      <vt:lpstr>New Java Project</vt:lpstr>
      <vt:lpstr>New Java Project</vt:lpstr>
      <vt:lpstr>New Java Project</vt:lpstr>
      <vt:lpstr>New Project</vt:lpstr>
      <vt:lpstr>Create New Class</vt:lpstr>
      <vt:lpstr>PowerPoint Presentation</vt:lpstr>
      <vt:lpstr>PowerPoint Presentation</vt:lpstr>
      <vt:lpstr>main() method</vt:lpstr>
      <vt:lpstr>Run App</vt:lpstr>
      <vt:lpstr>Run App</vt:lpstr>
      <vt:lpstr>Run App</vt:lpstr>
      <vt:lpstr>Run App</vt:lpstr>
      <vt:lpstr>Basic Spot Class</vt:lpstr>
      <vt:lpstr>New Spot Class</vt:lpstr>
      <vt:lpstr>PowerPoint Presentation</vt:lpstr>
      <vt:lpstr>New Driver Class</vt:lpstr>
      <vt:lpstr>New Driver Class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David Drohan</dc:creator>
  <cp:lastModifiedBy>David Drohan</cp:lastModifiedBy>
  <cp:revision>211</cp:revision>
  <dcterms:created xsi:type="dcterms:W3CDTF">2019-01-29T16:40:14Z</dcterms:created>
  <dcterms:modified xsi:type="dcterms:W3CDTF">2024-10-10T23:10:09Z</dcterms:modified>
</cp:coreProperties>
</file>