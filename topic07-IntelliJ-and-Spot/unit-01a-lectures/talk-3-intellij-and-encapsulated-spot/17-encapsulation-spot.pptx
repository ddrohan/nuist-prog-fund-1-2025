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3"/>
  </p:notesMasterIdLst>
  <p:handoutMasterIdLst>
    <p:handoutMasterId r:id="rId44"/>
  </p:handoutMasterIdLst>
  <p:sldIdLst>
    <p:sldId id="256" r:id="rId2"/>
    <p:sldId id="465" r:id="rId3"/>
    <p:sldId id="346" r:id="rId4"/>
    <p:sldId id="341" r:id="rId5"/>
    <p:sldId id="727" r:id="rId6"/>
    <p:sldId id="700" r:id="rId7"/>
    <p:sldId id="605" r:id="rId8"/>
    <p:sldId id="606" r:id="rId9"/>
    <p:sldId id="701" r:id="rId10"/>
    <p:sldId id="728" r:id="rId11"/>
    <p:sldId id="729" r:id="rId12"/>
    <p:sldId id="704" r:id="rId13"/>
    <p:sldId id="730" r:id="rId14"/>
    <p:sldId id="706" r:id="rId15"/>
    <p:sldId id="707" r:id="rId16"/>
    <p:sldId id="582" r:id="rId17"/>
    <p:sldId id="731" r:id="rId18"/>
    <p:sldId id="732" r:id="rId19"/>
    <p:sldId id="614" r:id="rId20"/>
    <p:sldId id="620" r:id="rId21"/>
    <p:sldId id="696" r:id="rId22"/>
    <p:sldId id="697" r:id="rId23"/>
    <p:sldId id="698" r:id="rId24"/>
    <p:sldId id="733" r:id="rId25"/>
    <p:sldId id="711" r:id="rId26"/>
    <p:sldId id="712" r:id="rId27"/>
    <p:sldId id="734" r:id="rId28"/>
    <p:sldId id="715" r:id="rId29"/>
    <p:sldId id="691" r:id="rId30"/>
    <p:sldId id="688" r:id="rId31"/>
    <p:sldId id="717" r:id="rId32"/>
    <p:sldId id="735" r:id="rId33"/>
    <p:sldId id="716" r:id="rId34"/>
    <p:sldId id="719" r:id="rId35"/>
    <p:sldId id="736" r:id="rId36"/>
    <p:sldId id="720" r:id="rId37"/>
    <p:sldId id="724" r:id="rId38"/>
    <p:sldId id="737" r:id="rId39"/>
    <p:sldId id="726" r:id="rId40"/>
    <p:sldId id="281" r:id="rId41"/>
    <p:sldId id="298" r:id="rId42"/>
  </p:sldIdLst>
  <p:sldSz cx="9144000" cy="5143500" type="screen16x9"/>
  <p:notesSz cx="6858000" cy="9144000"/>
  <p:defaultTextStyle>
    <a:lvl1pPr algn="ctr" defTabSz="366737">
      <a:defRPr sz="2250">
        <a:latin typeface="+mn-lt"/>
        <a:ea typeface="+mn-ea"/>
        <a:cs typeface="+mn-cs"/>
        <a:sym typeface="Helvetica Light"/>
      </a:defRPr>
    </a:lvl1pPr>
    <a:lvl2pPr indent="143505" algn="ctr" defTabSz="366737">
      <a:defRPr sz="2250">
        <a:latin typeface="+mn-lt"/>
        <a:ea typeface="+mn-ea"/>
        <a:cs typeface="+mn-cs"/>
        <a:sym typeface="Helvetica Light"/>
      </a:defRPr>
    </a:lvl2pPr>
    <a:lvl3pPr indent="287012" algn="ctr" defTabSz="366737">
      <a:defRPr sz="2250">
        <a:latin typeface="+mn-lt"/>
        <a:ea typeface="+mn-ea"/>
        <a:cs typeface="+mn-cs"/>
        <a:sym typeface="Helvetica Light"/>
      </a:defRPr>
    </a:lvl3pPr>
    <a:lvl4pPr indent="430517" algn="ctr" defTabSz="366737">
      <a:defRPr sz="2250">
        <a:latin typeface="+mn-lt"/>
        <a:ea typeface="+mn-ea"/>
        <a:cs typeface="+mn-cs"/>
        <a:sym typeface="Helvetica Light"/>
      </a:defRPr>
    </a:lvl4pPr>
    <a:lvl5pPr indent="574022" algn="ctr" defTabSz="366737">
      <a:defRPr sz="2250">
        <a:latin typeface="+mn-lt"/>
        <a:ea typeface="+mn-ea"/>
        <a:cs typeface="+mn-cs"/>
        <a:sym typeface="Helvetica Light"/>
      </a:defRPr>
    </a:lvl5pPr>
    <a:lvl6pPr indent="717528" algn="ctr" defTabSz="366737">
      <a:defRPr sz="2250">
        <a:latin typeface="+mn-lt"/>
        <a:ea typeface="+mn-ea"/>
        <a:cs typeface="+mn-cs"/>
        <a:sym typeface="Helvetica Light"/>
      </a:defRPr>
    </a:lvl6pPr>
    <a:lvl7pPr indent="861034" algn="ctr" defTabSz="366737">
      <a:defRPr sz="2250">
        <a:latin typeface="+mn-lt"/>
        <a:ea typeface="+mn-ea"/>
        <a:cs typeface="+mn-cs"/>
        <a:sym typeface="Helvetica Light"/>
      </a:defRPr>
    </a:lvl7pPr>
    <a:lvl8pPr indent="1004539" algn="ctr" defTabSz="366737">
      <a:defRPr sz="2250">
        <a:latin typeface="+mn-lt"/>
        <a:ea typeface="+mn-ea"/>
        <a:cs typeface="+mn-cs"/>
        <a:sym typeface="Helvetica Light"/>
      </a:defRPr>
    </a:lvl8pPr>
    <a:lvl9pPr indent="1148045" algn="ctr" defTabSz="366737">
      <a:defRPr sz="2250">
        <a:latin typeface="+mn-lt"/>
        <a:ea typeface="+mn-ea"/>
        <a:cs typeface="+mn-cs"/>
        <a:sym typeface="Helvetica Light"/>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8CBE"/>
    <a:srgbClr val="2F486B"/>
    <a:srgbClr val="0368FF"/>
    <a:srgbClr val="194699"/>
    <a:srgbClr val="1F33AB"/>
    <a:srgbClr val="84AEFF"/>
    <a:srgbClr val="0E9647"/>
    <a:srgbClr val="FDE111"/>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Ref idx="min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Ref idx="min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Ref idx="min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13"/>
    <p:restoredTop sz="85467"/>
  </p:normalViewPr>
  <p:slideViewPr>
    <p:cSldViewPr snapToGrid="0" snapToObjects="1">
      <p:cViewPr varScale="1">
        <p:scale>
          <a:sx n="93" d="100"/>
          <a:sy n="93" d="100"/>
        </p:scale>
        <p:origin x="208" y="400"/>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10" d="100"/>
        <a:sy n="11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4149E08-5597-3E45-8582-EEB58189C482}" type="datetimeFigureOut">
              <a:rPr lang="en-US" smtClean="0"/>
              <a:t>10/13/23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3A69502-A57F-A84E-93AF-100B756C6324}" type="slidenum">
              <a:rPr lang="en-US" smtClean="0"/>
              <a:t>‹#›</a:t>
            </a:fld>
            <a:endParaRPr lang="en-US" dirty="0"/>
          </a:p>
        </p:txBody>
      </p:sp>
    </p:spTree>
    <p:extLst>
      <p:ext uri="{BB962C8B-B14F-4D97-AF65-F5344CB8AC3E}">
        <p14:creationId xmlns:p14="http://schemas.microsoft.com/office/powerpoint/2010/main" val="14987028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2" name="Shape 72"/>
          <p:cNvSpPr>
            <a:spLocks noGrp="1" noRot="1" noChangeAspect="1"/>
          </p:cNvSpPr>
          <p:nvPr>
            <p:ph type="sldImg"/>
          </p:nvPr>
        </p:nvSpPr>
        <p:spPr>
          <a:xfrm>
            <a:off x="381000" y="685800"/>
            <a:ext cx="6096000" cy="3429000"/>
          </a:xfrm>
          <a:prstGeom prst="rect">
            <a:avLst/>
          </a:prstGeom>
        </p:spPr>
        <p:txBody>
          <a:bodyPr/>
          <a:lstStyle/>
          <a:p>
            <a:pPr lvl="0"/>
            <a:endParaRPr dirty="0"/>
          </a:p>
        </p:txBody>
      </p:sp>
      <p:sp>
        <p:nvSpPr>
          <p:cNvPr id="73" name="Shape 73"/>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1951493904"/>
      </p:ext>
    </p:extLst>
  </p:cSld>
  <p:clrMap bg1="lt1" tx1="dk1" bg2="lt2" tx2="dk2" accent1="accent1" accent2="accent2" accent3="accent3" accent4="accent4" accent5="accent5" accent6="accent6" hlink="hlink" folHlink="folHlink"/>
  <p:hf hdr="0" ftr="0" dt="0"/>
  <p:notesStyle>
    <a:lvl1pPr defTabSz="287012">
      <a:lnSpc>
        <a:spcPct val="125000"/>
      </a:lnSpc>
      <a:defRPr sz="1500">
        <a:latin typeface="Avenir"/>
        <a:ea typeface="Avenir"/>
        <a:cs typeface="Avenir"/>
        <a:sym typeface="Avenir Roman"/>
      </a:defRPr>
    </a:lvl1pPr>
    <a:lvl2pPr indent="143505" defTabSz="287012">
      <a:lnSpc>
        <a:spcPct val="125000"/>
      </a:lnSpc>
      <a:defRPr sz="1500">
        <a:latin typeface="Avenir"/>
        <a:ea typeface="Avenir"/>
        <a:cs typeface="Avenir"/>
        <a:sym typeface="Avenir Roman"/>
      </a:defRPr>
    </a:lvl2pPr>
    <a:lvl3pPr indent="287012" defTabSz="287012">
      <a:lnSpc>
        <a:spcPct val="125000"/>
      </a:lnSpc>
      <a:defRPr sz="1500">
        <a:latin typeface="Avenir"/>
        <a:ea typeface="Avenir"/>
        <a:cs typeface="Avenir"/>
        <a:sym typeface="Avenir Roman"/>
      </a:defRPr>
    </a:lvl3pPr>
    <a:lvl4pPr indent="430517" defTabSz="287012">
      <a:lnSpc>
        <a:spcPct val="125000"/>
      </a:lnSpc>
      <a:defRPr sz="1500">
        <a:latin typeface="Avenir"/>
        <a:ea typeface="Avenir"/>
        <a:cs typeface="Avenir"/>
        <a:sym typeface="Avenir Roman"/>
      </a:defRPr>
    </a:lvl4pPr>
    <a:lvl5pPr indent="574022" defTabSz="287012">
      <a:lnSpc>
        <a:spcPct val="125000"/>
      </a:lnSpc>
      <a:defRPr sz="1500">
        <a:latin typeface="Avenir"/>
        <a:ea typeface="Avenir"/>
        <a:cs typeface="Avenir"/>
        <a:sym typeface="Avenir Roman"/>
      </a:defRPr>
    </a:lvl5pPr>
    <a:lvl6pPr indent="717528" defTabSz="287012">
      <a:lnSpc>
        <a:spcPct val="125000"/>
      </a:lnSpc>
      <a:defRPr sz="1500">
        <a:latin typeface="Avenir"/>
        <a:ea typeface="Avenir"/>
        <a:cs typeface="Avenir"/>
        <a:sym typeface="Avenir Roman"/>
      </a:defRPr>
    </a:lvl6pPr>
    <a:lvl7pPr indent="861034" defTabSz="287012">
      <a:lnSpc>
        <a:spcPct val="125000"/>
      </a:lnSpc>
      <a:defRPr sz="1500">
        <a:latin typeface="Avenir"/>
        <a:ea typeface="Avenir"/>
        <a:cs typeface="Avenir"/>
        <a:sym typeface="Avenir Roman"/>
      </a:defRPr>
    </a:lvl7pPr>
    <a:lvl8pPr indent="1004539" defTabSz="287012">
      <a:lnSpc>
        <a:spcPct val="125000"/>
      </a:lnSpc>
      <a:defRPr sz="1500">
        <a:latin typeface="Avenir"/>
        <a:ea typeface="Avenir"/>
        <a:cs typeface="Avenir"/>
        <a:sym typeface="Avenir Roman"/>
      </a:defRPr>
    </a:lvl8pPr>
    <a:lvl9pPr indent="1148045" defTabSz="287012">
      <a:lnSpc>
        <a:spcPct val="125000"/>
      </a:lnSpc>
      <a:defRPr sz="1500">
        <a:latin typeface="Avenir"/>
        <a:ea typeface="Avenir"/>
        <a:cs typeface="Avenir"/>
        <a:sym typeface="Avenir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defTabSz="287012" rtl="0">
              <a:lnSpc>
                <a:spcPct val="125000"/>
              </a:lnSpc>
            </a:pPr>
            <a:endParaRPr lang="en-US"/>
          </a:p>
        </p:txBody>
      </p:sp>
    </p:spTree>
    <p:extLst>
      <p:ext uri="{BB962C8B-B14F-4D97-AF65-F5344CB8AC3E}">
        <p14:creationId xmlns:p14="http://schemas.microsoft.com/office/powerpoint/2010/main" val="2650140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defTabSz="287012" rtl="0">
              <a:lnSpc>
                <a:spcPct val="125000"/>
              </a:lnSpc>
            </a:pPr>
            <a:endParaRPr lang="en-US" dirty="0"/>
          </a:p>
        </p:txBody>
      </p:sp>
    </p:spTree>
    <p:extLst>
      <p:ext uri="{BB962C8B-B14F-4D97-AF65-F5344CB8AC3E}">
        <p14:creationId xmlns:p14="http://schemas.microsoft.com/office/powerpoint/2010/main" val="2375552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Mention here that there is a bug in processing where it (incorrectly) allows classes outside of Spot to access private fields.  This bug is there because of how Processing builds the final code before running (it puts many classes in one *.java file).  This doesn’t happen in “real” IDEs. </a:t>
            </a:r>
          </a:p>
        </p:txBody>
      </p:sp>
      <p:sp>
        <p:nvSpPr>
          <p:cNvPr id="4" name="Slide Number Placeholder 3"/>
          <p:cNvSpPr>
            <a:spLocks noGrp="1"/>
          </p:cNvSpPr>
          <p:nvPr>
            <p:ph type="sldNum" sz="quarter" idx="10"/>
          </p:nvPr>
        </p:nvSpPr>
        <p:spPr/>
        <p:txBody>
          <a:bodyPr/>
          <a:lstStyle/>
          <a:p>
            <a:fld id="{F963DB36-5273-45A5-A77C-FE9BE0779D84}" type="slidenum">
              <a:rPr lang="en-IE" smtClean="0"/>
              <a:t>16</a:t>
            </a:fld>
            <a:endParaRPr lang="en-IE"/>
          </a:p>
        </p:txBody>
      </p:sp>
    </p:spTree>
    <p:extLst>
      <p:ext uri="{BB962C8B-B14F-4D97-AF65-F5344CB8AC3E}">
        <p14:creationId xmlns:p14="http://schemas.microsoft.com/office/powerpoint/2010/main" val="407371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Objects First with Java</a:t>
            </a:r>
          </a:p>
        </p:txBody>
      </p:sp>
      <p:sp>
        <p:nvSpPr>
          <p:cNvPr id="5" name="Rectangle 6"/>
          <p:cNvSpPr>
            <a:spLocks noGrp="1" noChangeArrowheads="1"/>
          </p:cNvSpPr>
          <p:nvPr>
            <p:ph type="ftr" sz="quarter" idx="4"/>
          </p:nvPr>
        </p:nvSpPr>
        <p:spPr>
          <a:ln/>
        </p:spPr>
        <p:txBody>
          <a:bodyPr/>
          <a:lstStyle/>
          <a:p>
            <a:r>
              <a:rPr lang="en-GB"/>
              <a:t>© David J. Barnes and Michael Kölling</a:t>
            </a:r>
          </a:p>
        </p:txBody>
      </p:sp>
      <p:sp>
        <p:nvSpPr>
          <p:cNvPr id="6" name="Rectangle 7"/>
          <p:cNvSpPr>
            <a:spLocks noGrp="1" noChangeArrowheads="1"/>
          </p:cNvSpPr>
          <p:nvPr>
            <p:ph type="sldNum" sz="quarter" idx="5"/>
          </p:nvPr>
        </p:nvSpPr>
        <p:spPr>
          <a:ln/>
        </p:spPr>
        <p:txBody>
          <a:bodyPr/>
          <a:lstStyle/>
          <a:p>
            <a:fld id="{A3E85BA6-CFDF-430E-8374-ADA2BF6C5E53}" type="slidenum">
              <a:rPr lang="en-GB"/>
              <a:pPr/>
              <a:t>20</a:t>
            </a:fld>
            <a:endParaRPr lang="en-GB"/>
          </a:p>
        </p:txBody>
      </p:sp>
      <p:sp>
        <p:nvSpPr>
          <p:cNvPr id="78850" name="Rectangle 2"/>
          <p:cNvSpPr>
            <a:spLocks noGrp="1" noRot="1" noChangeAspect="1" noChangeArrowheads="1" noTextEdit="1"/>
          </p:cNvSpPr>
          <p:nvPr>
            <p:ph type="sldImg"/>
          </p:nvPr>
        </p:nvSpPr>
        <p:spPr>
          <a:ln/>
        </p:spPr>
      </p:sp>
      <p:sp>
        <p:nvSpPr>
          <p:cNvPr id="78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13292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r>
              <a:rPr lang="en-GB"/>
              <a:t>Objects First with Java</a:t>
            </a:r>
          </a:p>
        </p:txBody>
      </p:sp>
      <p:sp>
        <p:nvSpPr>
          <p:cNvPr id="5" name="Rectangle 6"/>
          <p:cNvSpPr>
            <a:spLocks noGrp="1" noChangeArrowheads="1"/>
          </p:cNvSpPr>
          <p:nvPr>
            <p:ph type="ftr" sz="quarter" idx="4"/>
          </p:nvPr>
        </p:nvSpPr>
        <p:spPr>
          <a:ln/>
        </p:spPr>
        <p:txBody>
          <a:bodyPr/>
          <a:lstStyle/>
          <a:p>
            <a:r>
              <a:rPr lang="en-GB"/>
              <a:t>© David J. Barnes and Michael Kölling</a:t>
            </a:r>
          </a:p>
        </p:txBody>
      </p:sp>
      <p:sp>
        <p:nvSpPr>
          <p:cNvPr id="6" name="Rectangle 7"/>
          <p:cNvSpPr>
            <a:spLocks noGrp="1" noChangeArrowheads="1"/>
          </p:cNvSpPr>
          <p:nvPr>
            <p:ph type="sldNum" sz="quarter" idx="5"/>
          </p:nvPr>
        </p:nvSpPr>
        <p:spPr>
          <a:ln/>
        </p:spPr>
        <p:txBody>
          <a:bodyPr/>
          <a:lstStyle/>
          <a:p>
            <a:fld id="{EC17B96C-5BE9-455B-93AF-B6A38B95CFEB}" type="slidenum">
              <a:rPr lang="en-GB"/>
              <a:pPr/>
              <a:t>22</a:t>
            </a:fld>
            <a:endParaRPr lang="en-GB"/>
          </a:p>
        </p:txBody>
      </p:sp>
      <p:sp>
        <p:nvSpPr>
          <p:cNvPr id="82946" name="Rectangle 2"/>
          <p:cNvSpPr>
            <a:spLocks noGrp="1" noRot="1" noChangeAspect="1" noChangeArrowheads="1" noTextEdit="1"/>
          </p:cNvSpPr>
          <p:nvPr>
            <p:ph type="sldImg"/>
          </p:nvPr>
        </p:nvSpPr>
        <p:spPr>
          <a:ln/>
        </p:spPr>
      </p:sp>
      <p:sp>
        <p:nvSpPr>
          <p:cNvPr id="82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675454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 Id="rId5" Type="http://schemas.openxmlformats.org/officeDocument/2006/relationships/hyperlink" Target="mailto:ddrohan@wit.ie" TargetMode="Externa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Lab Title">
    <p:spTree>
      <p:nvGrpSpPr>
        <p:cNvPr id="1" name=""/>
        <p:cNvGrpSpPr/>
        <p:nvPr/>
      </p:nvGrpSpPr>
      <p:grpSpPr>
        <a:xfrm>
          <a:off x="0" y="0"/>
          <a:ext cx="0" cy="0"/>
          <a:chOff x="0" y="0"/>
          <a:chExt cx="0" cy="0"/>
        </a:xfrm>
      </p:grpSpPr>
      <p:pic>
        <p:nvPicPr>
          <p:cNvPr id="4" name="Picture Placeholder 7" descr="A close-up of a metal structure&#10;&#10;Description automatically generated with low confidence">
            <a:extLst>
              <a:ext uri="{FF2B5EF4-FFF2-40B4-BE49-F238E27FC236}">
                <a16:creationId xmlns:a16="http://schemas.microsoft.com/office/drawing/2014/main" id="{14F6341F-72F0-BFA6-6798-9AC71A86B3D4}"/>
              </a:ext>
            </a:extLst>
          </p:cNvPr>
          <p:cNvPicPr>
            <a:picLocks noChangeAspect="1"/>
          </p:cNvPicPr>
          <p:nvPr userDrawn="1"/>
        </p:nvPicPr>
        <p:blipFill rotWithShape="1">
          <a:blip r:embed="rId2"/>
          <a:srcRect l="15096" t="1189" r="36524" b="51187"/>
          <a:stretch/>
        </p:blipFill>
        <p:spPr>
          <a:xfrm>
            <a:off x="-6264" y="-6182"/>
            <a:ext cx="9150263" cy="5147023"/>
          </a:xfrm>
          <a:prstGeom prst="rect">
            <a:avLst/>
          </a:prstGeom>
          <a:ln w="12700">
            <a:miter lim="400000"/>
          </a:ln>
          <a:extLst>
            <a:ext uri="{C572A759-6A51-4108-AA02-DFA0A04FC94B}">
              <ma14:wrappingTextBoxFlag xmlns="" xmlns:ma14="http://schemas.microsoft.com/office/mac/drawingml/2011/main" val="1"/>
            </a:ext>
          </a:extLst>
        </p:spPr>
      </p:pic>
      <p:sp>
        <p:nvSpPr>
          <p:cNvPr id="12" name="Shape 33">
            <a:extLst>
              <a:ext uri="{FF2B5EF4-FFF2-40B4-BE49-F238E27FC236}">
                <a16:creationId xmlns:a16="http://schemas.microsoft.com/office/drawing/2014/main" id="{EAD08510-7D5A-594A-AAEC-59C7087561FC}"/>
              </a:ext>
            </a:extLst>
          </p:cNvPr>
          <p:cNvSpPr/>
          <p:nvPr userDrawn="1"/>
        </p:nvSpPr>
        <p:spPr>
          <a:xfrm>
            <a:off x="3778568" y="2059379"/>
            <a:ext cx="4846151" cy="0"/>
          </a:xfrm>
          <a:prstGeom prst="line">
            <a:avLst/>
          </a:prstGeom>
          <a:ln w="3175">
            <a:solidFill>
              <a:schemeClr val="tx1"/>
            </a:solidFill>
            <a:miter lim="400000"/>
          </a:ln>
        </p:spPr>
        <p:txBody>
          <a:bodyPr lIns="0" tIns="0" rIns="0" bIns="0" anchor="ctr"/>
          <a:lstStyle/>
          <a:p>
            <a:pPr lvl="0" algn="l" defTabSz="286973" rtl="0">
              <a:defRPr sz="1100">
                <a:latin typeface="Helvetica"/>
                <a:ea typeface="Helvetica"/>
                <a:cs typeface="Helvetica"/>
                <a:sym typeface="Helvetica"/>
              </a:defRPr>
            </a:pPr>
            <a:endParaRPr sz="825" dirty="0"/>
          </a:p>
        </p:txBody>
      </p:sp>
      <p:sp>
        <p:nvSpPr>
          <p:cNvPr id="13" name="Shape 34">
            <a:extLst>
              <a:ext uri="{FF2B5EF4-FFF2-40B4-BE49-F238E27FC236}">
                <a16:creationId xmlns:a16="http://schemas.microsoft.com/office/drawing/2014/main" id="{BB2C258E-D81B-5B4E-8B1B-562CE71165EB}"/>
              </a:ext>
            </a:extLst>
          </p:cNvPr>
          <p:cNvSpPr/>
          <p:nvPr userDrawn="1"/>
        </p:nvSpPr>
        <p:spPr>
          <a:xfrm>
            <a:off x="3613319" y="2299116"/>
            <a:ext cx="1208664" cy="590931"/>
          </a:xfrm>
          <a:prstGeom prst="rect">
            <a:avLst/>
          </a:prstGeom>
          <a:ln w="12700">
            <a:miter lim="400000"/>
          </a:ln>
          <a:extLst>
            <a:ext uri="{C572A759-6A51-4108-AA02-DFA0A04FC94B}">
              <ma14:wrappingTextBoxFlag xmlns="" xmlns:ma14="http://schemas.microsoft.com/office/mac/drawingml/2011/main" val="1"/>
            </a:ext>
          </a:extLst>
        </p:spPr>
        <p:txBody>
          <a:bodyPr wrap="none" lIns="0" tIns="0" rIns="0" bIns="0" anchor="ctr">
            <a:spAutoFit/>
          </a:bodyPr>
          <a:lstStyle/>
          <a:p>
            <a:pPr lvl="0" algn="r">
              <a:lnSpc>
                <a:spcPct val="80000"/>
              </a:lnSpc>
              <a:defRPr sz="1800"/>
            </a:pPr>
            <a:r>
              <a:rPr sz="2400" b="1" i="0" baseline="0" dirty="0">
                <a:solidFill>
                  <a:schemeClr val="bg1">
                    <a:lumMod val="85000"/>
                  </a:schemeClr>
                </a:solidFill>
                <a:latin typeface="Helvetica Neue UltraLight"/>
                <a:ea typeface="Helvetica Neue UltraLight"/>
                <a:cs typeface="Helvetica Neue UltraLight"/>
                <a:sym typeface="Helvetica Neue UltraLight"/>
              </a:rPr>
              <a:t>Produced</a:t>
            </a:r>
          </a:p>
          <a:p>
            <a:pPr lvl="0" algn="r">
              <a:lnSpc>
                <a:spcPct val="80000"/>
              </a:lnSpc>
              <a:defRPr sz="1800"/>
            </a:pPr>
            <a:r>
              <a:rPr sz="2400" b="1" i="0" baseline="0" dirty="0">
                <a:solidFill>
                  <a:schemeClr val="bg1">
                    <a:lumMod val="85000"/>
                  </a:schemeClr>
                </a:solidFill>
                <a:latin typeface="Helvetica Neue UltraLight"/>
                <a:ea typeface="Helvetica Neue UltraLight"/>
                <a:cs typeface="Helvetica Neue UltraLight"/>
                <a:sym typeface="Helvetica Neue UltraLight"/>
              </a:rPr>
              <a:t>by</a:t>
            </a:r>
          </a:p>
        </p:txBody>
      </p:sp>
      <p:sp>
        <p:nvSpPr>
          <p:cNvPr id="15" name="Shape 35">
            <a:extLst>
              <a:ext uri="{FF2B5EF4-FFF2-40B4-BE49-F238E27FC236}">
                <a16:creationId xmlns:a16="http://schemas.microsoft.com/office/drawing/2014/main" id="{885F7572-8BDA-2441-A5EC-7D945A8A5010}"/>
              </a:ext>
            </a:extLst>
          </p:cNvPr>
          <p:cNvSpPr/>
          <p:nvPr/>
        </p:nvSpPr>
        <p:spPr>
          <a:xfrm>
            <a:off x="4970252" y="3114062"/>
            <a:ext cx="3241478" cy="54532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p>
            <a:pPr lvl="0" algn="l">
              <a:lnSpc>
                <a:spcPct val="120000"/>
              </a:lnSpc>
              <a:defRPr sz="1800"/>
            </a:pPr>
            <a:r>
              <a:rPr sz="975" b="1" i="0" baseline="0" dirty="0">
                <a:solidFill>
                  <a:srgbClr val="133455"/>
                </a:solidFill>
                <a:latin typeface="Helvetica Neue"/>
                <a:ea typeface="Helvetica Neue"/>
                <a:cs typeface="Helvetica Neue"/>
                <a:sym typeface="Helvetica Neue"/>
              </a:rPr>
              <a:t>Department of Computing &amp; Mathematics</a:t>
            </a:r>
          </a:p>
          <a:p>
            <a:pPr lvl="0" algn="l">
              <a:lnSpc>
                <a:spcPct val="120000"/>
              </a:lnSpc>
              <a:defRPr sz="1800"/>
            </a:pPr>
            <a:r>
              <a:rPr lang="en-IE" sz="975" b="1" i="0" baseline="0" dirty="0">
                <a:solidFill>
                  <a:srgbClr val="133455"/>
                </a:solidFill>
                <a:latin typeface="Helvetica Neue"/>
                <a:ea typeface="Helvetica Neue"/>
                <a:cs typeface="Helvetica Neue"/>
                <a:sym typeface="Helvetica Neue"/>
              </a:rPr>
              <a:t>South East Technological University</a:t>
            </a:r>
            <a:br>
              <a:rPr lang="en-IE" sz="975" b="1" i="0" baseline="0" dirty="0">
                <a:solidFill>
                  <a:srgbClr val="133455"/>
                </a:solidFill>
                <a:latin typeface="Helvetica Neue"/>
                <a:ea typeface="Helvetica Neue"/>
                <a:cs typeface="Helvetica Neue"/>
                <a:sym typeface="Helvetica Neue"/>
              </a:rPr>
            </a:br>
            <a:r>
              <a:rPr lang="en-IE" sz="975" b="1" i="0" baseline="0" dirty="0">
                <a:solidFill>
                  <a:srgbClr val="133455"/>
                </a:solidFill>
                <a:latin typeface="Helvetica Neue"/>
                <a:ea typeface="Helvetica Neue"/>
                <a:cs typeface="Helvetica Neue"/>
                <a:sym typeface="Helvetica Neue"/>
              </a:rPr>
              <a:t>Waterford, Ireland</a:t>
            </a:r>
          </a:p>
        </p:txBody>
      </p:sp>
      <p:pic>
        <p:nvPicPr>
          <p:cNvPr id="18" name="Picture 3">
            <a:extLst>
              <a:ext uri="{FF2B5EF4-FFF2-40B4-BE49-F238E27FC236}">
                <a16:creationId xmlns:a16="http://schemas.microsoft.com/office/drawing/2014/main" id="{F323B0CE-A19A-E748-98EC-D40F56CC332A}"/>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auto">
          <a:xfrm>
            <a:off x="8187903" y="4360424"/>
            <a:ext cx="730559" cy="730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8">
            <a:extLst>
              <a:ext uri="{FF2B5EF4-FFF2-40B4-BE49-F238E27FC236}">
                <a16:creationId xmlns:a16="http://schemas.microsoft.com/office/drawing/2014/main" id="{165E7D44-1D07-9340-B610-CE9A2D7BB0EF}"/>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8358289" y="188773"/>
            <a:ext cx="560173" cy="638794"/>
          </a:xfrm>
          <a:prstGeom prst="rect">
            <a:avLst/>
          </a:prstGeom>
        </p:spPr>
      </p:pic>
      <p:sp>
        <p:nvSpPr>
          <p:cNvPr id="20" name="TextBox 19">
            <a:extLst>
              <a:ext uri="{FF2B5EF4-FFF2-40B4-BE49-F238E27FC236}">
                <a16:creationId xmlns:a16="http://schemas.microsoft.com/office/drawing/2014/main" id="{00A583B1-550B-C14A-A9E9-8D176BDC6F6E}"/>
              </a:ext>
            </a:extLst>
          </p:cNvPr>
          <p:cNvSpPr txBox="1"/>
          <p:nvPr userDrawn="1"/>
        </p:nvSpPr>
        <p:spPr>
          <a:xfrm>
            <a:off x="4721847" y="4551298"/>
            <a:ext cx="3425984" cy="34881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r" fontAlgn="auto"/>
            <a:r>
              <a:rPr lang="en-IE" sz="1600" b="1" i="0" u="none" strike="noStrike" baseline="0" dirty="0" err="1">
                <a:solidFill>
                  <a:schemeClr val="bg1">
                    <a:lumMod val="85000"/>
                  </a:schemeClr>
                </a:solidFill>
                <a:effectLst/>
                <a:latin typeface="+mn-lt"/>
                <a:ea typeface="+mn-ea"/>
                <a:cs typeface="+mn-cs"/>
                <a:sym typeface="Helvetica Light"/>
              </a:rPr>
              <a:t>setu.ie</a:t>
            </a:r>
            <a:endParaRPr lang="en-IE" sz="1600" b="1" i="0" u="none" strike="noStrike" baseline="0" dirty="0">
              <a:solidFill>
                <a:schemeClr val="bg1">
                  <a:lumMod val="85000"/>
                </a:schemeClr>
              </a:solidFill>
              <a:effectLst/>
              <a:latin typeface="+mn-lt"/>
              <a:ea typeface="+mn-ea"/>
              <a:cs typeface="+mn-cs"/>
              <a:sym typeface="Helvetica Light"/>
            </a:endParaRPr>
          </a:p>
        </p:txBody>
      </p:sp>
      <p:sp>
        <p:nvSpPr>
          <p:cNvPr id="21" name="Shape 35">
            <a:extLst>
              <a:ext uri="{FF2B5EF4-FFF2-40B4-BE49-F238E27FC236}">
                <a16:creationId xmlns:a16="http://schemas.microsoft.com/office/drawing/2014/main" id="{1EC3B031-7C7C-5846-BACC-8C65A8064D86}"/>
              </a:ext>
            </a:extLst>
          </p:cNvPr>
          <p:cNvSpPr/>
          <p:nvPr userDrawn="1"/>
        </p:nvSpPr>
        <p:spPr>
          <a:xfrm>
            <a:off x="4963941" y="2144699"/>
            <a:ext cx="3954521" cy="1046814"/>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p>
            <a:pPr algn="l"/>
            <a:r>
              <a:rPr lang="en-IE" sz="1800" b="1" i="0" baseline="0" dirty="0"/>
              <a:t>Mr. Dave Drohan </a:t>
            </a:r>
            <a:r>
              <a:rPr lang="en-IE" sz="1600" b="1" i="0" baseline="0" dirty="0"/>
              <a:t>(</a:t>
            </a:r>
            <a:r>
              <a:rPr lang="en-IE" sz="1600" b="1" i="0" baseline="0" dirty="0">
                <a:solidFill>
                  <a:srgbClr val="006699"/>
                </a:solidFill>
                <a:uFill>
                  <a:solidFill>
                    <a:srgbClr val="006699"/>
                  </a:solidFill>
                </a:uFill>
                <a:hlinkClick r:id="rId5"/>
              </a:rPr>
              <a:t>david.drohan@setu.ie</a:t>
            </a:r>
            <a:r>
              <a:rPr lang="en-IE" sz="1600" b="1" i="0" baseline="0" dirty="0"/>
              <a:t>)</a:t>
            </a:r>
            <a:br>
              <a:rPr lang="en-IE" sz="1600" b="1" i="0" baseline="0" dirty="0"/>
            </a:br>
            <a:r>
              <a:rPr lang="en-IE" sz="1800" dirty="0" err="1">
                <a:solidFill>
                  <a:schemeClr val="tx1"/>
                </a:solidFill>
              </a:rPr>
              <a:t>Dr.</a:t>
            </a:r>
            <a:r>
              <a:rPr lang="en-IE" sz="1800" dirty="0">
                <a:solidFill>
                  <a:schemeClr val="tx1"/>
                </a:solidFill>
              </a:rPr>
              <a:t> </a:t>
            </a:r>
            <a:r>
              <a:rPr lang="en-IE" sz="1800" dirty="0" err="1">
                <a:solidFill>
                  <a:schemeClr val="tx1"/>
                </a:solidFill>
              </a:rPr>
              <a:t>Siobhán</a:t>
            </a:r>
            <a:r>
              <a:rPr lang="en-IE" sz="1800" dirty="0">
                <a:solidFill>
                  <a:schemeClr val="tx1"/>
                </a:solidFill>
              </a:rPr>
              <a:t> </a:t>
            </a:r>
            <a:r>
              <a:rPr lang="en-IE" sz="1800" dirty="0" err="1">
                <a:solidFill>
                  <a:schemeClr val="tx1"/>
                </a:solidFill>
              </a:rPr>
              <a:t>Drohan</a:t>
            </a:r>
            <a:endParaRPr lang="en-IE" sz="1800" dirty="0">
              <a:solidFill>
                <a:schemeClr val="tx1"/>
              </a:solidFill>
            </a:endParaRPr>
          </a:p>
          <a:p>
            <a:pPr algn="l"/>
            <a:r>
              <a:rPr lang="en-IE" sz="1800" dirty="0">
                <a:solidFill>
                  <a:schemeClr val="tx1"/>
                </a:solidFill>
              </a:rPr>
              <a:t>Ms. Mairead Meagher</a:t>
            </a:r>
          </a:p>
        </p:txBody>
      </p:sp>
      <p:sp>
        <p:nvSpPr>
          <p:cNvPr id="2" name="Title 2">
            <a:extLst>
              <a:ext uri="{FF2B5EF4-FFF2-40B4-BE49-F238E27FC236}">
                <a16:creationId xmlns:a16="http://schemas.microsoft.com/office/drawing/2014/main" id="{BBD13589-119E-31F3-037B-F798E385253F}"/>
              </a:ext>
            </a:extLst>
          </p:cNvPr>
          <p:cNvSpPr>
            <a:spLocks noGrp="1"/>
          </p:cNvSpPr>
          <p:nvPr>
            <p:ph type="title" hasCustomPrompt="1"/>
          </p:nvPr>
        </p:nvSpPr>
        <p:spPr>
          <a:xfrm>
            <a:off x="789399" y="1324611"/>
            <a:ext cx="7893844" cy="542479"/>
          </a:xfrm>
        </p:spPr>
        <p:txBody>
          <a:bodyPr/>
          <a:lstStyle>
            <a:lvl1pPr>
              <a:defRPr sz="2800" b="1"/>
            </a:lvl1pPr>
          </a:lstStyle>
          <a:p>
            <a:pPr algn="r" defTabSz="366688" rtl="0"/>
            <a:r>
              <a:rPr lang="en-US" dirty="0"/>
              <a:t>Programming Fundamentals 1</a:t>
            </a:r>
          </a:p>
        </p:txBody>
      </p:sp>
    </p:spTree>
    <p:extLst>
      <p:ext uri="{BB962C8B-B14F-4D97-AF65-F5344CB8AC3E}">
        <p14:creationId xmlns:p14="http://schemas.microsoft.com/office/powerpoint/2010/main" val="312442219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8" name="Shape 48"/>
          <p:cNvSpPr>
            <a:spLocks noGrp="1"/>
          </p:cNvSpPr>
          <p:nvPr>
            <p:ph type="title"/>
          </p:nvPr>
        </p:nvSpPr>
        <p:spPr>
          <a:prstGeom prst="rect">
            <a:avLst/>
          </a:prstGeom>
        </p:spPr>
        <p:txBody>
          <a:bodyPr/>
          <a:lstStyle>
            <a:lvl1pPr>
              <a:defRPr sz="3200" baseline="0"/>
            </a:lvl1pPr>
          </a:lstStyle>
          <a:p>
            <a:pPr lvl="0">
              <a:defRPr sz="1800"/>
            </a:pPr>
            <a:r>
              <a:rPr sz="2775" dirty="0"/>
              <a:t>Title Text</a:t>
            </a:r>
          </a:p>
        </p:txBody>
      </p:sp>
      <p:sp>
        <p:nvSpPr>
          <p:cNvPr id="49" name="Shape 49"/>
          <p:cNvSpPr>
            <a:spLocks noGrp="1"/>
          </p:cNvSpPr>
          <p:nvPr>
            <p:ph type="body" idx="1"/>
          </p:nvPr>
        </p:nvSpPr>
        <p:spPr>
          <a:prstGeom prst="rect">
            <a:avLst/>
          </a:prstGeom>
        </p:spPr>
        <p:txBody>
          <a:bodyPr/>
          <a:lstStyle>
            <a:lvl1pPr>
              <a:buClr>
                <a:srgbClr val="194699"/>
              </a:buClr>
              <a:defRPr/>
            </a:lvl1pPr>
            <a:lvl2pPr>
              <a:buClr>
                <a:srgbClr val="194699"/>
              </a:buClr>
              <a:defRPr/>
            </a:lvl2pPr>
            <a:lvl3pPr>
              <a:buClr>
                <a:srgbClr val="194699"/>
              </a:buClr>
              <a:defRPr/>
            </a:lvl3pPr>
            <a:lvl4pPr>
              <a:buClr>
                <a:srgbClr val="194699"/>
              </a:buClr>
              <a:defRPr/>
            </a:lvl4pPr>
            <a:lvl5pPr>
              <a:buClr>
                <a:srgbClr val="194699"/>
              </a:buClr>
              <a:defRPr/>
            </a:lvl5pPr>
          </a:lstStyle>
          <a:p>
            <a:pPr lvl="0">
              <a:defRPr sz="1800"/>
            </a:pPr>
            <a:r>
              <a:rPr sz="2400" dirty="0"/>
              <a:t>Body Level One</a:t>
            </a:r>
          </a:p>
          <a:p>
            <a:pPr lvl="1">
              <a:defRPr sz="1800"/>
            </a:pPr>
            <a:r>
              <a:rPr sz="2400" dirty="0"/>
              <a:t>Body Level Two</a:t>
            </a:r>
          </a:p>
          <a:p>
            <a:pPr lvl="2">
              <a:defRPr sz="1800"/>
            </a:pPr>
            <a:r>
              <a:rPr sz="2400" dirty="0"/>
              <a:t>Body Level Three</a:t>
            </a:r>
          </a:p>
          <a:p>
            <a:pPr lvl="3">
              <a:defRPr sz="1800"/>
            </a:pPr>
            <a:r>
              <a:rPr sz="2400" dirty="0"/>
              <a:t>Body Level Four</a:t>
            </a:r>
          </a:p>
          <a:p>
            <a:pPr lvl="4">
              <a:defRPr sz="1800"/>
            </a:pPr>
            <a:r>
              <a:rPr sz="2400" dirty="0"/>
              <a:t>Body Level Five</a:t>
            </a:r>
          </a:p>
        </p:txBody>
      </p:sp>
      <p:sp>
        <p:nvSpPr>
          <p:cNvPr id="50" name="Shape 50"/>
          <p:cNvSpPr>
            <a:spLocks noGrp="1"/>
          </p:cNvSpPr>
          <p:nvPr>
            <p:ph type="sldNum" sz="quarter" idx="2"/>
          </p:nvPr>
        </p:nvSpPr>
        <p:spPr>
          <a:xfrm>
            <a:off x="6553201" y="4875912"/>
            <a:ext cx="1905000" cy="283023"/>
          </a:xfrm>
          <a:prstGeom prst="rect">
            <a:avLst/>
          </a:prstGeom>
        </p:spPr>
        <p:txBody>
          <a:bodyPr/>
          <a:lstStyle/>
          <a:p>
            <a:pPr lvl="0"/>
            <a:fld id="{86CB4B4D-7CA3-9044-876B-883B54F8677D}" type="slidenum">
              <a:rPr/>
              <a:t>‹#›</a:t>
            </a:fld>
            <a:endParaRPr dirty="0"/>
          </a:p>
        </p:txBody>
      </p:sp>
      <p:sp>
        <p:nvSpPr>
          <p:cNvPr id="5" name="Rectangle 66"/>
          <p:cNvSpPr>
            <a:spLocks noGrp="1" noChangeArrowheads="1"/>
          </p:cNvSpPr>
          <p:nvPr>
            <p:ph type="ftr" sz="quarter" idx="3"/>
          </p:nvPr>
        </p:nvSpPr>
        <p:spPr bwMode="auto">
          <a:xfrm>
            <a:off x="3214688" y="4895886"/>
            <a:ext cx="2430270" cy="241102"/>
          </a:xfrm>
          <a:prstGeom prst="rect">
            <a:avLst/>
          </a:prstGeom>
          <a:noFill/>
          <a:ln w="9525">
            <a:noFill/>
            <a:miter lim="800000"/>
            <a:headEnd/>
            <a:tailEnd/>
          </a:ln>
          <a:effectLst/>
        </p:spPr>
        <p:txBody>
          <a:bodyPr vert="horz" wrap="square" lIns="76526" tIns="38263" rIns="76526" bIns="38263" numCol="1" anchor="b" anchorCtr="0" compatLnSpc="1">
            <a:prstTxWarp prst="textNoShape">
              <a:avLst/>
            </a:prstTxWarp>
          </a:bodyPr>
          <a:lstStyle>
            <a:lvl1pPr algn="ctr">
              <a:defRPr sz="1125" b="0" i="0">
                <a:latin typeface="Helvetica Neue Light"/>
                <a:cs typeface="Helvetica Neue Light"/>
              </a:defRPr>
            </a:lvl1pPr>
          </a:lstStyle>
          <a:p>
            <a:r>
              <a:rPr lang="en-IE"/>
              <a:t>https://www.java.com</a:t>
            </a:r>
            <a:endParaRPr lang="en-IE"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FE51DA-9AF5-F835-204E-B5376FB7A7C6}"/>
              </a:ext>
            </a:extLst>
          </p:cNvPr>
          <p:cNvSpPr>
            <a:spLocks noGrp="1"/>
          </p:cNvSpPr>
          <p:nvPr>
            <p:ph type="sldNum" sz="quarter" idx="10"/>
          </p:nvPr>
        </p:nvSpPr>
        <p:spPr/>
        <p:txBody>
          <a:bodyPr/>
          <a:lstStyle/>
          <a:p>
            <a:fld id="{86CB4B4D-7CA3-9044-876B-883B54F8677D}" type="slidenum">
              <a:rPr lang="en-US" smtClean="0"/>
              <a:pPr/>
              <a:t>‹#›</a:t>
            </a:fld>
            <a:endParaRPr lang="en-US" dirty="0"/>
          </a:p>
        </p:txBody>
      </p:sp>
      <p:sp>
        <p:nvSpPr>
          <p:cNvPr id="4" name="Footer Placeholder 3">
            <a:extLst>
              <a:ext uri="{FF2B5EF4-FFF2-40B4-BE49-F238E27FC236}">
                <a16:creationId xmlns:a16="http://schemas.microsoft.com/office/drawing/2014/main" id="{17946552-8ABC-2684-8EA3-A12C826FB01B}"/>
              </a:ext>
            </a:extLst>
          </p:cNvPr>
          <p:cNvSpPr>
            <a:spLocks noGrp="1"/>
          </p:cNvSpPr>
          <p:nvPr>
            <p:ph type="ftr" sz="quarter" idx="11"/>
          </p:nvPr>
        </p:nvSpPr>
        <p:spPr/>
        <p:txBody>
          <a:bodyPr/>
          <a:lstStyle/>
          <a:p>
            <a:r>
              <a:rPr lang="en-IE"/>
              <a:t>https://www.java.com</a:t>
            </a:r>
            <a:endParaRPr lang="en-IE" dirty="0"/>
          </a:p>
        </p:txBody>
      </p:sp>
      <p:sp>
        <p:nvSpPr>
          <p:cNvPr id="5" name="Rectangle 4">
            <a:extLst>
              <a:ext uri="{FF2B5EF4-FFF2-40B4-BE49-F238E27FC236}">
                <a16:creationId xmlns:a16="http://schemas.microsoft.com/office/drawing/2014/main" id="{EAAC3EAD-3ACD-68D9-A159-986D3E0E55D6}"/>
              </a:ext>
            </a:extLst>
          </p:cNvPr>
          <p:cNvSpPr/>
          <p:nvPr userDrawn="1"/>
        </p:nvSpPr>
        <p:spPr>
          <a:xfrm>
            <a:off x="375385" y="683393"/>
            <a:ext cx="7324826" cy="327259"/>
          </a:xfrm>
          <a:prstGeom prst="rect">
            <a:avLst/>
          </a:prstGeom>
          <a:solidFill>
            <a:srgbClr val="FFFFFF"/>
          </a:solid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en-US" sz="2400" b="0" i="0" u="none" strike="noStrike" cap="none" spc="0" normalizeH="0" baseline="0">
              <a:ln>
                <a:noFill/>
              </a:ln>
              <a:solidFill>
                <a:srgbClr val="FFFFFF"/>
              </a:solidFill>
              <a:effectLst/>
              <a:uFillTx/>
              <a:latin typeface="+mn-lt"/>
              <a:ea typeface="+mn-ea"/>
              <a:cs typeface="+mn-cs"/>
              <a:sym typeface="Helvetica Light"/>
            </a:endParaRPr>
          </a:p>
        </p:txBody>
      </p:sp>
    </p:spTree>
    <p:extLst>
      <p:ext uri="{BB962C8B-B14F-4D97-AF65-F5344CB8AC3E}">
        <p14:creationId xmlns:p14="http://schemas.microsoft.com/office/powerpoint/2010/main" val="64145168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dirty="0"/>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https://www.java.com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67827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solidFill>
                  <a:schemeClr val="tx1">
                    <a:lumMod val="65000"/>
                    <a:lumOff val="35000"/>
                  </a:schemeClr>
                </a:solidFill>
              </a:defRPr>
            </a:lvl1pPr>
          </a:lstStyle>
          <a:p>
            <a:r>
              <a:rPr lang="en-US" dirty="0"/>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https://www.java.com</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cxnSp>
        <p:nvCxnSpPr>
          <p:cNvPr id="6" name="Straight Connector 5"/>
          <p:cNvCxnSpPr/>
          <p:nvPr userDrawn="1"/>
        </p:nvCxnSpPr>
        <p:spPr>
          <a:xfrm>
            <a:off x="457200" y="1085850"/>
            <a:ext cx="8305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9047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https://www.java.com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56905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p:nvPr userDrawn="1"/>
        </p:nvSpPr>
        <p:spPr>
          <a:xfrm>
            <a:off x="11" y="4902399"/>
            <a:ext cx="9143989" cy="241102"/>
          </a:xfrm>
          <a:prstGeom prst="rect">
            <a:avLst/>
          </a:prstGeom>
          <a:solidFill>
            <a:srgbClr val="598CB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algn="ctr" defTabSz="366737" rtl="0"/>
            <a:endParaRPr lang="en-US" dirty="0"/>
          </a:p>
        </p:txBody>
      </p:sp>
      <p:sp>
        <p:nvSpPr>
          <p:cNvPr id="9" name="Rectangle 8"/>
          <p:cNvSpPr/>
          <p:nvPr userDrawn="1"/>
        </p:nvSpPr>
        <p:spPr>
          <a:xfrm>
            <a:off x="21" y="4867339"/>
            <a:ext cx="9143978" cy="35060"/>
          </a:xfrm>
          <a:prstGeom prst="rect">
            <a:avLst/>
          </a:prstGeom>
          <a:solidFill>
            <a:srgbClr val="2F486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Shape 2"/>
          <p:cNvSpPr>
            <a:spLocks noGrp="1"/>
          </p:cNvSpPr>
          <p:nvPr>
            <p:ph type="title"/>
          </p:nvPr>
        </p:nvSpPr>
        <p:spPr>
          <a:xfrm>
            <a:off x="395536" y="0"/>
            <a:ext cx="7772401" cy="761815"/>
          </a:xfrm>
          <a:prstGeom prst="rect">
            <a:avLst/>
          </a:prstGeom>
          <a:ln w="12700">
            <a:miter lim="400000"/>
          </a:ln>
          <a:extLst>
            <a:ext uri="{C572A759-6A51-4108-AA02-DFA0A04FC94B}">
              <ma14:wrappingTextBoxFlag xmlns:ma14="http://schemas.microsoft.com/office/mac/drawingml/2011/main" xmlns="" val="1"/>
            </a:ext>
          </a:extLst>
        </p:spPr>
        <p:txBody>
          <a:bodyPr lIns="54418" tIns="54418" rIns="54418" bIns="54418" anchor="b"/>
          <a:lstStyle/>
          <a:p>
            <a:pPr lvl="0">
              <a:defRPr sz="1800"/>
            </a:pPr>
            <a:r>
              <a:rPr sz="2775" dirty="0"/>
              <a:t>Title Text</a:t>
            </a:r>
          </a:p>
        </p:txBody>
      </p:sp>
      <p:sp>
        <p:nvSpPr>
          <p:cNvPr id="3" name="Shape 3"/>
          <p:cNvSpPr>
            <a:spLocks noGrp="1"/>
          </p:cNvSpPr>
          <p:nvPr>
            <p:ph type="body" idx="1"/>
          </p:nvPr>
        </p:nvSpPr>
        <p:spPr>
          <a:xfrm>
            <a:off x="395536" y="843558"/>
            <a:ext cx="7772401" cy="4299943"/>
          </a:xfrm>
          <a:prstGeom prst="rect">
            <a:avLst/>
          </a:prstGeom>
          <a:ln w="12700">
            <a:miter lim="400000"/>
          </a:ln>
          <a:extLst>
            <a:ext uri="{C572A759-6A51-4108-AA02-DFA0A04FC94B}">
              <ma14:wrappingTextBoxFlag xmlns:ma14="http://schemas.microsoft.com/office/mac/drawingml/2011/main" xmlns="" val="1"/>
            </a:ext>
          </a:extLst>
        </p:spPr>
        <p:txBody>
          <a:bodyPr lIns="54418" tIns="54418" rIns="54418" bIns="54418"/>
          <a:lstStyle/>
          <a:p>
            <a:pPr lvl="0">
              <a:defRPr sz="1800"/>
            </a:pPr>
            <a:r>
              <a:rPr sz="2400" dirty="0"/>
              <a:t>Body Level One</a:t>
            </a:r>
          </a:p>
          <a:p>
            <a:pPr lvl="1">
              <a:defRPr sz="1800"/>
            </a:pPr>
            <a:r>
              <a:rPr sz="2400" dirty="0"/>
              <a:t>Body Level Two</a:t>
            </a:r>
          </a:p>
          <a:p>
            <a:pPr lvl="2">
              <a:defRPr sz="1800"/>
            </a:pPr>
            <a:r>
              <a:rPr sz="2400" dirty="0"/>
              <a:t>Body Level Three</a:t>
            </a:r>
          </a:p>
          <a:p>
            <a:pPr lvl="3">
              <a:defRPr sz="1800"/>
            </a:pPr>
            <a:r>
              <a:rPr sz="2400" dirty="0"/>
              <a:t>Body Level Four</a:t>
            </a:r>
          </a:p>
          <a:p>
            <a:pPr lvl="4">
              <a:defRPr sz="1800"/>
            </a:pPr>
            <a:r>
              <a:rPr sz="2400" dirty="0"/>
              <a:t>Body Level Five</a:t>
            </a:r>
          </a:p>
        </p:txBody>
      </p:sp>
      <p:sp>
        <p:nvSpPr>
          <p:cNvPr id="4" name="Shape 4"/>
          <p:cNvSpPr>
            <a:spLocks noGrp="1"/>
          </p:cNvSpPr>
          <p:nvPr>
            <p:ph type="sldNum" sz="quarter" idx="2"/>
          </p:nvPr>
        </p:nvSpPr>
        <p:spPr>
          <a:xfrm>
            <a:off x="6553201" y="4847061"/>
            <a:ext cx="1905000" cy="283023"/>
          </a:xfrm>
          <a:prstGeom prst="rect">
            <a:avLst/>
          </a:prstGeom>
          <a:ln w="12700">
            <a:miter lim="400000"/>
          </a:ln>
        </p:spPr>
        <p:txBody>
          <a:bodyPr lIns="54418" tIns="54418" rIns="54418" bIns="54418" anchor="b">
            <a:spAutoFit/>
          </a:bodyPr>
          <a:lstStyle>
            <a:lvl1pPr algn="r" defTabSz="573946">
              <a:defRPr sz="1125">
                <a:solidFill>
                  <a:srgbClr val="FFFFFF"/>
                </a:solidFill>
                <a:latin typeface="+mn-lt"/>
                <a:ea typeface="Tahoma"/>
                <a:cs typeface="Tahoma"/>
                <a:sym typeface="Tahoma"/>
              </a:defRPr>
            </a:lvl1pPr>
          </a:lstStyle>
          <a:p>
            <a:fld id="{86CB4B4D-7CA3-9044-876B-883B54F8677D}" type="slidenum">
              <a:rPr lang="en-US" smtClean="0"/>
              <a:pPr/>
              <a:t>‹#›</a:t>
            </a:fld>
            <a:endParaRPr lang="en-US" dirty="0"/>
          </a:p>
        </p:txBody>
      </p:sp>
      <p:sp>
        <p:nvSpPr>
          <p:cNvPr id="5" name="Shape 5"/>
          <p:cNvSpPr/>
          <p:nvPr/>
        </p:nvSpPr>
        <p:spPr>
          <a:xfrm>
            <a:off x="467545" y="789552"/>
            <a:ext cx="7128792" cy="1"/>
          </a:xfrm>
          <a:prstGeom prst="line">
            <a:avLst/>
          </a:prstGeom>
          <a:ln w="12700">
            <a:solidFill>
              <a:srgbClr val="94BBE7"/>
            </a:solidFill>
          </a:ln>
          <a:effectLst>
            <a:outerShdw blurRad="101600" dist="12700" dir="2700000" rotWithShape="0">
              <a:srgbClr val="003D62">
                <a:alpha val="20000"/>
              </a:srgbClr>
            </a:outerShdw>
          </a:effectLst>
        </p:spPr>
        <p:txBody>
          <a:bodyPr lIns="40814" tIns="40814" rIns="40814" bIns="40814"/>
          <a:lstStyle/>
          <a:p>
            <a:pPr lvl="0" algn="l" defTabSz="286973">
              <a:defRPr sz="1600">
                <a:latin typeface="Helvetica"/>
                <a:ea typeface="Helvetica"/>
                <a:cs typeface="Helvetica"/>
                <a:sym typeface="Helvetica"/>
              </a:defRPr>
            </a:pPr>
            <a:endParaRPr sz="1200" dirty="0"/>
          </a:p>
        </p:txBody>
      </p:sp>
      <p:sp>
        <p:nvSpPr>
          <p:cNvPr id="10" name="Rectangle 66"/>
          <p:cNvSpPr>
            <a:spLocks noGrp="1" noChangeArrowheads="1"/>
          </p:cNvSpPr>
          <p:nvPr>
            <p:ph type="ftr" sz="quarter" idx="3"/>
          </p:nvPr>
        </p:nvSpPr>
        <p:spPr bwMode="auto">
          <a:xfrm>
            <a:off x="3214688" y="4888982"/>
            <a:ext cx="2430270" cy="241102"/>
          </a:xfrm>
          <a:prstGeom prst="rect">
            <a:avLst/>
          </a:prstGeom>
          <a:noFill/>
          <a:ln w="9525">
            <a:noFill/>
            <a:miter lim="800000"/>
            <a:headEnd/>
            <a:tailEnd/>
          </a:ln>
          <a:effectLst/>
        </p:spPr>
        <p:txBody>
          <a:bodyPr vert="horz" wrap="square" lIns="76526" tIns="38263" rIns="76526" bIns="38263" numCol="1" anchor="b" anchorCtr="0" compatLnSpc="1">
            <a:prstTxWarp prst="textNoShape">
              <a:avLst/>
            </a:prstTxWarp>
          </a:bodyPr>
          <a:lstStyle>
            <a:lvl1pPr algn="ctr">
              <a:defRPr sz="1125" b="0" i="0">
                <a:solidFill>
                  <a:schemeClr val="bg1"/>
                </a:solidFill>
                <a:latin typeface="Helvetica Neue Light"/>
                <a:cs typeface="Helvetica Neue Light"/>
              </a:defRPr>
            </a:lvl1pPr>
          </a:lstStyle>
          <a:p>
            <a:r>
              <a:rPr lang="en-IE"/>
              <a:t>https://www.java.com</a:t>
            </a:r>
            <a:endParaRPr lang="en-IE" dirty="0"/>
          </a:p>
        </p:txBody>
      </p:sp>
      <p:pic>
        <p:nvPicPr>
          <p:cNvPr id="12" name="Picture 11">
            <a:extLst>
              <a:ext uri="{FF2B5EF4-FFF2-40B4-BE49-F238E27FC236}">
                <a16:creationId xmlns:a16="http://schemas.microsoft.com/office/drawing/2014/main" id="{243B9B00-B977-E94D-8CAA-76ABE98D04EE}"/>
              </a:ext>
            </a:extLst>
          </p:cNvPr>
          <p:cNvPicPr>
            <a:picLocks noChangeAspect="1"/>
          </p:cNvPicPr>
          <p:nvPr userDrawn="1"/>
        </p:nvPicPr>
        <p:blipFill>
          <a:blip r:embed="rId8">
            <a:extLst>
              <a:ext uri="{28A0092B-C50C-407E-A947-70E740481C1C}">
                <a14:useLocalDpi xmlns:a14="http://schemas.microsoft.com/office/drawing/2010/main" val="0"/>
              </a:ext>
            </a:extLst>
          </a:blip>
          <a:srcRect/>
          <a:stretch/>
        </p:blipFill>
        <p:spPr>
          <a:xfrm>
            <a:off x="8347621" y="5935"/>
            <a:ext cx="741809" cy="686723"/>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663" r:id="rId2"/>
    <p:sldLayoutId id="2147483668" r:id="rId3"/>
    <p:sldLayoutId id="2147483669" r:id="rId4"/>
    <p:sldLayoutId id="2147483670" r:id="rId5"/>
    <p:sldLayoutId id="2147483671" r:id="rId6"/>
  </p:sldLayoutIdLst>
  <p:transition spd="med"/>
  <p:hf hdr="0" dt="0"/>
  <p:txStyles>
    <p:titleStyle>
      <a:lvl1pPr>
        <a:defRPr sz="2800">
          <a:latin typeface="Helvetica Neue Light"/>
          <a:ea typeface="Helvetica Neue Light"/>
          <a:cs typeface="Helvetica Neue Light"/>
          <a:sym typeface="Helvetica Neue Light"/>
        </a:defRPr>
      </a:lvl1pPr>
      <a:lvl2pPr>
        <a:defRPr sz="2775">
          <a:latin typeface="Helvetica Neue Light"/>
          <a:ea typeface="Helvetica Neue Light"/>
          <a:cs typeface="Helvetica Neue Light"/>
          <a:sym typeface="Helvetica Neue Light"/>
        </a:defRPr>
      </a:lvl2pPr>
      <a:lvl3pPr>
        <a:defRPr sz="2775">
          <a:latin typeface="Helvetica Neue Light"/>
          <a:ea typeface="Helvetica Neue Light"/>
          <a:cs typeface="Helvetica Neue Light"/>
          <a:sym typeface="Helvetica Neue Light"/>
        </a:defRPr>
      </a:lvl3pPr>
      <a:lvl4pPr>
        <a:defRPr sz="2775">
          <a:latin typeface="Helvetica Neue Light"/>
          <a:ea typeface="Helvetica Neue Light"/>
          <a:cs typeface="Helvetica Neue Light"/>
          <a:sym typeface="Helvetica Neue Light"/>
        </a:defRPr>
      </a:lvl4pPr>
      <a:lvl5pPr>
        <a:defRPr sz="2775">
          <a:latin typeface="Helvetica Neue Light"/>
          <a:ea typeface="Helvetica Neue Light"/>
          <a:cs typeface="Helvetica Neue Light"/>
          <a:sym typeface="Helvetica Neue Light"/>
        </a:defRPr>
      </a:lvl5pPr>
      <a:lvl6pPr indent="286973">
        <a:defRPr sz="2775">
          <a:latin typeface="Helvetica Neue Light"/>
          <a:ea typeface="Helvetica Neue Light"/>
          <a:cs typeface="Helvetica Neue Light"/>
          <a:sym typeface="Helvetica Neue Light"/>
        </a:defRPr>
      </a:lvl6pPr>
      <a:lvl7pPr indent="573946">
        <a:defRPr sz="2775">
          <a:latin typeface="Helvetica Neue Light"/>
          <a:ea typeface="Helvetica Neue Light"/>
          <a:cs typeface="Helvetica Neue Light"/>
          <a:sym typeface="Helvetica Neue Light"/>
        </a:defRPr>
      </a:lvl7pPr>
      <a:lvl8pPr indent="860919">
        <a:defRPr sz="2775">
          <a:latin typeface="Helvetica Neue Light"/>
          <a:ea typeface="Helvetica Neue Light"/>
          <a:cs typeface="Helvetica Neue Light"/>
          <a:sym typeface="Helvetica Neue Light"/>
        </a:defRPr>
      </a:lvl8pPr>
      <a:lvl9pPr indent="1147892">
        <a:defRPr sz="2775">
          <a:latin typeface="Helvetica Neue Light"/>
          <a:ea typeface="Helvetica Neue Light"/>
          <a:cs typeface="Helvetica Neue Light"/>
          <a:sym typeface="Helvetica Neue Light"/>
        </a:defRPr>
      </a:lvl9pPr>
    </p:titleStyle>
    <p:bodyStyle>
      <a:lvl1pPr marL="292097" indent="-292097">
        <a:spcBef>
          <a:spcPts val="377"/>
        </a:spcBef>
        <a:buClr>
          <a:srgbClr val="008000"/>
        </a:buClr>
        <a:buSzPct val="100000"/>
        <a:buFont typeface="Wingdings"/>
        <a:buChar char="❑"/>
        <a:defRPr sz="2400">
          <a:latin typeface="Helvetica Neue Light"/>
          <a:ea typeface="Helvetica Neue Light"/>
          <a:cs typeface="Helvetica Neue Light"/>
          <a:sym typeface="Helvetica Neue Light"/>
        </a:defRPr>
      </a:lvl1pPr>
      <a:lvl2pPr marL="570956" indent="-283984">
        <a:spcBef>
          <a:spcPts val="377"/>
        </a:spcBef>
        <a:buClr>
          <a:srgbClr val="008000"/>
        </a:buClr>
        <a:buSzPct val="60000"/>
        <a:buFont typeface="Wingdings"/>
        <a:buChar char="■"/>
        <a:defRPr sz="2400">
          <a:latin typeface="Helvetica Neue Light"/>
          <a:ea typeface="Helvetica Neue Light"/>
          <a:cs typeface="Helvetica Neue Light"/>
          <a:sym typeface="Helvetica Neue Light"/>
        </a:defRPr>
      </a:lvl2pPr>
      <a:lvl3pPr marL="846570" indent="-272624">
        <a:spcBef>
          <a:spcPts val="377"/>
        </a:spcBef>
        <a:buClr>
          <a:srgbClr val="008000"/>
        </a:buClr>
        <a:buSzPct val="95000"/>
        <a:buFont typeface="Wingdings"/>
        <a:buChar char="⬥"/>
        <a:defRPr sz="2400">
          <a:latin typeface="Helvetica Neue Light"/>
          <a:ea typeface="Helvetica Neue Light"/>
          <a:cs typeface="Helvetica Neue Light"/>
          <a:sym typeface="Helvetica Neue Light"/>
        </a:defRPr>
      </a:lvl3pPr>
      <a:lvl4pPr marL="1163835" indent="-302916">
        <a:spcBef>
          <a:spcPts val="377"/>
        </a:spcBef>
        <a:buClr>
          <a:srgbClr val="008000"/>
        </a:buClr>
        <a:buSzPct val="65000"/>
        <a:buFont typeface="Wingdings"/>
        <a:buChar char="■"/>
        <a:defRPr sz="2400">
          <a:latin typeface="Helvetica Neue Light"/>
          <a:ea typeface="Helvetica Neue Light"/>
          <a:cs typeface="Helvetica Neue Light"/>
          <a:sym typeface="Helvetica Neue Light"/>
        </a:defRPr>
      </a:lvl4pPr>
      <a:lvl5pPr marL="1450808" indent="-302916">
        <a:spcBef>
          <a:spcPts val="377"/>
        </a:spcBef>
        <a:buClr>
          <a:srgbClr val="008000"/>
        </a:buClr>
        <a:buSzPct val="60000"/>
        <a:buFont typeface="Wingdings"/>
        <a:buChar char="■"/>
        <a:defRPr sz="2400">
          <a:latin typeface="Helvetica Neue Light"/>
          <a:ea typeface="Helvetica Neue Light"/>
          <a:cs typeface="Helvetica Neue Light"/>
          <a:sym typeface="Helvetica Neue Light"/>
        </a:defRPr>
      </a:lvl5pPr>
      <a:lvl6pPr marL="1737781" indent="-302916">
        <a:spcBef>
          <a:spcPts val="377"/>
        </a:spcBef>
        <a:buClr>
          <a:srgbClr val="006699"/>
        </a:buClr>
        <a:buSzPct val="60000"/>
        <a:buFont typeface="Wingdings"/>
        <a:buChar char="■"/>
        <a:defRPr sz="2400">
          <a:latin typeface="Helvetica Neue Light"/>
          <a:ea typeface="Helvetica Neue Light"/>
          <a:cs typeface="Helvetica Neue Light"/>
          <a:sym typeface="Helvetica Neue Light"/>
        </a:defRPr>
      </a:lvl6pPr>
      <a:lvl7pPr marL="2024754" indent="-302916">
        <a:spcBef>
          <a:spcPts val="377"/>
        </a:spcBef>
        <a:buClr>
          <a:srgbClr val="006699"/>
        </a:buClr>
        <a:buSzPct val="60000"/>
        <a:buFont typeface="Wingdings"/>
        <a:buChar char="■"/>
        <a:defRPr sz="2400">
          <a:latin typeface="Helvetica Neue Light"/>
          <a:ea typeface="Helvetica Neue Light"/>
          <a:cs typeface="Helvetica Neue Light"/>
          <a:sym typeface="Helvetica Neue Light"/>
        </a:defRPr>
      </a:lvl7pPr>
      <a:lvl8pPr marL="2311727" indent="-302916">
        <a:spcBef>
          <a:spcPts val="377"/>
        </a:spcBef>
        <a:buClr>
          <a:srgbClr val="006699"/>
        </a:buClr>
        <a:buSzPct val="60000"/>
        <a:buFont typeface="Wingdings"/>
        <a:buChar char="■"/>
        <a:defRPr sz="2400">
          <a:latin typeface="Helvetica Neue Light"/>
          <a:ea typeface="Helvetica Neue Light"/>
          <a:cs typeface="Helvetica Neue Light"/>
          <a:sym typeface="Helvetica Neue Light"/>
        </a:defRPr>
      </a:lvl8pPr>
      <a:lvl9pPr marL="2598700" indent="-302916">
        <a:spcBef>
          <a:spcPts val="377"/>
        </a:spcBef>
        <a:buClr>
          <a:srgbClr val="006699"/>
        </a:buClr>
        <a:buSzPct val="60000"/>
        <a:buFont typeface="Wingdings"/>
        <a:buChar char="■"/>
        <a:defRPr sz="2400">
          <a:latin typeface="Helvetica Neue Light"/>
          <a:ea typeface="Helvetica Neue Light"/>
          <a:cs typeface="Helvetica Neue Light"/>
          <a:sym typeface="Helvetica Neue Light"/>
        </a:defRPr>
      </a:lvl9pPr>
    </p:bodyStyle>
    <p:otherStyle>
      <a:lvl1pPr algn="r">
        <a:defRPr>
          <a:solidFill>
            <a:schemeClr val="tx1"/>
          </a:solidFill>
          <a:latin typeface="+mn-lt"/>
          <a:ea typeface="+mn-ea"/>
          <a:cs typeface="+mn-cs"/>
          <a:sym typeface="Tahoma"/>
        </a:defRPr>
      </a:lvl1pPr>
      <a:lvl2pPr indent="286973" algn="r">
        <a:defRPr>
          <a:solidFill>
            <a:schemeClr val="tx1"/>
          </a:solidFill>
          <a:latin typeface="+mn-lt"/>
          <a:ea typeface="+mn-ea"/>
          <a:cs typeface="+mn-cs"/>
          <a:sym typeface="Tahoma"/>
        </a:defRPr>
      </a:lvl2pPr>
      <a:lvl3pPr indent="573946" algn="r">
        <a:defRPr>
          <a:solidFill>
            <a:schemeClr val="tx1"/>
          </a:solidFill>
          <a:latin typeface="+mn-lt"/>
          <a:ea typeface="+mn-ea"/>
          <a:cs typeface="+mn-cs"/>
          <a:sym typeface="Tahoma"/>
        </a:defRPr>
      </a:lvl3pPr>
      <a:lvl4pPr indent="860919" algn="r">
        <a:defRPr>
          <a:solidFill>
            <a:schemeClr val="tx1"/>
          </a:solidFill>
          <a:latin typeface="+mn-lt"/>
          <a:ea typeface="+mn-ea"/>
          <a:cs typeface="+mn-cs"/>
          <a:sym typeface="Tahoma"/>
        </a:defRPr>
      </a:lvl4pPr>
      <a:lvl5pPr indent="1147892" algn="r">
        <a:defRPr>
          <a:solidFill>
            <a:schemeClr val="tx1"/>
          </a:solidFill>
          <a:latin typeface="+mn-lt"/>
          <a:ea typeface="+mn-ea"/>
          <a:cs typeface="+mn-cs"/>
          <a:sym typeface="Tahoma"/>
        </a:defRPr>
      </a:lvl5pPr>
      <a:lvl6pPr indent="1434865" algn="r">
        <a:defRPr>
          <a:solidFill>
            <a:schemeClr val="tx1"/>
          </a:solidFill>
          <a:latin typeface="+mn-lt"/>
          <a:ea typeface="+mn-ea"/>
          <a:cs typeface="+mn-cs"/>
          <a:sym typeface="Tahoma"/>
        </a:defRPr>
      </a:lvl6pPr>
      <a:lvl7pPr indent="1721838" algn="r">
        <a:defRPr>
          <a:solidFill>
            <a:schemeClr val="tx1"/>
          </a:solidFill>
          <a:latin typeface="+mn-lt"/>
          <a:ea typeface="+mn-ea"/>
          <a:cs typeface="+mn-cs"/>
          <a:sym typeface="Tahoma"/>
        </a:defRPr>
      </a:lvl7pPr>
      <a:lvl8pPr indent="2008811" algn="r">
        <a:defRPr>
          <a:solidFill>
            <a:schemeClr val="tx1"/>
          </a:solidFill>
          <a:latin typeface="+mn-lt"/>
          <a:ea typeface="+mn-ea"/>
          <a:cs typeface="+mn-cs"/>
          <a:sym typeface="Tahoma"/>
        </a:defRPr>
      </a:lvl8pPr>
      <a:lvl9pPr indent="2295784" algn="r">
        <a:defRPr>
          <a:solidFill>
            <a:schemeClr val="tx1"/>
          </a:solidFill>
          <a:latin typeface="+mn-lt"/>
          <a:ea typeface="+mn-ea"/>
          <a:cs typeface="+mn-cs"/>
          <a:sym typeface="Tahoma"/>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www.tutorialspoint.com/java/java_encapsulation.htm" TargetMode="Externa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6A5DAE-8FD5-49CE-E28B-6EDA2BB14EF3}"/>
              </a:ext>
            </a:extLst>
          </p:cNvPr>
          <p:cNvSpPr>
            <a:spLocks noGrp="1"/>
          </p:cNvSpPr>
          <p:nvPr>
            <p:ph type="title"/>
          </p:nvPr>
        </p:nvSpPr>
        <p:spPr>
          <a:xfrm>
            <a:off x="1071747" y="1010648"/>
            <a:ext cx="7893844" cy="1077818"/>
          </a:xfrm>
        </p:spPr>
        <p:txBody>
          <a:bodyPr/>
          <a:lstStyle/>
          <a:p>
            <a:pPr algn="r" defTabSz="366688" rtl="0"/>
            <a:r>
              <a:rPr lang="en-US" sz="3200" dirty="0"/>
              <a:t>Programming Fundamentals 1</a:t>
            </a:r>
            <a:endParaRPr lang="en-US" dirty="0">
              <a:solidFill>
                <a:schemeClr val="bg1"/>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E5F8875-BE14-6F78-797D-7623587C6E38}"/>
              </a:ext>
            </a:extLst>
          </p:cNvPr>
          <p:cNvCxnSpPr/>
          <p:nvPr/>
        </p:nvCxnSpPr>
        <p:spPr>
          <a:xfrm>
            <a:off x="192024" y="2240280"/>
            <a:ext cx="8705088" cy="0"/>
          </a:xfrm>
          <a:prstGeom prst="line">
            <a:avLst/>
          </a:prstGeom>
          <a:noFill/>
          <a:ln w="15875" cap="flat">
            <a:solidFill>
              <a:srgbClr val="84AEFF"/>
            </a:solidFill>
            <a:prstDash val="solid"/>
            <a:miter lim="400000"/>
          </a:ln>
          <a:effectLst/>
        </p:spPr>
        <p:style>
          <a:lnRef idx="0">
            <a:scrgbClr r="0" g="0" b="0"/>
          </a:lnRef>
          <a:fillRef idx="0">
            <a:scrgbClr r="0" g="0" b="0"/>
          </a:fillRef>
          <a:effectRef idx="0">
            <a:scrgbClr r="0" g="0" b="0"/>
          </a:effectRef>
          <a:fontRef idx="none"/>
        </p:style>
      </p:cxnSp>
      <p:sp>
        <p:nvSpPr>
          <p:cNvPr id="6" name="Title 2">
            <a:extLst>
              <a:ext uri="{FF2B5EF4-FFF2-40B4-BE49-F238E27FC236}">
                <a16:creationId xmlns:a16="http://schemas.microsoft.com/office/drawing/2014/main" id="{F3D22CC2-63B9-5CB6-174A-205E5A7B9B8B}"/>
              </a:ext>
            </a:extLst>
          </p:cNvPr>
          <p:cNvSpPr txBox="1">
            <a:spLocks/>
          </p:cNvSpPr>
          <p:nvPr/>
        </p:nvSpPr>
        <p:spPr>
          <a:xfrm>
            <a:off x="192024" y="1269402"/>
            <a:ext cx="7772401" cy="1063029"/>
          </a:xfrm>
          <a:prstGeom prst="rect">
            <a:avLst/>
          </a:prstGeom>
        </p:spPr>
        <p:txBody>
          <a:bodyPr>
            <a:normAutofit/>
          </a:bodyPr>
          <a:lstStyle>
            <a:lvl1pPr>
              <a:defRPr sz="2775">
                <a:latin typeface="Helvetica Neue Light"/>
                <a:ea typeface="Helvetica Neue Light"/>
                <a:cs typeface="Helvetica Neue Light"/>
                <a:sym typeface="Helvetica Neue Light"/>
              </a:defRPr>
            </a:lvl1pPr>
            <a:lvl2pPr>
              <a:defRPr sz="2775">
                <a:latin typeface="Helvetica Neue Light"/>
                <a:ea typeface="Helvetica Neue Light"/>
                <a:cs typeface="Helvetica Neue Light"/>
                <a:sym typeface="Helvetica Neue Light"/>
              </a:defRPr>
            </a:lvl2pPr>
            <a:lvl3pPr>
              <a:defRPr sz="2775">
                <a:latin typeface="Helvetica Neue Light"/>
                <a:ea typeface="Helvetica Neue Light"/>
                <a:cs typeface="Helvetica Neue Light"/>
                <a:sym typeface="Helvetica Neue Light"/>
              </a:defRPr>
            </a:lvl3pPr>
            <a:lvl4pPr>
              <a:defRPr sz="2775">
                <a:latin typeface="Helvetica Neue Light"/>
                <a:ea typeface="Helvetica Neue Light"/>
                <a:cs typeface="Helvetica Neue Light"/>
                <a:sym typeface="Helvetica Neue Light"/>
              </a:defRPr>
            </a:lvl4pPr>
            <a:lvl5pPr>
              <a:defRPr sz="2775">
                <a:latin typeface="Helvetica Neue Light"/>
                <a:ea typeface="Helvetica Neue Light"/>
                <a:cs typeface="Helvetica Neue Light"/>
                <a:sym typeface="Helvetica Neue Light"/>
              </a:defRPr>
            </a:lvl5pPr>
            <a:lvl6pPr indent="286973">
              <a:defRPr sz="2775">
                <a:latin typeface="Helvetica Neue Light"/>
                <a:ea typeface="Helvetica Neue Light"/>
                <a:cs typeface="Helvetica Neue Light"/>
                <a:sym typeface="Helvetica Neue Light"/>
              </a:defRPr>
            </a:lvl6pPr>
            <a:lvl7pPr indent="573946">
              <a:defRPr sz="2775">
                <a:latin typeface="Helvetica Neue Light"/>
                <a:ea typeface="Helvetica Neue Light"/>
                <a:cs typeface="Helvetica Neue Light"/>
                <a:sym typeface="Helvetica Neue Light"/>
              </a:defRPr>
            </a:lvl7pPr>
            <a:lvl8pPr indent="860919">
              <a:defRPr sz="2775">
                <a:latin typeface="Helvetica Neue Light"/>
                <a:ea typeface="Helvetica Neue Light"/>
                <a:cs typeface="Helvetica Neue Light"/>
                <a:sym typeface="Helvetica Neue Light"/>
              </a:defRPr>
            </a:lvl8pPr>
            <a:lvl9pPr indent="1147892">
              <a:defRPr sz="2775">
                <a:latin typeface="Helvetica Neue Light"/>
                <a:ea typeface="Helvetica Neue Light"/>
                <a:cs typeface="Helvetica Neue Light"/>
                <a:sym typeface="Helvetica Neue Light"/>
              </a:defRPr>
            </a:lvl9pPr>
          </a:lstStyle>
          <a:p>
            <a:pPr algn="l" defTabSz="914400"/>
            <a:endParaRPr lang="en-IE" sz="2800" dirty="0">
              <a:solidFill>
                <a:schemeClr val="tx1"/>
              </a:solidFill>
            </a:endParaRPr>
          </a:p>
          <a:p>
            <a:pPr algn="l" defTabSz="914400"/>
            <a:r>
              <a:rPr lang="en-IE" sz="2800" dirty="0">
                <a:solidFill>
                  <a:schemeClr val="tx1"/>
                </a:solidFill>
              </a:rPr>
              <a:t>IntelliJ and Spot</a:t>
            </a:r>
            <a:endParaRPr lang="en-US" sz="2800" dirty="0">
              <a:solidFill>
                <a:schemeClr val="tx1"/>
              </a:solidFill>
            </a:endParaRPr>
          </a:p>
        </p:txBody>
      </p:sp>
      <p:pic>
        <p:nvPicPr>
          <p:cNvPr id="8" name="Picture 7">
            <a:extLst>
              <a:ext uri="{FF2B5EF4-FFF2-40B4-BE49-F238E27FC236}">
                <a16:creationId xmlns:a16="http://schemas.microsoft.com/office/drawing/2014/main" id="{CE8C56AC-B899-2568-9517-5FD54D9A74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50544" y="239884"/>
            <a:ext cx="2804306" cy="4462408"/>
          </a:xfrm>
          <a:prstGeom prst="rect">
            <a:avLst/>
          </a:prstGeom>
        </p:spPr>
      </p:pic>
      <p:sp>
        <p:nvSpPr>
          <p:cNvPr id="9" name="Title 2">
            <a:extLst>
              <a:ext uri="{FF2B5EF4-FFF2-40B4-BE49-F238E27FC236}">
                <a16:creationId xmlns:a16="http://schemas.microsoft.com/office/drawing/2014/main" id="{92B49638-F999-2A91-FA44-4A9EC7335E24}"/>
              </a:ext>
            </a:extLst>
          </p:cNvPr>
          <p:cNvSpPr txBox="1">
            <a:spLocks/>
          </p:cNvSpPr>
          <p:nvPr/>
        </p:nvSpPr>
        <p:spPr>
          <a:xfrm>
            <a:off x="192024" y="2262468"/>
            <a:ext cx="7772401" cy="1611627"/>
          </a:xfrm>
          <a:prstGeom prst="rect">
            <a:avLst/>
          </a:prstGeom>
        </p:spPr>
        <p:txBody>
          <a:bodyPr>
            <a:normAutofit/>
          </a:bodyPr>
          <a:lstStyle>
            <a:lvl1pPr>
              <a:defRPr sz="2775">
                <a:latin typeface="Helvetica Neue Light"/>
                <a:ea typeface="Helvetica Neue Light"/>
                <a:cs typeface="Helvetica Neue Light"/>
                <a:sym typeface="Helvetica Neue Light"/>
              </a:defRPr>
            </a:lvl1pPr>
            <a:lvl2pPr>
              <a:defRPr sz="2775">
                <a:latin typeface="Helvetica Neue Light"/>
                <a:ea typeface="Helvetica Neue Light"/>
                <a:cs typeface="Helvetica Neue Light"/>
                <a:sym typeface="Helvetica Neue Light"/>
              </a:defRPr>
            </a:lvl2pPr>
            <a:lvl3pPr>
              <a:defRPr sz="2775">
                <a:latin typeface="Helvetica Neue Light"/>
                <a:ea typeface="Helvetica Neue Light"/>
                <a:cs typeface="Helvetica Neue Light"/>
                <a:sym typeface="Helvetica Neue Light"/>
              </a:defRPr>
            </a:lvl3pPr>
            <a:lvl4pPr>
              <a:defRPr sz="2775">
                <a:latin typeface="Helvetica Neue Light"/>
                <a:ea typeface="Helvetica Neue Light"/>
                <a:cs typeface="Helvetica Neue Light"/>
                <a:sym typeface="Helvetica Neue Light"/>
              </a:defRPr>
            </a:lvl4pPr>
            <a:lvl5pPr>
              <a:defRPr sz="2775">
                <a:latin typeface="Helvetica Neue Light"/>
                <a:ea typeface="Helvetica Neue Light"/>
                <a:cs typeface="Helvetica Neue Light"/>
                <a:sym typeface="Helvetica Neue Light"/>
              </a:defRPr>
            </a:lvl5pPr>
            <a:lvl6pPr indent="286973">
              <a:defRPr sz="2775">
                <a:latin typeface="Helvetica Neue Light"/>
                <a:ea typeface="Helvetica Neue Light"/>
                <a:cs typeface="Helvetica Neue Light"/>
                <a:sym typeface="Helvetica Neue Light"/>
              </a:defRPr>
            </a:lvl6pPr>
            <a:lvl7pPr indent="573946">
              <a:defRPr sz="2775">
                <a:latin typeface="Helvetica Neue Light"/>
                <a:ea typeface="Helvetica Neue Light"/>
                <a:cs typeface="Helvetica Neue Light"/>
                <a:sym typeface="Helvetica Neue Light"/>
              </a:defRPr>
            </a:lvl7pPr>
            <a:lvl8pPr indent="860919">
              <a:defRPr sz="2775">
                <a:latin typeface="Helvetica Neue Light"/>
                <a:ea typeface="Helvetica Neue Light"/>
                <a:cs typeface="Helvetica Neue Light"/>
                <a:sym typeface="Helvetica Neue Light"/>
              </a:defRPr>
            </a:lvl8pPr>
            <a:lvl9pPr indent="1147892">
              <a:defRPr sz="2775">
                <a:latin typeface="Helvetica Neue Light"/>
                <a:ea typeface="Helvetica Neue Light"/>
                <a:cs typeface="Helvetica Neue Light"/>
                <a:sym typeface="Helvetica Neue Light"/>
              </a:defRPr>
            </a:lvl9pPr>
          </a:lstStyle>
          <a:p>
            <a:pPr algn="l" defTabSz="914400"/>
            <a:r>
              <a:rPr lang="en-IE" sz="2400" dirty="0">
                <a:solidFill>
                  <a:schemeClr val="bg1">
                    <a:lumMod val="75000"/>
                  </a:schemeClr>
                </a:solidFill>
              </a:rPr>
              <a:t>Encapsulation and Spot</a:t>
            </a:r>
          </a:p>
        </p:txBody>
      </p:sp>
      <p:sp>
        <p:nvSpPr>
          <p:cNvPr id="2" name="Footer Placeholder 1">
            <a:extLst>
              <a:ext uri="{FF2B5EF4-FFF2-40B4-BE49-F238E27FC236}">
                <a16:creationId xmlns:a16="http://schemas.microsoft.com/office/drawing/2014/main" id="{5794E400-A0C7-BE1B-44A0-8F17F3B22B48}"/>
              </a:ext>
            </a:extLst>
          </p:cNvPr>
          <p:cNvSpPr>
            <a:spLocks noGrp="1"/>
          </p:cNvSpPr>
          <p:nvPr>
            <p:ph type="ftr" sz="quarter" idx="11"/>
          </p:nvPr>
        </p:nvSpPr>
        <p:spPr/>
        <p:txBody>
          <a:bodyPr/>
          <a:lstStyle/>
          <a:p>
            <a:r>
              <a:rPr lang="en-IE"/>
              <a:t>https://www.java.com</a:t>
            </a:r>
            <a:endParaRPr lang="en-IE" dirty="0"/>
          </a:p>
        </p:txBody>
      </p:sp>
      <p:sp>
        <p:nvSpPr>
          <p:cNvPr id="3" name="Slide Number Placeholder 2">
            <a:extLst>
              <a:ext uri="{FF2B5EF4-FFF2-40B4-BE49-F238E27FC236}">
                <a16:creationId xmlns:a16="http://schemas.microsoft.com/office/drawing/2014/main" id="{0EBDE2ED-9613-EC3D-7D95-0004F92FA440}"/>
              </a:ext>
            </a:extLst>
          </p:cNvPr>
          <p:cNvSpPr>
            <a:spLocks noGrp="1"/>
          </p:cNvSpPr>
          <p:nvPr>
            <p:ph type="sldNum" sz="quarter" idx="10"/>
          </p:nvPr>
        </p:nvSpPr>
        <p:spPr>
          <a:xfrm>
            <a:off x="6553201" y="4884769"/>
            <a:ext cx="1905000" cy="283023"/>
          </a:xfrm>
        </p:spPr>
        <p:txBody>
          <a:bodyPr/>
          <a:lstStyle/>
          <a:p>
            <a:fld id="{86CB4B4D-7CA3-9044-876B-883B54F8677D}" type="slidenum">
              <a:rPr lang="en-US" smtClean="0"/>
              <a:pPr/>
              <a:t>2</a:t>
            </a:fld>
            <a:endParaRPr lang="en-US" dirty="0"/>
          </a:p>
        </p:txBody>
      </p:sp>
    </p:spTree>
    <p:extLst>
      <p:ext uri="{BB962C8B-B14F-4D97-AF65-F5344CB8AC3E}">
        <p14:creationId xmlns:p14="http://schemas.microsoft.com/office/powerpoint/2010/main" val="261649061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F8B8A-BE9E-4D04-2451-E715F6A97779}"/>
              </a:ext>
            </a:extLst>
          </p:cNvPr>
          <p:cNvSpPr>
            <a:spLocks noGrp="1"/>
          </p:cNvSpPr>
          <p:nvPr>
            <p:ph type="title"/>
          </p:nvPr>
        </p:nvSpPr>
        <p:spPr>
          <a:xfrm>
            <a:off x="395536" y="0"/>
            <a:ext cx="7772401" cy="761815"/>
          </a:xfrm>
        </p:spPr>
        <p:txBody>
          <a:bodyPr/>
          <a:lstStyle/>
          <a:p>
            <a:r>
              <a:rPr lang="en-US" sz="3200" dirty="0"/>
              <a:t>Agenda</a:t>
            </a:r>
          </a:p>
        </p:txBody>
      </p:sp>
      <p:sp>
        <p:nvSpPr>
          <p:cNvPr id="3" name="Text Placeholder 2">
            <a:extLst>
              <a:ext uri="{FF2B5EF4-FFF2-40B4-BE49-F238E27FC236}">
                <a16:creationId xmlns:a16="http://schemas.microsoft.com/office/drawing/2014/main" id="{5B2BD6FB-AF6E-8217-F9F7-1F14B2F623D0}"/>
              </a:ext>
            </a:extLst>
          </p:cNvPr>
          <p:cNvSpPr>
            <a:spLocks noGrp="1"/>
          </p:cNvSpPr>
          <p:nvPr>
            <p:ph type="body" idx="1"/>
          </p:nvPr>
        </p:nvSpPr>
        <p:spPr>
          <a:xfrm>
            <a:off x="395536" y="806982"/>
            <a:ext cx="8382703" cy="3911321"/>
          </a:xfrm>
        </p:spPr>
        <p:txBody>
          <a:bodyPr/>
          <a:lstStyle/>
          <a:p>
            <a:pPr algn="l" rtl="0">
              <a:buClr>
                <a:srgbClr val="194699"/>
              </a:buClr>
            </a:pPr>
            <a:r>
              <a:rPr lang="en-US" sz="3200" dirty="0"/>
              <a:t>What is Encapsulation?</a:t>
            </a:r>
          </a:p>
          <a:p>
            <a:pPr algn="l" rtl="0">
              <a:buClr>
                <a:srgbClr val="194699"/>
              </a:buClr>
            </a:pPr>
            <a:endParaRPr lang="en-US" sz="3200" dirty="0"/>
          </a:p>
          <a:p>
            <a:pPr algn="l" rtl="0">
              <a:buClr>
                <a:srgbClr val="194699"/>
              </a:buClr>
            </a:pPr>
            <a:r>
              <a:rPr lang="en-US" sz="3200" dirty="0"/>
              <a:t>Spot and Encapsulation</a:t>
            </a:r>
          </a:p>
          <a:p>
            <a:pPr algn="l" rtl="0">
              <a:buClr>
                <a:srgbClr val="194699"/>
              </a:buClr>
            </a:pPr>
            <a:endParaRPr lang="en-US" sz="3200" dirty="0"/>
          </a:p>
          <a:p>
            <a:pPr algn="l" rtl="0">
              <a:buClr>
                <a:srgbClr val="194699"/>
              </a:buClr>
            </a:pPr>
            <a:r>
              <a:rPr lang="en-US" sz="3200" dirty="0"/>
              <a:t>Basic Spot Class</a:t>
            </a:r>
          </a:p>
          <a:p>
            <a:pPr algn="l" rtl="0">
              <a:buClr>
                <a:srgbClr val="194699"/>
              </a:buClr>
            </a:pPr>
            <a:endParaRPr lang="en-US" sz="3200" dirty="0"/>
          </a:p>
          <a:p>
            <a:pPr algn="l" rtl="0">
              <a:buClr>
                <a:srgbClr val="194699"/>
              </a:buClr>
            </a:pPr>
            <a:r>
              <a:rPr lang="en-US" sz="3200" dirty="0"/>
              <a:t>The </a:t>
            </a:r>
            <a:r>
              <a:rPr lang="en-US" sz="3200" dirty="0">
                <a:solidFill>
                  <a:srgbClr val="598CBE"/>
                </a:solidFill>
                <a:latin typeface="Monaco" pitchFamily="2" charset="77"/>
              </a:rPr>
              <a:t>this</a:t>
            </a:r>
            <a:r>
              <a:rPr lang="en-US" sz="3200" dirty="0"/>
              <a:t> keyword</a:t>
            </a:r>
          </a:p>
          <a:p>
            <a:pPr marL="0" indent="0" algn="l" rtl="0">
              <a:buClr>
                <a:srgbClr val="194699"/>
              </a:buClr>
              <a:buNone/>
            </a:pPr>
            <a:endParaRPr lang="en-US" sz="3200" dirty="0"/>
          </a:p>
          <a:p>
            <a:pPr algn="l" rtl="0">
              <a:buClr>
                <a:srgbClr val="194699"/>
              </a:buClr>
            </a:pPr>
            <a:endParaRPr lang="en-US" sz="3200" dirty="0"/>
          </a:p>
          <a:p>
            <a:pPr algn="l" rtl="0">
              <a:buClr>
                <a:srgbClr val="194699"/>
              </a:buClr>
            </a:pPr>
            <a:endParaRPr lang="en-US" sz="3600" dirty="0"/>
          </a:p>
          <a:p>
            <a:pPr marL="292097" indent="-292097" algn="l" rtl="0">
              <a:spcBef>
                <a:spcPts val="377"/>
              </a:spcBef>
              <a:buClr>
                <a:srgbClr val="194699"/>
              </a:buClr>
              <a:buSzPct val="100000"/>
              <a:buFont typeface="Wingdings"/>
              <a:buChar char="❑"/>
            </a:pPr>
            <a:endParaRPr lang="en-US" sz="3600" dirty="0"/>
          </a:p>
          <a:p>
            <a:pPr marL="292097" indent="-292097" algn="l" rtl="0">
              <a:spcBef>
                <a:spcPts val="377"/>
              </a:spcBef>
              <a:buClr>
                <a:srgbClr val="194699"/>
              </a:buClr>
              <a:buSzPct val="100000"/>
              <a:buFont typeface="Wingdings"/>
              <a:buChar char="❑"/>
            </a:pPr>
            <a:endParaRPr lang="en-US" sz="3600" dirty="0"/>
          </a:p>
          <a:p>
            <a:pPr marL="292097" indent="-292097" algn="l" rtl="0">
              <a:spcBef>
                <a:spcPts val="377"/>
              </a:spcBef>
              <a:buClr>
                <a:srgbClr val="194699"/>
              </a:buClr>
              <a:buSzPct val="100000"/>
              <a:buFont typeface="Wingdings"/>
              <a:buChar char="❑"/>
            </a:pPr>
            <a:endParaRPr lang="en-US" sz="3600" dirty="0"/>
          </a:p>
          <a:p>
            <a:pPr marL="292097" indent="-292097" algn="l" rtl="0">
              <a:spcBef>
                <a:spcPts val="377"/>
              </a:spcBef>
              <a:buClr>
                <a:srgbClr val="194699"/>
              </a:buClr>
              <a:buSzPct val="100000"/>
              <a:buFont typeface="Wingdings"/>
              <a:buChar char="❑"/>
            </a:pPr>
            <a:endParaRPr lang="en-US" sz="3600" dirty="0"/>
          </a:p>
        </p:txBody>
      </p:sp>
      <p:sp>
        <p:nvSpPr>
          <p:cNvPr id="4" name="Slide Number Placeholder 3">
            <a:extLst>
              <a:ext uri="{FF2B5EF4-FFF2-40B4-BE49-F238E27FC236}">
                <a16:creationId xmlns:a16="http://schemas.microsoft.com/office/drawing/2014/main" id="{3CD2201E-8983-5C5E-8827-2194B58BEE0D}"/>
              </a:ext>
            </a:extLst>
          </p:cNvPr>
          <p:cNvSpPr>
            <a:spLocks noGrp="1"/>
          </p:cNvSpPr>
          <p:nvPr>
            <p:ph type="sldNum" sz="quarter" idx="2"/>
          </p:nvPr>
        </p:nvSpPr>
        <p:spPr/>
        <p:txBody>
          <a:bodyPr/>
          <a:lstStyle/>
          <a:p>
            <a:pPr lvl="0"/>
            <a:fld id="{86CB4B4D-7CA3-9044-876B-883B54F8677D}" type="slidenum">
              <a:rPr lang="en-IE" smtClean="0"/>
              <a:t>3</a:t>
            </a:fld>
            <a:endParaRPr lang="en-IE" dirty="0"/>
          </a:p>
        </p:txBody>
      </p:sp>
      <p:sp>
        <p:nvSpPr>
          <p:cNvPr id="5" name="Footer Placeholder 4">
            <a:extLst>
              <a:ext uri="{FF2B5EF4-FFF2-40B4-BE49-F238E27FC236}">
                <a16:creationId xmlns:a16="http://schemas.microsoft.com/office/drawing/2014/main" id="{C7A30C4F-E4E1-59F1-E8DB-B1C6155ED38E}"/>
              </a:ext>
            </a:extLst>
          </p:cNvPr>
          <p:cNvSpPr>
            <a:spLocks noGrp="1"/>
          </p:cNvSpPr>
          <p:nvPr>
            <p:ph type="ftr" sz="quarter" idx="3"/>
          </p:nvPr>
        </p:nvSpPr>
        <p:spPr/>
        <p:txBody>
          <a:bodyPr/>
          <a:lstStyle/>
          <a:p>
            <a:r>
              <a:rPr lang="en-IE"/>
              <a:t>https://www.java.com</a:t>
            </a:r>
            <a:endParaRPr lang="en-IE" dirty="0"/>
          </a:p>
        </p:txBody>
      </p:sp>
    </p:spTree>
    <p:extLst>
      <p:ext uri="{BB962C8B-B14F-4D97-AF65-F5344CB8AC3E}">
        <p14:creationId xmlns:p14="http://schemas.microsoft.com/office/powerpoint/2010/main" val="1186232035"/>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91778"/>
            <a:ext cx="4806645" cy="1102519"/>
          </a:xfrm>
        </p:spPr>
        <p:txBody>
          <a:bodyPr/>
          <a:lstStyle/>
          <a:p>
            <a:pPr>
              <a:spcBef>
                <a:spcPts val="633"/>
              </a:spcBef>
            </a:pPr>
            <a:r>
              <a:rPr lang="en-IE" sz="3600" dirty="0">
                <a:solidFill>
                  <a:schemeClr val="tx1"/>
                </a:solidFill>
              </a:rPr>
              <a:t>What is Encapsulation?</a:t>
            </a:r>
            <a:endParaRPr lang="en-IE" sz="3600" b="1" dirty="0">
              <a:solidFill>
                <a:srgbClr val="0368FF"/>
              </a:solidFill>
            </a:endParaRPr>
          </a:p>
        </p:txBody>
      </p:sp>
      <p:pic>
        <p:nvPicPr>
          <p:cNvPr id="4" name="Picture 2">
            <a:extLst>
              <a:ext uri="{FF2B5EF4-FFF2-40B4-BE49-F238E27FC236}">
                <a16:creationId xmlns:a16="http://schemas.microsoft.com/office/drawing/2014/main" id="{80B48627-70FE-4B45-9414-DD660DBF2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256709" y="1722350"/>
            <a:ext cx="2630581" cy="2630581"/>
          </a:xfrm>
          <a:prstGeom prst="rect">
            <a:avLst/>
          </a:prstGeom>
          <a:noFill/>
          <a:ln w="38100">
            <a:noFill/>
          </a:ln>
          <a:effectLst>
            <a:outerShdw blurRad="50800" dist="1016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4</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Tree>
    <p:extLst>
      <p:ext uri="{BB962C8B-B14F-4D97-AF65-F5344CB8AC3E}">
        <p14:creationId xmlns:p14="http://schemas.microsoft.com/office/powerpoint/2010/main" val="3775138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elay 5">
            <a:extLst>
              <a:ext uri="{FF2B5EF4-FFF2-40B4-BE49-F238E27FC236}">
                <a16:creationId xmlns:a16="http://schemas.microsoft.com/office/drawing/2014/main" id="{8DFF0881-0C89-DAB5-5670-5809F4ABDD30}"/>
              </a:ext>
            </a:extLst>
          </p:cNvPr>
          <p:cNvSpPr/>
          <p:nvPr/>
        </p:nvSpPr>
        <p:spPr>
          <a:xfrm>
            <a:off x="4572000" y="2000250"/>
            <a:ext cx="1428750" cy="1028700"/>
          </a:xfrm>
          <a:prstGeom prst="flowChartDelay">
            <a:avLst/>
          </a:prstGeom>
          <a:gradFill>
            <a:gsLst>
              <a:gs pos="0">
                <a:srgbClr val="C00000"/>
              </a:gs>
              <a:gs pos="100000">
                <a:srgbClr val="C00000"/>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defTabSz="366737" rtl="0"/>
            <a:endParaRPr lang="en-US" sz="1688" dirty="0"/>
          </a:p>
        </p:txBody>
      </p:sp>
      <p:sp>
        <p:nvSpPr>
          <p:cNvPr id="7" name="Delay 6">
            <a:extLst>
              <a:ext uri="{FF2B5EF4-FFF2-40B4-BE49-F238E27FC236}">
                <a16:creationId xmlns:a16="http://schemas.microsoft.com/office/drawing/2014/main" id="{21F8E8A0-211B-8FD8-F069-8C64CCCBB41E}"/>
              </a:ext>
            </a:extLst>
          </p:cNvPr>
          <p:cNvSpPr/>
          <p:nvPr/>
        </p:nvSpPr>
        <p:spPr>
          <a:xfrm rot="10800000">
            <a:off x="3143250" y="2000250"/>
            <a:ext cx="1428750" cy="1028700"/>
          </a:xfrm>
          <a:prstGeom prst="flowChartDelay">
            <a:avLst/>
          </a:prstGeom>
          <a:solidFill>
            <a:schemeClr val="bg1">
              <a:lumMod val="85000"/>
            </a:schemeClr>
          </a:solidFill>
          <a:ln>
            <a:solidFill>
              <a:srgbClr val="C0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688"/>
          </a:p>
        </p:txBody>
      </p:sp>
      <p:sp>
        <p:nvSpPr>
          <p:cNvPr id="8" name="TextBox 7">
            <a:extLst>
              <a:ext uri="{FF2B5EF4-FFF2-40B4-BE49-F238E27FC236}">
                <a16:creationId xmlns:a16="http://schemas.microsoft.com/office/drawing/2014/main" id="{C33FF56E-DCCE-5287-4CB6-B461C3288433}"/>
              </a:ext>
            </a:extLst>
          </p:cNvPr>
          <p:cNvSpPr txBox="1"/>
          <p:nvPr/>
        </p:nvSpPr>
        <p:spPr>
          <a:xfrm>
            <a:off x="4114800" y="1226522"/>
            <a:ext cx="1171576" cy="415498"/>
          </a:xfrm>
          <a:prstGeom prst="rect">
            <a:avLst/>
          </a:prstGeom>
          <a:noFill/>
        </p:spPr>
        <p:txBody>
          <a:bodyPr wrap="square" rtlCol="0">
            <a:spAutoFit/>
          </a:bodyPr>
          <a:lstStyle/>
          <a:p>
            <a:r>
              <a:rPr lang="en-US" sz="2100" dirty="0">
                <a:solidFill>
                  <a:srgbClr val="C00000"/>
                </a:solidFill>
              </a:rPr>
              <a:t>Class</a:t>
            </a:r>
          </a:p>
        </p:txBody>
      </p:sp>
      <p:sp>
        <p:nvSpPr>
          <p:cNvPr id="14" name="Left Bracket 13">
            <a:extLst>
              <a:ext uri="{FF2B5EF4-FFF2-40B4-BE49-F238E27FC236}">
                <a16:creationId xmlns:a16="http://schemas.microsoft.com/office/drawing/2014/main" id="{F5D61C84-C7DF-3A40-4594-40CD59BEE5C8}"/>
              </a:ext>
            </a:extLst>
          </p:cNvPr>
          <p:cNvSpPr/>
          <p:nvPr/>
        </p:nvSpPr>
        <p:spPr>
          <a:xfrm rot="5400000">
            <a:off x="4429123" y="407791"/>
            <a:ext cx="285752" cy="2857500"/>
          </a:xfrm>
          <a:prstGeom prst="leftBracket">
            <a:avLst/>
          </a:prstGeom>
          <a:ln w="28575">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688"/>
          </a:p>
        </p:txBody>
      </p:sp>
      <p:sp>
        <p:nvSpPr>
          <p:cNvPr id="15" name="Oval 14">
            <a:extLst>
              <a:ext uri="{FF2B5EF4-FFF2-40B4-BE49-F238E27FC236}">
                <a16:creationId xmlns:a16="http://schemas.microsoft.com/office/drawing/2014/main" id="{DEDEFAA1-E726-3850-3E32-CD91682CC317}"/>
              </a:ext>
            </a:extLst>
          </p:cNvPr>
          <p:cNvSpPr/>
          <p:nvPr/>
        </p:nvSpPr>
        <p:spPr>
          <a:xfrm>
            <a:off x="3486150" y="217170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16" name="Oval 15">
            <a:extLst>
              <a:ext uri="{FF2B5EF4-FFF2-40B4-BE49-F238E27FC236}">
                <a16:creationId xmlns:a16="http://schemas.microsoft.com/office/drawing/2014/main" id="{0620DD96-E316-9709-240E-49F8EFB4C1BD}"/>
              </a:ext>
            </a:extLst>
          </p:cNvPr>
          <p:cNvSpPr/>
          <p:nvPr/>
        </p:nvSpPr>
        <p:spPr>
          <a:xfrm>
            <a:off x="3714750" y="251460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17" name="Oval 16">
            <a:extLst>
              <a:ext uri="{FF2B5EF4-FFF2-40B4-BE49-F238E27FC236}">
                <a16:creationId xmlns:a16="http://schemas.microsoft.com/office/drawing/2014/main" id="{94B56A86-3A91-DF02-C811-987C72E7B0DC}"/>
              </a:ext>
            </a:extLst>
          </p:cNvPr>
          <p:cNvSpPr/>
          <p:nvPr/>
        </p:nvSpPr>
        <p:spPr>
          <a:xfrm>
            <a:off x="3486150" y="240030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18" name="Oval 17">
            <a:extLst>
              <a:ext uri="{FF2B5EF4-FFF2-40B4-BE49-F238E27FC236}">
                <a16:creationId xmlns:a16="http://schemas.microsoft.com/office/drawing/2014/main" id="{471E1A8A-FFCB-494C-78E9-58C3AD2D1C0F}"/>
              </a:ext>
            </a:extLst>
          </p:cNvPr>
          <p:cNvSpPr/>
          <p:nvPr/>
        </p:nvSpPr>
        <p:spPr>
          <a:xfrm>
            <a:off x="3257550" y="245745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0" name="Oval 19">
            <a:extLst>
              <a:ext uri="{FF2B5EF4-FFF2-40B4-BE49-F238E27FC236}">
                <a16:creationId xmlns:a16="http://schemas.microsoft.com/office/drawing/2014/main" id="{31885C05-B392-4CE1-B1C6-D855717BCC27}"/>
              </a:ext>
            </a:extLst>
          </p:cNvPr>
          <p:cNvSpPr/>
          <p:nvPr/>
        </p:nvSpPr>
        <p:spPr>
          <a:xfrm>
            <a:off x="3657600" y="228600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1" name="Oval 20">
            <a:extLst>
              <a:ext uri="{FF2B5EF4-FFF2-40B4-BE49-F238E27FC236}">
                <a16:creationId xmlns:a16="http://schemas.microsoft.com/office/drawing/2014/main" id="{9BC960AE-A297-D4AF-0A46-62C06410B4FE}"/>
              </a:ext>
            </a:extLst>
          </p:cNvPr>
          <p:cNvSpPr/>
          <p:nvPr/>
        </p:nvSpPr>
        <p:spPr>
          <a:xfrm>
            <a:off x="3886200" y="274320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2" name="Oval 21">
            <a:extLst>
              <a:ext uri="{FF2B5EF4-FFF2-40B4-BE49-F238E27FC236}">
                <a16:creationId xmlns:a16="http://schemas.microsoft.com/office/drawing/2014/main" id="{76E77D8E-8C7B-E956-A632-4F0289EE5B18}"/>
              </a:ext>
            </a:extLst>
          </p:cNvPr>
          <p:cNvSpPr/>
          <p:nvPr/>
        </p:nvSpPr>
        <p:spPr>
          <a:xfrm>
            <a:off x="4114800" y="251460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3" name="Oval 22">
            <a:extLst>
              <a:ext uri="{FF2B5EF4-FFF2-40B4-BE49-F238E27FC236}">
                <a16:creationId xmlns:a16="http://schemas.microsoft.com/office/drawing/2014/main" id="{A5D2837A-95BE-4B7A-9699-B805ED350C3C}"/>
              </a:ext>
            </a:extLst>
          </p:cNvPr>
          <p:cNvSpPr/>
          <p:nvPr/>
        </p:nvSpPr>
        <p:spPr>
          <a:xfrm>
            <a:off x="4286250" y="240030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4" name="Oval 23">
            <a:extLst>
              <a:ext uri="{FF2B5EF4-FFF2-40B4-BE49-F238E27FC236}">
                <a16:creationId xmlns:a16="http://schemas.microsoft.com/office/drawing/2014/main" id="{7A6DF811-A1F7-7CC7-BD56-46750CABB4CC}"/>
              </a:ext>
            </a:extLst>
          </p:cNvPr>
          <p:cNvSpPr/>
          <p:nvPr/>
        </p:nvSpPr>
        <p:spPr>
          <a:xfrm>
            <a:off x="4114800" y="280035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5" name="Oval 24">
            <a:extLst>
              <a:ext uri="{FF2B5EF4-FFF2-40B4-BE49-F238E27FC236}">
                <a16:creationId xmlns:a16="http://schemas.microsoft.com/office/drawing/2014/main" id="{1D15B62D-72B9-C0BA-246D-5B93F2E5E957}"/>
              </a:ext>
            </a:extLst>
          </p:cNvPr>
          <p:cNvSpPr/>
          <p:nvPr/>
        </p:nvSpPr>
        <p:spPr>
          <a:xfrm>
            <a:off x="3943350" y="228600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6" name="Oval 25">
            <a:extLst>
              <a:ext uri="{FF2B5EF4-FFF2-40B4-BE49-F238E27FC236}">
                <a16:creationId xmlns:a16="http://schemas.microsoft.com/office/drawing/2014/main" id="{59AE8C37-6357-E489-8675-51DF156BFC32}"/>
              </a:ext>
            </a:extLst>
          </p:cNvPr>
          <p:cNvSpPr/>
          <p:nvPr/>
        </p:nvSpPr>
        <p:spPr>
          <a:xfrm>
            <a:off x="4114800" y="211455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66737" rtl="0"/>
            <a:endParaRPr lang="en-US" sz="1688"/>
          </a:p>
        </p:txBody>
      </p:sp>
      <p:sp>
        <p:nvSpPr>
          <p:cNvPr id="27" name="Oval 26">
            <a:extLst>
              <a:ext uri="{FF2B5EF4-FFF2-40B4-BE49-F238E27FC236}">
                <a16:creationId xmlns:a16="http://schemas.microsoft.com/office/drawing/2014/main" id="{B47FFD99-5A30-BE3D-F225-CAEA03CB93CA}"/>
              </a:ext>
            </a:extLst>
          </p:cNvPr>
          <p:cNvSpPr/>
          <p:nvPr/>
        </p:nvSpPr>
        <p:spPr>
          <a:xfrm>
            <a:off x="4286250" y="268605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8" name="Oval 27">
            <a:extLst>
              <a:ext uri="{FF2B5EF4-FFF2-40B4-BE49-F238E27FC236}">
                <a16:creationId xmlns:a16="http://schemas.microsoft.com/office/drawing/2014/main" id="{3E8864F2-D010-A06C-1A1F-EEEEE0ACA850}"/>
              </a:ext>
            </a:extLst>
          </p:cNvPr>
          <p:cNvSpPr/>
          <p:nvPr/>
        </p:nvSpPr>
        <p:spPr>
          <a:xfrm>
            <a:off x="4343400" y="2114550"/>
            <a:ext cx="114300" cy="114300"/>
          </a:xfrm>
          <a:prstGeom prst="ellipse">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29" name="TextBox 28">
            <a:extLst>
              <a:ext uri="{FF2B5EF4-FFF2-40B4-BE49-F238E27FC236}">
                <a16:creationId xmlns:a16="http://schemas.microsoft.com/office/drawing/2014/main" id="{3C6F73FA-618D-01C6-BB73-20204F91EF76}"/>
              </a:ext>
            </a:extLst>
          </p:cNvPr>
          <p:cNvSpPr txBox="1"/>
          <p:nvPr/>
        </p:nvSpPr>
        <p:spPr>
          <a:xfrm>
            <a:off x="2421653" y="3200401"/>
            <a:ext cx="1293098" cy="415498"/>
          </a:xfrm>
          <a:prstGeom prst="rect">
            <a:avLst/>
          </a:prstGeom>
          <a:noFill/>
        </p:spPr>
        <p:txBody>
          <a:bodyPr wrap="square" rtlCol="0">
            <a:spAutoFit/>
          </a:bodyPr>
          <a:lstStyle/>
          <a:p>
            <a:r>
              <a:rPr lang="en-US" sz="2100" dirty="0">
                <a:solidFill>
                  <a:schemeClr val="tx2"/>
                </a:solidFill>
              </a:rPr>
              <a:t>Variables</a:t>
            </a:r>
          </a:p>
        </p:txBody>
      </p:sp>
      <p:cxnSp>
        <p:nvCxnSpPr>
          <p:cNvPr id="31" name="Straight Arrow Connector 30">
            <a:extLst>
              <a:ext uri="{FF2B5EF4-FFF2-40B4-BE49-F238E27FC236}">
                <a16:creationId xmlns:a16="http://schemas.microsoft.com/office/drawing/2014/main" id="{6F7BBFC4-2717-76DD-0913-4DC590516180}"/>
              </a:ext>
            </a:extLst>
          </p:cNvPr>
          <p:cNvCxnSpPr>
            <a:cxnSpLocks/>
            <a:stCxn id="29" idx="0"/>
          </p:cNvCxnSpPr>
          <p:nvPr/>
        </p:nvCxnSpPr>
        <p:spPr>
          <a:xfrm flipV="1">
            <a:off x="3281065" y="2889893"/>
            <a:ext cx="33635" cy="310507"/>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33" name="Oval 32">
            <a:extLst>
              <a:ext uri="{FF2B5EF4-FFF2-40B4-BE49-F238E27FC236}">
                <a16:creationId xmlns:a16="http://schemas.microsoft.com/office/drawing/2014/main" id="{51063034-4DB5-E96F-C60B-C4A73A5FF956}"/>
              </a:ext>
            </a:extLst>
          </p:cNvPr>
          <p:cNvSpPr/>
          <p:nvPr/>
        </p:nvSpPr>
        <p:spPr>
          <a:xfrm>
            <a:off x="3486150" y="262890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34" name="Oval 33">
            <a:extLst>
              <a:ext uri="{FF2B5EF4-FFF2-40B4-BE49-F238E27FC236}">
                <a16:creationId xmlns:a16="http://schemas.microsoft.com/office/drawing/2014/main" id="{53DE0506-D9F3-4404-8B1F-749D5C204042}"/>
              </a:ext>
            </a:extLst>
          </p:cNvPr>
          <p:cNvSpPr/>
          <p:nvPr/>
        </p:nvSpPr>
        <p:spPr>
          <a:xfrm>
            <a:off x="3657600" y="2800350"/>
            <a:ext cx="114300" cy="1143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88"/>
          </a:p>
        </p:txBody>
      </p:sp>
      <p:sp>
        <p:nvSpPr>
          <p:cNvPr id="36" name="TextBox 35">
            <a:extLst>
              <a:ext uri="{FF2B5EF4-FFF2-40B4-BE49-F238E27FC236}">
                <a16:creationId xmlns:a16="http://schemas.microsoft.com/office/drawing/2014/main" id="{48B91009-E2D9-4C10-0D73-A0017C8F767E}"/>
              </a:ext>
            </a:extLst>
          </p:cNvPr>
          <p:cNvSpPr txBox="1"/>
          <p:nvPr/>
        </p:nvSpPr>
        <p:spPr>
          <a:xfrm>
            <a:off x="3943349" y="3434688"/>
            <a:ext cx="1293097" cy="415498"/>
          </a:xfrm>
          <a:prstGeom prst="rect">
            <a:avLst/>
          </a:prstGeom>
          <a:noFill/>
          <a:ln>
            <a:noFill/>
          </a:ln>
        </p:spPr>
        <p:txBody>
          <a:bodyPr wrap="square" rtlCol="0">
            <a:spAutoFit/>
          </a:bodyPr>
          <a:lstStyle/>
          <a:p>
            <a:r>
              <a:rPr lang="en-US" sz="2100" dirty="0">
                <a:solidFill>
                  <a:srgbClr val="00B050"/>
                </a:solidFill>
              </a:rPr>
              <a:t>Methods</a:t>
            </a:r>
          </a:p>
        </p:txBody>
      </p:sp>
      <p:cxnSp>
        <p:nvCxnSpPr>
          <p:cNvPr id="37" name="Straight Arrow Connector 36">
            <a:extLst>
              <a:ext uri="{FF2B5EF4-FFF2-40B4-BE49-F238E27FC236}">
                <a16:creationId xmlns:a16="http://schemas.microsoft.com/office/drawing/2014/main" id="{0D1F6532-3469-9D5B-6562-79C517D91A56}"/>
              </a:ext>
            </a:extLst>
          </p:cNvPr>
          <p:cNvCxnSpPr>
            <a:cxnSpLocks/>
          </p:cNvCxnSpPr>
          <p:nvPr/>
        </p:nvCxnSpPr>
        <p:spPr>
          <a:xfrm flipH="1" flipV="1">
            <a:off x="4229100" y="3037726"/>
            <a:ext cx="228600" cy="386712"/>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BD47BA16-67BB-0B3E-81DC-ACE5E73C5F07}"/>
              </a:ext>
            </a:extLst>
          </p:cNvPr>
          <p:cNvSpPr>
            <a:spLocks noGrp="1"/>
          </p:cNvSpPr>
          <p:nvPr>
            <p:ph type="ftr" sz="quarter" idx="11"/>
          </p:nvPr>
        </p:nvSpPr>
        <p:spPr/>
        <p:txBody>
          <a:bodyPr/>
          <a:lstStyle/>
          <a:p>
            <a:r>
              <a:rPr lang="en-US"/>
              <a:t>https://www.java.com</a:t>
            </a:r>
          </a:p>
        </p:txBody>
      </p:sp>
      <p:sp>
        <p:nvSpPr>
          <p:cNvPr id="5" name="Slide Number Placeholder 4">
            <a:extLst>
              <a:ext uri="{FF2B5EF4-FFF2-40B4-BE49-F238E27FC236}">
                <a16:creationId xmlns:a16="http://schemas.microsoft.com/office/drawing/2014/main" id="{CCA51826-A30B-C7DB-9E3F-86008A741E9A}"/>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153332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a:t>
            </a:r>
          </a:p>
        </p:txBody>
      </p:sp>
      <p:sp>
        <p:nvSpPr>
          <p:cNvPr id="3" name="Content Placeholder 2"/>
          <p:cNvSpPr>
            <a:spLocks noGrp="1"/>
          </p:cNvSpPr>
          <p:nvPr>
            <p:ph idx="1"/>
          </p:nvPr>
        </p:nvSpPr>
        <p:spPr>
          <a:xfrm>
            <a:off x="395536" y="843558"/>
            <a:ext cx="7772401" cy="4299943"/>
          </a:xfrm>
        </p:spPr>
        <p:txBody>
          <a:bodyPr>
            <a:normAutofit/>
          </a:bodyPr>
          <a:lstStyle/>
          <a:p>
            <a:r>
              <a:rPr lang="en-IE" b="1" dirty="0"/>
              <a:t>Encapsulation</a:t>
            </a:r>
            <a:r>
              <a:rPr lang="en-IE" dirty="0"/>
              <a:t> (data hiding) is a fundamental Object Oriented concept</a:t>
            </a:r>
          </a:p>
          <a:p>
            <a:endParaRPr lang="en-IE" dirty="0"/>
          </a:p>
          <a:p>
            <a:r>
              <a:rPr lang="en-IE" dirty="0"/>
              <a:t>How to achieve encapsulation?</a:t>
            </a:r>
          </a:p>
          <a:p>
            <a:pPr marL="728663" lvl="1" indent="-385763">
              <a:buFont typeface="+mj-lt"/>
              <a:buAutoNum type="arabicPeriod"/>
            </a:pPr>
            <a:r>
              <a:rPr lang="en-IE" b="1" i="1" dirty="0">
                <a:solidFill>
                  <a:srgbClr val="598CBE"/>
                </a:solidFill>
              </a:rPr>
              <a:t>wrap</a:t>
            </a:r>
            <a:r>
              <a:rPr lang="en-IE" b="1" dirty="0">
                <a:solidFill>
                  <a:srgbClr val="00B050"/>
                </a:solidFill>
              </a:rPr>
              <a:t> </a:t>
            </a:r>
            <a:r>
              <a:rPr lang="en-IE" dirty="0"/>
              <a:t>the data (fields) and code acting on the data (methods) together as single unit</a:t>
            </a:r>
          </a:p>
          <a:p>
            <a:pPr marL="728663" lvl="1" indent="-385763">
              <a:buFont typeface="+mj-lt"/>
              <a:buAutoNum type="arabicPeriod"/>
            </a:pPr>
            <a:r>
              <a:rPr lang="en-IE" b="1" i="1" dirty="0">
                <a:solidFill>
                  <a:srgbClr val="598CBE"/>
                </a:solidFill>
              </a:rPr>
              <a:t>hide</a:t>
            </a:r>
            <a:r>
              <a:rPr lang="en-IE" i="1" dirty="0"/>
              <a:t> </a:t>
            </a:r>
            <a:r>
              <a:rPr lang="en-IE" dirty="0"/>
              <a:t>the fields from other classes</a:t>
            </a:r>
          </a:p>
          <a:p>
            <a:pPr marL="728663" lvl="1" indent="-385763">
              <a:buFont typeface="+mj-lt"/>
              <a:buAutoNum type="arabicPeriod"/>
            </a:pPr>
            <a:r>
              <a:rPr lang="en-IE" b="1" i="1" dirty="0">
                <a:solidFill>
                  <a:srgbClr val="598CBE"/>
                </a:solidFill>
              </a:rPr>
              <a:t>access</a:t>
            </a:r>
            <a:r>
              <a:rPr lang="en-IE" i="1" dirty="0"/>
              <a:t> </a:t>
            </a:r>
            <a:r>
              <a:rPr lang="en-IE" dirty="0"/>
              <a:t>the fields only through the methods of their current class </a:t>
            </a:r>
          </a:p>
        </p:txBody>
      </p:sp>
      <p:sp>
        <p:nvSpPr>
          <p:cNvPr id="4" name="Rectangle 3"/>
          <p:cNvSpPr/>
          <p:nvPr/>
        </p:nvSpPr>
        <p:spPr>
          <a:xfrm>
            <a:off x="2490403" y="-1321"/>
            <a:ext cx="5920067" cy="352084"/>
          </a:xfrm>
          <a:prstGeom prst="rect">
            <a:avLst/>
          </a:prstGeom>
        </p:spPr>
        <p:txBody>
          <a:bodyPr wrap="square">
            <a:spAutoFit/>
          </a:bodyPr>
          <a:lstStyle/>
          <a:p>
            <a:pPr algn="r"/>
            <a:r>
              <a:rPr lang="en-IE" sz="1688" dirty="0">
                <a:hlinkClick r:id="rId3"/>
              </a:rPr>
              <a:t>http://www.tutorialspoint.com/java/java_encapsulation.htm</a:t>
            </a:r>
            <a:r>
              <a:rPr lang="en-IE" sz="1688" dirty="0"/>
              <a:t> </a:t>
            </a:r>
          </a:p>
        </p:txBody>
      </p:sp>
      <p:sp>
        <p:nvSpPr>
          <p:cNvPr id="5" name="Footer Placeholder 4">
            <a:extLst>
              <a:ext uri="{FF2B5EF4-FFF2-40B4-BE49-F238E27FC236}">
                <a16:creationId xmlns:a16="http://schemas.microsoft.com/office/drawing/2014/main" id="{9A3AC812-12CF-30A3-78CF-8CFE62DFD615}"/>
              </a:ext>
            </a:extLst>
          </p:cNvPr>
          <p:cNvSpPr>
            <a:spLocks noGrp="1"/>
          </p:cNvSpPr>
          <p:nvPr>
            <p:ph type="ftr" sz="quarter" idx="3"/>
          </p:nvPr>
        </p:nvSpPr>
        <p:spPr/>
        <p:txBody>
          <a:bodyPr/>
          <a:lstStyle/>
          <a:p>
            <a:r>
              <a:rPr lang="en-IE"/>
              <a:t>https://www.java.com</a:t>
            </a:r>
            <a:endParaRPr lang="en-IE" dirty="0"/>
          </a:p>
        </p:txBody>
      </p:sp>
      <p:sp>
        <p:nvSpPr>
          <p:cNvPr id="6" name="Slide Number Placeholder 5">
            <a:extLst>
              <a:ext uri="{FF2B5EF4-FFF2-40B4-BE49-F238E27FC236}">
                <a16:creationId xmlns:a16="http://schemas.microsoft.com/office/drawing/2014/main" id="{A6AE53C6-9F03-5356-C46C-16209B45C95B}"/>
              </a:ext>
            </a:extLst>
          </p:cNvPr>
          <p:cNvSpPr>
            <a:spLocks noGrp="1"/>
          </p:cNvSpPr>
          <p:nvPr>
            <p:ph type="sldNum" sz="quarter" idx="2"/>
          </p:nvPr>
        </p:nvSpPr>
        <p:spPr/>
        <p:txBody>
          <a:bodyPr/>
          <a:lstStyle/>
          <a:p>
            <a:pPr lvl="0"/>
            <a:fld id="{86CB4B4D-7CA3-9044-876B-883B54F8677D}" type="slidenum">
              <a:rPr lang="en-IE" smtClean="0"/>
              <a:t>6</a:t>
            </a:fld>
            <a:endParaRPr lang="en-IE" dirty="0"/>
          </a:p>
        </p:txBody>
      </p:sp>
    </p:spTree>
    <p:custDataLst>
      <p:tags r:id="rId1"/>
    </p:custDataLst>
    <p:extLst>
      <p:ext uri="{BB962C8B-B14F-4D97-AF65-F5344CB8AC3E}">
        <p14:creationId xmlns:p14="http://schemas.microsoft.com/office/powerpoint/2010/main" val="281513440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Encapsulation in Java </a:t>
            </a:r>
            <a:r>
              <a:rPr lang="mr-IN" dirty="0"/>
              <a:t>–</a:t>
            </a:r>
            <a:r>
              <a:rPr lang="en-IE" dirty="0"/>
              <a:t> </a:t>
            </a:r>
            <a:r>
              <a:rPr lang="en-IE" b="1" dirty="0"/>
              <a:t>steps 1-3 </a:t>
            </a:r>
          </a:p>
        </p:txBody>
      </p:sp>
      <p:graphicFrame>
        <p:nvGraphicFramePr>
          <p:cNvPr id="5" name="Table 4"/>
          <p:cNvGraphicFramePr>
            <a:graphicFrameLocks noGrp="1"/>
          </p:cNvGraphicFramePr>
          <p:nvPr>
            <p:extLst>
              <p:ext uri="{D42A27DB-BD31-4B8C-83A1-F6EECF244321}">
                <p14:modId xmlns:p14="http://schemas.microsoft.com/office/powerpoint/2010/main" val="3175484334"/>
              </p:ext>
            </p:extLst>
          </p:nvPr>
        </p:nvGraphicFramePr>
        <p:xfrm>
          <a:off x="457200" y="892572"/>
          <a:ext cx="7886700" cy="2019749"/>
        </p:xfrm>
        <a:graphic>
          <a:graphicData uri="http://schemas.openxmlformats.org/drawingml/2006/table">
            <a:tbl>
              <a:tblPr firstRow="1" bandRow="1">
                <a:tableStyleId>{9DCAF9ED-07DC-4A11-8D7F-57B35C25682E}</a:tableStyleId>
              </a:tblPr>
              <a:tblGrid>
                <a:gridCol w="37719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9668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1800" dirty="0"/>
                        <a:t>Encapsulation Step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tc>
                  <a:txBody>
                    <a:bodyPr/>
                    <a:lstStyle/>
                    <a:p>
                      <a:pPr algn="ctr"/>
                      <a:r>
                        <a:rPr lang="en-IE" sz="1800" dirty="0"/>
                        <a:t>Approach</a:t>
                      </a:r>
                      <a:r>
                        <a:rPr lang="en-IE" sz="1800" baseline="0" dirty="0"/>
                        <a:t> in Java</a:t>
                      </a:r>
                      <a:endParaRPr lang="en-IE"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extLst>
                  <a:ext uri="{0D108BD9-81ED-4DB2-BD59-A6C34878D82A}">
                    <a16:rowId xmlns:a16="http://schemas.microsoft.com/office/drawing/2014/main" val="10000"/>
                  </a:ext>
                </a:extLst>
              </a:tr>
              <a:tr h="15773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1. </a:t>
                      </a:r>
                      <a:r>
                        <a:rPr lang="en-IE" sz="1800" b="1" dirty="0">
                          <a:solidFill>
                            <a:srgbClr val="598CBE"/>
                          </a:solidFill>
                        </a:rPr>
                        <a:t>Wrap</a:t>
                      </a:r>
                      <a:r>
                        <a:rPr lang="en-IE" sz="1800" dirty="0"/>
                        <a:t> the data (fields) and code acting on the data (methods) together as single unit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eaLnBrk="1" hangingPunct="1"/>
                      <a:r>
                        <a:rPr lang="en-US" sz="1700" b="1" dirty="0">
                          <a:solidFill>
                            <a:srgbClr val="598CBE"/>
                          </a:solidFill>
                          <a:latin typeface="Monaco" pitchFamily="2" charset="77"/>
                          <a:cs typeface="Times" pitchFamily="-32" charset="0"/>
                        </a:rPr>
                        <a:t>public</a:t>
                      </a:r>
                      <a:r>
                        <a:rPr lang="en-US" sz="1700" dirty="0">
                          <a:solidFill>
                            <a:schemeClr val="tx1"/>
                          </a:solidFill>
                          <a:latin typeface="Monaco" pitchFamily="2" charset="77"/>
                          <a:cs typeface="Times" pitchFamily="-32" charset="0"/>
                        </a:rPr>
                        <a:t> class </a:t>
                      </a:r>
                      <a:r>
                        <a:rPr lang="en-US" sz="1700" i="1" dirty="0" err="1">
                          <a:solidFill>
                            <a:schemeClr val="tx1"/>
                          </a:solidFill>
                          <a:latin typeface="Monaco" pitchFamily="2" charset="77"/>
                          <a:cs typeface="Times" pitchFamily="-32" charset="0"/>
                        </a:rPr>
                        <a:t>ClassName</a:t>
                      </a:r>
                      <a:endParaRPr lang="en-US" sz="1700" dirty="0">
                        <a:solidFill>
                          <a:schemeClr val="tx1"/>
                        </a:solidFill>
                        <a:latin typeface="Monaco" pitchFamily="2" charset="77"/>
                        <a:cs typeface="Times" pitchFamily="-32" charset="0"/>
                      </a:endParaRPr>
                    </a:p>
                    <a:p>
                      <a:pPr algn="l" eaLnBrk="1" hangingPunct="1"/>
                      <a:r>
                        <a:rPr lang="en-US" sz="1700" dirty="0">
                          <a:solidFill>
                            <a:schemeClr val="tx1"/>
                          </a:solidFill>
                          <a:latin typeface="Monaco" pitchFamily="2" charset="77"/>
                          <a:cs typeface="Times" pitchFamily="-32" charset="0"/>
                        </a:rPr>
                        <a:t>{</a:t>
                      </a:r>
                    </a:p>
                    <a:p>
                      <a:pPr algn="l" eaLnBrk="1" hangingPunct="1"/>
                      <a:r>
                        <a:rPr lang="en-US" sz="1700" dirty="0">
                          <a:solidFill>
                            <a:schemeClr val="tx1"/>
                          </a:solidFill>
                          <a:latin typeface="Monaco" pitchFamily="2" charset="77"/>
                          <a:cs typeface="Times" pitchFamily="-32" charset="0"/>
                        </a:rPr>
                        <a:t>  </a:t>
                      </a:r>
                      <a:r>
                        <a:rPr lang="en-US" sz="1700" b="0" dirty="0">
                          <a:solidFill>
                            <a:schemeClr val="tx1"/>
                          </a:solidFill>
                          <a:latin typeface="Monaco" pitchFamily="2" charset="77"/>
                          <a:cs typeface="Times" pitchFamily="-32" charset="0"/>
                        </a:rPr>
                        <a:t>  </a:t>
                      </a:r>
                      <a:r>
                        <a:rPr lang="en-US" sz="1700" b="0" i="1" dirty="0">
                          <a:solidFill>
                            <a:schemeClr val="tx1"/>
                          </a:solidFill>
                          <a:latin typeface="Monaco" pitchFamily="2" charset="77"/>
                          <a:cs typeface="Times" pitchFamily="-32" charset="0"/>
                        </a:rPr>
                        <a:t>Fields</a:t>
                      </a:r>
                      <a:endParaRPr lang="en-US" sz="1700" b="0" dirty="0">
                        <a:solidFill>
                          <a:schemeClr val="tx1"/>
                        </a:solidFill>
                        <a:latin typeface="Monaco" pitchFamily="2" charset="77"/>
                        <a:cs typeface="Times" pitchFamily="-32" charset="0"/>
                      </a:endParaRPr>
                    </a:p>
                    <a:p>
                      <a:pPr algn="l" eaLnBrk="1" hangingPunct="1"/>
                      <a:r>
                        <a:rPr lang="en-US" sz="1700" b="0" i="1" dirty="0">
                          <a:solidFill>
                            <a:schemeClr val="tx1"/>
                          </a:solidFill>
                          <a:latin typeface="Monaco" pitchFamily="2" charset="77"/>
                          <a:cs typeface="Times" pitchFamily="-32" charset="0"/>
                        </a:rPr>
                        <a:t>  </a:t>
                      </a:r>
                      <a:r>
                        <a:rPr lang="en-US" sz="1700" i="1" dirty="0">
                          <a:solidFill>
                            <a:schemeClr val="tx1"/>
                          </a:solidFill>
                          <a:latin typeface="Monaco" pitchFamily="2" charset="77"/>
                          <a:cs typeface="Times" pitchFamily="-32" charset="0"/>
                        </a:rPr>
                        <a:t>  Constructors</a:t>
                      </a:r>
                      <a:endParaRPr lang="en-US" sz="1700" dirty="0">
                        <a:solidFill>
                          <a:schemeClr val="tx1"/>
                        </a:solidFill>
                        <a:latin typeface="Monaco" pitchFamily="2" charset="77"/>
                        <a:cs typeface="Times" pitchFamily="-32" charset="0"/>
                      </a:endParaRPr>
                    </a:p>
                    <a:p>
                      <a:pPr algn="l" eaLnBrk="1" hangingPunct="1"/>
                      <a:r>
                        <a:rPr lang="en-US" sz="1700" i="1" dirty="0">
                          <a:solidFill>
                            <a:schemeClr val="tx1"/>
                          </a:solidFill>
                          <a:latin typeface="Monaco" pitchFamily="2" charset="77"/>
                          <a:cs typeface="Times" pitchFamily="-32" charset="0"/>
                        </a:rPr>
                        <a:t>    Methods</a:t>
                      </a:r>
                      <a:endParaRPr lang="en-US" sz="1700" dirty="0">
                        <a:solidFill>
                          <a:schemeClr val="tx1"/>
                        </a:solidFill>
                        <a:latin typeface="Monaco" pitchFamily="2" charset="77"/>
                        <a:cs typeface="Times" pitchFamily="-32" charset="0"/>
                      </a:endParaRPr>
                    </a:p>
                    <a:p>
                      <a:pPr algn="l" eaLnBrk="1" hangingPunct="1"/>
                      <a:r>
                        <a:rPr lang="en-US" sz="1700" dirty="0">
                          <a:solidFill>
                            <a:schemeClr val="tx1"/>
                          </a:solidFill>
                          <a:latin typeface="Monaco" pitchFamily="2" charset="77"/>
                          <a:cs typeface="Times" pitchFamily="-32" charset="0"/>
                        </a:rPr>
                        <a:t>}</a:t>
                      </a:r>
                      <a:r>
                        <a:rPr lang="en-US" sz="1700" dirty="0">
                          <a:solidFill>
                            <a:schemeClr val="tx1"/>
                          </a:solidFill>
                          <a:latin typeface="Monaco" pitchFamily="2" charset="77"/>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548080818"/>
              </p:ext>
            </p:extLst>
          </p:nvPr>
        </p:nvGraphicFramePr>
        <p:xfrm>
          <a:off x="457200" y="2912321"/>
          <a:ext cx="7886700" cy="694205"/>
        </p:xfrm>
        <a:graphic>
          <a:graphicData uri="http://schemas.openxmlformats.org/drawingml/2006/table">
            <a:tbl>
              <a:tblPr bandRow="1">
                <a:tableStyleId>{9DCAF9ED-07DC-4A11-8D7F-57B35C25682E}</a:tableStyleId>
              </a:tblPr>
              <a:tblGrid>
                <a:gridCol w="37719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94205">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2. </a:t>
                      </a:r>
                      <a:r>
                        <a:rPr lang="en-IE" sz="1800" b="1" kern="1200" dirty="0">
                          <a:solidFill>
                            <a:srgbClr val="598CBE"/>
                          </a:solidFill>
                          <a:latin typeface="+mn-lt"/>
                          <a:ea typeface="+mn-ea"/>
                          <a:cs typeface="+mn-cs"/>
                        </a:rPr>
                        <a:t>Hide</a:t>
                      </a:r>
                      <a:r>
                        <a:rPr lang="en-IE" sz="1800" dirty="0"/>
                        <a:t> </a:t>
                      </a:r>
                      <a:r>
                        <a:rPr lang="en-IE" sz="1800" b="0" dirty="0"/>
                        <a:t>the fields from other classes</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1800" b="1" dirty="0"/>
                        <a:t>Declare the fields of a class as </a:t>
                      </a:r>
                      <a:r>
                        <a:rPr lang="en-IE" sz="1800" b="1" u="sng" dirty="0">
                          <a:solidFill>
                            <a:srgbClr val="598CBE"/>
                          </a:solidFill>
                        </a:rPr>
                        <a:t>private</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249432746"/>
              </p:ext>
            </p:extLst>
          </p:nvPr>
        </p:nvGraphicFramePr>
        <p:xfrm>
          <a:off x="457200" y="3612159"/>
          <a:ext cx="7886700" cy="891540"/>
        </p:xfrm>
        <a:graphic>
          <a:graphicData uri="http://schemas.openxmlformats.org/drawingml/2006/table">
            <a:tbl>
              <a:tblPr bandRow="1">
                <a:tableStyleId>{9DCAF9ED-07DC-4A11-8D7F-57B35C25682E}</a:tableStyleId>
              </a:tblPr>
              <a:tblGrid>
                <a:gridCol w="37719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8915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3. </a:t>
                      </a:r>
                      <a:r>
                        <a:rPr lang="en-IE" sz="1800" b="1" kern="1200" dirty="0">
                          <a:solidFill>
                            <a:srgbClr val="598CBE"/>
                          </a:solidFill>
                        </a:rPr>
                        <a:t>Access</a:t>
                      </a:r>
                      <a:r>
                        <a:rPr lang="en-IE" sz="1800" dirty="0">
                          <a:solidFill>
                            <a:srgbClr val="00B050"/>
                          </a:solidFill>
                        </a:rPr>
                        <a:t> </a:t>
                      </a:r>
                      <a:r>
                        <a:rPr lang="en-IE" sz="1800" dirty="0"/>
                        <a:t>the fields only through the methods of their current class</a:t>
                      </a:r>
                      <a:endParaRPr lang="en-IE" sz="1800" b="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1800" b="1" dirty="0"/>
                        <a:t>Provide </a:t>
                      </a:r>
                      <a:r>
                        <a:rPr lang="en-IE" sz="1800" b="1" u="sng" dirty="0">
                          <a:solidFill>
                            <a:srgbClr val="598CBE"/>
                          </a:solidFill>
                        </a:rPr>
                        <a:t>public</a:t>
                      </a:r>
                      <a:r>
                        <a:rPr lang="en-IE" sz="1800" b="1" dirty="0"/>
                        <a:t> get</a:t>
                      </a:r>
                      <a:r>
                        <a:rPr lang="en-IE" sz="1800" b="0" dirty="0"/>
                        <a:t>ter</a:t>
                      </a:r>
                      <a:r>
                        <a:rPr lang="en-IE" sz="1800" b="1" dirty="0"/>
                        <a:t> and set</a:t>
                      </a:r>
                      <a:r>
                        <a:rPr lang="en-IE" sz="1800" b="0" dirty="0"/>
                        <a:t>ter</a:t>
                      </a:r>
                      <a:r>
                        <a:rPr lang="en-IE" sz="1800" b="1" dirty="0"/>
                        <a:t> </a:t>
                      </a:r>
                      <a:r>
                        <a:rPr lang="en-IE" sz="1800" dirty="0"/>
                        <a:t>methods to modify and view the fields values</a:t>
                      </a:r>
                      <a:endParaRPr lang="en-IE" sz="1800" b="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bl>
          </a:graphicData>
        </a:graphic>
      </p:graphicFrame>
      <p:sp>
        <p:nvSpPr>
          <p:cNvPr id="7" name="Footer Placeholder 6">
            <a:extLst>
              <a:ext uri="{FF2B5EF4-FFF2-40B4-BE49-F238E27FC236}">
                <a16:creationId xmlns:a16="http://schemas.microsoft.com/office/drawing/2014/main" id="{65F0FCB3-964C-48B4-9C8B-973A6DEB1BA2}"/>
              </a:ext>
            </a:extLst>
          </p:cNvPr>
          <p:cNvSpPr>
            <a:spLocks noGrp="1"/>
          </p:cNvSpPr>
          <p:nvPr>
            <p:ph type="ftr" sz="quarter" idx="3"/>
          </p:nvPr>
        </p:nvSpPr>
        <p:spPr/>
        <p:txBody>
          <a:bodyPr/>
          <a:lstStyle/>
          <a:p>
            <a:r>
              <a:rPr lang="en-IE"/>
              <a:t>https://www.java.com</a:t>
            </a:r>
            <a:endParaRPr lang="en-IE" dirty="0"/>
          </a:p>
        </p:txBody>
      </p:sp>
      <p:sp>
        <p:nvSpPr>
          <p:cNvPr id="8" name="Slide Number Placeholder 7">
            <a:extLst>
              <a:ext uri="{FF2B5EF4-FFF2-40B4-BE49-F238E27FC236}">
                <a16:creationId xmlns:a16="http://schemas.microsoft.com/office/drawing/2014/main" id="{6912B112-5FC6-F4E5-4D54-1F3F59A47D44}"/>
              </a:ext>
            </a:extLst>
          </p:cNvPr>
          <p:cNvSpPr>
            <a:spLocks noGrp="1"/>
          </p:cNvSpPr>
          <p:nvPr>
            <p:ph type="sldNum" sz="quarter" idx="2"/>
          </p:nvPr>
        </p:nvSpPr>
        <p:spPr/>
        <p:txBody>
          <a:bodyPr/>
          <a:lstStyle/>
          <a:p>
            <a:pPr lvl="0"/>
            <a:fld id="{86CB4B4D-7CA3-9044-876B-883B54F8677D}" type="slidenum">
              <a:rPr lang="en-IE" smtClean="0"/>
              <a:t>7</a:t>
            </a:fld>
            <a:endParaRPr lang="en-IE" dirty="0"/>
          </a:p>
        </p:txBody>
      </p:sp>
    </p:spTree>
    <p:custDataLst>
      <p:tags r:id="rId1"/>
    </p:custDataLst>
    <p:extLst>
      <p:ext uri="{BB962C8B-B14F-4D97-AF65-F5344CB8AC3E}">
        <p14:creationId xmlns:p14="http://schemas.microsoft.com/office/powerpoint/2010/main" val="403485490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a:t>Access Modifiers</a:t>
            </a:r>
          </a:p>
        </p:txBody>
      </p:sp>
      <p:sp>
        <p:nvSpPr>
          <p:cNvPr id="3" name="Content Placeholder 2"/>
          <p:cNvSpPr>
            <a:spLocks noGrp="1"/>
          </p:cNvSpPr>
          <p:nvPr>
            <p:ph idx="1"/>
          </p:nvPr>
        </p:nvSpPr>
        <p:spPr/>
        <p:txBody>
          <a:bodyPr>
            <a:normAutofit/>
          </a:bodyPr>
          <a:lstStyle/>
          <a:p>
            <a:r>
              <a:rPr lang="en-IE" dirty="0"/>
              <a:t>Java provides a number of access modifiers to set access levels for classes, fields, methods and constructors. </a:t>
            </a:r>
          </a:p>
          <a:p>
            <a:r>
              <a:rPr lang="en-IE" dirty="0"/>
              <a:t>The </a:t>
            </a:r>
            <a:r>
              <a:rPr lang="en-IE" b="1" dirty="0"/>
              <a:t>four access levels </a:t>
            </a:r>
            <a:r>
              <a:rPr lang="en-IE" dirty="0"/>
              <a:t>are:</a:t>
            </a:r>
          </a:p>
          <a:p>
            <a:pPr lvl="1"/>
            <a:r>
              <a:rPr lang="en-IE" dirty="0"/>
              <a:t>Visible to the </a:t>
            </a:r>
            <a:r>
              <a:rPr lang="en-IE" b="1" dirty="0">
                <a:solidFill>
                  <a:srgbClr val="598CBE"/>
                </a:solidFill>
              </a:rPr>
              <a:t>package</a:t>
            </a:r>
            <a:r>
              <a:rPr lang="en-IE" dirty="0"/>
              <a:t>, the default. No modifiers needed</a:t>
            </a:r>
          </a:p>
          <a:p>
            <a:pPr lvl="1"/>
            <a:r>
              <a:rPr lang="en-IE" dirty="0"/>
              <a:t>Visible to the class only (</a:t>
            </a:r>
            <a:r>
              <a:rPr lang="en-IE" b="1" dirty="0">
                <a:solidFill>
                  <a:srgbClr val="598CBE"/>
                </a:solidFill>
              </a:rPr>
              <a:t>private</a:t>
            </a:r>
            <a:r>
              <a:rPr lang="en-IE" dirty="0"/>
              <a:t>)</a:t>
            </a:r>
          </a:p>
          <a:p>
            <a:pPr lvl="1"/>
            <a:r>
              <a:rPr lang="en-IE" dirty="0"/>
              <a:t>Visible to the world (</a:t>
            </a:r>
            <a:r>
              <a:rPr lang="en-IE" b="1" dirty="0">
                <a:solidFill>
                  <a:srgbClr val="598CBE"/>
                </a:solidFill>
              </a:rPr>
              <a:t>public</a:t>
            </a:r>
            <a:r>
              <a:rPr lang="en-IE" dirty="0"/>
              <a:t>)</a:t>
            </a:r>
          </a:p>
          <a:p>
            <a:pPr lvl="1"/>
            <a:r>
              <a:rPr lang="en-IE" dirty="0"/>
              <a:t>Visible to the package </a:t>
            </a:r>
            <a:r>
              <a:rPr lang="en-IE" b="1" dirty="0"/>
              <a:t>and</a:t>
            </a:r>
            <a:r>
              <a:rPr lang="en-IE" dirty="0"/>
              <a:t> all subclasses (</a:t>
            </a:r>
            <a:r>
              <a:rPr lang="en-IE" b="1" dirty="0">
                <a:solidFill>
                  <a:srgbClr val="598CBE"/>
                </a:solidFill>
              </a:rPr>
              <a:t>protected</a:t>
            </a:r>
            <a:r>
              <a:rPr lang="en-IE" dirty="0"/>
              <a:t>)</a:t>
            </a:r>
          </a:p>
          <a:p>
            <a:endParaRPr lang="en-IE" dirty="0"/>
          </a:p>
        </p:txBody>
      </p:sp>
      <p:sp>
        <p:nvSpPr>
          <p:cNvPr id="5" name="Rectangle 4"/>
          <p:cNvSpPr/>
          <p:nvPr/>
        </p:nvSpPr>
        <p:spPr>
          <a:xfrm>
            <a:off x="642469" y="2462475"/>
            <a:ext cx="7315826" cy="2092910"/>
          </a:xfrm>
          <a:prstGeom prst="rect">
            <a:avLst/>
          </a:prstGeom>
          <a:noFill/>
          <a:ln w="44450">
            <a:solidFill>
              <a:srgbClr val="598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66737" rtl="0"/>
            <a:endParaRPr lang="en-IE" sz="1688"/>
          </a:p>
        </p:txBody>
      </p:sp>
      <p:sp>
        <p:nvSpPr>
          <p:cNvPr id="6" name="Footer Placeholder 5">
            <a:extLst>
              <a:ext uri="{FF2B5EF4-FFF2-40B4-BE49-F238E27FC236}">
                <a16:creationId xmlns:a16="http://schemas.microsoft.com/office/drawing/2014/main" id="{40849563-2718-8985-5687-B4D9869C2DCD}"/>
              </a:ext>
            </a:extLst>
          </p:cNvPr>
          <p:cNvSpPr>
            <a:spLocks noGrp="1"/>
          </p:cNvSpPr>
          <p:nvPr>
            <p:ph type="ftr" sz="quarter" idx="3"/>
          </p:nvPr>
        </p:nvSpPr>
        <p:spPr/>
        <p:txBody>
          <a:bodyPr/>
          <a:lstStyle/>
          <a:p>
            <a:r>
              <a:rPr lang="en-IE"/>
              <a:t>https://www.java.com</a:t>
            </a:r>
            <a:endParaRPr lang="en-IE" dirty="0"/>
          </a:p>
        </p:txBody>
      </p:sp>
      <p:sp>
        <p:nvSpPr>
          <p:cNvPr id="7" name="Slide Number Placeholder 6">
            <a:extLst>
              <a:ext uri="{FF2B5EF4-FFF2-40B4-BE49-F238E27FC236}">
                <a16:creationId xmlns:a16="http://schemas.microsoft.com/office/drawing/2014/main" id="{74833C2C-5688-CCE9-9177-DCFDECB388EA}"/>
              </a:ext>
            </a:extLst>
          </p:cNvPr>
          <p:cNvSpPr>
            <a:spLocks noGrp="1"/>
          </p:cNvSpPr>
          <p:nvPr>
            <p:ph type="sldNum" sz="quarter" idx="2"/>
          </p:nvPr>
        </p:nvSpPr>
        <p:spPr/>
        <p:txBody>
          <a:bodyPr/>
          <a:lstStyle/>
          <a:p>
            <a:pPr lvl="0"/>
            <a:fld id="{86CB4B4D-7CA3-9044-876B-883B54F8677D}" type="slidenum">
              <a:rPr lang="en-IE" smtClean="0"/>
              <a:t>8</a:t>
            </a:fld>
            <a:endParaRPr lang="en-IE" dirty="0"/>
          </a:p>
        </p:txBody>
      </p:sp>
    </p:spTree>
    <p:custDataLst>
      <p:tags r:id="rId1"/>
    </p:custDataLst>
    <p:extLst>
      <p:ext uri="{BB962C8B-B14F-4D97-AF65-F5344CB8AC3E}">
        <p14:creationId xmlns:p14="http://schemas.microsoft.com/office/powerpoint/2010/main" val="229649294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par>
                          <p:cTn id="15" fill="hold">
                            <p:stCondLst>
                              <p:cond delay="0"/>
                            </p:stCondLst>
                            <p:childTnLst>
                              <p:par>
                                <p:cTn id="16" presetID="21" presetClass="entr" presetSubtype="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wheel(1)">
                                      <p:cBhvr>
                                        <p:cTn id="18"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b="1" dirty="0"/>
              <a:t>Access Modifiers</a:t>
            </a:r>
          </a:p>
        </p:txBody>
      </p:sp>
      <p:sp>
        <p:nvSpPr>
          <p:cNvPr id="3" name="Content Placeholder 2"/>
          <p:cNvSpPr>
            <a:spLocks noGrp="1"/>
          </p:cNvSpPr>
          <p:nvPr>
            <p:ph idx="1"/>
          </p:nvPr>
        </p:nvSpPr>
        <p:spPr/>
        <p:txBody>
          <a:bodyPr>
            <a:normAutofit/>
          </a:bodyPr>
          <a:lstStyle/>
          <a:p>
            <a:r>
              <a:rPr lang="en-IE" dirty="0"/>
              <a:t>Java provides a number of access modifiers to set access levels for classes, fields, methods and constructors. </a:t>
            </a:r>
          </a:p>
          <a:p>
            <a:r>
              <a:rPr lang="en-IE" dirty="0"/>
              <a:t>The </a:t>
            </a:r>
            <a:r>
              <a:rPr lang="en-IE" b="1" dirty="0"/>
              <a:t>four access levels </a:t>
            </a:r>
            <a:r>
              <a:rPr lang="en-IE" dirty="0"/>
              <a:t>are:</a:t>
            </a:r>
          </a:p>
          <a:p>
            <a:pPr lvl="1"/>
            <a:r>
              <a:rPr lang="en-IE" dirty="0"/>
              <a:t>Visible to the </a:t>
            </a:r>
            <a:r>
              <a:rPr lang="en-IE" b="1" dirty="0">
                <a:solidFill>
                  <a:srgbClr val="598CBE"/>
                </a:solidFill>
              </a:rPr>
              <a:t>package</a:t>
            </a:r>
            <a:r>
              <a:rPr lang="en-IE" dirty="0"/>
              <a:t>, the default. No modifiers needed.</a:t>
            </a:r>
          </a:p>
          <a:p>
            <a:pPr lvl="1"/>
            <a:r>
              <a:rPr lang="en-IE" dirty="0"/>
              <a:t>Visible to the class only (</a:t>
            </a:r>
            <a:r>
              <a:rPr lang="en-IE" b="1" dirty="0">
                <a:solidFill>
                  <a:srgbClr val="598CBE"/>
                </a:solidFill>
              </a:rPr>
              <a:t>private</a:t>
            </a:r>
            <a:r>
              <a:rPr lang="en-IE" dirty="0"/>
              <a:t>)</a:t>
            </a:r>
          </a:p>
          <a:p>
            <a:pPr lvl="1"/>
            <a:r>
              <a:rPr lang="en-IE" dirty="0"/>
              <a:t>Visible to the world (</a:t>
            </a:r>
            <a:r>
              <a:rPr lang="en-IE" b="1" dirty="0">
                <a:solidFill>
                  <a:srgbClr val="598CBE"/>
                </a:solidFill>
              </a:rPr>
              <a:t>public</a:t>
            </a:r>
            <a:r>
              <a:rPr lang="en-IE" dirty="0"/>
              <a:t>)</a:t>
            </a:r>
          </a:p>
          <a:p>
            <a:pPr lvl="1"/>
            <a:r>
              <a:rPr lang="en-IE" dirty="0"/>
              <a:t>Visible to the package and all subclasses (</a:t>
            </a:r>
            <a:r>
              <a:rPr lang="en-IE" b="1" dirty="0">
                <a:solidFill>
                  <a:srgbClr val="598CBE"/>
                </a:solidFill>
              </a:rPr>
              <a:t>protected</a:t>
            </a:r>
            <a:r>
              <a:rPr lang="en-IE" dirty="0"/>
              <a:t>)</a:t>
            </a:r>
          </a:p>
          <a:p>
            <a:endParaRPr lang="en-IE" dirty="0"/>
          </a:p>
        </p:txBody>
      </p:sp>
      <p:sp>
        <p:nvSpPr>
          <p:cNvPr id="5" name="Rectangle 4"/>
          <p:cNvSpPr/>
          <p:nvPr/>
        </p:nvSpPr>
        <p:spPr>
          <a:xfrm>
            <a:off x="976062" y="3234584"/>
            <a:ext cx="4396037" cy="824950"/>
          </a:xfrm>
          <a:prstGeom prst="rect">
            <a:avLst/>
          </a:prstGeom>
          <a:noFill/>
          <a:ln w="44450">
            <a:solidFill>
              <a:srgbClr val="598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66737" rtl="0"/>
            <a:endParaRPr lang="en-IE" sz="1688"/>
          </a:p>
        </p:txBody>
      </p:sp>
      <p:sp>
        <p:nvSpPr>
          <p:cNvPr id="6" name="Arrow: Left 4">
            <a:extLst>
              <a:ext uri="{FF2B5EF4-FFF2-40B4-BE49-F238E27FC236}">
                <a16:creationId xmlns:a16="http://schemas.microsoft.com/office/drawing/2014/main" id="{19519461-4265-77DB-B05A-ED21C8CA2E5E}"/>
              </a:ext>
            </a:extLst>
          </p:cNvPr>
          <p:cNvSpPr/>
          <p:nvPr/>
        </p:nvSpPr>
        <p:spPr>
          <a:xfrm>
            <a:off x="5952625" y="3086751"/>
            <a:ext cx="2795837" cy="97155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688" dirty="0"/>
              <a:t>We will focus on these this semester</a:t>
            </a:r>
          </a:p>
        </p:txBody>
      </p:sp>
      <p:sp>
        <p:nvSpPr>
          <p:cNvPr id="7" name="Footer Placeholder 6">
            <a:extLst>
              <a:ext uri="{FF2B5EF4-FFF2-40B4-BE49-F238E27FC236}">
                <a16:creationId xmlns:a16="http://schemas.microsoft.com/office/drawing/2014/main" id="{5B67801B-E489-0F02-AF63-93D88AA70BC0}"/>
              </a:ext>
            </a:extLst>
          </p:cNvPr>
          <p:cNvSpPr>
            <a:spLocks noGrp="1"/>
          </p:cNvSpPr>
          <p:nvPr>
            <p:ph type="ftr" sz="quarter" idx="3"/>
          </p:nvPr>
        </p:nvSpPr>
        <p:spPr/>
        <p:txBody>
          <a:bodyPr/>
          <a:lstStyle/>
          <a:p>
            <a:r>
              <a:rPr lang="en-IE"/>
              <a:t>https://www.java.com</a:t>
            </a:r>
            <a:endParaRPr lang="en-IE" dirty="0"/>
          </a:p>
        </p:txBody>
      </p:sp>
      <p:sp>
        <p:nvSpPr>
          <p:cNvPr id="8" name="Slide Number Placeholder 7">
            <a:extLst>
              <a:ext uri="{FF2B5EF4-FFF2-40B4-BE49-F238E27FC236}">
                <a16:creationId xmlns:a16="http://schemas.microsoft.com/office/drawing/2014/main" id="{898842E4-75DF-89C9-B774-728065C9CEFF}"/>
              </a:ext>
            </a:extLst>
          </p:cNvPr>
          <p:cNvSpPr>
            <a:spLocks noGrp="1"/>
          </p:cNvSpPr>
          <p:nvPr>
            <p:ph type="sldNum" sz="quarter" idx="2"/>
          </p:nvPr>
        </p:nvSpPr>
        <p:spPr/>
        <p:txBody>
          <a:bodyPr/>
          <a:lstStyle/>
          <a:p>
            <a:pPr lvl="0"/>
            <a:fld id="{86CB4B4D-7CA3-9044-876B-883B54F8677D}" type="slidenum">
              <a:rPr lang="en-IE" smtClean="0"/>
              <a:t>9</a:t>
            </a:fld>
            <a:endParaRPr lang="en-IE" dirty="0"/>
          </a:p>
        </p:txBody>
      </p:sp>
    </p:spTree>
    <p:custDataLst>
      <p:tags r:id="rId1"/>
    </p:custDataLst>
    <p:extLst>
      <p:ext uri="{BB962C8B-B14F-4D97-AF65-F5344CB8AC3E}">
        <p14:creationId xmlns:p14="http://schemas.microsoft.com/office/powerpoint/2010/main" val="311679403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71681"/>
            <a:ext cx="4806645" cy="1102519"/>
          </a:xfrm>
        </p:spPr>
        <p:txBody>
          <a:bodyPr/>
          <a:lstStyle/>
          <a:p>
            <a:pPr>
              <a:spcBef>
                <a:spcPts val="633"/>
              </a:spcBef>
            </a:pPr>
            <a:r>
              <a:rPr lang="en-IE" sz="3600" dirty="0">
                <a:solidFill>
                  <a:schemeClr val="tx1"/>
                </a:solidFill>
              </a:rPr>
              <a:t>Spot and Encapsulation</a:t>
            </a:r>
            <a:endParaRPr lang="en-IE" sz="3600" b="1" dirty="0">
              <a:solidFill>
                <a:srgbClr val="0368FF"/>
              </a:solidFill>
            </a:endParaRPr>
          </a:p>
        </p:txBody>
      </p:sp>
      <p:pic>
        <p:nvPicPr>
          <p:cNvPr id="4" name="Picture 2">
            <a:extLst>
              <a:ext uri="{FF2B5EF4-FFF2-40B4-BE49-F238E27FC236}">
                <a16:creationId xmlns:a16="http://schemas.microsoft.com/office/drawing/2014/main" id="{80B48627-70FE-4B45-9414-DD660DBF2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256709" y="1722350"/>
            <a:ext cx="2630581" cy="2630581"/>
          </a:xfrm>
          <a:prstGeom prst="rect">
            <a:avLst/>
          </a:prstGeom>
          <a:noFill/>
          <a:ln w="38100">
            <a:noFill/>
          </a:ln>
          <a:effectLst>
            <a:outerShdw blurRad="50800" dist="1016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10</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Tree>
    <p:extLst>
      <p:ext uri="{BB962C8B-B14F-4D97-AF65-F5344CB8AC3E}">
        <p14:creationId xmlns:p14="http://schemas.microsoft.com/office/powerpoint/2010/main" val="1795853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71681"/>
            <a:ext cx="4806645" cy="1102519"/>
          </a:xfrm>
        </p:spPr>
        <p:txBody>
          <a:bodyPr/>
          <a:lstStyle/>
          <a:p>
            <a:pPr>
              <a:spcBef>
                <a:spcPts val="633"/>
              </a:spcBef>
            </a:pPr>
            <a:r>
              <a:rPr lang="en-IE" sz="3600" dirty="0">
                <a:solidFill>
                  <a:schemeClr val="tx1"/>
                </a:solidFill>
              </a:rPr>
              <a:t>Spot and Encapsulation</a:t>
            </a:r>
            <a:endParaRPr lang="en-IE" sz="3600" b="1" dirty="0">
              <a:solidFill>
                <a:srgbClr val="0368FF"/>
              </a:solidFill>
            </a:endParaRPr>
          </a:p>
        </p:txBody>
      </p:sp>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11</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
        <p:nvSpPr>
          <p:cNvPr id="6" name="Subtitle 2">
            <a:extLst>
              <a:ext uri="{FF2B5EF4-FFF2-40B4-BE49-F238E27FC236}">
                <a16:creationId xmlns:a16="http://schemas.microsoft.com/office/drawing/2014/main" id="{A06C1155-22B2-5831-3B2A-691EF6B69CBB}"/>
              </a:ext>
            </a:extLst>
          </p:cNvPr>
          <p:cNvSpPr>
            <a:spLocks noGrp="1"/>
          </p:cNvSpPr>
          <p:nvPr>
            <p:ph type="subTitle" idx="1"/>
          </p:nvPr>
        </p:nvSpPr>
        <p:spPr>
          <a:xfrm>
            <a:off x="1770139" y="1918519"/>
            <a:ext cx="5603721" cy="2266463"/>
          </a:xfrm>
        </p:spPr>
        <p:txBody>
          <a:bodyPr/>
          <a:lstStyle/>
          <a:p>
            <a:r>
              <a:rPr lang="en-IE" sz="2800" b="1" dirty="0">
                <a:solidFill>
                  <a:schemeClr val="tx1"/>
                </a:solidFill>
              </a:rPr>
              <a:t>Step 1</a:t>
            </a:r>
            <a:br>
              <a:rPr lang="en-IE" sz="2800" b="1" dirty="0">
                <a:solidFill>
                  <a:srgbClr val="598CBE"/>
                </a:solidFill>
              </a:rPr>
            </a:br>
            <a:br>
              <a:rPr lang="en-IE" sz="2800" b="1" dirty="0">
                <a:solidFill>
                  <a:srgbClr val="598CBE"/>
                </a:solidFill>
              </a:rPr>
            </a:br>
            <a:r>
              <a:rPr lang="en-IE" sz="2800" b="1" dirty="0">
                <a:solidFill>
                  <a:srgbClr val="598CBE"/>
                </a:solidFill>
              </a:rPr>
              <a:t>Wrap</a:t>
            </a:r>
            <a:r>
              <a:rPr lang="en-IE" sz="2800" dirty="0"/>
              <a:t> </a:t>
            </a:r>
            <a:r>
              <a:rPr lang="en-IE" sz="2800" dirty="0">
                <a:solidFill>
                  <a:schemeClr val="tx1"/>
                </a:solidFill>
              </a:rPr>
              <a:t>the data (fields) and code acting on the data (methods) together as single unit</a:t>
            </a:r>
            <a:endParaRPr lang="en-US" sz="2800" dirty="0">
              <a:solidFill>
                <a:schemeClr val="tx1"/>
              </a:solidFill>
            </a:endParaRPr>
          </a:p>
        </p:txBody>
      </p:sp>
    </p:spTree>
    <p:extLst>
      <p:ext uri="{BB962C8B-B14F-4D97-AF65-F5344CB8AC3E}">
        <p14:creationId xmlns:p14="http://schemas.microsoft.com/office/powerpoint/2010/main" val="36576829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FD2BEED-5F49-A57D-05A7-468443CE29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7" r="40879" b="53745"/>
          <a:stretch/>
        </p:blipFill>
        <p:spPr bwMode="auto">
          <a:xfrm>
            <a:off x="3657600" y="2023264"/>
            <a:ext cx="4591455" cy="26921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9CE6E25-B2E5-48A7-D507-719F8E0E79B6}"/>
              </a:ext>
            </a:extLst>
          </p:cNvPr>
          <p:cNvSpPr txBox="1"/>
          <p:nvPr/>
        </p:nvSpPr>
        <p:spPr>
          <a:xfrm>
            <a:off x="121444" y="2411244"/>
            <a:ext cx="3429152" cy="110799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1650" b="1" dirty="0">
                <a:solidFill>
                  <a:srgbClr val="598CBE"/>
                </a:solidFill>
              </a:rPr>
              <a:t>Encapsulation step 1 </a:t>
            </a:r>
            <a:r>
              <a:rPr lang="en-IE" sz="1650" dirty="0"/>
              <a:t>is complete; </a:t>
            </a:r>
            <a:br>
              <a:rPr lang="en-IE" sz="1650" dirty="0"/>
            </a:br>
            <a:r>
              <a:rPr lang="en-IE" sz="1650" dirty="0"/>
              <a:t>all fields, constructors and methods  </a:t>
            </a:r>
            <a:br>
              <a:rPr lang="en-IE" sz="1650" dirty="0"/>
            </a:br>
            <a:r>
              <a:rPr lang="en-IE" sz="1650" dirty="0"/>
              <a:t>are all in a single unit, called Spot.</a:t>
            </a:r>
          </a:p>
        </p:txBody>
      </p:sp>
      <p:sp>
        <p:nvSpPr>
          <p:cNvPr id="2" name="Footer Placeholder 1">
            <a:extLst>
              <a:ext uri="{FF2B5EF4-FFF2-40B4-BE49-F238E27FC236}">
                <a16:creationId xmlns:a16="http://schemas.microsoft.com/office/drawing/2014/main" id="{BDDADDB3-81BD-7B2E-5441-5328336D47FE}"/>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9A7BE639-FEB1-B7E0-6B6A-31CFC7C813F3}"/>
              </a:ext>
            </a:extLst>
          </p:cNvPr>
          <p:cNvSpPr>
            <a:spLocks noGrp="1"/>
          </p:cNvSpPr>
          <p:nvPr>
            <p:ph type="sldNum" sz="quarter" idx="12"/>
          </p:nvPr>
        </p:nvSpPr>
        <p:spPr/>
        <p:txBody>
          <a:bodyPr/>
          <a:lstStyle/>
          <a:p>
            <a:fld id="{B6F15528-21DE-4FAA-801E-634DDDAF4B2B}" type="slidenum">
              <a:rPr lang="en-US" smtClean="0"/>
              <a:pPr/>
              <a:t>12</a:t>
            </a:fld>
            <a:endParaRPr lang="en-US"/>
          </a:p>
        </p:txBody>
      </p:sp>
      <p:graphicFrame>
        <p:nvGraphicFramePr>
          <p:cNvPr id="4" name="Table 3">
            <a:extLst>
              <a:ext uri="{FF2B5EF4-FFF2-40B4-BE49-F238E27FC236}">
                <a16:creationId xmlns:a16="http://schemas.microsoft.com/office/drawing/2014/main" id="{CC9CD83A-97C3-1AE7-FC6F-F24F3F17581F}"/>
              </a:ext>
            </a:extLst>
          </p:cNvPr>
          <p:cNvGraphicFramePr>
            <a:graphicFrameLocks noGrp="1"/>
          </p:cNvGraphicFramePr>
          <p:nvPr>
            <p:extLst>
              <p:ext uri="{D42A27DB-BD31-4B8C-83A1-F6EECF244321}">
                <p14:modId xmlns:p14="http://schemas.microsoft.com/office/powerpoint/2010/main" val="2806383782"/>
              </p:ext>
            </p:extLst>
          </p:nvPr>
        </p:nvGraphicFramePr>
        <p:xfrm>
          <a:off x="457200" y="65719"/>
          <a:ext cx="7886700" cy="2019749"/>
        </p:xfrm>
        <a:graphic>
          <a:graphicData uri="http://schemas.openxmlformats.org/drawingml/2006/table">
            <a:tbl>
              <a:tblPr firstRow="1" bandRow="1">
                <a:tableStyleId>{9DCAF9ED-07DC-4A11-8D7F-57B35C25682E}</a:tableStyleId>
              </a:tblPr>
              <a:tblGrid>
                <a:gridCol w="37719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9668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1800" dirty="0"/>
                        <a:t>Encapsulation Step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tc>
                  <a:txBody>
                    <a:bodyPr/>
                    <a:lstStyle/>
                    <a:p>
                      <a:pPr algn="ctr"/>
                      <a:r>
                        <a:rPr lang="en-IE" sz="1800" dirty="0"/>
                        <a:t>Approach</a:t>
                      </a:r>
                      <a:r>
                        <a:rPr lang="en-IE" sz="1800" baseline="0" dirty="0"/>
                        <a:t> in Java</a:t>
                      </a:r>
                      <a:endParaRPr lang="en-IE"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extLst>
                  <a:ext uri="{0D108BD9-81ED-4DB2-BD59-A6C34878D82A}">
                    <a16:rowId xmlns:a16="http://schemas.microsoft.com/office/drawing/2014/main" val="10000"/>
                  </a:ext>
                </a:extLst>
              </a:tr>
              <a:tr h="15773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1. </a:t>
                      </a:r>
                      <a:r>
                        <a:rPr lang="en-IE" sz="1800" b="1" dirty="0">
                          <a:solidFill>
                            <a:srgbClr val="598CBE"/>
                          </a:solidFill>
                        </a:rPr>
                        <a:t>Wrap</a:t>
                      </a:r>
                      <a:r>
                        <a:rPr lang="en-IE" sz="1800" dirty="0"/>
                        <a:t> the data (fields) and code acting on the data (methods) together as single unit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eaLnBrk="1" hangingPunct="1"/>
                      <a:r>
                        <a:rPr lang="en-US" sz="1700" b="1" dirty="0">
                          <a:solidFill>
                            <a:srgbClr val="598CBE"/>
                          </a:solidFill>
                          <a:latin typeface="Monaco" pitchFamily="2" charset="77"/>
                          <a:cs typeface="Times" pitchFamily="-32" charset="0"/>
                        </a:rPr>
                        <a:t>public</a:t>
                      </a:r>
                      <a:r>
                        <a:rPr lang="en-US" sz="1700" dirty="0">
                          <a:solidFill>
                            <a:schemeClr val="tx1"/>
                          </a:solidFill>
                          <a:latin typeface="Monaco" pitchFamily="2" charset="77"/>
                          <a:cs typeface="Times" pitchFamily="-32" charset="0"/>
                        </a:rPr>
                        <a:t> class </a:t>
                      </a:r>
                      <a:r>
                        <a:rPr lang="en-US" sz="1700" i="1" dirty="0" err="1">
                          <a:solidFill>
                            <a:schemeClr val="tx1"/>
                          </a:solidFill>
                          <a:latin typeface="Monaco" pitchFamily="2" charset="77"/>
                          <a:cs typeface="Times" pitchFamily="-32" charset="0"/>
                        </a:rPr>
                        <a:t>ClassName</a:t>
                      </a:r>
                      <a:endParaRPr lang="en-US" sz="1700" dirty="0">
                        <a:solidFill>
                          <a:schemeClr val="tx1"/>
                        </a:solidFill>
                        <a:latin typeface="Monaco" pitchFamily="2" charset="77"/>
                        <a:cs typeface="Times" pitchFamily="-32" charset="0"/>
                      </a:endParaRPr>
                    </a:p>
                    <a:p>
                      <a:pPr algn="l" eaLnBrk="1" hangingPunct="1"/>
                      <a:r>
                        <a:rPr lang="en-US" sz="1700" dirty="0">
                          <a:solidFill>
                            <a:schemeClr val="tx1"/>
                          </a:solidFill>
                          <a:latin typeface="Monaco" pitchFamily="2" charset="77"/>
                          <a:cs typeface="Times" pitchFamily="-32" charset="0"/>
                        </a:rPr>
                        <a:t>{</a:t>
                      </a:r>
                    </a:p>
                    <a:p>
                      <a:pPr algn="l" eaLnBrk="1" hangingPunct="1"/>
                      <a:r>
                        <a:rPr lang="en-US" sz="1700" dirty="0">
                          <a:solidFill>
                            <a:schemeClr val="tx1"/>
                          </a:solidFill>
                          <a:latin typeface="Monaco" pitchFamily="2" charset="77"/>
                          <a:cs typeface="Times" pitchFamily="-32" charset="0"/>
                        </a:rPr>
                        <a:t>  </a:t>
                      </a:r>
                      <a:r>
                        <a:rPr lang="en-US" sz="1700" b="0" dirty="0">
                          <a:solidFill>
                            <a:schemeClr val="tx1"/>
                          </a:solidFill>
                          <a:latin typeface="Monaco" pitchFamily="2" charset="77"/>
                          <a:cs typeface="Times" pitchFamily="-32" charset="0"/>
                        </a:rPr>
                        <a:t>  </a:t>
                      </a:r>
                      <a:r>
                        <a:rPr lang="en-US" sz="1700" b="0" i="1" dirty="0">
                          <a:solidFill>
                            <a:schemeClr val="tx1"/>
                          </a:solidFill>
                          <a:latin typeface="Monaco" pitchFamily="2" charset="77"/>
                          <a:cs typeface="Times" pitchFamily="-32" charset="0"/>
                        </a:rPr>
                        <a:t>Fields</a:t>
                      </a:r>
                      <a:endParaRPr lang="en-US" sz="1700" b="0" dirty="0">
                        <a:solidFill>
                          <a:schemeClr val="tx1"/>
                        </a:solidFill>
                        <a:latin typeface="Monaco" pitchFamily="2" charset="77"/>
                        <a:cs typeface="Times" pitchFamily="-32" charset="0"/>
                      </a:endParaRPr>
                    </a:p>
                    <a:p>
                      <a:pPr algn="l" eaLnBrk="1" hangingPunct="1"/>
                      <a:r>
                        <a:rPr lang="en-US" sz="1700" b="0" i="1" dirty="0">
                          <a:solidFill>
                            <a:schemeClr val="tx1"/>
                          </a:solidFill>
                          <a:latin typeface="Monaco" pitchFamily="2" charset="77"/>
                          <a:cs typeface="Times" pitchFamily="-32" charset="0"/>
                        </a:rPr>
                        <a:t>  </a:t>
                      </a:r>
                      <a:r>
                        <a:rPr lang="en-US" sz="1700" i="1" dirty="0">
                          <a:solidFill>
                            <a:schemeClr val="tx1"/>
                          </a:solidFill>
                          <a:latin typeface="Monaco" pitchFamily="2" charset="77"/>
                          <a:cs typeface="Times" pitchFamily="-32" charset="0"/>
                        </a:rPr>
                        <a:t>  Constructors</a:t>
                      </a:r>
                      <a:endParaRPr lang="en-US" sz="1700" dirty="0">
                        <a:solidFill>
                          <a:schemeClr val="tx1"/>
                        </a:solidFill>
                        <a:latin typeface="Monaco" pitchFamily="2" charset="77"/>
                        <a:cs typeface="Times" pitchFamily="-32" charset="0"/>
                      </a:endParaRPr>
                    </a:p>
                    <a:p>
                      <a:pPr algn="l" eaLnBrk="1" hangingPunct="1"/>
                      <a:r>
                        <a:rPr lang="en-US" sz="1700" i="1" dirty="0">
                          <a:solidFill>
                            <a:schemeClr val="tx1"/>
                          </a:solidFill>
                          <a:latin typeface="Monaco" pitchFamily="2" charset="77"/>
                          <a:cs typeface="Times" pitchFamily="-32" charset="0"/>
                        </a:rPr>
                        <a:t>    Methods</a:t>
                      </a:r>
                      <a:endParaRPr lang="en-US" sz="1700" dirty="0">
                        <a:solidFill>
                          <a:schemeClr val="tx1"/>
                        </a:solidFill>
                        <a:latin typeface="Monaco" pitchFamily="2" charset="77"/>
                        <a:cs typeface="Times" pitchFamily="-32" charset="0"/>
                      </a:endParaRPr>
                    </a:p>
                    <a:p>
                      <a:pPr algn="l" eaLnBrk="1" hangingPunct="1"/>
                      <a:r>
                        <a:rPr lang="en-US" sz="1700" dirty="0">
                          <a:solidFill>
                            <a:schemeClr val="tx1"/>
                          </a:solidFill>
                          <a:latin typeface="Monaco" pitchFamily="2" charset="77"/>
                          <a:cs typeface="Times" pitchFamily="-32" charset="0"/>
                        </a:rPr>
                        <a:t>}</a:t>
                      </a:r>
                      <a:r>
                        <a:rPr lang="en-US" sz="1700" dirty="0">
                          <a:solidFill>
                            <a:schemeClr val="tx1"/>
                          </a:solidFill>
                          <a:latin typeface="Monaco" pitchFamily="2" charset="77"/>
                        </a:rPr>
                        <a:t> </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cxnSp>
        <p:nvCxnSpPr>
          <p:cNvPr id="5" name="Straight Arrow Connector 4">
            <a:extLst>
              <a:ext uri="{FF2B5EF4-FFF2-40B4-BE49-F238E27FC236}">
                <a16:creationId xmlns:a16="http://schemas.microsoft.com/office/drawing/2014/main" id="{35AF3AB3-B0A4-2B62-D059-5FB8F8BE9993}"/>
              </a:ext>
            </a:extLst>
          </p:cNvPr>
          <p:cNvCxnSpPr>
            <a:cxnSpLocks/>
          </p:cNvCxnSpPr>
          <p:nvPr/>
        </p:nvCxnSpPr>
        <p:spPr>
          <a:xfrm flipH="1">
            <a:off x="7168145" y="2510625"/>
            <a:ext cx="956802" cy="311292"/>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4132330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71681"/>
            <a:ext cx="4806645" cy="1102519"/>
          </a:xfrm>
        </p:spPr>
        <p:txBody>
          <a:bodyPr/>
          <a:lstStyle/>
          <a:p>
            <a:pPr>
              <a:spcBef>
                <a:spcPts val="633"/>
              </a:spcBef>
            </a:pPr>
            <a:r>
              <a:rPr lang="en-IE" sz="3600" dirty="0">
                <a:solidFill>
                  <a:schemeClr val="tx1"/>
                </a:solidFill>
              </a:rPr>
              <a:t>Spot and Encapsulation</a:t>
            </a:r>
            <a:endParaRPr lang="en-IE" sz="3600" b="1" dirty="0">
              <a:solidFill>
                <a:srgbClr val="0368FF"/>
              </a:solidFill>
            </a:endParaRPr>
          </a:p>
        </p:txBody>
      </p:sp>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13</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
        <p:nvSpPr>
          <p:cNvPr id="6" name="Subtitle 2">
            <a:extLst>
              <a:ext uri="{FF2B5EF4-FFF2-40B4-BE49-F238E27FC236}">
                <a16:creationId xmlns:a16="http://schemas.microsoft.com/office/drawing/2014/main" id="{A06C1155-22B2-5831-3B2A-691EF6B69CBB}"/>
              </a:ext>
            </a:extLst>
          </p:cNvPr>
          <p:cNvSpPr>
            <a:spLocks noGrp="1"/>
          </p:cNvSpPr>
          <p:nvPr>
            <p:ph type="subTitle" idx="1"/>
          </p:nvPr>
        </p:nvSpPr>
        <p:spPr>
          <a:xfrm>
            <a:off x="1770139" y="1918519"/>
            <a:ext cx="5603721" cy="2266463"/>
          </a:xfrm>
        </p:spPr>
        <p:txBody>
          <a:bodyPr/>
          <a:lstStyle/>
          <a:p>
            <a:r>
              <a:rPr lang="en-IE" sz="2800" b="1" dirty="0">
                <a:solidFill>
                  <a:schemeClr val="tx1"/>
                </a:solidFill>
              </a:rPr>
              <a:t>Step 2</a:t>
            </a:r>
            <a:br>
              <a:rPr lang="en-IE" sz="2800" b="1" dirty="0">
                <a:solidFill>
                  <a:srgbClr val="598CBE"/>
                </a:solidFill>
              </a:rPr>
            </a:br>
            <a:br>
              <a:rPr lang="en-IE" sz="2800" b="1" dirty="0">
                <a:solidFill>
                  <a:srgbClr val="598CBE"/>
                </a:solidFill>
              </a:rPr>
            </a:br>
            <a:r>
              <a:rPr lang="en-IE" sz="2800" b="1" dirty="0">
                <a:solidFill>
                  <a:srgbClr val="598CBE"/>
                </a:solidFill>
              </a:rPr>
              <a:t>Hide</a:t>
            </a:r>
            <a:r>
              <a:rPr lang="en-IE" sz="2800" dirty="0"/>
              <a:t> </a:t>
            </a:r>
            <a:r>
              <a:rPr lang="en-IE" sz="2800" dirty="0">
                <a:solidFill>
                  <a:schemeClr val="tx1"/>
                </a:solidFill>
              </a:rPr>
              <a:t>the data (fields) from other Classes</a:t>
            </a:r>
            <a:endParaRPr lang="en-US" sz="2800" dirty="0">
              <a:solidFill>
                <a:schemeClr val="tx1"/>
              </a:solidFill>
            </a:endParaRPr>
          </a:p>
        </p:txBody>
      </p:sp>
    </p:spTree>
    <p:extLst>
      <p:ext uri="{BB962C8B-B14F-4D97-AF65-F5344CB8AC3E}">
        <p14:creationId xmlns:p14="http://schemas.microsoft.com/office/powerpoint/2010/main" val="2050167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C7546D8-2F35-91FC-DBF3-71F1041F6C19}"/>
              </a:ext>
            </a:extLst>
          </p:cNvPr>
          <p:cNvGraphicFramePr>
            <a:graphicFrameLocks noGrp="1"/>
          </p:cNvGraphicFramePr>
          <p:nvPr>
            <p:extLst>
              <p:ext uri="{D42A27DB-BD31-4B8C-83A1-F6EECF244321}">
                <p14:modId xmlns:p14="http://schemas.microsoft.com/office/powerpoint/2010/main" val="3403922970"/>
              </p:ext>
            </p:extLst>
          </p:nvPr>
        </p:nvGraphicFramePr>
        <p:xfrm>
          <a:off x="408634" y="531016"/>
          <a:ext cx="7886700" cy="694205"/>
        </p:xfrm>
        <a:graphic>
          <a:graphicData uri="http://schemas.openxmlformats.org/drawingml/2006/table">
            <a:tbl>
              <a:tblPr bandRow="1">
                <a:tableStyleId>{9DCAF9ED-07DC-4A11-8D7F-57B35C25682E}</a:tableStyleId>
              </a:tblPr>
              <a:tblGrid>
                <a:gridCol w="3771900">
                  <a:extLst>
                    <a:ext uri="{9D8B030D-6E8A-4147-A177-3AD203B41FA5}">
                      <a16:colId xmlns:a16="http://schemas.microsoft.com/office/drawing/2014/main" val="2285268917"/>
                    </a:ext>
                  </a:extLst>
                </a:gridCol>
                <a:gridCol w="4114800">
                  <a:extLst>
                    <a:ext uri="{9D8B030D-6E8A-4147-A177-3AD203B41FA5}">
                      <a16:colId xmlns:a16="http://schemas.microsoft.com/office/drawing/2014/main" val="1893604362"/>
                    </a:ext>
                  </a:extLst>
                </a:gridCol>
              </a:tblGrid>
              <a:tr h="694205">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2. </a:t>
                      </a:r>
                      <a:r>
                        <a:rPr lang="en-IE" sz="1800" b="1" kern="1200" dirty="0">
                          <a:solidFill>
                            <a:srgbClr val="598CBE"/>
                          </a:solidFill>
                          <a:latin typeface="+mn-lt"/>
                          <a:ea typeface="+mn-ea"/>
                          <a:cs typeface="+mn-cs"/>
                        </a:rPr>
                        <a:t>Hide</a:t>
                      </a:r>
                      <a:r>
                        <a:rPr lang="en-IE" sz="1800" dirty="0"/>
                        <a:t> </a:t>
                      </a:r>
                      <a:r>
                        <a:rPr lang="en-IE" sz="1800" b="0" dirty="0"/>
                        <a:t>the fields from other classes</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1800" b="1" dirty="0"/>
                        <a:t>Declare the fields of a class as </a:t>
                      </a:r>
                      <a:r>
                        <a:rPr lang="en-IE" sz="1800" b="1" u="sng" dirty="0">
                          <a:solidFill>
                            <a:srgbClr val="598CBE"/>
                          </a:solidFill>
                        </a:rPr>
                        <a:t>private</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112686"/>
                  </a:ext>
                </a:extLst>
              </a:tr>
            </a:tbl>
          </a:graphicData>
        </a:graphic>
      </p:graphicFrame>
      <p:pic>
        <p:nvPicPr>
          <p:cNvPr id="3074" name="Picture 2">
            <a:extLst>
              <a:ext uri="{FF2B5EF4-FFF2-40B4-BE49-F238E27FC236}">
                <a16:creationId xmlns:a16="http://schemas.microsoft.com/office/drawing/2014/main" id="{B3A7DC98-996E-4C3A-12F5-30453C274A2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37217" b="50000"/>
          <a:stretch/>
        </p:blipFill>
        <p:spPr bwMode="auto">
          <a:xfrm>
            <a:off x="171450" y="1159666"/>
            <a:ext cx="6058528" cy="346935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875BA1-E9FF-7B0A-2D17-4A196AAB2DB1}"/>
              </a:ext>
            </a:extLst>
          </p:cNvPr>
          <p:cNvSpPr txBox="1"/>
          <p:nvPr/>
        </p:nvSpPr>
        <p:spPr>
          <a:xfrm>
            <a:off x="6057900" y="2129325"/>
            <a:ext cx="2800350" cy="110799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1650" b="1" dirty="0">
                <a:solidFill>
                  <a:srgbClr val="598CBE"/>
                </a:solidFill>
              </a:rPr>
              <a:t>Encapsulation step 2 </a:t>
            </a:r>
          </a:p>
          <a:p>
            <a:r>
              <a:rPr lang="en-IE" sz="1650" dirty="0"/>
              <a:t>We have made our fields private, however our app is no longer </a:t>
            </a:r>
            <a:r>
              <a:rPr lang="en-IE" sz="1650" b="1" dirty="0">
                <a:solidFill>
                  <a:srgbClr val="FF0000"/>
                </a:solidFill>
              </a:rPr>
              <a:t>compiling</a:t>
            </a:r>
            <a:r>
              <a:rPr lang="en-IE" sz="1650" dirty="0"/>
              <a:t>!</a:t>
            </a:r>
          </a:p>
        </p:txBody>
      </p:sp>
      <p:graphicFrame>
        <p:nvGraphicFramePr>
          <p:cNvPr id="5" name="Table 4">
            <a:extLst>
              <a:ext uri="{FF2B5EF4-FFF2-40B4-BE49-F238E27FC236}">
                <a16:creationId xmlns:a16="http://schemas.microsoft.com/office/drawing/2014/main" id="{0ABBCBD3-6EE3-B6E7-2D04-5E41E3EE3CDA}"/>
              </a:ext>
            </a:extLst>
          </p:cNvPr>
          <p:cNvGraphicFramePr>
            <a:graphicFrameLocks noGrp="1"/>
          </p:cNvGraphicFramePr>
          <p:nvPr>
            <p:extLst>
              <p:ext uri="{D42A27DB-BD31-4B8C-83A1-F6EECF244321}">
                <p14:modId xmlns:p14="http://schemas.microsoft.com/office/powerpoint/2010/main" val="1274880848"/>
              </p:ext>
            </p:extLst>
          </p:nvPr>
        </p:nvGraphicFramePr>
        <p:xfrm>
          <a:off x="408634" y="145579"/>
          <a:ext cx="7886700" cy="396689"/>
        </p:xfrm>
        <a:graphic>
          <a:graphicData uri="http://schemas.openxmlformats.org/drawingml/2006/table">
            <a:tbl>
              <a:tblPr firstRow="1" bandRow="1">
                <a:tableStyleId>{9DCAF9ED-07DC-4A11-8D7F-57B35C25682E}</a:tableStyleId>
              </a:tblPr>
              <a:tblGrid>
                <a:gridCol w="3771900">
                  <a:extLst>
                    <a:ext uri="{9D8B030D-6E8A-4147-A177-3AD203B41FA5}">
                      <a16:colId xmlns:a16="http://schemas.microsoft.com/office/drawing/2014/main" val="3596747579"/>
                    </a:ext>
                  </a:extLst>
                </a:gridCol>
                <a:gridCol w="4114800">
                  <a:extLst>
                    <a:ext uri="{9D8B030D-6E8A-4147-A177-3AD203B41FA5}">
                      <a16:colId xmlns:a16="http://schemas.microsoft.com/office/drawing/2014/main" val="4005962415"/>
                    </a:ext>
                  </a:extLst>
                </a:gridCol>
              </a:tblGrid>
              <a:tr h="39668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1800" dirty="0"/>
                        <a:t>Encapsulation Step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tc>
                  <a:txBody>
                    <a:bodyPr/>
                    <a:lstStyle/>
                    <a:p>
                      <a:pPr algn="ctr"/>
                      <a:r>
                        <a:rPr lang="en-IE" sz="1800" dirty="0"/>
                        <a:t>Approach</a:t>
                      </a:r>
                      <a:r>
                        <a:rPr lang="en-IE" sz="1800" baseline="0" dirty="0"/>
                        <a:t> in Java</a:t>
                      </a:r>
                      <a:endParaRPr lang="en-IE"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extLst>
                  <a:ext uri="{0D108BD9-81ED-4DB2-BD59-A6C34878D82A}">
                    <a16:rowId xmlns:a16="http://schemas.microsoft.com/office/drawing/2014/main" val="567455816"/>
                  </a:ext>
                </a:extLst>
              </a:tr>
            </a:tbl>
          </a:graphicData>
        </a:graphic>
      </p:graphicFrame>
      <p:sp>
        <p:nvSpPr>
          <p:cNvPr id="2" name="Footer Placeholder 1">
            <a:extLst>
              <a:ext uri="{FF2B5EF4-FFF2-40B4-BE49-F238E27FC236}">
                <a16:creationId xmlns:a16="http://schemas.microsoft.com/office/drawing/2014/main" id="{9D89F3BB-17B1-42D8-9FEB-8CC3A9F36BF3}"/>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49CA15F0-53E8-E6AD-6CBE-FEDCC04ECCF9}"/>
              </a:ext>
            </a:extLst>
          </p:cNvPr>
          <p:cNvSpPr>
            <a:spLocks noGrp="1"/>
          </p:cNvSpPr>
          <p:nvPr>
            <p:ph type="sldNum" sz="quarter" idx="12"/>
          </p:nvPr>
        </p:nvSpPr>
        <p:spPr/>
        <p:txBody>
          <a:bodyPr/>
          <a:lstStyle/>
          <a:p>
            <a:fld id="{B6F15528-21DE-4FAA-801E-634DDDAF4B2B}" type="slidenum">
              <a:rPr lang="en-US" smtClean="0"/>
              <a:pPr/>
              <a:t>14</a:t>
            </a:fld>
            <a:endParaRPr lang="en-US"/>
          </a:p>
        </p:txBody>
      </p:sp>
      <p:cxnSp>
        <p:nvCxnSpPr>
          <p:cNvPr id="8" name="Straight Arrow Connector 7">
            <a:extLst>
              <a:ext uri="{FF2B5EF4-FFF2-40B4-BE49-F238E27FC236}">
                <a16:creationId xmlns:a16="http://schemas.microsoft.com/office/drawing/2014/main" id="{13506A51-44F7-1DCB-02C1-3C22652468A1}"/>
              </a:ext>
            </a:extLst>
          </p:cNvPr>
          <p:cNvCxnSpPr>
            <a:cxnSpLocks/>
          </p:cNvCxnSpPr>
          <p:nvPr/>
        </p:nvCxnSpPr>
        <p:spPr>
          <a:xfrm flipH="1" flipV="1">
            <a:off x="5000245" y="3226645"/>
            <a:ext cx="536397" cy="521391"/>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815785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EA4FCE9E-3064-D178-18D4-3F94654611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61" t="2830" r="26831" b="42223"/>
          <a:stretch/>
        </p:blipFill>
        <p:spPr bwMode="auto">
          <a:xfrm>
            <a:off x="566072" y="1372103"/>
            <a:ext cx="5663906" cy="3256922"/>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875BA1-E9FF-7B0A-2D17-4A196AAB2DB1}"/>
              </a:ext>
            </a:extLst>
          </p:cNvPr>
          <p:cNvSpPr txBox="1"/>
          <p:nvPr/>
        </p:nvSpPr>
        <p:spPr>
          <a:xfrm>
            <a:off x="6105526" y="1509921"/>
            <a:ext cx="2800350" cy="2123658"/>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IE" sz="1650" b="1" dirty="0">
                <a:solidFill>
                  <a:srgbClr val="598CBE"/>
                </a:solidFill>
              </a:rPr>
              <a:t>Encapsulation step 2 </a:t>
            </a:r>
          </a:p>
          <a:p>
            <a:r>
              <a:rPr lang="en-IE" sz="1650" dirty="0"/>
              <a:t>The problem lies in the Driver class:</a:t>
            </a:r>
          </a:p>
          <a:p>
            <a:pPr marL="257175" indent="-257175">
              <a:buFont typeface="Arial" panose="020B0604020202020204" pitchFamily="34" charset="0"/>
              <a:buChar char="•"/>
            </a:pPr>
            <a:r>
              <a:rPr lang="en-IE" sz="1650" dirty="0"/>
              <a:t>We are trying to directly access fields that are now private. </a:t>
            </a:r>
          </a:p>
          <a:p>
            <a:pPr marL="257175" indent="-257175">
              <a:buFont typeface="Arial" panose="020B0604020202020204" pitchFamily="34" charset="0"/>
              <a:buChar char="•"/>
            </a:pPr>
            <a:r>
              <a:rPr lang="en-IE" sz="1650" dirty="0"/>
              <a:t>These fields are no longer visible in Driver.</a:t>
            </a:r>
          </a:p>
        </p:txBody>
      </p:sp>
      <p:sp>
        <p:nvSpPr>
          <p:cNvPr id="2" name="Footer Placeholder 1">
            <a:extLst>
              <a:ext uri="{FF2B5EF4-FFF2-40B4-BE49-F238E27FC236}">
                <a16:creationId xmlns:a16="http://schemas.microsoft.com/office/drawing/2014/main" id="{65E14EBF-7A5D-6BF6-E68A-12589CC52240}"/>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5E7D61D1-1B4D-13F5-3F55-EF142DE654FC}"/>
              </a:ext>
            </a:extLst>
          </p:cNvPr>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8" name="Table 7">
            <a:extLst>
              <a:ext uri="{FF2B5EF4-FFF2-40B4-BE49-F238E27FC236}">
                <a16:creationId xmlns:a16="http://schemas.microsoft.com/office/drawing/2014/main" id="{3F97A089-0FBD-F522-3E4E-521CC852DD37}"/>
              </a:ext>
            </a:extLst>
          </p:cNvPr>
          <p:cNvGraphicFramePr>
            <a:graphicFrameLocks noGrp="1"/>
          </p:cNvGraphicFramePr>
          <p:nvPr>
            <p:extLst>
              <p:ext uri="{D42A27DB-BD31-4B8C-83A1-F6EECF244321}">
                <p14:modId xmlns:p14="http://schemas.microsoft.com/office/powerpoint/2010/main" val="1871359256"/>
              </p:ext>
            </p:extLst>
          </p:nvPr>
        </p:nvGraphicFramePr>
        <p:xfrm>
          <a:off x="408634" y="531016"/>
          <a:ext cx="7886700" cy="694205"/>
        </p:xfrm>
        <a:graphic>
          <a:graphicData uri="http://schemas.openxmlformats.org/drawingml/2006/table">
            <a:tbl>
              <a:tblPr bandRow="1">
                <a:tableStyleId>{9DCAF9ED-07DC-4A11-8D7F-57B35C25682E}</a:tableStyleId>
              </a:tblPr>
              <a:tblGrid>
                <a:gridCol w="3771900">
                  <a:extLst>
                    <a:ext uri="{9D8B030D-6E8A-4147-A177-3AD203B41FA5}">
                      <a16:colId xmlns:a16="http://schemas.microsoft.com/office/drawing/2014/main" val="2285268917"/>
                    </a:ext>
                  </a:extLst>
                </a:gridCol>
                <a:gridCol w="4114800">
                  <a:extLst>
                    <a:ext uri="{9D8B030D-6E8A-4147-A177-3AD203B41FA5}">
                      <a16:colId xmlns:a16="http://schemas.microsoft.com/office/drawing/2014/main" val="1893604362"/>
                    </a:ext>
                  </a:extLst>
                </a:gridCol>
              </a:tblGrid>
              <a:tr h="694205">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2. </a:t>
                      </a:r>
                      <a:r>
                        <a:rPr lang="en-IE" sz="1800" b="1" kern="1200" dirty="0">
                          <a:solidFill>
                            <a:srgbClr val="598CBE"/>
                          </a:solidFill>
                          <a:latin typeface="+mn-lt"/>
                          <a:ea typeface="+mn-ea"/>
                          <a:cs typeface="+mn-cs"/>
                        </a:rPr>
                        <a:t>Hide</a:t>
                      </a:r>
                      <a:r>
                        <a:rPr lang="en-IE" sz="1800" dirty="0"/>
                        <a:t> </a:t>
                      </a:r>
                      <a:r>
                        <a:rPr lang="en-IE" sz="1800" b="0" dirty="0"/>
                        <a:t>the fields from other classes</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1800" b="1" dirty="0"/>
                        <a:t>Declare the fields of a class as </a:t>
                      </a:r>
                      <a:r>
                        <a:rPr lang="en-IE" sz="1800" b="1" u="sng" dirty="0">
                          <a:solidFill>
                            <a:srgbClr val="598CBE"/>
                          </a:solidFill>
                        </a:rPr>
                        <a:t>private</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112686"/>
                  </a:ext>
                </a:extLst>
              </a:tr>
            </a:tbl>
          </a:graphicData>
        </a:graphic>
      </p:graphicFrame>
      <p:graphicFrame>
        <p:nvGraphicFramePr>
          <p:cNvPr id="9" name="Table 8">
            <a:extLst>
              <a:ext uri="{FF2B5EF4-FFF2-40B4-BE49-F238E27FC236}">
                <a16:creationId xmlns:a16="http://schemas.microsoft.com/office/drawing/2014/main" id="{D62D5DC3-A12F-D366-F096-E5210762A205}"/>
              </a:ext>
            </a:extLst>
          </p:cNvPr>
          <p:cNvGraphicFramePr>
            <a:graphicFrameLocks noGrp="1"/>
          </p:cNvGraphicFramePr>
          <p:nvPr>
            <p:extLst>
              <p:ext uri="{D42A27DB-BD31-4B8C-83A1-F6EECF244321}">
                <p14:modId xmlns:p14="http://schemas.microsoft.com/office/powerpoint/2010/main" val="1006273765"/>
              </p:ext>
            </p:extLst>
          </p:nvPr>
        </p:nvGraphicFramePr>
        <p:xfrm>
          <a:off x="408634" y="145579"/>
          <a:ext cx="7886700" cy="396689"/>
        </p:xfrm>
        <a:graphic>
          <a:graphicData uri="http://schemas.openxmlformats.org/drawingml/2006/table">
            <a:tbl>
              <a:tblPr firstRow="1" bandRow="1">
                <a:tableStyleId>{9DCAF9ED-07DC-4A11-8D7F-57B35C25682E}</a:tableStyleId>
              </a:tblPr>
              <a:tblGrid>
                <a:gridCol w="3771900">
                  <a:extLst>
                    <a:ext uri="{9D8B030D-6E8A-4147-A177-3AD203B41FA5}">
                      <a16:colId xmlns:a16="http://schemas.microsoft.com/office/drawing/2014/main" val="3596747579"/>
                    </a:ext>
                  </a:extLst>
                </a:gridCol>
                <a:gridCol w="4114800">
                  <a:extLst>
                    <a:ext uri="{9D8B030D-6E8A-4147-A177-3AD203B41FA5}">
                      <a16:colId xmlns:a16="http://schemas.microsoft.com/office/drawing/2014/main" val="4005962415"/>
                    </a:ext>
                  </a:extLst>
                </a:gridCol>
              </a:tblGrid>
              <a:tr h="39668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1800" dirty="0"/>
                        <a:t>Encapsulation Step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tc>
                  <a:txBody>
                    <a:bodyPr/>
                    <a:lstStyle/>
                    <a:p>
                      <a:pPr algn="ctr"/>
                      <a:r>
                        <a:rPr lang="en-IE" sz="1800" dirty="0"/>
                        <a:t>Approach</a:t>
                      </a:r>
                      <a:r>
                        <a:rPr lang="en-IE" sz="1800" baseline="0" dirty="0"/>
                        <a:t> in Java</a:t>
                      </a:r>
                      <a:endParaRPr lang="en-IE"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extLst>
                  <a:ext uri="{0D108BD9-81ED-4DB2-BD59-A6C34878D82A}">
                    <a16:rowId xmlns:a16="http://schemas.microsoft.com/office/drawing/2014/main" val="567455816"/>
                  </a:ext>
                </a:extLst>
              </a:tr>
            </a:tbl>
          </a:graphicData>
        </a:graphic>
      </p:graphicFrame>
      <p:cxnSp>
        <p:nvCxnSpPr>
          <p:cNvPr id="11" name="Straight Arrow Connector 10">
            <a:extLst>
              <a:ext uri="{FF2B5EF4-FFF2-40B4-BE49-F238E27FC236}">
                <a16:creationId xmlns:a16="http://schemas.microsoft.com/office/drawing/2014/main" id="{F2B9AD8A-0943-64C4-2601-4D79F47CC393}"/>
              </a:ext>
            </a:extLst>
          </p:cNvPr>
          <p:cNvCxnSpPr>
            <a:cxnSpLocks/>
          </p:cNvCxnSpPr>
          <p:nvPr/>
        </p:nvCxnSpPr>
        <p:spPr>
          <a:xfrm>
            <a:off x="5034224" y="3155182"/>
            <a:ext cx="422031" cy="633047"/>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150497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68D45F0-4CB2-4297-6CA2-6A2841BBE3FA}"/>
              </a:ext>
            </a:extLst>
          </p:cNvPr>
          <p:cNvSpPr>
            <a:spLocks noGrp="1"/>
          </p:cNvSpPr>
          <p:nvPr>
            <p:ph type="sldNum" sz="quarter" idx="2"/>
          </p:nvPr>
        </p:nvSpPr>
        <p:spPr/>
        <p:txBody>
          <a:bodyPr/>
          <a:lstStyle/>
          <a:p>
            <a:fld id="{B6F15528-21DE-4FAA-801E-634DDDAF4B2B}" type="slidenum">
              <a:rPr lang="en-US" smtClean="0"/>
              <a:pPr/>
              <a:t>16</a:t>
            </a:fld>
            <a:endParaRPr lang="en-US"/>
          </a:p>
        </p:txBody>
      </p:sp>
      <p:sp>
        <p:nvSpPr>
          <p:cNvPr id="4" name="Footer Placeholder 3">
            <a:extLst>
              <a:ext uri="{FF2B5EF4-FFF2-40B4-BE49-F238E27FC236}">
                <a16:creationId xmlns:a16="http://schemas.microsoft.com/office/drawing/2014/main" id="{858DADD8-7581-35F0-DF85-8926082A8156}"/>
              </a:ext>
            </a:extLst>
          </p:cNvPr>
          <p:cNvSpPr>
            <a:spLocks noGrp="1"/>
          </p:cNvSpPr>
          <p:nvPr>
            <p:ph type="ftr" sz="quarter" idx="3"/>
          </p:nvPr>
        </p:nvSpPr>
        <p:spPr/>
        <p:txBody>
          <a:bodyPr/>
          <a:lstStyle/>
          <a:p>
            <a:r>
              <a:rPr lang="en-US"/>
              <a:t>https://www.java.com</a:t>
            </a:r>
          </a:p>
        </p:txBody>
      </p:sp>
      <p:pic>
        <p:nvPicPr>
          <p:cNvPr id="8" name="Picture 2">
            <a:extLst>
              <a:ext uri="{FF2B5EF4-FFF2-40B4-BE49-F238E27FC236}">
                <a16:creationId xmlns:a16="http://schemas.microsoft.com/office/drawing/2014/main" id="{E0022401-75BF-ABCD-2E23-0616064997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7217" b="50000"/>
          <a:stretch/>
        </p:blipFill>
        <p:spPr bwMode="auto">
          <a:xfrm>
            <a:off x="-101154" y="1062990"/>
            <a:ext cx="6457950" cy="369808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3" name="Arrow: Left 2">
            <a:extLst>
              <a:ext uri="{FF2B5EF4-FFF2-40B4-BE49-F238E27FC236}">
                <a16:creationId xmlns:a16="http://schemas.microsoft.com/office/drawing/2014/main" id="{A8D02C4D-3C13-4B6A-8EFE-D03B474CA417}"/>
              </a:ext>
            </a:extLst>
          </p:cNvPr>
          <p:cNvSpPr/>
          <p:nvPr/>
        </p:nvSpPr>
        <p:spPr>
          <a:xfrm>
            <a:off x="5094696" y="1654920"/>
            <a:ext cx="3899912" cy="2313071"/>
          </a:xfrm>
          <a:prstGeom prst="lef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E" sz="1600" dirty="0"/>
              <a:t>The </a:t>
            </a:r>
            <a:r>
              <a:rPr lang="en-IE" sz="1600" b="1" u="sng" dirty="0"/>
              <a:t>private</a:t>
            </a:r>
            <a:r>
              <a:rPr lang="en-IE" sz="1600" b="1" dirty="0"/>
              <a:t> </a:t>
            </a:r>
            <a:r>
              <a:rPr lang="en-IE" sz="1600" dirty="0"/>
              <a:t>fields are not viewable or updatable outside the class </a:t>
            </a:r>
            <a:r>
              <a:rPr lang="en-IE" sz="1600" b="1" dirty="0"/>
              <a:t>Spot</a:t>
            </a:r>
            <a:r>
              <a:rPr lang="en-IE" sz="1600" dirty="0"/>
              <a:t>.  Other classes don’t know these exist.</a:t>
            </a:r>
          </a:p>
        </p:txBody>
      </p:sp>
      <p:graphicFrame>
        <p:nvGraphicFramePr>
          <p:cNvPr id="11" name="Table 10">
            <a:extLst>
              <a:ext uri="{FF2B5EF4-FFF2-40B4-BE49-F238E27FC236}">
                <a16:creationId xmlns:a16="http://schemas.microsoft.com/office/drawing/2014/main" id="{388CFDD6-F5FD-7883-DC40-CB947973479C}"/>
              </a:ext>
            </a:extLst>
          </p:cNvPr>
          <p:cNvGraphicFramePr>
            <a:graphicFrameLocks noGrp="1"/>
          </p:cNvGraphicFramePr>
          <p:nvPr>
            <p:extLst>
              <p:ext uri="{D42A27DB-BD31-4B8C-83A1-F6EECF244321}">
                <p14:modId xmlns:p14="http://schemas.microsoft.com/office/powerpoint/2010/main" val="2103885841"/>
              </p:ext>
            </p:extLst>
          </p:nvPr>
        </p:nvGraphicFramePr>
        <p:xfrm>
          <a:off x="408634" y="531016"/>
          <a:ext cx="7886700" cy="694205"/>
        </p:xfrm>
        <a:graphic>
          <a:graphicData uri="http://schemas.openxmlformats.org/drawingml/2006/table">
            <a:tbl>
              <a:tblPr bandRow="1">
                <a:tableStyleId>{9DCAF9ED-07DC-4A11-8D7F-57B35C25682E}</a:tableStyleId>
              </a:tblPr>
              <a:tblGrid>
                <a:gridCol w="3771900">
                  <a:extLst>
                    <a:ext uri="{9D8B030D-6E8A-4147-A177-3AD203B41FA5}">
                      <a16:colId xmlns:a16="http://schemas.microsoft.com/office/drawing/2014/main" val="2285268917"/>
                    </a:ext>
                  </a:extLst>
                </a:gridCol>
                <a:gridCol w="4114800">
                  <a:extLst>
                    <a:ext uri="{9D8B030D-6E8A-4147-A177-3AD203B41FA5}">
                      <a16:colId xmlns:a16="http://schemas.microsoft.com/office/drawing/2014/main" val="1893604362"/>
                    </a:ext>
                  </a:extLst>
                </a:gridCol>
              </a:tblGrid>
              <a:tr h="694205">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2. </a:t>
                      </a:r>
                      <a:r>
                        <a:rPr lang="en-IE" sz="1800" b="1" kern="1200" dirty="0">
                          <a:solidFill>
                            <a:srgbClr val="598CBE"/>
                          </a:solidFill>
                          <a:latin typeface="+mn-lt"/>
                          <a:ea typeface="+mn-ea"/>
                          <a:cs typeface="+mn-cs"/>
                        </a:rPr>
                        <a:t>Hide</a:t>
                      </a:r>
                      <a:r>
                        <a:rPr lang="en-IE" sz="1800" dirty="0"/>
                        <a:t> </a:t>
                      </a:r>
                      <a:r>
                        <a:rPr lang="en-IE" sz="1800" b="0" dirty="0"/>
                        <a:t>the fields from other classes</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1800" b="1" dirty="0"/>
                        <a:t>Declare the fields of a class as </a:t>
                      </a:r>
                      <a:r>
                        <a:rPr lang="en-IE" sz="1800" b="1" u="sng" dirty="0">
                          <a:solidFill>
                            <a:srgbClr val="598CBE"/>
                          </a:solidFill>
                        </a:rPr>
                        <a:t>private</a:t>
                      </a:r>
                      <a:endParaRPr lang="en-IE" sz="18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5112686"/>
                  </a:ext>
                </a:extLst>
              </a:tr>
            </a:tbl>
          </a:graphicData>
        </a:graphic>
      </p:graphicFrame>
      <p:graphicFrame>
        <p:nvGraphicFramePr>
          <p:cNvPr id="12" name="Table 11">
            <a:extLst>
              <a:ext uri="{FF2B5EF4-FFF2-40B4-BE49-F238E27FC236}">
                <a16:creationId xmlns:a16="http://schemas.microsoft.com/office/drawing/2014/main" id="{6C0D6A8E-05C0-996A-3E70-4A43DE0EDE33}"/>
              </a:ext>
            </a:extLst>
          </p:cNvPr>
          <p:cNvGraphicFramePr>
            <a:graphicFrameLocks noGrp="1"/>
          </p:cNvGraphicFramePr>
          <p:nvPr>
            <p:extLst>
              <p:ext uri="{D42A27DB-BD31-4B8C-83A1-F6EECF244321}">
                <p14:modId xmlns:p14="http://schemas.microsoft.com/office/powerpoint/2010/main" val="2761516069"/>
              </p:ext>
            </p:extLst>
          </p:nvPr>
        </p:nvGraphicFramePr>
        <p:xfrm>
          <a:off x="408634" y="145579"/>
          <a:ext cx="7886700" cy="396689"/>
        </p:xfrm>
        <a:graphic>
          <a:graphicData uri="http://schemas.openxmlformats.org/drawingml/2006/table">
            <a:tbl>
              <a:tblPr firstRow="1" bandRow="1">
                <a:tableStyleId>{9DCAF9ED-07DC-4A11-8D7F-57B35C25682E}</a:tableStyleId>
              </a:tblPr>
              <a:tblGrid>
                <a:gridCol w="3771900">
                  <a:extLst>
                    <a:ext uri="{9D8B030D-6E8A-4147-A177-3AD203B41FA5}">
                      <a16:colId xmlns:a16="http://schemas.microsoft.com/office/drawing/2014/main" val="3596747579"/>
                    </a:ext>
                  </a:extLst>
                </a:gridCol>
                <a:gridCol w="4114800">
                  <a:extLst>
                    <a:ext uri="{9D8B030D-6E8A-4147-A177-3AD203B41FA5}">
                      <a16:colId xmlns:a16="http://schemas.microsoft.com/office/drawing/2014/main" val="4005962415"/>
                    </a:ext>
                  </a:extLst>
                </a:gridCol>
              </a:tblGrid>
              <a:tr h="39668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1800" dirty="0"/>
                        <a:t>Encapsulation Step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tc>
                  <a:txBody>
                    <a:bodyPr/>
                    <a:lstStyle/>
                    <a:p>
                      <a:pPr algn="ctr"/>
                      <a:r>
                        <a:rPr lang="en-IE" sz="1800" dirty="0"/>
                        <a:t>Approach</a:t>
                      </a:r>
                      <a:r>
                        <a:rPr lang="en-IE" sz="1800" baseline="0" dirty="0"/>
                        <a:t> in Java</a:t>
                      </a:r>
                      <a:endParaRPr lang="en-IE"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extLst>
                  <a:ext uri="{0D108BD9-81ED-4DB2-BD59-A6C34878D82A}">
                    <a16:rowId xmlns:a16="http://schemas.microsoft.com/office/drawing/2014/main" val="567455816"/>
                  </a:ext>
                </a:extLst>
              </a:tr>
            </a:tbl>
          </a:graphicData>
        </a:graphic>
      </p:graphicFrame>
    </p:spTree>
    <p:extLst>
      <p:ext uri="{BB962C8B-B14F-4D97-AF65-F5344CB8AC3E}">
        <p14:creationId xmlns:p14="http://schemas.microsoft.com/office/powerpoint/2010/main" val="194885838"/>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71681"/>
            <a:ext cx="4806645" cy="1102519"/>
          </a:xfrm>
        </p:spPr>
        <p:txBody>
          <a:bodyPr/>
          <a:lstStyle/>
          <a:p>
            <a:pPr>
              <a:spcBef>
                <a:spcPts val="633"/>
              </a:spcBef>
            </a:pPr>
            <a:r>
              <a:rPr lang="en-IE" sz="3600" dirty="0">
                <a:solidFill>
                  <a:schemeClr val="tx1"/>
                </a:solidFill>
              </a:rPr>
              <a:t>Spot and Encapsulation</a:t>
            </a:r>
            <a:endParaRPr lang="en-IE" sz="3600" b="1" dirty="0">
              <a:solidFill>
                <a:srgbClr val="0368FF"/>
              </a:solidFill>
            </a:endParaRPr>
          </a:p>
        </p:txBody>
      </p:sp>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17</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
        <p:nvSpPr>
          <p:cNvPr id="6" name="Subtitle 2">
            <a:extLst>
              <a:ext uri="{FF2B5EF4-FFF2-40B4-BE49-F238E27FC236}">
                <a16:creationId xmlns:a16="http://schemas.microsoft.com/office/drawing/2014/main" id="{A06C1155-22B2-5831-3B2A-691EF6B69CBB}"/>
              </a:ext>
            </a:extLst>
          </p:cNvPr>
          <p:cNvSpPr>
            <a:spLocks noGrp="1"/>
          </p:cNvSpPr>
          <p:nvPr>
            <p:ph type="subTitle" idx="1"/>
          </p:nvPr>
        </p:nvSpPr>
        <p:spPr>
          <a:xfrm>
            <a:off x="1770139" y="1918519"/>
            <a:ext cx="5603721" cy="2266463"/>
          </a:xfrm>
        </p:spPr>
        <p:txBody>
          <a:bodyPr/>
          <a:lstStyle/>
          <a:p>
            <a:r>
              <a:rPr lang="en-IE" sz="2800" b="1" dirty="0">
                <a:solidFill>
                  <a:schemeClr val="tx1"/>
                </a:solidFill>
              </a:rPr>
              <a:t>Step 3</a:t>
            </a:r>
            <a:br>
              <a:rPr lang="en-IE" sz="2800" b="1" dirty="0">
                <a:solidFill>
                  <a:srgbClr val="598CBE"/>
                </a:solidFill>
              </a:rPr>
            </a:br>
            <a:br>
              <a:rPr lang="en-IE" sz="2800" b="1" dirty="0">
                <a:solidFill>
                  <a:srgbClr val="598CBE"/>
                </a:solidFill>
              </a:rPr>
            </a:br>
            <a:r>
              <a:rPr lang="en-IE" sz="2800" b="1" dirty="0">
                <a:solidFill>
                  <a:srgbClr val="598CBE"/>
                </a:solidFill>
              </a:rPr>
              <a:t>Access</a:t>
            </a:r>
            <a:r>
              <a:rPr lang="en-IE" sz="2800" dirty="0"/>
              <a:t> </a:t>
            </a:r>
            <a:r>
              <a:rPr lang="en-IE" sz="2800" dirty="0">
                <a:solidFill>
                  <a:schemeClr val="tx1"/>
                </a:solidFill>
              </a:rPr>
              <a:t>the data (fields) </a:t>
            </a:r>
            <a:r>
              <a:rPr lang="en-IE" sz="2800" b="1" i="1" dirty="0">
                <a:solidFill>
                  <a:srgbClr val="FF0000"/>
                </a:solidFill>
              </a:rPr>
              <a:t>only</a:t>
            </a:r>
            <a:r>
              <a:rPr lang="en-IE" sz="2800" dirty="0">
                <a:solidFill>
                  <a:schemeClr val="tx1"/>
                </a:solidFill>
              </a:rPr>
              <a:t> through the methods of their current class</a:t>
            </a:r>
            <a:endParaRPr lang="en-US" sz="2800" dirty="0">
              <a:solidFill>
                <a:schemeClr val="tx1"/>
              </a:solidFill>
            </a:endParaRPr>
          </a:p>
        </p:txBody>
      </p:sp>
    </p:spTree>
    <p:extLst>
      <p:ext uri="{BB962C8B-B14F-4D97-AF65-F5344CB8AC3E}">
        <p14:creationId xmlns:p14="http://schemas.microsoft.com/office/powerpoint/2010/main" val="2655569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p:txBody>
          <a:bodyPr>
            <a:normAutofit/>
          </a:bodyPr>
          <a:lstStyle/>
          <a:p>
            <a:r>
              <a:rPr lang="en-IE" dirty="0"/>
              <a:t>Solution: </a:t>
            </a:r>
            <a:r>
              <a:rPr lang="en-IE" b="1" i="1" dirty="0">
                <a:solidFill>
                  <a:srgbClr val="598CBE"/>
                </a:solidFill>
              </a:rPr>
              <a:t>Get</a:t>
            </a:r>
            <a:r>
              <a:rPr lang="en-IE" dirty="0"/>
              <a:t>ters and </a:t>
            </a:r>
            <a:r>
              <a:rPr lang="en-IE" b="1" i="1" dirty="0">
                <a:solidFill>
                  <a:srgbClr val="598CBE"/>
                </a:solidFill>
              </a:rPr>
              <a:t>Set</a:t>
            </a:r>
            <a:r>
              <a:rPr lang="en-IE" dirty="0"/>
              <a:t>ters</a:t>
            </a:r>
            <a:endParaRPr lang="en-GB" dirty="0"/>
          </a:p>
        </p:txBody>
      </p:sp>
      <p:sp>
        <p:nvSpPr>
          <p:cNvPr id="3" name="Slide Number Placeholder 2">
            <a:extLst>
              <a:ext uri="{FF2B5EF4-FFF2-40B4-BE49-F238E27FC236}">
                <a16:creationId xmlns:a16="http://schemas.microsoft.com/office/drawing/2014/main" id="{A87D5605-B9C6-4ECC-6C4B-7D7977691D65}"/>
              </a:ext>
            </a:extLst>
          </p:cNvPr>
          <p:cNvSpPr>
            <a:spLocks noGrp="1"/>
          </p:cNvSpPr>
          <p:nvPr>
            <p:ph type="sldNum" sz="quarter" idx="2"/>
          </p:nvPr>
        </p:nvSpPr>
        <p:spPr/>
        <p:txBody>
          <a:bodyPr/>
          <a:lstStyle/>
          <a:p>
            <a:fld id="{B6F15528-21DE-4FAA-801E-634DDDAF4B2B}" type="slidenum">
              <a:rPr lang="en-US" smtClean="0"/>
              <a:pPr/>
              <a:t>18</a:t>
            </a:fld>
            <a:endParaRPr lang="en-US"/>
          </a:p>
        </p:txBody>
      </p:sp>
      <p:sp>
        <p:nvSpPr>
          <p:cNvPr id="2" name="Footer Placeholder 1">
            <a:extLst>
              <a:ext uri="{FF2B5EF4-FFF2-40B4-BE49-F238E27FC236}">
                <a16:creationId xmlns:a16="http://schemas.microsoft.com/office/drawing/2014/main" id="{846C714B-18E2-2F7B-951D-54FB72BBDB8B}"/>
              </a:ext>
            </a:extLst>
          </p:cNvPr>
          <p:cNvSpPr>
            <a:spLocks noGrp="1"/>
          </p:cNvSpPr>
          <p:nvPr>
            <p:ph type="ftr" sz="quarter" idx="3"/>
          </p:nvPr>
        </p:nvSpPr>
        <p:spPr/>
        <p:txBody>
          <a:bodyPr/>
          <a:lstStyle/>
          <a:p>
            <a:r>
              <a:rPr lang="en-US"/>
              <a:t>https://www.java.com</a:t>
            </a:r>
          </a:p>
        </p:txBody>
      </p:sp>
      <p:sp>
        <p:nvSpPr>
          <p:cNvPr id="9" name="Rectangle 8">
            <a:extLst>
              <a:ext uri="{FF2B5EF4-FFF2-40B4-BE49-F238E27FC236}">
                <a16:creationId xmlns:a16="http://schemas.microsoft.com/office/drawing/2014/main" id="{51697CCC-5BE0-8719-49A3-74C2E3A442AF}"/>
              </a:ext>
            </a:extLst>
          </p:cNvPr>
          <p:cNvSpPr/>
          <p:nvPr/>
        </p:nvSpPr>
        <p:spPr>
          <a:xfrm>
            <a:off x="1704204" y="1482395"/>
            <a:ext cx="5278888" cy="181588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2800" b="1" dirty="0">
                <a:solidFill>
                  <a:srgbClr val="598CBE"/>
                </a:solidFill>
              </a:rPr>
              <a:t>Encapsulation Step 3</a:t>
            </a:r>
            <a:br>
              <a:rPr lang="en-IE" sz="2800" b="1" dirty="0">
                <a:solidFill>
                  <a:srgbClr val="598CBE"/>
                </a:solidFill>
              </a:rPr>
            </a:br>
            <a:r>
              <a:rPr lang="en-IE" sz="2800" b="1" dirty="0"/>
              <a:t>Provide </a:t>
            </a:r>
            <a:r>
              <a:rPr lang="en-IE" sz="2800" b="1" u="sng" dirty="0"/>
              <a:t>public</a:t>
            </a:r>
            <a:r>
              <a:rPr lang="en-IE" sz="2800" b="1" dirty="0"/>
              <a:t> getter and setter methods </a:t>
            </a:r>
            <a:r>
              <a:rPr lang="en-IE" sz="2800" dirty="0"/>
              <a:t>to modify and view the fields values.</a:t>
            </a:r>
          </a:p>
        </p:txBody>
      </p:sp>
    </p:spTree>
    <p:extLst>
      <p:ext uri="{BB962C8B-B14F-4D97-AF65-F5344CB8AC3E}">
        <p14:creationId xmlns:p14="http://schemas.microsoft.com/office/powerpoint/2010/main" val="253339730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solidFill>
                  <a:srgbClr val="598CBE"/>
                </a:solidFill>
              </a:rPr>
              <a:t>Get</a:t>
            </a:r>
            <a:r>
              <a:rPr lang="en-IE" dirty="0"/>
              <a:t>ters (Accessor Methods)</a:t>
            </a:r>
          </a:p>
        </p:txBody>
      </p:sp>
      <p:sp>
        <p:nvSpPr>
          <p:cNvPr id="3" name="Content Placeholder 2"/>
          <p:cNvSpPr>
            <a:spLocks noGrp="1"/>
          </p:cNvSpPr>
          <p:nvPr>
            <p:ph idx="1"/>
          </p:nvPr>
        </p:nvSpPr>
        <p:spPr>
          <a:xfrm>
            <a:off x="395536" y="843558"/>
            <a:ext cx="7772401" cy="4299943"/>
          </a:xfrm>
        </p:spPr>
        <p:txBody>
          <a:bodyPr>
            <a:normAutofit/>
          </a:bodyPr>
          <a:lstStyle/>
          <a:p>
            <a:r>
              <a:rPr lang="en-US" sz="2800" b="1" dirty="0">
                <a:solidFill>
                  <a:srgbClr val="00B050"/>
                </a:solidFill>
              </a:rPr>
              <a:t>Accessor</a:t>
            </a:r>
            <a:r>
              <a:rPr lang="en-US" sz="2800" dirty="0"/>
              <a:t> methods </a:t>
            </a:r>
          </a:p>
          <a:p>
            <a:pPr lvl="1"/>
            <a:r>
              <a:rPr lang="en-US" dirty="0"/>
              <a:t>return information about the </a:t>
            </a:r>
            <a:r>
              <a:rPr lang="en-US" b="1" dirty="0"/>
              <a:t>state</a:t>
            </a:r>
            <a:r>
              <a:rPr lang="en-US" dirty="0"/>
              <a:t> of an object i.e. the values stored in the fields</a:t>
            </a:r>
          </a:p>
          <a:p>
            <a:endParaRPr lang="en-US" sz="2800" dirty="0"/>
          </a:p>
          <a:p>
            <a:r>
              <a:rPr lang="en-US" sz="2800" dirty="0"/>
              <a:t>A </a:t>
            </a:r>
            <a:r>
              <a:rPr lang="en-US" sz="2800" dirty="0">
                <a:solidFill>
                  <a:srgbClr val="FF0000"/>
                </a:solidFill>
              </a:rPr>
              <a:t>‘</a:t>
            </a:r>
            <a:r>
              <a:rPr lang="en-US" sz="2800" b="1" dirty="0">
                <a:solidFill>
                  <a:srgbClr val="598CBE"/>
                </a:solidFill>
              </a:rPr>
              <a:t>getter</a:t>
            </a:r>
            <a:r>
              <a:rPr lang="en-US" sz="2800" dirty="0">
                <a:solidFill>
                  <a:srgbClr val="FF0000"/>
                </a:solidFill>
              </a:rPr>
              <a:t>’ </a:t>
            </a:r>
            <a:r>
              <a:rPr lang="en-US" sz="2800" dirty="0"/>
              <a:t>method </a:t>
            </a:r>
          </a:p>
          <a:p>
            <a:pPr lvl="1"/>
            <a:r>
              <a:rPr lang="en-US" dirty="0"/>
              <a:t>is a specific type of </a:t>
            </a:r>
            <a:r>
              <a:rPr lang="en-US" b="1" dirty="0">
                <a:solidFill>
                  <a:srgbClr val="00B050"/>
                </a:solidFill>
              </a:rPr>
              <a:t>accessor</a:t>
            </a:r>
            <a:r>
              <a:rPr lang="en-US" dirty="0"/>
              <a:t> method and typically:</a:t>
            </a:r>
          </a:p>
          <a:p>
            <a:pPr lvl="2"/>
            <a:r>
              <a:rPr lang="en-US" sz="1800" b="1" dirty="0"/>
              <a:t>contains a return statement </a:t>
            </a:r>
            <a:br>
              <a:rPr lang="en-US" sz="1800" b="1" dirty="0"/>
            </a:br>
            <a:r>
              <a:rPr lang="en-US" sz="1800" dirty="0"/>
              <a:t>(as the last executable statement in the method)</a:t>
            </a:r>
          </a:p>
          <a:p>
            <a:pPr lvl="2"/>
            <a:r>
              <a:rPr lang="en-US" sz="1800" dirty="0"/>
              <a:t>defines a </a:t>
            </a:r>
            <a:r>
              <a:rPr lang="en-US" sz="1800" b="1" dirty="0"/>
              <a:t>return</a:t>
            </a:r>
            <a:r>
              <a:rPr lang="en-US" sz="1800" dirty="0"/>
              <a:t> </a:t>
            </a:r>
            <a:r>
              <a:rPr lang="en-US" sz="1800" b="1" dirty="0"/>
              <a:t>type</a:t>
            </a:r>
            <a:endParaRPr lang="en-US" sz="1800" dirty="0"/>
          </a:p>
          <a:p>
            <a:pPr lvl="2"/>
            <a:r>
              <a:rPr lang="en-US" sz="1800" b="1" dirty="0"/>
              <a:t>does </a:t>
            </a:r>
            <a:r>
              <a:rPr lang="en-US" sz="1800" b="1" i="1" u="sng" dirty="0">
                <a:solidFill>
                  <a:srgbClr val="598CBE"/>
                </a:solidFill>
              </a:rPr>
              <a:t>NOT change </a:t>
            </a:r>
            <a:r>
              <a:rPr lang="en-US" sz="1800" b="1" dirty="0"/>
              <a:t>the object state</a:t>
            </a:r>
            <a:endParaRPr lang="en-US" sz="3200" dirty="0"/>
          </a:p>
          <a:p>
            <a:pPr marL="0" indent="0">
              <a:buNone/>
            </a:pPr>
            <a:endParaRPr lang="en-IE" sz="3200" dirty="0"/>
          </a:p>
        </p:txBody>
      </p:sp>
      <p:sp>
        <p:nvSpPr>
          <p:cNvPr id="4" name="Footer Placeholder 3">
            <a:extLst>
              <a:ext uri="{FF2B5EF4-FFF2-40B4-BE49-F238E27FC236}">
                <a16:creationId xmlns:a16="http://schemas.microsoft.com/office/drawing/2014/main" id="{5C683643-8E86-80C3-1E35-2204B77A96B9}"/>
              </a:ext>
            </a:extLst>
          </p:cNvPr>
          <p:cNvSpPr>
            <a:spLocks noGrp="1"/>
          </p:cNvSpPr>
          <p:nvPr>
            <p:ph type="ftr" sz="quarter" idx="3"/>
          </p:nvPr>
        </p:nvSpPr>
        <p:spPr/>
        <p:txBody>
          <a:bodyPr/>
          <a:lstStyle/>
          <a:p>
            <a:r>
              <a:rPr lang="en-IE"/>
              <a:t>https://www.java.com</a:t>
            </a:r>
            <a:endParaRPr lang="en-IE" dirty="0"/>
          </a:p>
        </p:txBody>
      </p:sp>
      <p:sp>
        <p:nvSpPr>
          <p:cNvPr id="5" name="Slide Number Placeholder 4">
            <a:extLst>
              <a:ext uri="{FF2B5EF4-FFF2-40B4-BE49-F238E27FC236}">
                <a16:creationId xmlns:a16="http://schemas.microsoft.com/office/drawing/2014/main" id="{CFD68523-443C-97F0-5922-5456B87A5AC9}"/>
              </a:ext>
            </a:extLst>
          </p:cNvPr>
          <p:cNvSpPr>
            <a:spLocks noGrp="1"/>
          </p:cNvSpPr>
          <p:nvPr>
            <p:ph type="sldNum" sz="quarter" idx="2"/>
          </p:nvPr>
        </p:nvSpPr>
        <p:spPr/>
        <p:txBody>
          <a:bodyPr/>
          <a:lstStyle/>
          <a:p>
            <a:pPr lvl="0"/>
            <a:fld id="{86CB4B4D-7CA3-9044-876B-883B54F8677D}" type="slidenum">
              <a:rPr lang="en-IE" smtClean="0"/>
              <a:t>19</a:t>
            </a:fld>
            <a:endParaRPr lang="en-IE" dirty="0"/>
          </a:p>
        </p:txBody>
      </p:sp>
    </p:spTree>
    <p:custDataLst>
      <p:tags r:id="rId1"/>
    </p:custDataLst>
    <p:extLst>
      <p:ext uri="{BB962C8B-B14F-4D97-AF65-F5344CB8AC3E}">
        <p14:creationId xmlns:p14="http://schemas.microsoft.com/office/powerpoint/2010/main" val="405737299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IE" b="1" dirty="0">
                <a:solidFill>
                  <a:srgbClr val="598CBE"/>
                </a:solidFill>
              </a:rPr>
              <a:t>Get</a:t>
            </a:r>
            <a:r>
              <a:rPr lang="en-IE" dirty="0"/>
              <a:t>ters</a:t>
            </a:r>
            <a:endParaRPr lang="en-US" dirty="0"/>
          </a:p>
        </p:txBody>
      </p:sp>
      <p:sp>
        <p:nvSpPr>
          <p:cNvPr id="17412" name="Text Box 4"/>
          <p:cNvSpPr txBox="1">
            <a:spLocks noChangeArrowheads="1"/>
          </p:cNvSpPr>
          <p:nvPr/>
        </p:nvSpPr>
        <p:spPr bwMode="auto">
          <a:xfrm>
            <a:off x="2421093" y="2460967"/>
            <a:ext cx="3768981" cy="1200329"/>
          </a:xfrm>
          <a:prstGeom prst="rect">
            <a:avLst/>
          </a:prstGeom>
          <a:noFill/>
          <a:ln w="19050">
            <a:solidFill>
              <a:schemeClr val="tx2"/>
            </a:solidFill>
            <a:miter lim="800000"/>
            <a:headEnd/>
            <a:tailEnd/>
          </a:ln>
          <a:effectLst/>
        </p:spPr>
        <p:txBody>
          <a:bodyPr wrap="none">
            <a:spAutoFit/>
          </a:bodyPr>
          <a:lstStyle/>
          <a:p>
            <a:pPr algn="l"/>
            <a:r>
              <a:rPr lang="en-IE" sz="1800" dirty="0">
                <a:latin typeface="Monaco" pitchFamily="2" charset="77"/>
                <a:cs typeface="Times" pitchFamily="-32" charset="0"/>
              </a:rPr>
              <a:t>public float </a:t>
            </a:r>
            <a:r>
              <a:rPr lang="en-IE" sz="1800" dirty="0" err="1">
                <a:latin typeface="Monaco" pitchFamily="2" charset="77"/>
                <a:cs typeface="Times" pitchFamily="-32" charset="0"/>
              </a:rPr>
              <a:t>getDiameter</a:t>
            </a:r>
            <a:r>
              <a:rPr lang="en-IE" sz="1800" dirty="0">
                <a:latin typeface="Monaco" pitchFamily="2" charset="77"/>
                <a:cs typeface="Times" pitchFamily="-32" charset="0"/>
              </a:rPr>
              <a:t>()</a:t>
            </a:r>
          </a:p>
          <a:p>
            <a:pPr algn="l"/>
            <a:r>
              <a:rPr lang="en-IE" sz="1800" dirty="0">
                <a:latin typeface="Monaco" pitchFamily="2" charset="77"/>
                <a:cs typeface="Times" pitchFamily="-32" charset="0"/>
              </a:rPr>
              <a:t>{</a:t>
            </a:r>
          </a:p>
          <a:p>
            <a:pPr algn="l"/>
            <a:r>
              <a:rPr lang="en-IE" sz="1800" dirty="0">
                <a:latin typeface="Monaco" pitchFamily="2" charset="77"/>
                <a:cs typeface="Times" pitchFamily="-32" charset="0"/>
              </a:rPr>
              <a:t>     return diameter;</a:t>
            </a:r>
          </a:p>
          <a:p>
            <a:pPr algn="l"/>
            <a:r>
              <a:rPr lang="en-IE" sz="1800" dirty="0">
                <a:latin typeface="Monaco" pitchFamily="2" charset="77"/>
                <a:cs typeface="Times" pitchFamily="-32" charset="0"/>
              </a:rPr>
              <a:t>}</a:t>
            </a:r>
          </a:p>
        </p:txBody>
      </p:sp>
      <p:sp>
        <p:nvSpPr>
          <p:cNvPr id="17413" name="Text Box 5"/>
          <p:cNvSpPr txBox="1">
            <a:spLocks noChangeArrowheads="1"/>
          </p:cNvSpPr>
          <p:nvPr/>
        </p:nvSpPr>
        <p:spPr bwMode="auto">
          <a:xfrm>
            <a:off x="3657601" y="1626395"/>
            <a:ext cx="1178719" cy="323165"/>
          </a:xfrm>
          <a:prstGeom prst="rect">
            <a:avLst/>
          </a:prstGeom>
          <a:noFill/>
          <a:ln w="9525">
            <a:noFill/>
            <a:miter lim="800000"/>
            <a:headEnd/>
            <a:tailEnd/>
          </a:ln>
          <a:effectLst/>
        </p:spPr>
        <p:txBody>
          <a:bodyPr>
            <a:spAutoFit/>
          </a:bodyPr>
          <a:lstStyle/>
          <a:p>
            <a:pPr algn="l" eaLnBrk="1" hangingPunct="1"/>
            <a:r>
              <a:rPr lang="en-US" sz="1500" dirty="0">
                <a:solidFill>
                  <a:srgbClr val="A57133"/>
                </a:solidFill>
              </a:rPr>
              <a:t>return type</a:t>
            </a:r>
          </a:p>
        </p:txBody>
      </p:sp>
      <p:sp>
        <p:nvSpPr>
          <p:cNvPr id="17414" name="Text Box 6"/>
          <p:cNvSpPr txBox="1">
            <a:spLocks noChangeArrowheads="1"/>
          </p:cNvSpPr>
          <p:nvPr/>
        </p:nvSpPr>
        <p:spPr bwMode="auto">
          <a:xfrm>
            <a:off x="5219701" y="1866900"/>
            <a:ext cx="1372492"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method name</a:t>
            </a:r>
          </a:p>
        </p:txBody>
      </p:sp>
      <p:sp>
        <p:nvSpPr>
          <p:cNvPr id="17415" name="Text Box 7"/>
          <p:cNvSpPr txBox="1">
            <a:spLocks noChangeArrowheads="1"/>
          </p:cNvSpPr>
          <p:nvPr/>
        </p:nvSpPr>
        <p:spPr bwMode="auto">
          <a:xfrm>
            <a:off x="6343650" y="2274095"/>
            <a:ext cx="1547813" cy="553998"/>
          </a:xfrm>
          <a:prstGeom prst="rect">
            <a:avLst/>
          </a:prstGeom>
          <a:noFill/>
          <a:ln w="9525">
            <a:noFill/>
            <a:miter lim="800000"/>
            <a:headEnd/>
            <a:tailEnd/>
          </a:ln>
          <a:effectLst/>
        </p:spPr>
        <p:txBody>
          <a:bodyPr>
            <a:spAutoFit/>
          </a:bodyPr>
          <a:lstStyle/>
          <a:p>
            <a:pPr algn="l" eaLnBrk="1" hangingPunct="1"/>
            <a:r>
              <a:rPr lang="en-US" sz="1500" dirty="0">
                <a:solidFill>
                  <a:srgbClr val="A57133"/>
                </a:solidFill>
              </a:rPr>
              <a:t>parameter list (empty)</a:t>
            </a:r>
          </a:p>
        </p:txBody>
      </p:sp>
      <p:sp>
        <p:nvSpPr>
          <p:cNvPr id="17416" name="Oval 8"/>
          <p:cNvSpPr>
            <a:spLocks noChangeArrowheads="1"/>
          </p:cNvSpPr>
          <p:nvPr/>
        </p:nvSpPr>
        <p:spPr bwMode="auto">
          <a:xfrm>
            <a:off x="2442369" y="2742778"/>
            <a:ext cx="273844" cy="922867"/>
          </a:xfrm>
          <a:prstGeom prst="ellipse">
            <a:avLst/>
          </a:prstGeom>
          <a:noFill/>
          <a:ln w="28575">
            <a:solidFill>
              <a:srgbClr val="A57133"/>
            </a:solidFill>
            <a:round/>
            <a:headEnd/>
            <a:tailEnd/>
          </a:ln>
          <a:effectLst/>
        </p:spPr>
        <p:txBody>
          <a:bodyPr wrap="none" anchor="ctr"/>
          <a:lstStyle/>
          <a:p>
            <a:pPr algn="ctr" defTabSz="366737" rtl="0"/>
            <a:endParaRPr lang="en-IE" sz="1688"/>
          </a:p>
        </p:txBody>
      </p:sp>
      <p:sp>
        <p:nvSpPr>
          <p:cNvPr id="17417" name="Text Box 9"/>
          <p:cNvSpPr txBox="1">
            <a:spLocks noChangeArrowheads="1"/>
          </p:cNvSpPr>
          <p:nvPr/>
        </p:nvSpPr>
        <p:spPr bwMode="auto">
          <a:xfrm>
            <a:off x="2743200" y="3817145"/>
            <a:ext cx="3414713" cy="323165"/>
          </a:xfrm>
          <a:prstGeom prst="rect">
            <a:avLst/>
          </a:prstGeom>
          <a:noFill/>
          <a:ln w="9525">
            <a:noFill/>
            <a:miter lim="800000"/>
            <a:headEnd/>
            <a:tailEnd/>
          </a:ln>
          <a:effectLst/>
        </p:spPr>
        <p:txBody>
          <a:bodyPr>
            <a:spAutoFit/>
          </a:bodyPr>
          <a:lstStyle/>
          <a:p>
            <a:pPr algn="l" eaLnBrk="1" hangingPunct="1"/>
            <a:r>
              <a:rPr lang="en-US" sz="1500" dirty="0">
                <a:solidFill>
                  <a:srgbClr val="A57133"/>
                </a:solidFill>
              </a:rPr>
              <a:t>start and end of method body (block)</a:t>
            </a:r>
          </a:p>
        </p:txBody>
      </p:sp>
      <p:sp>
        <p:nvSpPr>
          <p:cNvPr id="17418" name="Text Box 10"/>
          <p:cNvSpPr txBox="1">
            <a:spLocks noChangeArrowheads="1"/>
          </p:cNvSpPr>
          <p:nvPr/>
        </p:nvSpPr>
        <p:spPr bwMode="auto">
          <a:xfrm>
            <a:off x="6224587" y="3028950"/>
            <a:ext cx="1585690" cy="323165"/>
          </a:xfrm>
          <a:prstGeom prst="rect">
            <a:avLst/>
          </a:prstGeom>
          <a:noFill/>
          <a:ln w="9525">
            <a:noFill/>
            <a:miter lim="800000"/>
            <a:headEnd/>
            <a:tailEnd/>
          </a:ln>
          <a:effectLst/>
        </p:spPr>
        <p:txBody>
          <a:bodyPr wrap="none">
            <a:spAutoFit/>
          </a:bodyPr>
          <a:lstStyle/>
          <a:p>
            <a:pPr algn="l" eaLnBrk="1" hangingPunct="1"/>
            <a:r>
              <a:rPr lang="en-US" sz="1500" b="1" dirty="0">
                <a:solidFill>
                  <a:srgbClr val="A57133"/>
                </a:solidFill>
              </a:rPr>
              <a:t>return statement</a:t>
            </a:r>
          </a:p>
        </p:txBody>
      </p:sp>
      <p:sp>
        <p:nvSpPr>
          <p:cNvPr id="17419" name="Line 11"/>
          <p:cNvSpPr>
            <a:spLocks noChangeShapeType="1"/>
          </p:cNvSpPr>
          <p:nvPr/>
        </p:nvSpPr>
        <p:spPr bwMode="auto">
          <a:xfrm flipH="1" flipV="1">
            <a:off x="2647550" y="3530442"/>
            <a:ext cx="198043" cy="358773"/>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7420" name="Line 12"/>
          <p:cNvSpPr>
            <a:spLocks noChangeShapeType="1"/>
          </p:cNvSpPr>
          <p:nvPr/>
        </p:nvSpPr>
        <p:spPr bwMode="auto">
          <a:xfrm flipH="1">
            <a:off x="3847700" y="1931194"/>
            <a:ext cx="267099" cy="640552"/>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7421" name="Line 13"/>
          <p:cNvSpPr>
            <a:spLocks noChangeShapeType="1"/>
          </p:cNvSpPr>
          <p:nvPr/>
        </p:nvSpPr>
        <p:spPr bwMode="auto">
          <a:xfrm flipH="1">
            <a:off x="5260180" y="2114550"/>
            <a:ext cx="359569" cy="457196"/>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7422" name="Line 14"/>
          <p:cNvSpPr>
            <a:spLocks noChangeShapeType="1"/>
          </p:cNvSpPr>
          <p:nvPr/>
        </p:nvSpPr>
        <p:spPr bwMode="auto">
          <a:xfrm flipH="1">
            <a:off x="5982462" y="2461847"/>
            <a:ext cx="359569" cy="171450"/>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7423" name="Line 15"/>
          <p:cNvSpPr>
            <a:spLocks noChangeShapeType="1"/>
          </p:cNvSpPr>
          <p:nvPr/>
        </p:nvSpPr>
        <p:spPr bwMode="auto">
          <a:xfrm flipH="1">
            <a:off x="5429250" y="3200400"/>
            <a:ext cx="800100" cy="0"/>
          </a:xfrm>
          <a:prstGeom prst="line">
            <a:avLst/>
          </a:prstGeom>
          <a:noFill/>
          <a:ln w="9525">
            <a:solidFill>
              <a:schemeClr val="tx1"/>
            </a:solidFill>
            <a:round/>
            <a:headEnd/>
            <a:tailEnd type="triangle" w="med" len="med"/>
          </a:ln>
          <a:effectLst/>
        </p:spPr>
        <p:txBody>
          <a:bodyPr/>
          <a:lstStyle/>
          <a:p>
            <a:endParaRPr lang="en-IE" sz="1688"/>
          </a:p>
        </p:txBody>
      </p:sp>
      <p:sp>
        <p:nvSpPr>
          <p:cNvPr id="17424" name="Text Box 16"/>
          <p:cNvSpPr txBox="1">
            <a:spLocks noChangeArrowheads="1"/>
          </p:cNvSpPr>
          <p:nvPr/>
        </p:nvSpPr>
        <p:spPr bwMode="auto">
          <a:xfrm>
            <a:off x="1858567" y="1866900"/>
            <a:ext cx="1608133"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visibility modifier</a:t>
            </a:r>
          </a:p>
        </p:txBody>
      </p:sp>
      <p:sp>
        <p:nvSpPr>
          <p:cNvPr id="17425" name="Line 17"/>
          <p:cNvSpPr>
            <a:spLocks noChangeShapeType="1"/>
          </p:cNvSpPr>
          <p:nvPr/>
        </p:nvSpPr>
        <p:spPr bwMode="auto">
          <a:xfrm>
            <a:off x="2647551" y="2122380"/>
            <a:ext cx="267099" cy="323165"/>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7" name="Oval 8"/>
          <p:cNvSpPr>
            <a:spLocks noChangeArrowheads="1"/>
          </p:cNvSpPr>
          <p:nvPr/>
        </p:nvSpPr>
        <p:spPr bwMode="auto">
          <a:xfrm>
            <a:off x="2399243" y="2459866"/>
            <a:ext cx="1066334" cy="358772"/>
          </a:xfrm>
          <a:prstGeom prst="ellipse">
            <a:avLst/>
          </a:prstGeom>
          <a:noFill/>
          <a:ln w="28575">
            <a:solidFill>
              <a:srgbClr val="A57133"/>
            </a:solidFill>
            <a:round/>
            <a:headEnd/>
            <a:tailEnd/>
          </a:ln>
          <a:effectLst/>
        </p:spPr>
        <p:txBody>
          <a:bodyPr wrap="none" anchor="ctr"/>
          <a:lstStyle/>
          <a:p>
            <a:pPr algn="ctr" defTabSz="366737" rtl="0"/>
            <a:endParaRPr lang="en-IE" sz="1688"/>
          </a:p>
        </p:txBody>
      </p:sp>
      <p:sp>
        <p:nvSpPr>
          <p:cNvPr id="2" name="Footer Placeholder 1">
            <a:extLst>
              <a:ext uri="{FF2B5EF4-FFF2-40B4-BE49-F238E27FC236}">
                <a16:creationId xmlns:a16="http://schemas.microsoft.com/office/drawing/2014/main" id="{3FC0E9F7-7D9E-ADAA-10F3-6427C55A6F2B}"/>
              </a:ext>
            </a:extLst>
          </p:cNvPr>
          <p:cNvSpPr>
            <a:spLocks noGrp="1"/>
          </p:cNvSpPr>
          <p:nvPr>
            <p:ph type="ftr" sz="quarter" idx="3"/>
          </p:nvPr>
        </p:nvSpPr>
        <p:spPr/>
        <p:txBody>
          <a:bodyPr/>
          <a:lstStyle/>
          <a:p>
            <a:r>
              <a:rPr lang="en-IE"/>
              <a:t>https://www.java.com</a:t>
            </a:r>
            <a:endParaRPr lang="en-IE" dirty="0"/>
          </a:p>
        </p:txBody>
      </p:sp>
      <p:sp>
        <p:nvSpPr>
          <p:cNvPr id="3" name="Slide Number Placeholder 2">
            <a:extLst>
              <a:ext uri="{FF2B5EF4-FFF2-40B4-BE49-F238E27FC236}">
                <a16:creationId xmlns:a16="http://schemas.microsoft.com/office/drawing/2014/main" id="{FBC09868-7EA6-0B1A-6556-FED828324E0D}"/>
              </a:ext>
            </a:extLst>
          </p:cNvPr>
          <p:cNvSpPr>
            <a:spLocks noGrp="1"/>
          </p:cNvSpPr>
          <p:nvPr>
            <p:ph type="sldNum" sz="quarter" idx="2"/>
          </p:nvPr>
        </p:nvSpPr>
        <p:spPr/>
        <p:txBody>
          <a:bodyPr/>
          <a:lstStyle/>
          <a:p>
            <a:pPr lvl="0"/>
            <a:fld id="{86CB4B4D-7CA3-9044-876B-883B54F8677D}" type="slidenum">
              <a:rPr lang="en-IE" smtClean="0"/>
              <a:t>20</a:t>
            </a:fld>
            <a:endParaRPr lang="en-IE" dirty="0"/>
          </a:p>
        </p:txBody>
      </p:sp>
    </p:spTree>
    <p:custDataLst>
      <p:tags r:id="rId1"/>
    </p:custDataLst>
    <p:extLst>
      <p:ext uri="{BB962C8B-B14F-4D97-AF65-F5344CB8AC3E}">
        <p14:creationId xmlns:p14="http://schemas.microsoft.com/office/powerpoint/2010/main" val="12059148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4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4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4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4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4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4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42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4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42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4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4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p:bldP spid="17414" grpId="0"/>
      <p:bldP spid="17415" grpId="0"/>
      <p:bldP spid="17416" grpId="0" animBg="1"/>
      <p:bldP spid="17417" grpId="0"/>
      <p:bldP spid="17418" grpId="0"/>
      <p:bldP spid="17419" grpId="0" animBg="1"/>
      <p:bldP spid="17420" grpId="0" animBg="1"/>
      <p:bldP spid="17421" grpId="0" animBg="1"/>
      <p:bldP spid="17422" grpId="0" animBg="1"/>
      <p:bldP spid="17423" grpId="0" animBg="1"/>
      <p:bldP spid="17424" grpId="0"/>
      <p:bldP spid="17425" grpId="0" animBg="1"/>
      <p:bldP spid="17"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E" b="1" dirty="0">
                <a:solidFill>
                  <a:srgbClr val="598CBE"/>
                </a:solidFill>
              </a:rPr>
              <a:t>Set</a:t>
            </a:r>
            <a:r>
              <a:rPr lang="en-IE" dirty="0"/>
              <a:t>ters (</a:t>
            </a:r>
            <a:r>
              <a:rPr lang="en-IE" dirty="0" err="1"/>
              <a:t>Mutator</a:t>
            </a:r>
            <a:r>
              <a:rPr lang="en-IE" dirty="0"/>
              <a:t> methods)</a:t>
            </a:r>
          </a:p>
        </p:txBody>
      </p:sp>
      <p:sp>
        <p:nvSpPr>
          <p:cNvPr id="3" name="Content Placeholder 2"/>
          <p:cNvSpPr>
            <a:spLocks noGrp="1"/>
          </p:cNvSpPr>
          <p:nvPr>
            <p:ph idx="1"/>
          </p:nvPr>
        </p:nvSpPr>
        <p:spPr/>
        <p:txBody>
          <a:bodyPr>
            <a:normAutofit/>
          </a:bodyPr>
          <a:lstStyle/>
          <a:p>
            <a:r>
              <a:rPr lang="en-US" b="1" dirty="0" err="1">
                <a:solidFill>
                  <a:srgbClr val="00B050"/>
                </a:solidFill>
              </a:rPr>
              <a:t>Mutator</a:t>
            </a:r>
            <a:r>
              <a:rPr lang="en-US" dirty="0"/>
              <a:t> methods </a:t>
            </a:r>
          </a:p>
          <a:p>
            <a:pPr lvl="1"/>
            <a:r>
              <a:rPr lang="en-US" dirty="0"/>
              <a:t>change (i.e. mutate) an object’s state</a:t>
            </a:r>
          </a:p>
          <a:p>
            <a:endParaRPr lang="en-US" dirty="0"/>
          </a:p>
          <a:p>
            <a:r>
              <a:rPr lang="en-US" dirty="0"/>
              <a:t>A </a:t>
            </a:r>
            <a:r>
              <a:rPr lang="en-US" dirty="0">
                <a:solidFill>
                  <a:srgbClr val="FF0000"/>
                </a:solidFill>
              </a:rPr>
              <a:t>‘</a:t>
            </a:r>
            <a:r>
              <a:rPr lang="en-US" b="1" dirty="0">
                <a:solidFill>
                  <a:srgbClr val="598CBE"/>
                </a:solidFill>
              </a:rPr>
              <a:t>setter</a:t>
            </a:r>
            <a:r>
              <a:rPr lang="en-US" dirty="0">
                <a:solidFill>
                  <a:srgbClr val="FF0000"/>
                </a:solidFill>
              </a:rPr>
              <a:t>’ </a:t>
            </a:r>
            <a:r>
              <a:rPr lang="en-US" dirty="0"/>
              <a:t>method </a:t>
            </a:r>
          </a:p>
          <a:p>
            <a:pPr lvl="1"/>
            <a:r>
              <a:rPr lang="en-US" dirty="0"/>
              <a:t>is a specific type of </a:t>
            </a:r>
            <a:r>
              <a:rPr lang="en-US" b="1" dirty="0" err="1">
                <a:solidFill>
                  <a:srgbClr val="00B050"/>
                </a:solidFill>
              </a:rPr>
              <a:t>mutator</a:t>
            </a:r>
            <a:r>
              <a:rPr lang="en-US" dirty="0"/>
              <a:t> method and typically:</a:t>
            </a:r>
          </a:p>
          <a:p>
            <a:pPr lvl="2"/>
            <a:r>
              <a:rPr lang="en-US" dirty="0"/>
              <a:t>contains an </a:t>
            </a:r>
            <a:r>
              <a:rPr lang="en-US" b="1" dirty="0"/>
              <a:t>assignment statement </a:t>
            </a:r>
          </a:p>
          <a:p>
            <a:pPr lvl="2"/>
            <a:r>
              <a:rPr lang="en-US" dirty="0"/>
              <a:t>takes in a </a:t>
            </a:r>
            <a:r>
              <a:rPr lang="en-US" b="1" dirty="0"/>
              <a:t>parameter</a:t>
            </a:r>
          </a:p>
          <a:p>
            <a:pPr lvl="2"/>
            <a:r>
              <a:rPr lang="en-US" b="1" i="1" u="sng" dirty="0">
                <a:solidFill>
                  <a:srgbClr val="598CBE"/>
                </a:solidFill>
              </a:rPr>
              <a:t>changes</a:t>
            </a:r>
            <a:r>
              <a:rPr lang="en-US" b="1" dirty="0"/>
              <a:t> the object state</a:t>
            </a:r>
            <a:r>
              <a:rPr lang="en-US" dirty="0"/>
              <a:t>.</a:t>
            </a:r>
          </a:p>
        </p:txBody>
      </p:sp>
      <p:sp>
        <p:nvSpPr>
          <p:cNvPr id="4" name="Footer Placeholder 3">
            <a:extLst>
              <a:ext uri="{FF2B5EF4-FFF2-40B4-BE49-F238E27FC236}">
                <a16:creationId xmlns:a16="http://schemas.microsoft.com/office/drawing/2014/main" id="{61DB32AB-F289-8627-F1B0-05FAD3FD80E8}"/>
              </a:ext>
            </a:extLst>
          </p:cNvPr>
          <p:cNvSpPr>
            <a:spLocks noGrp="1"/>
          </p:cNvSpPr>
          <p:nvPr>
            <p:ph type="ftr" sz="quarter" idx="3"/>
          </p:nvPr>
        </p:nvSpPr>
        <p:spPr/>
        <p:txBody>
          <a:bodyPr/>
          <a:lstStyle/>
          <a:p>
            <a:r>
              <a:rPr lang="en-IE"/>
              <a:t>https://www.java.com</a:t>
            </a:r>
            <a:endParaRPr lang="en-IE" dirty="0"/>
          </a:p>
        </p:txBody>
      </p:sp>
      <p:sp>
        <p:nvSpPr>
          <p:cNvPr id="5" name="Slide Number Placeholder 4">
            <a:extLst>
              <a:ext uri="{FF2B5EF4-FFF2-40B4-BE49-F238E27FC236}">
                <a16:creationId xmlns:a16="http://schemas.microsoft.com/office/drawing/2014/main" id="{FB58D4E4-F7CA-DB0B-86A8-0F357E466848}"/>
              </a:ext>
            </a:extLst>
          </p:cNvPr>
          <p:cNvSpPr>
            <a:spLocks noGrp="1"/>
          </p:cNvSpPr>
          <p:nvPr>
            <p:ph type="sldNum" sz="quarter" idx="2"/>
          </p:nvPr>
        </p:nvSpPr>
        <p:spPr/>
        <p:txBody>
          <a:bodyPr/>
          <a:lstStyle/>
          <a:p>
            <a:pPr lvl="0"/>
            <a:fld id="{86CB4B4D-7CA3-9044-876B-883B54F8677D}" type="slidenum">
              <a:rPr lang="en-IE" smtClean="0"/>
              <a:t>21</a:t>
            </a:fld>
            <a:endParaRPr lang="en-IE" dirty="0"/>
          </a:p>
        </p:txBody>
      </p:sp>
    </p:spTree>
    <p:extLst>
      <p:ext uri="{BB962C8B-B14F-4D97-AF65-F5344CB8AC3E}">
        <p14:creationId xmlns:p14="http://schemas.microsoft.com/office/powerpoint/2010/main" val="360305961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IE" b="1" dirty="0">
                <a:solidFill>
                  <a:srgbClr val="598CBE"/>
                </a:solidFill>
              </a:rPr>
              <a:t>Set</a:t>
            </a:r>
            <a:r>
              <a:rPr lang="en-IE" dirty="0"/>
              <a:t>ters</a:t>
            </a:r>
            <a:endParaRPr lang="en-US" dirty="0"/>
          </a:p>
        </p:txBody>
      </p:sp>
      <p:sp>
        <p:nvSpPr>
          <p:cNvPr id="3" name="Slide Number Placeholder 2">
            <a:extLst>
              <a:ext uri="{FF2B5EF4-FFF2-40B4-BE49-F238E27FC236}">
                <a16:creationId xmlns:a16="http://schemas.microsoft.com/office/drawing/2014/main" id="{A5AAEF6B-A325-CB29-2C11-1A70E3A89A33}"/>
              </a:ext>
            </a:extLst>
          </p:cNvPr>
          <p:cNvSpPr>
            <a:spLocks noGrp="1"/>
          </p:cNvSpPr>
          <p:nvPr>
            <p:ph type="sldNum" sz="quarter" idx="2"/>
          </p:nvPr>
        </p:nvSpPr>
        <p:spPr/>
        <p:txBody>
          <a:bodyPr/>
          <a:lstStyle/>
          <a:p>
            <a:fld id="{B6F15528-21DE-4FAA-801E-634DDDAF4B2B}" type="slidenum">
              <a:rPr lang="en-US" smtClean="0"/>
              <a:pPr/>
              <a:t>22</a:t>
            </a:fld>
            <a:endParaRPr lang="en-US"/>
          </a:p>
        </p:txBody>
      </p:sp>
      <p:sp>
        <p:nvSpPr>
          <p:cNvPr id="2" name="Footer Placeholder 1">
            <a:extLst>
              <a:ext uri="{FF2B5EF4-FFF2-40B4-BE49-F238E27FC236}">
                <a16:creationId xmlns:a16="http://schemas.microsoft.com/office/drawing/2014/main" id="{343365BF-444A-DFFA-4ED7-3066183A602B}"/>
              </a:ext>
            </a:extLst>
          </p:cNvPr>
          <p:cNvSpPr>
            <a:spLocks noGrp="1"/>
          </p:cNvSpPr>
          <p:nvPr>
            <p:ph type="ftr" sz="quarter" idx="3"/>
          </p:nvPr>
        </p:nvSpPr>
        <p:spPr/>
        <p:txBody>
          <a:bodyPr/>
          <a:lstStyle/>
          <a:p>
            <a:r>
              <a:rPr lang="en-US"/>
              <a:t>https://www.java.com</a:t>
            </a:r>
          </a:p>
        </p:txBody>
      </p:sp>
      <p:sp>
        <p:nvSpPr>
          <p:cNvPr id="19459" name="Text Box 3"/>
          <p:cNvSpPr txBox="1">
            <a:spLocks noChangeArrowheads="1"/>
          </p:cNvSpPr>
          <p:nvPr/>
        </p:nvSpPr>
        <p:spPr bwMode="auto">
          <a:xfrm>
            <a:off x="1943101" y="2402682"/>
            <a:ext cx="5561138" cy="1200329"/>
          </a:xfrm>
          <a:prstGeom prst="rect">
            <a:avLst/>
          </a:prstGeom>
          <a:noFill/>
          <a:ln w="12700">
            <a:solidFill>
              <a:schemeClr val="tx2"/>
            </a:solidFill>
            <a:miter lim="800000"/>
            <a:headEnd/>
            <a:tailEnd/>
          </a:ln>
          <a:effectLst/>
        </p:spPr>
        <p:txBody>
          <a:bodyPr wrap="none">
            <a:spAutoFit/>
          </a:bodyPr>
          <a:lstStyle/>
          <a:p>
            <a:pPr algn="l" eaLnBrk="1" hangingPunct="1"/>
            <a:r>
              <a:rPr lang="en-US" sz="1800" dirty="0">
                <a:latin typeface="Monaco" pitchFamily="2" charset="77"/>
                <a:cs typeface="Times" pitchFamily="-32" charset="0"/>
              </a:rPr>
              <a:t>public void </a:t>
            </a:r>
            <a:r>
              <a:rPr lang="en-US" sz="1800" dirty="0" err="1">
                <a:latin typeface="Monaco" pitchFamily="2" charset="77"/>
                <a:cs typeface="Times" pitchFamily="-32" charset="0"/>
              </a:rPr>
              <a:t>setDiameter</a:t>
            </a:r>
            <a:r>
              <a:rPr lang="en-US" sz="1800" dirty="0">
                <a:latin typeface="Monaco" pitchFamily="2" charset="77"/>
                <a:cs typeface="Times" pitchFamily="-32" charset="0"/>
              </a:rPr>
              <a:t>(float diameter)</a:t>
            </a:r>
          </a:p>
          <a:p>
            <a:pPr algn="l" eaLnBrk="1" hangingPunct="1"/>
            <a:r>
              <a:rPr lang="en-US" sz="1800" dirty="0">
                <a:latin typeface="Monaco" pitchFamily="2" charset="77"/>
                <a:cs typeface="Times" pitchFamily="-32" charset="0"/>
              </a:rPr>
              <a:t>{</a:t>
            </a:r>
          </a:p>
          <a:p>
            <a:pPr algn="l" eaLnBrk="1" hangingPunct="1"/>
            <a:r>
              <a:rPr lang="en-US" sz="1800" dirty="0">
                <a:latin typeface="Monaco" pitchFamily="2" charset="77"/>
                <a:cs typeface="Times" pitchFamily="-32" charset="0"/>
              </a:rPr>
              <a:t>    </a:t>
            </a:r>
            <a:r>
              <a:rPr lang="en-US" sz="1800" dirty="0" err="1">
                <a:latin typeface="Monaco" pitchFamily="2" charset="77"/>
                <a:cs typeface="Times" pitchFamily="-32" charset="0"/>
              </a:rPr>
              <a:t>this.diameter</a:t>
            </a:r>
            <a:r>
              <a:rPr lang="en-US" sz="1800" dirty="0">
                <a:latin typeface="Monaco" pitchFamily="2" charset="77"/>
                <a:cs typeface="Times" pitchFamily="-32" charset="0"/>
              </a:rPr>
              <a:t> = diameter;</a:t>
            </a:r>
          </a:p>
          <a:p>
            <a:pPr algn="l" eaLnBrk="1" hangingPunct="1"/>
            <a:r>
              <a:rPr lang="en-US" sz="1800" dirty="0">
                <a:latin typeface="Monaco" pitchFamily="2" charset="77"/>
                <a:cs typeface="Times" pitchFamily="-32" charset="0"/>
              </a:rPr>
              <a:t>}</a:t>
            </a:r>
            <a:r>
              <a:rPr lang="en-US" sz="1800" dirty="0">
                <a:latin typeface="Monaco" pitchFamily="2" charset="77"/>
              </a:rPr>
              <a:t> </a:t>
            </a:r>
          </a:p>
        </p:txBody>
      </p:sp>
      <p:sp>
        <p:nvSpPr>
          <p:cNvPr id="19460" name="Text Box 4"/>
          <p:cNvSpPr txBox="1">
            <a:spLocks noChangeArrowheads="1"/>
          </p:cNvSpPr>
          <p:nvPr/>
        </p:nvSpPr>
        <p:spPr bwMode="auto">
          <a:xfrm>
            <a:off x="3028951" y="1314450"/>
            <a:ext cx="1114408"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return type</a:t>
            </a:r>
          </a:p>
        </p:txBody>
      </p:sp>
      <p:sp>
        <p:nvSpPr>
          <p:cNvPr id="19461" name="Text Box 5"/>
          <p:cNvSpPr txBox="1">
            <a:spLocks noChangeArrowheads="1"/>
          </p:cNvSpPr>
          <p:nvPr/>
        </p:nvSpPr>
        <p:spPr bwMode="auto">
          <a:xfrm>
            <a:off x="4117182" y="1714500"/>
            <a:ext cx="1372492"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method name</a:t>
            </a:r>
          </a:p>
        </p:txBody>
      </p:sp>
      <p:sp>
        <p:nvSpPr>
          <p:cNvPr id="19462" name="Text Box 6"/>
          <p:cNvSpPr txBox="1">
            <a:spLocks noChangeArrowheads="1"/>
          </p:cNvSpPr>
          <p:nvPr/>
        </p:nvSpPr>
        <p:spPr bwMode="auto">
          <a:xfrm>
            <a:off x="6343650" y="1714500"/>
            <a:ext cx="1072730"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parameter</a:t>
            </a:r>
          </a:p>
        </p:txBody>
      </p:sp>
      <p:sp>
        <p:nvSpPr>
          <p:cNvPr id="19463" name="Line 7"/>
          <p:cNvSpPr>
            <a:spLocks noChangeShapeType="1"/>
          </p:cNvSpPr>
          <p:nvPr/>
        </p:nvSpPr>
        <p:spPr bwMode="auto">
          <a:xfrm flipH="1">
            <a:off x="3320251" y="1600202"/>
            <a:ext cx="223049" cy="851296"/>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9464" name="Line 8"/>
          <p:cNvSpPr>
            <a:spLocks noChangeShapeType="1"/>
          </p:cNvSpPr>
          <p:nvPr/>
        </p:nvSpPr>
        <p:spPr bwMode="auto">
          <a:xfrm flipH="1">
            <a:off x="4457700" y="2000250"/>
            <a:ext cx="342900" cy="451247"/>
          </a:xfrm>
          <a:prstGeom prst="line">
            <a:avLst/>
          </a:prstGeom>
          <a:noFill/>
          <a:ln w="9525">
            <a:solidFill>
              <a:schemeClr val="tx1"/>
            </a:solidFill>
            <a:round/>
            <a:headEnd/>
            <a:tailEnd type="triangle" w="med" len="med"/>
          </a:ln>
          <a:effectLst/>
        </p:spPr>
        <p:txBody>
          <a:bodyPr/>
          <a:lstStyle/>
          <a:p>
            <a:endParaRPr lang="en-IE" sz="1688"/>
          </a:p>
        </p:txBody>
      </p:sp>
      <p:sp>
        <p:nvSpPr>
          <p:cNvPr id="19465" name="Line 9"/>
          <p:cNvSpPr>
            <a:spLocks noChangeShapeType="1"/>
          </p:cNvSpPr>
          <p:nvPr/>
        </p:nvSpPr>
        <p:spPr bwMode="auto">
          <a:xfrm flipH="1">
            <a:off x="6667500" y="2051804"/>
            <a:ext cx="200025" cy="374357"/>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9466" name="Text Box 10"/>
          <p:cNvSpPr txBox="1">
            <a:spLocks noChangeArrowheads="1"/>
          </p:cNvSpPr>
          <p:nvPr/>
        </p:nvSpPr>
        <p:spPr bwMode="auto">
          <a:xfrm>
            <a:off x="1371601" y="1702594"/>
            <a:ext cx="1608133"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visibility modifier</a:t>
            </a:r>
          </a:p>
        </p:txBody>
      </p:sp>
      <p:sp>
        <p:nvSpPr>
          <p:cNvPr id="19467" name="Line 11"/>
          <p:cNvSpPr>
            <a:spLocks noChangeShapeType="1"/>
          </p:cNvSpPr>
          <p:nvPr/>
        </p:nvSpPr>
        <p:spPr bwMode="auto">
          <a:xfrm>
            <a:off x="2228851" y="2000251"/>
            <a:ext cx="177000" cy="451246"/>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9468" name="Text Box 12"/>
          <p:cNvSpPr txBox="1">
            <a:spLocks noChangeArrowheads="1"/>
          </p:cNvSpPr>
          <p:nvPr/>
        </p:nvSpPr>
        <p:spPr bwMode="auto">
          <a:xfrm>
            <a:off x="4182121" y="3771900"/>
            <a:ext cx="1233030" cy="553998"/>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assignment </a:t>
            </a:r>
          </a:p>
          <a:p>
            <a:pPr algn="l" eaLnBrk="1" hangingPunct="1"/>
            <a:r>
              <a:rPr lang="en-US" sz="1500" dirty="0">
                <a:solidFill>
                  <a:srgbClr val="A57133"/>
                </a:solidFill>
              </a:rPr>
              <a:t>statement</a:t>
            </a:r>
          </a:p>
        </p:txBody>
      </p:sp>
      <p:sp>
        <p:nvSpPr>
          <p:cNvPr id="19469" name="Line 13"/>
          <p:cNvSpPr>
            <a:spLocks noChangeShapeType="1"/>
          </p:cNvSpPr>
          <p:nvPr/>
        </p:nvSpPr>
        <p:spPr bwMode="auto">
          <a:xfrm flipH="1" flipV="1">
            <a:off x="4551426" y="3225596"/>
            <a:ext cx="0" cy="580118"/>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19470" name="Text Box 14"/>
          <p:cNvSpPr txBox="1">
            <a:spLocks noChangeArrowheads="1"/>
          </p:cNvSpPr>
          <p:nvPr/>
        </p:nvSpPr>
        <p:spPr bwMode="auto">
          <a:xfrm>
            <a:off x="2243891" y="3817144"/>
            <a:ext cx="1851789" cy="323165"/>
          </a:xfrm>
          <a:prstGeom prst="rect">
            <a:avLst/>
          </a:prstGeom>
          <a:noFill/>
          <a:ln w="9525">
            <a:noFill/>
            <a:miter lim="800000"/>
            <a:headEnd/>
            <a:tailEnd/>
          </a:ln>
          <a:effectLst/>
        </p:spPr>
        <p:txBody>
          <a:bodyPr wrap="none">
            <a:spAutoFit/>
          </a:bodyPr>
          <a:lstStyle/>
          <a:p>
            <a:pPr algn="l" eaLnBrk="1" hangingPunct="1"/>
            <a:r>
              <a:rPr lang="en-US" sz="1500" dirty="0">
                <a:solidFill>
                  <a:srgbClr val="A57133"/>
                </a:solidFill>
              </a:rPr>
              <a:t>field being mutated</a:t>
            </a:r>
          </a:p>
        </p:txBody>
      </p:sp>
      <p:sp>
        <p:nvSpPr>
          <p:cNvPr id="19471" name="Line 15"/>
          <p:cNvSpPr>
            <a:spLocks noChangeShapeType="1"/>
          </p:cNvSpPr>
          <p:nvPr/>
        </p:nvSpPr>
        <p:spPr bwMode="auto">
          <a:xfrm flipV="1">
            <a:off x="3201589" y="3257550"/>
            <a:ext cx="284561" cy="502444"/>
          </a:xfrm>
          <a:prstGeom prst="line">
            <a:avLst/>
          </a:prstGeom>
          <a:noFill/>
          <a:ln w="9525">
            <a:solidFill>
              <a:schemeClr val="tx1"/>
            </a:solidFill>
            <a:round/>
            <a:headEnd/>
            <a:tailEnd type="triangle" w="med" len="med"/>
          </a:ln>
          <a:effectLst/>
        </p:spPr>
        <p:txBody>
          <a:bodyPr/>
          <a:lstStyle/>
          <a:p>
            <a:endParaRPr lang="en-IE" sz="1688"/>
          </a:p>
        </p:txBody>
      </p:sp>
      <p:sp>
        <p:nvSpPr>
          <p:cNvPr id="16" name="Text Box 12"/>
          <p:cNvSpPr txBox="1">
            <a:spLocks noChangeArrowheads="1"/>
          </p:cNvSpPr>
          <p:nvPr/>
        </p:nvSpPr>
        <p:spPr bwMode="auto">
          <a:xfrm>
            <a:off x="5657851" y="3812485"/>
            <a:ext cx="1489510" cy="553998"/>
          </a:xfrm>
          <a:prstGeom prst="rect">
            <a:avLst/>
          </a:prstGeom>
          <a:noFill/>
          <a:ln w="9525">
            <a:noFill/>
            <a:miter lim="800000"/>
            <a:headEnd/>
            <a:tailEnd/>
          </a:ln>
          <a:effectLst/>
        </p:spPr>
        <p:txBody>
          <a:bodyPr wrap="none">
            <a:spAutoFit/>
          </a:bodyPr>
          <a:lstStyle/>
          <a:p>
            <a:pPr algn="l" eaLnBrk="1" hangingPunct="1"/>
            <a:r>
              <a:rPr lang="en-US" sz="1500" b="1" dirty="0">
                <a:solidFill>
                  <a:srgbClr val="A57133"/>
                </a:solidFill>
              </a:rPr>
              <a:t>Value passed </a:t>
            </a:r>
          </a:p>
          <a:p>
            <a:pPr algn="l" eaLnBrk="1" hangingPunct="1"/>
            <a:r>
              <a:rPr lang="en-US" sz="1500" b="1" dirty="0">
                <a:solidFill>
                  <a:srgbClr val="A57133"/>
                </a:solidFill>
              </a:rPr>
              <a:t>as a parameter</a:t>
            </a:r>
          </a:p>
        </p:txBody>
      </p:sp>
      <p:sp>
        <p:nvSpPr>
          <p:cNvPr id="17" name="Line 13"/>
          <p:cNvSpPr>
            <a:spLocks noChangeShapeType="1"/>
          </p:cNvSpPr>
          <p:nvPr/>
        </p:nvSpPr>
        <p:spPr bwMode="auto">
          <a:xfrm flipH="1" flipV="1">
            <a:off x="5415150" y="3257549"/>
            <a:ext cx="575429" cy="543029"/>
          </a:xfrm>
          <a:prstGeom prst="line">
            <a:avLst/>
          </a:prstGeom>
          <a:noFill/>
          <a:ln w="9525">
            <a:solidFill>
              <a:schemeClr val="tx1"/>
            </a:solidFill>
            <a:round/>
            <a:headEnd/>
            <a:tailEnd type="triangle" w="med" len="med"/>
          </a:ln>
          <a:effectLst/>
        </p:spPr>
        <p:txBody>
          <a:bodyPr/>
          <a:lstStyle/>
          <a:p>
            <a:pPr algn="ctr" defTabSz="366737" rtl="0"/>
            <a:endParaRPr lang="en-IE" sz="1688"/>
          </a:p>
        </p:txBody>
      </p:sp>
      <p:sp>
        <p:nvSpPr>
          <p:cNvPr id="5" name="Line 13">
            <a:extLst>
              <a:ext uri="{FF2B5EF4-FFF2-40B4-BE49-F238E27FC236}">
                <a16:creationId xmlns:a16="http://schemas.microsoft.com/office/drawing/2014/main" id="{368D71BB-6169-837D-9B67-933E6FBDCCDE}"/>
              </a:ext>
            </a:extLst>
          </p:cNvPr>
          <p:cNvSpPr>
            <a:spLocks noChangeShapeType="1"/>
          </p:cNvSpPr>
          <p:nvPr/>
        </p:nvSpPr>
        <p:spPr bwMode="auto">
          <a:xfrm flipH="1">
            <a:off x="5657850" y="2732229"/>
            <a:ext cx="505205" cy="311187"/>
          </a:xfrm>
          <a:prstGeom prst="line">
            <a:avLst/>
          </a:prstGeom>
          <a:noFill/>
          <a:ln w="28575">
            <a:solidFill>
              <a:srgbClr val="FF0000"/>
            </a:solidFill>
            <a:round/>
            <a:headEnd type="triangle"/>
            <a:tailEnd type="triangle" w="med" len="med"/>
          </a:ln>
          <a:effectLst/>
        </p:spPr>
        <p:txBody>
          <a:bodyPr/>
          <a:lstStyle/>
          <a:p>
            <a:pPr algn="ctr" defTabSz="366737" rtl="0"/>
            <a:endParaRPr lang="en-IE" sz="1688" dirty="0"/>
          </a:p>
        </p:txBody>
      </p:sp>
    </p:spTree>
    <p:custDataLst>
      <p:tags r:id="rId1"/>
    </p:custDataLst>
    <p:extLst>
      <p:ext uri="{BB962C8B-B14F-4D97-AF65-F5344CB8AC3E}">
        <p14:creationId xmlns:p14="http://schemas.microsoft.com/office/powerpoint/2010/main" val="4012169743"/>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6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46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6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6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46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46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4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47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47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46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46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P spid="19461" grpId="0"/>
      <p:bldP spid="19462" grpId="0"/>
      <p:bldP spid="19463" grpId="0" animBg="1"/>
      <p:bldP spid="19464" grpId="0" animBg="1"/>
      <p:bldP spid="19465" grpId="0" animBg="1"/>
      <p:bldP spid="19466" grpId="0"/>
      <p:bldP spid="19467" grpId="0" animBg="1"/>
      <p:bldP spid="19468" grpId="0"/>
      <p:bldP spid="19469" grpId="0" animBg="1"/>
      <p:bldP spid="19470" grpId="0"/>
      <p:bldP spid="19471" grpId="0" animBg="1"/>
      <p:bldP spid="16" grpId="0"/>
      <p:bldP spid="17" grpId="0" animBg="1"/>
      <p:bldP spid="5"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Getters/Setters</a:t>
            </a:r>
          </a:p>
        </p:txBody>
      </p:sp>
      <p:sp>
        <p:nvSpPr>
          <p:cNvPr id="3" name="Content Placeholder 2"/>
          <p:cNvSpPr>
            <a:spLocks noGrp="1"/>
          </p:cNvSpPr>
          <p:nvPr>
            <p:ph idx="1"/>
          </p:nvPr>
        </p:nvSpPr>
        <p:spPr/>
        <p:txBody>
          <a:bodyPr/>
          <a:lstStyle/>
          <a:p>
            <a:r>
              <a:rPr lang="en-IE" dirty="0"/>
              <a:t>For </a:t>
            </a:r>
            <a:r>
              <a:rPr lang="en-IE" b="1" dirty="0">
                <a:solidFill>
                  <a:srgbClr val="598CBE"/>
                </a:solidFill>
              </a:rPr>
              <a:t>each instance field </a:t>
            </a:r>
            <a:r>
              <a:rPr lang="en-IE" dirty="0"/>
              <a:t>in a class, you are normally asked to write: </a:t>
            </a:r>
          </a:p>
          <a:p>
            <a:pPr lvl="1"/>
            <a:r>
              <a:rPr lang="en-IE" dirty="0"/>
              <a:t>A </a:t>
            </a:r>
            <a:r>
              <a:rPr lang="en-IE" b="1" dirty="0">
                <a:solidFill>
                  <a:srgbClr val="598CBE"/>
                </a:solidFill>
              </a:rPr>
              <a:t>get</a:t>
            </a:r>
            <a:r>
              <a:rPr lang="en-IE" dirty="0"/>
              <a:t>ter</a:t>
            </a:r>
          </a:p>
          <a:p>
            <a:pPr lvl="2"/>
            <a:r>
              <a:rPr lang="en-IE" i="1" dirty="0"/>
              <a:t>Return</a:t>
            </a:r>
            <a:r>
              <a:rPr lang="en-IE" dirty="0"/>
              <a:t> statement</a:t>
            </a:r>
          </a:p>
          <a:p>
            <a:pPr lvl="1"/>
            <a:r>
              <a:rPr lang="en-IE" dirty="0"/>
              <a:t>A </a:t>
            </a:r>
            <a:r>
              <a:rPr lang="en-IE" b="1" dirty="0">
                <a:solidFill>
                  <a:srgbClr val="598CBE"/>
                </a:solidFill>
              </a:rPr>
              <a:t>set</a:t>
            </a:r>
            <a:r>
              <a:rPr lang="en-IE" dirty="0"/>
              <a:t>ter</a:t>
            </a:r>
          </a:p>
          <a:p>
            <a:pPr lvl="2"/>
            <a:r>
              <a:rPr lang="en-IE" i="1" dirty="0"/>
              <a:t>Assignment</a:t>
            </a:r>
            <a:r>
              <a:rPr lang="en-IE" dirty="0"/>
              <a:t> statement</a:t>
            </a:r>
          </a:p>
        </p:txBody>
      </p:sp>
      <p:graphicFrame>
        <p:nvGraphicFramePr>
          <p:cNvPr id="4" name="Table 3">
            <a:extLst>
              <a:ext uri="{FF2B5EF4-FFF2-40B4-BE49-F238E27FC236}">
                <a16:creationId xmlns:a16="http://schemas.microsoft.com/office/drawing/2014/main" id="{74F77850-181C-1A5E-A588-4EA7DFD30660}"/>
              </a:ext>
            </a:extLst>
          </p:cNvPr>
          <p:cNvGraphicFramePr>
            <a:graphicFrameLocks noGrp="1"/>
          </p:cNvGraphicFramePr>
          <p:nvPr>
            <p:extLst>
              <p:ext uri="{D42A27DB-BD31-4B8C-83A1-F6EECF244321}">
                <p14:modId xmlns:p14="http://schemas.microsoft.com/office/powerpoint/2010/main" val="3703583953"/>
              </p:ext>
            </p:extLst>
          </p:nvPr>
        </p:nvGraphicFramePr>
        <p:xfrm>
          <a:off x="571500" y="3782452"/>
          <a:ext cx="7886700" cy="891540"/>
        </p:xfrm>
        <a:graphic>
          <a:graphicData uri="http://schemas.openxmlformats.org/drawingml/2006/table">
            <a:tbl>
              <a:tblPr bandRow="1">
                <a:tableStyleId>{9DCAF9ED-07DC-4A11-8D7F-57B35C25682E}</a:tableStyleId>
              </a:tblPr>
              <a:tblGrid>
                <a:gridCol w="3771900">
                  <a:extLst>
                    <a:ext uri="{9D8B030D-6E8A-4147-A177-3AD203B41FA5}">
                      <a16:colId xmlns:a16="http://schemas.microsoft.com/office/drawing/2014/main" val="2553029381"/>
                    </a:ext>
                  </a:extLst>
                </a:gridCol>
                <a:gridCol w="4114800">
                  <a:extLst>
                    <a:ext uri="{9D8B030D-6E8A-4147-A177-3AD203B41FA5}">
                      <a16:colId xmlns:a16="http://schemas.microsoft.com/office/drawing/2014/main" val="1059420759"/>
                    </a:ext>
                  </a:extLst>
                </a:gridCol>
              </a:tblGrid>
              <a:tr h="891540">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IE" sz="1800" dirty="0"/>
                        <a:t>3. </a:t>
                      </a:r>
                      <a:r>
                        <a:rPr lang="en-IE" sz="1800" b="1" kern="1200" dirty="0">
                          <a:solidFill>
                            <a:srgbClr val="598CBE"/>
                          </a:solidFill>
                        </a:rPr>
                        <a:t>Access</a:t>
                      </a:r>
                      <a:r>
                        <a:rPr lang="en-IE" sz="1800" dirty="0">
                          <a:solidFill>
                            <a:srgbClr val="00B050"/>
                          </a:solidFill>
                        </a:rPr>
                        <a:t> </a:t>
                      </a:r>
                      <a:r>
                        <a:rPr lang="en-IE" sz="1800" dirty="0"/>
                        <a:t>the fields only through the methods of their current class.</a:t>
                      </a:r>
                      <a:endParaRPr lang="en-IE" sz="1800" b="0" dirty="0"/>
                    </a:p>
                  </a:txBody>
                  <a:tcPr marL="68580" marR="68580" marT="34290" marB="34290">
                    <a:lnR w="12700" cap="flat" cmpd="sng" algn="ctr">
                      <a:solidFill>
                        <a:schemeClr val="tx1"/>
                      </a:solidFill>
                      <a:prstDash val="solid"/>
                      <a:round/>
                      <a:headEnd type="none" w="med" len="med"/>
                      <a:tailEnd type="none" w="med" len="med"/>
                    </a:ln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E" sz="1800" b="1" dirty="0"/>
                        <a:t>Provide </a:t>
                      </a:r>
                      <a:r>
                        <a:rPr lang="en-IE" sz="1800" b="1" u="sng" dirty="0">
                          <a:solidFill>
                            <a:srgbClr val="598CBE"/>
                          </a:solidFill>
                        </a:rPr>
                        <a:t>public</a:t>
                      </a:r>
                      <a:r>
                        <a:rPr lang="en-IE" sz="1800" b="1" dirty="0"/>
                        <a:t> get</a:t>
                      </a:r>
                      <a:r>
                        <a:rPr lang="en-IE" sz="1800" b="0" dirty="0"/>
                        <a:t>ter</a:t>
                      </a:r>
                      <a:r>
                        <a:rPr lang="en-IE" sz="1800" b="1" dirty="0"/>
                        <a:t> and set</a:t>
                      </a:r>
                      <a:r>
                        <a:rPr lang="en-IE" sz="1800" b="0" dirty="0"/>
                        <a:t>ter</a:t>
                      </a:r>
                      <a:r>
                        <a:rPr lang="en-IE" sz="1800" b="1" dirty="0"/>
                        <a:t> </a:t>
                      </a:r>
                      <a:r>
                        <a:rPr lang="en-IE" sz="1800" dirty="0"/>
                        <a:t>methods to modify and view the fields values.</a:t>
                      </a:r>
                      <a:endParaRPr lang="en-IE" sz="1800" b="0" dirty="0"/>
                    </a:p>
                  </a:txBody>
                  <a:tcPr marL="68580" marR="68580" marT="34290" marB="3429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63589288"/>
                  </a:ext>
                </a:extLst>
              </a:tr>
            </a:tbl>
          </a:graphicData>
        </a:graphic>
      </p:graphicFrame>
      <p:graphicFrame>
        <p:nvGraphicFramePr>
          <p:cNvPr id="5" name="Table 4">
            <a:extLst>
              <a:ext uri="{FF2B5EF4-FFF2-40B4-BE49-F238E27FC236}">
                <a16:creationId xmlns:a16="http://schemas.microsoft.com/office/drawing/2014/main" id="{887FA6C0-97CE-5A08-A4A3-E1AF6B8F5DDC}"/>
              </a:ext>
            </a:extLst>
          </p:cNvPr>
          <p:cNvGraphicFramePr>
            <a:graphicFrameLocks noGrp="1"/>
          </p:cNvGraphicFramePr>
          <p:nvPr>
            <p:extLst>
              <p:ext uri="{D42A27DB-BD31-4B8C-83A1-F6EECF244321}">
                <p14:modId xmlns:p14="http://schemas.microsoft.com/office/powerpoint/2010/main" val="787592933"/>
              </p:ext>
            </p:extLst>
          </p:nvPr>
        </p:nvGraphicFramePr>
        <p:xfrm>
          <a:off x="571500" y="3382402"/>
          <a:ext cx="7886700" cy="396689"/>
        </p:xfrm>
        <a:graphic>
          <a:graphicData uri="http://schemas.openxmlformats.org/drawingml/2006/table">
            <a:tbl>
              <a:tblPr firstRow="1" bandRow="1">
                <a:tableStyleId>{9DCAF9ED-07DC-4A11-8D7F-57B35C25682E}</a:tableStyleId>
              </a:tblPr>
              <a:tblGrid>
                <a:gridCol w="3771900">
                  <a:extLst>
                    <a:ext uri="{9D8B030D-6E8A-4147-A177-3AD203B41FA5}">
                      <a16:colId xmlns:a16="http://schemas.microsoft.com/office/drawing/2014/main" val="3596747579"/>
                    </a:ext>
                  </a:extLst>
                </a:gridCol>
                <a:gridCol w="4114800">
                  <a:extLst>
                    <a:ext uri="{9D8B030D-6E8A-4147-A177-3AD203B41FA5}">
                      <a16:colId xmlns:a16="http://schemas.microsoft.com/office/drawing/2014/main" val="4005962415"/>
                    </a:ext>
                  </a:extLst>
                </a:gridCol>
              </a:tblGrid>
              <a:tr h="396689">
                <a:tc>
                  <a:txBody>
                    <a:bodyPr/>
                    <a:lstStyle/>
                    <a:p>
                      <a:pPr marL="0" marR="0" lvl="1" indent="0" algn="ctr" defTabSz="914400" rtl="0" eaLnBrk="1" fontAlgn="auto" latinLnBrk="0" hangingPunct="1">
                        <a:lnSpc>
                          <a:spcPct val="100000"/>
                        </a:lnSpc>
                        <a:spcBef>
                          <a:spcPts val="0"/>
                        </a:spcBef>
                        <a:spcAft>
                          <a:spcPts val="0"/>
                        </a:spcAft>
                        <a:buClrTx/>
                        <a:buSzTx/>
                        <a:buFontTx/>
                        <a:buNone/>
                        <a:tabLst/>
                        <a:defRPr/>
                      </a:pPr>
                      <a:r>
                        <a:rPr lang="en-IE" sz="1800" dirty="0"/>
                        <a:t>Encapsulation Step</a:t>
                      </a:r>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tc>
                  <a:txBody>
                    <a:bodyPr/>
                    <a:lstStyle/>
                    <a:p>
                      <a:pPr algn="ctr"/>
                      <a:r>
                        <a:rPr lang="en-IE" sz="1800" dirty="0"/>
                        <a:t>Approach</a:t>
                      </a:r>
                      <a:r>
                        <a:rPr lang="en-IE" sz="1800" baseline="0" dirty="0"/>
                        <a:t> in Java</a:t>
                      </a:r>
                      <a:endParaRPr lang="en-IE"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598CBE"/>
                    </a:solidFill>
                  </a:tcPr>
                </a:tc>
                <a:extLst>
                  <a:ext uri="{0D108BD9-81ED-4DB2-BD59-A6C34878D82A}">
                    <a16:rowId xmlns:a16="http://schemas.microsoft.com/office/drawing/2014/main" val="567455816"/>
                  </a:ext>
                </a:extLst>
              </a:tr>
            </a:tbl>
          </a:graphicData>
        </a:graphic>
      </p:graphicFrame>
      <p:sp>
        <p:nvSpPr>
          <p:cNvPr id="6" name="Footer Placeholder 5">
            <a:extLst>
              <a:ext uri="{FF2B5EF4-FFF2-40B4-BE49-F238E27FC236}">
                <a16:creationId xmlns:a16="http://schemas.microsoft.com/office/drawing/2014/main" id="{7AFE55D3-2A88-8C65-F38B-88B53CDE4EC5}"/>
              </a:ext>
            </a:extLst>
          </p:cNvPr>
          <p:cNvSpPr>
            <a:spLocks noGrp="1"/>
          </p:cNvSpPr>
          <p:nvPr>
            <p:ph type="ftr" sz="quarter" idx="3"/>
          </p:nvPr>
        </p:nvSpPr>
        <p:spPr/>
        <p:txBody>
          <a:bodyPr/>
          <a:lstStyle/>
          <a:p>
            <a:r>
              <a:rPr lang="en-IE"/>
              <a:t>https://www.java.com</a:t>
            </a:r>
            <a:endParaRPr lang="en-IE" dirty="0"/>
          </a:p>
        </p:txBody>
      </p:sp>
      <p:sp>
        <p:nvSpPr>
          <p:cNvPr id="7" name="Slide Number Placeholder 6">
            <a:extLst>
              <a:ext uri="{FF2B5EF4-FFF2-40B4-BE49-F238E27FC236}">
                <a16:creationId xmlns:a16="http://schemas.microsoft.com/office/drawing/2014/main" id="{DB24C84D-0B9F-F633-1248-DE4BC1E5C724}"/>
              </a:ext>
            </a:extLst>
          </p:cNvPr>
          <p:cNvSpPr>
            <a:spLocks noGrp="1"/>
          </p:cNvSpPr>
          <p:nvPr>
            <p:ph type="sldNum" sz="quarter" idx="2"/>
          </p:nvPr>
        </p:nvSpPr>
        <p:spPr/>
        <p:txBody>
          <a:bodyPr/>
          <a:lstStyle/>
          <a:p>
            <a:pPr lvl="0"/>
            <a:fld id="{86CB4B4D-7CA3-9044-876B-883B54F8677D}" type="slidenum">
              <a:rPr lang="en-IE" smtClean="0"/>
              <a:t>23</a:t>
            </a:fld>
            <a:endParaRPr lang="en-IE" dirty="0"/>
          </a:p>
        </p:txBody>
      </p:sp>
    </p:spTree>
    <p:extLst>
      <p:ext uri="{BB962C8B-B14F-4D97-AF65-F5344CB8AC3E}">
        <p14:creationId xmlns:p14="http://schemas.microsoft.com/office/powerpoint/2010/main" val="2723850967"/>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71681"/>
            <a:ext cx="4806645" cy="1102519"/>
          </a:xfrm>
        </p:spPr>
        <p:txBody>
          <a:bodyPr/>
          <a:lstStyle/>
          <a:p>
            <a:pPr>
              <a:spcBef>
                <a:spcPts val="633"/>
              </a:spcBef>
            </a:pPr>
            <a:r>
              <a:rPr lang="en-IE" sz="3600" dirty="0">
                <a:solidFill>
                  <a:schemeClr val="tx1"/>
                </a:solidFill>
              </a:rPr>
              <a:t>Spot and Encapsulation</a:t>
            </a:r>
            <a:endParaRPr lang="en-IE" sz="3600" b="1" dirty="0">
              <a:solidFill>
                <a:srgbClr val="0368FF"/>
              </a:solidFill>
            </a:endParaRPr>
          </a:p>
        </p:txBody>
      </p:sp>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24</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
        <p:nvSpPr>
          <p:cNvPr id="6" name="Subtitle 2">
            <a:extLst>
              <a:ext uri="{FF2B5EF4-FFF2-40B4-BE49-F238E27FC236}">
                <a16:creationId xmlns:a16="http://schemas.microsoft.com/office/drawing/2014/main" id="{A06C1155-22B2-5831-3B2A-691EF6B69CBB}"/>
              </a:ext>
            </a:extLst>
          </p:cNvPr>
          <p:cNvSpPr>
            <a:spLocks noGrp="1"/>
          </p:cNvSpPr>
          <p:nvPr>
            <p:ph type="subTitle" idx="1"/>
          </p:nvPr>
        </p:nvSpPr>
        <p:spPr>
          <a:xfrm>
            <a:off x="1770139" y="1918519"/>
            <a:ext cx="5603721" cy="2266463"/>
          </a:xfrm>
        </p:spPr>
        <p:txBody>
          <a:bodyPr/>
          <a:lstStyle/>
          <a:p>
            <a:r>
              <a:rPr lang="en-IE" sz="2800" b="1" dirty="0">
                <a:solidFill>
                  <a:schemeClr val="tx1"/>
                </a:solidFill>
              </a:rPr>
              <a:t>Step 3</a:t>
            </a:r>
            <a:br>
              <a:rPr lang="en-IE" sz="2800" b="1" dirty="0">
                <a:solidFill>
                  <a:srgbClr val="598CBE"/>
                </a:solidFill>
              </a:rPr>
            </a:br>
            <a:br>
              <a:rPr lang="en-IE" sz="2800" b="1" dirty="0">
                <a:solidFill>
                  <a:srgbClr val="598CBE"/>
                </a:solidFill>
              </a:rPr>
            </a:br>
            <a:r>
              <a:rPr lang="en-IE" sz="3200" b="1" dirty="0">
                <a:solidFill>
                  <a:srgbClr val="598CBE"/>
                </a:solidFill>
              </a:rPr>
              <a:t>Getters</a:t>
            </a:r>
            <a:endParaRPr lang="en-US" sz="2800" dirty="0">
              <a:solidFill>
                <a:schemeClr val="tx1"/>
              </a:solidFill>
            </a:endParaRPr>
          </a:p>
        </p:txBody>
      </p:sp>
    </p:spTree>
    <p:extLst>
      <p:ext uri="{BB962C8B-B14F-4D97-AF65-F5344CB8AC3E}">
        <p14:creationId xmlns:p14="http://schemas.microsoft.com/office/powerpoint/2010/main" val="27068978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application&#10;&#10;Description automatically generated with medium confidence">
            <a:extLst>
              <a:ext uri="{FF2B5EF4-FFF2-40B4-BE49-F238E27FC236}">
                <a16:creationId xmlns:a16="http://schemas.microsoft.com/office/drawing/2014/main" id="{DFCDAF5B-F4CE-F246-8178-F6177DA2E3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2776" y="1045777"/>
            <a:ext cx="3657599" cy="3469341"/>
          </a:xfrm>
          <a:prstGeom prst="rect">
            <a:avLst/>
          </a:prstGeom>
          <a:ln>
            <a:noFill/>
          </a:ln>
          <a:effectLst>
            <a:outerShdw blurRad="292100" dist="139700" dir="2700000" algn="tl" rotWithShape="0">
              <a:srgbClr val="333333">
                <a:alpha val="65000"/>
              </a:srgbClr>
            </a:outerShdw>
          </a:effectLst>
        </p:spPr>
      </p:pic>
      <p:graphicFrame>
        <p:nvGraphicFramePr>
          <p:cNvPr id="8" name="Content Placeholder 5">
            <a:extLst>
              <a:ext uri="{FF2B5EF4-FFF2-40B4-BE49-F238E27FC236}">
                <a16:creationId xmlns:a16="http://schemas.microsoft.com/office/drawing/2014/main" id="{943545FD-CBB5-9FEF-9817-CFE900528542}"/>
              </a:ext>
            </a:extLst>
          </p:cNvPr>
          <p:cNvGraphicFramePr>
            <a:graphicFrameLocks/>
          </p:cNvGraphicFramePr>
          <p:nvPr>
            <p:extLst>
              <p:ext uri="{D42A27DB-BD31-4B8C-83A1-F6EECF244321}">
                <p14:modId xmlns:p14="http://schemas.microsoft.com/office/powerpoint/2010/main" val="3520383897"/>
              </p:ext>
            </p:extLst>
          </p:nvPr>
        </p:nvGraphicFramePr>
        <p:xfrm>
          <a:off x="7029450" y="2571750"/>
          <a:ext cx="1943100" cy="2256416"/>
        </p:xfrm>
        <a:graphic>
          <a:graphicData uri="http://schemas.openxmlformats.org/drawingml/2006/table">
            <a:tbl>
              <a:tblPr firstRow="1" bandRow="1">
                <a:tableStyleId>{5940675A-B579-460E-94D1-54222C63F5DA}</a:tableStyleId>
              </a:tblPr>
              <a:tblGrid>
                <a:gridCol w="1943100">
                  <a:extLst>
                    <a:ext uri="{9D8B030D-6E8A-4147-A177-3AD203B41FA5}">
                      <a16:colId xmlns:a16="http://schemas.microsoft.com/office/drawing/2014/main" val="20000"/>
                    </a:ext>
                  </a:extLst>
                </a:gridCol>
              </a:tblGrid>
              <a:tr h="393326">
                <a:tc>
                  <a:txBody>
                    <a:bodyPr/>
                    <a:lstStyle/>
                    <a:p>
                      <a:pPr algn="ctr"/>
                      <a:r>
                        <a:rPr lang="en-IE" sz="1500" i="1" dirty="0"/>
                        <a:t>Spot</a:t>
                      </a:r>
                    </a:p>
                  </a:txBody>
                  <a:tcPr marL="68580" marR="68580" marT="34290" marB="34290">
                    <a:solidFill>
                      <a:schemeClr val="bg2"/>
                    </a:solidFill>
                  </a:tcPr>
                </a:tc>
                <a:extLst>
                  <a:ext uri="{0D108BD9-81ED-4DB2-BD59-A6C34878D82A}">
                    <a16:rowId xmlns:a16="http://schemas.microsoft.com/office/drawing/2014/main" val="10000"/>
                  </a:ext>
                </a:extLst>
              </a:tr>
              <a:tr h="880110">
                <a:tc>
                  <a:txBody>
                    <a:bodyPr/>
                    <a:lstStyle/>
                    <a:p>
                      <a:pPr algn="l"/>
                      <a:r>
                        <a:rPr lang="en-IE" sz="1500" i="1" dirty="0" err="1"/>
                        <a:t>xCoord</a:t>
                      </a:r>
                      <a:endParaRPr lang="en-IE" sz="1500" i="1" dirty="0"/>
                    </a:p>
                    <a:p>
                      <a:pPr algn="l"/>
                      <a:r>
                        <a:rPr lang="en-IE" sz="1500" i="1" dirty="0" err="1"/>
                        <a:t>yCoord</a:t>
                      </a:r>
                      <a:endParaRPr lang="en-IE" sz="1500" i="1" dirty="0"/>
                    </a:p>
                    <a:p>
                      <a:pPr algn="l"/>
                      <a:r>
                        <a:rPr lang="en-IE" sz="1500" i="1" dirty="0"/>
                        <a:t>diameter</a:t>
                      </a:r>
                    </a:p>
                  </a:txBody>
                  <a:tcPr marL="68580" marR="68580" marT="34290" marB="34290">
                    <a:solidFill>
                      <a:schemeClr val="bg2"/>
                    </a:solidFill>
                  </a:tcPr>
                </a:tc>
                <a:extLst>
                  <a:ext uri="{0D108BD9-81ED-4DB2-BD59-A6C34878D82A}">
                    <a16:rowId xmlns:a16="http://schemas.microsoft.com/office/drawing/2014/main" val="10001"/>
                  </a:ext>
                </a:extLst>
              </a:tr>
              <a:tr h="982980">
                <a:tc>
                  <a:txBody>
                    <a:bodyPr/>
                    <a:lstStyle/>
                    <a:p>
                      <a:pPr algn="l"/>
                      <a:r>
                        <a:rPr lang="en-IE" sz="1500" i="1" dirty="0"/>
                        <a:t>Spot()</a:t>
                      </a:r>
                    </a:p>
                    <a:p>
                      <a:pPr algn="l"/>
                      <a:r>
                        <a:rPr lang="en-IE" sz="1500" i="1" dirty="0" err="1"/>
                        <a:t>getxCoord</a:t>
                      </a:r>
                      <a:r>
                        <a:rPr lang="en-IE" sz="1500" i="1" dirty="0"/>
                        <a:t>()</a:t>
                      </a:r>
                    </a:p>
                    <a:p>
                      <a:pPr algn="l"/>
                      <a:r>
                        <a:rPr lang="en-IE" sz="1500" i="1" dirty="0" err="1"/>
                        <a:t>getyCoord</a:t>
                      </a:r>
                      <a:r>
                        <a:rPr lang="en-IE" sz="1500" i="1" dirty="0"/>
                        <a:t>()</a:t>
                      </a:r>
                    </a:p>
                    <a:p>
                      <a:pPr algn="l"/>
                      <a:r>
                        <a:rPr lang="en-IE" sz="1500" i="1" dirty="0" err="1"/>
                        <a:t>getDiameter</a:t>
                      </a:r>
                      <a:r>
                        <a:rPr lang="en-IE" sz="1500" i="1" dirty="0"/>
                        <a:t>()</a:t>
                      </a:r>
                    </a:p>
                  </a:txBody>
                  <a:tcPr marL="68580" marR="68580" marT="34290" marB="34290">
                    <a:solidFill>
                      <a:schemeClr val="bg2"/>
                    </a:solidFill>
                  </a:tcPr>
                </a:tc>
                <a:extLst>
                  <a:ext uri="{0D108BD9-81ED-4DB2-BD59-A6C34878D82A}">
                    <a16:rowId xmlns:a16="http://schemas.microsoft.com/office/drawing/2014/main" val="10002"/>
                  </a:ext>
                </a:extLst>
              </a:tr>
            </a:tbl>
          </a:graphicData>
        </a:graphic>
      </p:graphicFrame>
      <p:sp>
        <p:nvSpPr>
          <p:cNvPr id="9" name="Rectangle 8">
            <a:extLst>
              <a:ext uri="{FF2B5EF4-FFF2-40B4-BE49-F238E27FC236}">
                <a16:creationId xmlns:a16="http://schemas.microsoft.com/office/drawing/2014/main" id="{5BF051BE-65E2-64AB-83CA-64977EB20644}"/>
              </a:ext>
            </a:extLst>
          </p:cNvPr>
          <p:cNvSpPr/>
          <p:nvPr/>
        </p:nvSpPr>
        <p:spPr>
          <a:xfrm>
            <a:off x="285750" y="175037"/>
            <a:ext cx="2600326" cy="1200329"/>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rgbClr val="598CBE"/>
                </a:solidFill>
              </a:rPr>
              <a:t>Encapsulation Step 3: </a:t>
            </a:r>
            <a:r>
              <a:rPr lang="en-IE" sz="1800" b="1" dirty="0"/>
              <a:t>Provide </a:t>
            </a:r>
            <a:r>
              <a:rPr lang="en-IE" sz="1800" b="1" u="sng" dirty="0"/>
              <a:t>public</a:t>
            </a:r>
            <a:r>
              <a:rPr lang="en-IE" sz="1800" b="1" dirty="0"/>
              <a:t> getter methods </a:t>
            </a:r>
            <a:r>
              <a:rPr lang="en-IE" sz="1800" dirty="0"/>
              <a:t>to view the fields values.</a:t>
            </a:r>
          </a:p>
        </p:txBody>
      </p:sp>
      <p:sp>
        <p:nvSpPr>
          <p:cNvPr id="10" name="Rectangle 9">
            <a:extLst>
              <a:ext uri="{FF2B5EF4-FFF2-40B4-BE49-F238E27FC236}">
                <a16:creationId xmlns:a16="http://schemas.microsoft.com/office/drawing/2014/main" id="{48AF94A7-DE20-FDFE-CE41-533B204EBBC2}"/>
              </a:ext>
            </a:extLst>
          </p:cNvPr>
          <p:cNvSpPr/>
          <p:nvPr/>
        </p:nvSpPr>
        <p:spPr>
          <a:xfrm>
            <a:off x="5612607" y="718406"/>
            <a:ext cx="1290638" cy="36933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chemeClr val="tx1"/>
                </a:solidFill>
              </a:rPr>
              <a:t>Spot class</a:t>
            </a:r>
            <a:endParaRPr lang="en-IE" sz="1800" dirty="0">
              <a:solidFill>
                <a:schemeClr val="tx1"/>
              </a:solidFill>
            </a:endParaRPr>
          </a:p>
        </p:txBody>
      </p:sp>
      <p:sp>
        <p:nvSpPr>
          <p:cNvPr id="2" name="Footer Placeholder 1">
            <a:extLst>
              <a:ext uri="{FF2B5EF4-FFF2-40B4-BE49-F238E27FC236}">
                <a16:creationId xmlns:a16="http://schemas.microsoft.com/office/drawing/2014/main" id="{8E0E5297-EADA-B791-B809-BEAD5D560339}"/>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A6168382-249E-8224-C145-720E7BA28751}"/>
              </a:ext>
            </a:extLst>
          </p:cNvPr>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3528963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F267123-EC80-1DF3-95E6-0694D94A0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38299" y="1737662"/>
            <a:ext cx="5313448" cy="1668176"/>
          </a:xfrm>
          <a:prstGeom prst="rect">
            <a:avLst/>
          </a:prstGeom>
          <a:ln>
            <a:noFill/>
          </a:ln>
          <a:effectLst>
            <a:outerShdw blurRad="292100" dist="139700" dir="2700000" algn="tl" rotWithShape="0">
              <a:srgbClr val="333333">
                <a:alpha val="65000"/>
              </a:srgbClr>
            </a:outerShdw>
          </a:effectLst>
        </p:spPr>
      </p:pic>
      <p:sp>
        <p:nvSpPr>
          <p:cNvPr id="10" name="Rectangle 9">
            <a:extLst>
              <a:ext uri="{FF2B5EF4-FFF2-40B4-BE49-F238E27FC236}">
                <a16:creationId xmlns:a16="http://schemas.microsoft.com/office/drawing/2014/main" id="{0E8618DD-55C2-D322-1480-6BF3FC53BD20}"/>
              </a:ext>
            </a:extLst>
          </p:cNvPr>
          <p:cNvSpPr/>
          <p:nvPr/>
        </p:nvSpPr>
        <p:spPr>
          <a:xfrm>
            <a:off x="5834954" y="1516229"/>
            <a:ext cx="1670747" cy="36933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chemeClr val="tx1"/>
                </a:solidFill>
              </a:rPr>
              <a:t>Driver class</a:t>
            </a:r>
            <a:endParaRPr lang="en-IE" sz="1800" dirty="0">
              <a:solidFill>
                <a:schemeClr val="tx1"/>
              </a:solidFill>
            </a:endParaRPr>
          </a:p>
        </p:txBody>
      </p:sp>
      <p:sp>
        <p:nvSpPr>
          <p:cNvPr id="2" name="Footer Placeholder 1">
            <a:extLst>
              <a:ext uri="{FF2B5EF4-FFF2-40B4-BE49-F238E27FC236}">
                <a16:creationId xmlns:a16="http://schemas.microsoft.com/office/drawing/2014/main" id="{67DA527F-79B2-1681-EC7A-9E0BBA550DE7}"/>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618A2DD5-D270-B10E-2413-0BCD35CC1788}"/>
              </a:ext>
            </a:extLst>
          </p:cNvPr>
          <p:cNvSpPr>
            <a:spLocks noGrp="1"/>
          </p:cNvSpPr>
          <p:nvPr>
            <p:ph type="sldNum" sz="quarter" idx="12"/>
          </p:nvPr>
        </p:nvSpPr>
        <p:spPr/>
        <p:txBody>
          <a:bodyPr/>
          <a:lstStyle/>
          <a:p>
            <a:fld id="{B6F15528-21DE-4FAA-801E-634DDDAF4B2B}" type="slidenum">
              <a:rPr lang="en-US" smtClean="0"/>
              <a:pPr/>
              <a:t>26</a:t>
            </a:fld>
            <a:endParaRPr lang="en-US"/>
          </a:p>
        </p:txBody>
      </p:sp>
      <p:sp>
        <p:nvSpPr>
          <p:cNvPr id="4" name="Rectangle 3">
            <a:extLst>
              <a:ext uri="{FF2B5EF4-FFF2-40B4-BE49-F238E27FC236}">
                <a16:creationId xmlns:a16="http://schemas.microsoft.com/office/drawing/2014/main" id="{BD01B46F-A835-D770-0AFD-80E8099167F2}"/>
              </a:ext>
            </a:extLst>
          </p:cNvPr>
          <p:cNvSpPr/>
          <p:nvPr/>
        </p:nvSpPr>
        <p:spPr>
          <a:xfrm>
            <a:off x="285750" y="175037"/>
            <a:ext cx="2600326" cy="1200329"/>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rgbClr val="00B050"/>
                </a:solidFill>
              </a:rPr>
              <a:t>Encapsulation Step 3: </a:t>
            </a:r>
          </a:p>
          <a:p>
            <a:pPr>
              <a:defRPr/>
            </a:pPr>
            <a:r>
              <a:rPr lang="en-IE" sz="1800" dirty="0"/>
              <a:t>Use these new getter methods to view the fields values.</a:t>
            </a:r>
          </a:p>
        </p:txBody>
      </p:sp>
      <p:cxnSp>
        <p:nvCxnSpPr>
          <p:cNvPr id="6" name="Straight Arrow Connector 5">
            <a:extLst>
              <a:ext uri="{FF2B5EF4-FFF2-40B4-BE49-F238E27FC236}">
                <a16:creationId xmlns:a16="http://schemas.microsoft.com/office/drawing/2014/main" id="{656F8AE7-730B-7DC3-F321-50A9EF5AC445}"/>
              </a:ext>
            </a:extLst>
          </p:cNvPr>
          <p:cNvCxnSpPr>
            <a:cxnSpLocks/>
          </p:cNvCxnSpPr>
          <p:nvPr/>
        </p:nvCxnSpPr>
        <p:spPr>
          <a:xfrm flipH="1" flipV="1">
            <a:off x="6783325" y="2571750"/>
            <a:ext cx="1409699" cy="473202"/>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10420088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168676" y="471681"/>
            <a:ext cx="4806645" cy="1102519"/>
          </a:xfrm>
        </p:spPr>
        <p:txBody>
          <a:bodyPr/>
          <a:lstStyle/>
          <a:p>
            <a:pPr>
              <a:spcBef>
                <a:spcPts val="633"/>
              </a:spcBef>
            </a:pPr>
            <a:r>
              <a:rPr lang="en-IE" sz="3600" dirty="0">
                <a:solidFill>
                  <a:schemeClr val="tx1"/>
                </a:solidFill>
              </a:rPr>
              <a:t>Spot and Encapsulation</a:t>
            </a:r>
            <a:endParaRPr lang="en-IE" sz="3600" b="1" dirty="0">
              <a:solidFill>
                <a:srgbClr val="0368FF"/>
              </a:solidFill>
            </a:endParaRPr>
          </a:p>
        </p:txBody>
      </p:sp>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27</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
        <p:nvSpPr>
          <p:cNvPr id="6" name="Subtitle 2">
            <a:extLst>
              <a:ext uri="{FF2B5EF4-FFF2-40B4-BE49-F238E27FC236}">
                <a16:creationId xmlns:a16="http://schemas.microsoft.com/office/drawing/2014/main" id="{A06C1155-22B2-5831-3B2A-691EF6B69CBB}"/>
              </a:ext>
            </a:extLst>
          </p:cNvPr>
          <p:cNvSpPr>
            <a:spLocks noGrp="1"/>
          </p:cNvSpPr>
          <p:nvPr>
            <p:ph type="subTitle" idx="1"/>
          </p:nvPr>
        </p:nvSpPr>
        <p:spPr>
          <a:xfrm>
            <a:off x="1770139" y="1918519"/>
            <a:ext cx="5603721" cy="2266463"/>
          </a:xfrm>
        </p:spPr>
        <p:txBody>
          <a:bodyPr/>
          <a:lstStyle/>
          <a:p>
            <a:r>
              <a:rPr lang="en-IE" sz="2800" b="1" dirty="0">
                <a:solidFill>
                  <a:schemeClr val="tx1"/>
                </a:solidFill>
              </a:rPr>
              <a:t>Step 3</a:t>
            </a:r>
            <a:br>
              <a:rPr lang="en-IE" sz="2800" b="1" dirty="0">
                <a:solidFill>
                  <a:srgbClr val="598CBE"/>
                </a:solidFill>
              </a:rPr>
            </a:br>
            <a:br>
              <a:rPr lang="en-IE" sz="2800" b="1" dirty="0">
                <a:solidFill>
                  <a:srgbClr val="598CBE"/>
                </a:solidFill>
              </a:rPr>
            </a:br>
            <a:r>
              <a:rPr lang="en-IE" sz="3200" b="1" dirty="0">
                <a:solidFill>
                  <a:srgbClr val="598CBE"/>
                </a:solidFill>
              </a:rPr>
              <a:t>Setters</a:t>
            </a:r>
            <a:endParaRPr lang="en-US" sz="2800" dirty="0">
              <a:solidFill>
                <a:schemeClr val="tx1"/>
              </a:solidFill>
            </a:endParaRPr>
          </a:p>
        </p:txBody>
      </p:sp>
    </p:spTree>
    <p:extLst>
      <p:ext uri="{BB962C8B-B14F-4D97-AF65-F5344CB8AC3E}">
        <p14:creationId xmlns:p14="http://schemas.microsoft.com/office/powerpoint/2010/main" val="28720235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5">
            <a:extLst>
              <a:ext uri="{FF2B5EF4-FFF2-40B4-BE49-F238E27FC236}">
                <a16:creationId xmlns:a16="http://schemas.microsoft.com/office/drawing/2014/main" id="{943545FD-CBB5-9FEF-9817-CFE900528542}"/>
              </a:ext>
            </a:extLst>
          </p:cNvPr>
          <p:cNvGraphicFramePr>
            <a:graphicFrameLocks/>
          </p:cNvGraphicFramePr>
          <p:nvPr>
            <p:extLst>
              <p:ext uri="{D42A27DB-BD31-4B8C-83A1-F6EECF244321}">
                <p14:modId xmlns:p14="http://schemas.microsoft.com/office/powerpoint/2010/main" val="1370379660"/>
              </p:ext>
            </p:extLst>
          </p:nvPr>
        </p:nvGraphicFramePr>
        <p:xfrm>
          <a:off x="7086600" y="1641348"/>
          <a:ext cx="1943100" cy="2823210"/>
        </p:xfrm>
        <a:graphic>
          <a:graphicData uri="http://schemas.openxmlformats.org/drawingml/2006/table">
            <a:tbl>
              <a:tblPr firstRow="1" bandRow="1">
                <a:tableStyleId>{5940675A-B579-460E-94D1-54222C63F5DA}</a:tableStyleId>
              </a:tblPr>
              <a:tblGrid>
                <a:gridCol w="1943100">
                  <a:extLst>
                    <a:ext uri="{9D8B030D-6E8A-4147-A177-3AD203B41FA5}">
                      <a16:colId xmlns:a16="http://schemas.microsoft.com/office/drawing/2014/main" val="20000"/>
                    </a:ext>
                  </a:extLst>
                </a:gridCol>
              </a:tblGrid>
              <a:tr h="400050">
                <a:tc>
                  <a:txBody>
                    <a:bodyPr/>
                    <a:lstStyle/>
                    <a:p>
                      <a:pPr algn="ctr"/>
                      <a:r>
                        <a:rPr lang="en-IE" sz="1500" i="1" dirty="0"/>
                        <a:t>Spot</a:t>
                      </a:r>
                    </a:p>
                  </a:txBody>
                  <a:tcPr marL="68580" marR="68580" marT="34290" marB="34290">
                    <a:solidFill>
                      <a:schemeClr val="bg2"/>
                    </a:solidFill>
                  </a:tcPr>
                </a:tc>
                <a:extLst>
                  <a:ext uri="{0D108BD9-81ED-4DB2-BD59-A6C34878D82A}">
                    <a16:rowId xmlns:a16="http://schemas.microsoft.com/office/drawing/2014/main" val="10000"/>
                  </a:ext>
                </a:extLst>
              </a:tr>
              <a:tr h="754380">
                <a:tc>
                  <a:txBody>
                    <a:bodyPr/>
                    <a:lstStyle/>
                    <a:p>
                      <a:pPr algn="l"/>
                      <a:r>
                        <a:rPr lang="en-IE" sz="1500" i="1" dirty="0" err="1"/>
                        <a:t>xCoord</a:t>
                      </a:r>
                      <a:endParaRPr lang="en-IE" sz="1500" i="1" dirty="0"/>
                    </a:p>
                    <a:p>
                      <a:pPr algn="l"/>
                      <a:r>
                        <a:rPr lang="en-IE" sz="1500" i="1" dirty="0" err="1"/>
                        <a:t>yCoord</a:t>
                      </a:r>
                      <a:endParaRPr lang="en-IE" sz="1500" i="1" dirty="0"/>
                    </a:p>
                    <a:p>
                      <a:pPr algn="l"/>
                      <a:r>
                        <a:rPr lang="en-IE" sz="1500" i="1" dirty="0"/>
                        <a:t>diameter</a:t>
                      </a:r>
                    </a:p>
                  </a:txBody>
                  <a:tcPr marL="68580" marR="68580" marT="34290" marB="34290">
                    <a:solidFill>
                      <a:schemeClr val="bg2"/>
                    </a:solidFill>
                  </a:tcPr>
                </a:tc>
                <a:extLst>
                  <a:ext uri="{0D108BD9-81ED-4DB2-BD59-A6C34878D82A}">
                    <a16:rowId xmlns:a16="http://schemas.microsoft.com/office/drawing/2014/main" val="10001"/>
                  </a:ext>
                </a:extLst>
              </a:tr>
              <a:tr h="1668780">
                <a:tc>
                  <a:txBody>
                    <a:bodyPr/>
                    <a:lstStyle/>
                    <a:p>
                      <a:pPr algn="l"/>
                      <a:r>
                        <a:rPr lang="en-IE" sz="1500" i="1" dirty="0"/>
                        <a:t>Spot()</a:t>
                      </a:r>
                    </a:p>
                    <a:p>
                      <a:pPr algn="l"/>
                      <a:r>
                        <a:rPr lang="en-IE" sz="1500" i="1" dirty="0" err="1"/>
                        <a:t>getxCoord</a:t>
                      </a:r>
                      <a:r>
                        <a:rPr lang="en-IE" sz="1500" i="1" dirty="0"/>
                        <a:t>()</a:t>
                      </a:r>
                    </a:p>
                    <a:p>
                      <a:pPr algn="l"/>
                      <a:r>
                        <a:rPr lang="en-IE" sz="1500" i="1" dirty="0" err="1"/>
                        <a:t>getyCoord</a:t>
                      </a:r>
                      <a:r>
                        <a:rPr lang="en-IE" sz="1500" i="1" dirty="0"/>
                        <a:t>()</a:t>
                      </a:r>
                    </a:p>
                    <a:p>
                      <a:pPr algn="l"/>
                      <a:r>
                        <a:rPr lang="en-IE" sz="1500" i="1" dirty="0" err="1"/>
                        <a:t>getDiameter</a:t>
                      </a:r>
                      <a:r>
                        <a:rPr lang="en-IE" sz="1500" i="1" dirty="0"/>
                        <a:t>()</a:t>
                      </a:r>
                    </a:p>
                    <a:p>
                      <a:pPr algn="l"/>
                      <a:r>
                        <a:rPr lang="en-IE" sz="1500" i="1" dirty="0" err="1"/>
                        <a:t>setxCoord</a:t>
                      </a:r>
                      <a:r>
                        <a:rPr lang="en-IE" sz="1500" i="1" dirty="0"/>
                        <a:t>(float)</a:t>
                      </a:r>
                    </a:p>
                    <a:p>
                      <a:pPr algn="l"/>
                      <a:r>
                        <a:rPr lang="en-IE" sz="1500" i="1" dirty="0" err="1"/>
                        <a:t>setyCoord</a:t>
                      </a:r>
                      <a:r>
                        <a:rPr lang="en-IE" sz="1500" i="1" dirty="0"/>
                        <a:t>(float)</a:t>
                      </a:r>
                    </a:p>
                    <a:p>
                      <a:pPr algn="l"/>
                      <a:r>
                        <a:rPr lang="en-IE" sz="1500" i="1" dirty="0" err="1"/>
                        <a:t>setDiameter</a:t>
                      </a:r>
                      <a:r>
                        <a:rPr lang="en-IE" sz="1500" i="1" dirty="0"/>
                        <a:t>(float)</a:t>
                      </a:r>
                    </a:p>
                  </a:txBody>
                  <a:tcPr marL="68580" marR="68580" marT="34290" marB="34290">
                    <a:solidFill>
                      <a:schemeClr val="bg2"/>
                    </a:solidFill>
                  </a:tcPr>
                </a:tc>
                <a:extLst>
                  <a:ext uri="{0D108BD9-81ED-4DB2-BD59-A6C34878D82A}">
                    <a16:rowId xmlns:a16="http://schemas.microsoft.com/office/drawing/2014/main" val="10002"/>
                  </a:ext>
                </a:extLst>
              </a:tr>
            </a:tbl>
          </a:graphicData>
        </a:graphic>
      </p:graphicFrame>
      <p:sp>
        <p:nvSpPr>
          <p:cNvPr id="9" name="Rectangle 8">
            <a:extLst>
              <a:ext uri="{FF2B5EF4-FFF2-40B4-BE49-F238E27FC236}">
                <a16:creationId xmlns:a16="http://schemas.microsoft.com/office/drawing/2014/main" id="{5BF051BE-65E2-64AB-83CA-64977EB20644}"/>
              </a:ext>
            </a:extLst>
          </p:cNvPr>
          <p:cNvSpPr/>
          <p:nvPr/>
        </p:nvSpPr>
        <p:spPr>
          <a:xfrm>
            <a:off x="285750" y="175037"/>
            <a:ext cx="2600326" cy="1200329"/>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rgbClr val="598CBE"/>
                </a:solidFill>
              </a:rPr>
              <a:t>Encapsulation Step 3: </a:t>
            </a:r>
            <a:r>
              <a:rPr lang="en-IE" sz="1800" b="1" dirty="0"/>
              <a:t>Provide </a:t>
            </a:r>
            <a:r>
              <a:rPr lang="en-IE" sz="1800" b="1" u="sng" dirty="0"/>
              <a:t>public</a:t>
            </a:r>
            <a:r>
              <a:rPr lang="en-IE" sz="1800" b="1" dirty="0"/>
              <a:t> setter methods </a:t>
            </a:r>
            <a:r>
              <a:rPr lang="en-IE" sz="1800" dirty="0"/>
              <a:t>to update the fields values.</a:t>
            </a:r>
          </a:p>
        </p:txBody>
      </p:sp>
      <p:pic>
        <p:nvPicPr>
          <p:cNvPr id="3" name="Picture 2" descr="Graphical user interface, text, application&#10;&#10;Description automatically generated">
            <a:extLst>
              <a:ext uri="{FF2B5EF4-FFF2-40B4-BE49-F238E27FC236}">
                <a16:creationId xmlns:a16="http://schemas.microsoft.com/office/drawing/2014/main" id="{C5D7BB41-F79F-8867-5454-19F04D79A0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3150" y="1657350"/>
            <a:ext cx="4172615" cy="2957513"/>
          </a:xfrm>
          <a:prstGeom prst="rect">
            <a:avLst/>
          </a:prstGeom>
          <a:ln>
            <a:noFill/>
          </a:ln>
          <a:effectLst>
            <a:outerShdw blurRad="292100" dist="139700" dir="2700000" algn="tl" rotWithShape="0">
              <a:srgbClr val="333333">
                <a:alpha val="65000"/>
              </a:srgbClr>
            </a:outerShdw>
          </a:effectLst>
        </p:spPr>
      </p:pic>
      <p:sp>
        <p:nvSpPr>
          <p:cNvPr id="10" name="Rectangle 9">
            <a:extLst>
              <a:ext uri="{FF2B5EF4-FFF2-40B4-BE49-F238E27FC236}">
                <a16:creationId xmlns:a16="http://schemas.microsoft.com/office/drawing/2014/main" id="{48AF94A7-DE20-FDFE-CE41-533B204EBBC2}"/>
              </a:ext>
            </a:extLst>
          </p:cNvPr>
          <p:cNvSpPr/>
          <p:nvPr/>
        </p:nvSpPr>
        <p:spPr>
          <a:xfrm>
            <a:off x="5372100" y="1388708"/>
            <a:ext cx="1290638" cy="36933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chemeClr val="tx1"/>
                </a:solidFill>
              </a:rPr>
              <a:t>Spot class</a:t>
            </a:r>
            <a:endParaRPr lang="en-IE" sz="1800" dirty="0">
              <a:solidFill>
                <a:schemeClr val="tx1"/>
              </a:solidFill>
            </a:endParaRPr>
          </a:p>
        </p:txBody>
      </p:sp>
      <p:sp>
        <p:nvSpPr>
          <p:cNvPr id="2" name="Footer Placeholder 1">
            <a:extLst>
              <a:ext uri="{FF2B5EF4-FFF2-40B4-BE49-F238E27FC236}">
                <a16:creationId xmlns:a16="http://schemas.microsoft.com/office/drawing/2014/main" id="{F16605AF-CD92-3C9E-F670-97D28FD0DB33}"/>
              </a:ext>
            </a:extLst>
          </p:cNvPr>
          <p:cNvSpPr>
            <a:spLocks noGrp="1"/>
          </p:cNvSpPr>
          <p:nvPr>
            <p:ph type="ftr" sz="quarter" idx="11"/>
          </p:nvPr>
        </p:nvSpPr>
        <p:spPr/>
        <p:txBody>
          <a:bodyPr/>
          <a:lstStyle/>
          <a:p>
            <a:r>
              <a:rPr lang="en-US"/>
              <a:t>https://www.java.com</a:t>
            </a:r>
          </a:p>
        </p:txBody>
      </p:sp>
      <p:sp>
        <p:nvSpPr>
          <p:cNvPr id="4" name="Slide Number Placeholder 3">
            <a:extLst>
              <a:ext uri="{FF2B5EF4-FFF2-40B4-BE49-F238E27FC236}">
                <a16:creationId xmlns:a16="http://schemas.microsoft.com/office/drawing/2014/main" id="{A1BEA49A-F623-9338-1E99-9FA64BD4445F}"/>
              </a:ext>
            </a:extLst>
          </p:cNvPr>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97406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180FC-2248-03C1-0DAD-70B9FC1EBFB8}"/>
              </a:ext>
            </a:extLst>
          </p:cNvPr>
          <p:cNvSpPr>
            <a:spLocks noGrp="1"/>
          </p:cNvSpPr>
          <p:nvPr>
            <p:ph type="title"/>
          </p:nvPr>
        </p:nvSpPr>
        <p:spPr/>
        <p:txBody>
          <a:bodyPr/>
          <a:lstStyle/>
          <a:p>
            <a:r>
              <a:rPr lang="en-US" dirty="0"/>
              <a:t>New values for </a:t>
            </a:r>
            <a:r>
              <a:rPr lang="en-US" dirty="0" err="1"/>
              <a:t>xCoord</a:t>
            </a:r>
            <a:r>
              <a:rPr lang="en-US" dirty="0"/>
              <a:t>, </a:t>
            </a:r>
            <a:r>
              <a:rPr lang="en-US" dirty="0" err="1"/>
              <a:t>yCoord</a:t>
            </a:r>
            <a:r>
              <a:rPr lang="en-US" dirty="0"/>
              <a:t>, diameter…</a:t>
            </a:r>
          </a:p>
        </p:txBody>
      </p:sp>
      <p:sp>
        <p:nvSpPr>
          <p:cNvPr id="3" name="Content Placeholder 2">
            <a:extLst>
              <a:ext uri="{FF2B5EF4-FFF2-40B4-BE49-F238E27FC236}">
                <a16:creationId xmlns:a16="http://schemas.microsoft.com/office/drawing/2014/main" id="{2EC89E57-74E9-8E37-569A-7FF493892A64}"/>
              </a:ext>
            </a:extLst>
          </p:cNvPr>
          <p:cNvSpPr>
            <a:spLocks noGrp="1"/>
          </p:cNvSpPr>
          <p:nvPr>
            <p:ph idx="1"/>
          </p:nvPr>
        </p:nvSpPr>
        <p:spPr/>
        <p:txBody>
          <a:bodyPr/>
          <a:lstStyle/>
          <a:p>
            <a:r>
              <a:rPr lang="en-US" dirty="0"/>
              <a:t>To demonstrate the use of these mutator/setter methods, we need to update the </a:t>
            </a:r>
            <a:r>
              <a:rPr lang="en-US" b="1" dirty="0"/>
              <a:t>Spot</a:t>
            </a:r>
            <a:r>
              <a:rPr lang="en-US" dirty="0"/>
              <a:t> variables with new values. </a:t>
            </a:r>
          </a:p>
          <a:p>
            <a:r>
              <a:rPr lang="en-US" dirty="0"/>
              <a:t>The easiest way to get new values is to ask the user </a:t>
            </a:r>
            <a:br>
              <a:rPr lang="en-US" dirty="0"/>
            </a:br>
            <a:r>
              <a:rPr lang="en-US" dirty="0"/>
              <a:t>to enter them on the console.</a:t>
            </a:r>
          </a:p>
          <a:p>
            <a:r>
              <a:rPr lang="en-US" dirty="0"/>
              <a:t>To do this, we will use the </a:t>
            </a:r>
            <a:r>
              <a:rPr lang="en-US" dirty="0">
                <a:latin typeface="Monaco" pitchFamily="2" charset="77"/>
              </a:rPr>
              <a:t>Scanner</a:t>
            </a:r>
            <a:r>
              <a:rPr lang="en-US" dirty="0"/>
              <a:t> </a:t>
            </a:r>
            <a:br>
              <a:rPr lang="en-US" dirty="0"/>
            </a:br>
            <a:r>
              <a:rPr lang="en-US" dirty="0"/>
              <a:t>class (which we will cover in more </a:t>
            </a:r>
            <a:br>
              <a:rPr lang="en-US" dirty="0"/>
            </a:br>
            <a:r>
              <a:rPr lang="en-US" dirty="0"/>
              <a:t>detail next week).</a:t>
            </a:r>
          </a:p>
        </p:txBody>
      </p:sp>
      <p:pic>
        <p:nvPicPr>
          <p:cNvPr id="4" name="Picture 3" descr="Graphical user interface, text, application&#10;&#10;Description automatically generated">
            <a:extLst>
              <a:ext uri="{FF2B5EF4-FFF2-40B4-BE49-F238E27FC236}">
                <a16:creationId xmlns:a16="http://schemas.microsoft.com/office/drawing/2014/main" id="{5C4676D2-B9E0-49EB-D974-7EC562D17A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0700" y="2575915"/>
            <a:ext cx="3086765" cy="2187872"/>
          </a:xfrm>
          <a:prstGeom prst="rect">
            <a:avLst/>
          </a:prstGeom>
          <a:ln>
            <a:noFill/>
          </a:ln>
          <a:effectLst>
            <a:outerShdw blurRad="292100" dist="139700" dir="2700000" algn="tl" rotWithShape="0">
              <a:srgbClr val="333333">
                <a:alpha val="65000"/>
              </a:srgbClr>
            </a:outerShdw>
          </a:effectLst>
        </p:spPr>
      </p:pic>
      <p:sp>
        <p:nvSpPr>
          <p:cNvPr id="5" name="Rectangle 4">
            <a:extLst>
              <a:ext uri="{FF2B5EF4-FFF2-40B4-BE49-F238E27FC236}">
                <a16:creationId xmlns:a16="http://schemas.microsoft.com/office/drawing/2014/main" id="{4FECCDB4-9C11-E9BC-252D-1465F2D6F062}"/>
              </a:ext>
            </a:extLst>
          </p:cNvPr>
          <p:cNvSpPr/>
          <p:nvPr/>
        </p:nvSpPr>
        <p:spPr>
          <a:xfrm>
            <a:off x="7788876" y="2294344"/>
            <a:ext cx="1290638" cy="36933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chemeClr val="tx1"/>
                </a:solidFill>
              </a:rPr>
              <a:t>Spot class</a:t>
            </a:r>
            <a:endParaRPr lang="en-IE" sz="1800" dirty="0">
              <a:solidFill>
                <a:schemeClr val="tx1"/>
              </a:solidFill>
            </a:endParaRPr>
          </a:p>
        </p:txBody>
      </p:sp>
      <p:sp>
        <p:nvSpPr>
          <p:cNvPr id="6" name="Footer Placeholder 5">
            <a:extLst>
              <a:ext uri="{FF2B5EF4-FFF2-40B4-BE49-F238E27FC236}">
                <a16:creationId xmlns:a16="http://schemas.microsoft.com/office/drawing/2014/main" id="{75F9246A-6FDC-D79C-E27C-819C06CE431D}"/>
              </a:ext>
            </a:extLst>
          </p:cNvPr>
          <p:cNvSpPr>
            <a:spLocks noGrp="1"/>
          </p:cNvSpPr>
          <p:nvPr>
            <p:ph type="ftr" sz="quarter" idx="3"/>
          </p:nvPr>
        </p:nvSpPr>
        <p:spPr/>
        <p:txBody>
          <a:bodyPr/>
          <a:lstStyle/>
          <a:p>
            <a:r>
              <a:rPr lang="en-IE"/>
              <a:t>https://www.java.com</a:t>
            </a:r>
            <a:endParaRPr lang="en-IE" dirty="0"/>
          </a:p>
        </p:txBody>
      </p:sp>
      <p:sp>
        <p:nvSpPr>
          <p:cNvPr id="7" name="Slide Number Placeholder 6">
            <a:extLst>
              <a:ext uri="{FF2B5EF4-FFF2-40B4-BE49-F238E27FC236}">
                <a16:creationId xmlns:a16="http://schemas.microsoft.com/office/drawing/2014/main" id="{A59FB38F-8EB6-E0DE-EA5C-6A9ECB02AB95}"/>
              </a:ext>
            </a:extLst>
          </p:cNvPr>
          <p:cNvSpPr>
            <a:spLocks noGrp="1"/>
          </p:cNvSpPr>
          <p:nvPr>
            <p:ph type="sldNum" sz="quarter" idx="2"/>
          </p:nvPr>
        </p:nvSpPr>
        <p:spPr/>
        <p:txBody>
          <a:bodyPr/>
          <a:lstStyle/>
          <a:p>
            <a:pPr lvl="0"/>
            <a:fld id="{86CB4B4D-7CA3-9044-876B-883B54F8677D}" type="slidenum">
              <a:rPr lang="en-IE" smtClean="0"/>
              <a:t>29</a:t>
            </a:fld>
            <a:endParaRPr lang="en-IE" dirty="0"/>
          </a:p>
        </p:txBody>
      </p:sp>
    </p:spTree>
    <p:extLst>
      <p:ext uri="{BB962C8B-B14F-4D97-AF65-F5344CB8AC3E}">
        <p14:creationId xmlns:p14="http://schemas.microsoft.com/office/powerpoint/2010/main" val="3854199828"/>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Text&#10;&#10;Description automatically generated">
            <a:extLst>
              <a:ext uri="{FF2B5EF4-FFF2-40B4-BE49-F238E27FC236}">
                <a16:creationId xmlns:a16="http://schemas.microsoft.com/office/drawing/2014/main" id="{55E86DEF-F755-D7D7-5637-207D44A35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50" y="114300"/>
            <a:ext cx="3857625" cy="1543050"/>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D8E57756-4A9B-50EF-7343-CBA410359A58}"/>
              </a:ext>
            </a:extLst>
          </p:cNvPr>
          <p:cNvSpPr/>
          <p:nvPr/>
        </p:nvSpPr>
        <p:spPr>
          <a:xfrm>
            <a:off x="2838450" y="114300"/>
            <a:ext cx="1477518" cy="36933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chemeClr val="tx1"/>
                </a:solidFill>
              </a:rPr>
              <a:t>Driver class</a:t>
            </a:r>
            <a:endParaRPr lang="en-IE" sz="1800" dirty="0">
              <a:solidFill>
                <a:schemeClr val="tx1"/>
              </a:solidFill>
            </a:endParaRPr>
          </a:p>
        </p:txBody>
      </p:sp>
      <p:sp>
        <p:nvSpPr>
          <p:cNvPr id="10" name="Rectangle 9">
            <a:extLst>
              <a:ext uri="{FF2B5EF4-FFF2-40B4-BE49-F238E27FC236}">
                <a16:creationId xmlns:a16="http://schemas.microsoft.com/office/drawing/2014/main" id="{C8831F92-3C6F-8F18-1DAC-90D390A16111}"/>
              </a:ext>
            </a:extLst>
          </p:cNvPr>
          <p:cNvSpPr/>
          <p:nvPr/>
        </p:nvSpPr>
        <p:spPr>
          <a:xfrm>
            <a:off x="4129088" y="895351"/>
            <a:ext cx="2514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latin typeface="Monaco" pitchFamily="2" charset="77"/>
              </a:rPr>
              <a:t>Scanner</a:t>
            </a:r>
            <a:r>
              <a:rPr lang="en-US" sz="1800" dirty="0"/>
              <a:t> Class to read from the console</a:t>
            </a:r>
          </a:p>
        </p:txBody>
      </p:sp>
      <p:sp>
        <p:nvSpPr>
          <p:cNvPr id="2" name="Footer Placeholder 1">
            <a:extLst>
              <a:ext uri="{FF2B5EF4-FFF2-40B4-BE49-F238E27FC236}">
                <a16:creationId xmlns:a16="http://schemas.microsoft.com/office/drawing/2014/main" id="{D270C676-4C71-C824-F01D-0EA2824E2A08}"/>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7FC332C4-905B-08B0-4292-5305C2779607}"/>
              </a:ext>
            </a:extLst>
          </p:cNvPr>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30683216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4691A-5AB4-A9E5-C25E-64A98D14D001}"/>
              </a:ext>
            </a:extLst>
          </p:cNvPr>
          <p:cNvSpPr>
            <a:spLocks noGrp="1"/>
          </p:cNvSpPr>
          <p:nvPr>
            <p:ph type="title" idx="4294967295"/>
          </p:nvPr>
        </p:nvSpPr>
        <p:spPr>
          <a:xfrm>
            <a:off x="6229350" y="2743200"/>
            <a:ext cx="2400300" cy="936799"/>
          </a:xfrm>
        </p:spPr>
        <p:txBody>
          <a:bodyPr>
            <a:noAutofit/>
          </a:bodyPr>
          <a:lstStyle/>
          <a:p>
            <a:pPr algn="l"/>
            <a:br>
              <a:rPr lang="en-US" sz="2100" dirty="0"/>
            </a:br>
            <a:br>
              <a:rPr lang="en-US" sz="2100" dirty="0"/>
            </a:br>
            <a:endParaRPr lang="en-US" sz="2100" dirty="0"/>
          </a:p>
        </p:txBody>
      </p:sp>
      <p:pic>
        <p:nvPicPr>
          <p:cNvPr id="8" name="Picture 7" descr="Text&#10;&#10;Description automatically generated">
            <a:extLst>
              <a:ext uri="{FF2B5EF4-FFF2-40B4-BE49-F238E27FC236}">
                <a16:creationId xmlns:a16="http://schemas.microsoft.com/office/drawing/2014/main" id="{55E86DEF-F755-D7D7-5637-207D44A354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450" y="114300"/>
            <a:ext cx="3857625" cy="1543050"/>
          </a:xfrm>
          <a:prstGeom prst="rect">
            <a:avLst/>
          </a:prstGeom>
          <a:ln>
            <a:noFill/>
          </a:ln>
          <a:effectLst>
            <a:outerShdw blurRad="292100" dist="139700" dir="2700000" algn="tl" rotWithShape="0">
              <a:srgbClr val="333333">
                <a:alpha val="65000"/>
              </a:srgbClr>
            </a:outerShdw>
          </a:effectLst>
        </p:spPr>
      </p:pic>
      <p:pic>
        <p:nvPicPr>
          <p:cNvPr id="5" name="Content Placeholder 4" descr="Text&#10;&#10;Description automatically generated">
            <a:extLst>
              <a:ext uri="{FF2B5EF4-FFF2-40B4-BE49-F238E27FC236}">
                <a16:creationId xmlns:a16="http://schemas.microsoft.com/office/drawing/2014/main" id="{415BBA9D-4927-F896-A9AF-2A535CA05C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1900" y="1636777"/>
            <a:ext cx="5274469" cy="3061097"/>
          </a:xfrm>
          <a:prstGeom prst="rect">
            <a:avLst/>
          </a:prstGeom>
          <a:ln>
            <a:noFill/>
          </a:ln>
          <a:effectLst>
            <a:outerShdw blurRad="292100" dist="139700" dir="2700000" algn="tl" rotWithShape="0">
              <a:srgbClr val="333333">
                <a:alpha val="65000"/>
              </a:srgbClr>
            </a:outerShdw>
          </a:effectLst>
        </p:spPr>
      </p:pic>
      <p:sp>
        <p:nvSpPr>
          <p:cNvPr id="3" name="Rectangle 2">
            <a:extLst>
              <a:ext uri="{FF2B5EF4-FFF2-40B4-BE49-F238E27FC236}">
                <a16:creationId xmlns:a16="http://schemas.microsoft.com/office/drawing/2014/main" id="{46CDC5E1-7598-395E-72D0-78481CC557DC}"/>
              </a:ext>
            </a:extLst>
          </p:cNvPr>
          <p:cNvSpPr/>
          <p:nvPr/>
        </p:nvSpPr>
        <p:spPr>
          <a:xfrm>
            <a:off x="6036946" y="724737"/>
            <a:ext cx="2937510" cy="9233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1800" dirty="0"/>
              <a:t>Method to ask the user to enter new values for the three fields.</a:t>
            </a:r>
          </a:p>
        </p:txBody>
      </p:sp>
      <p:sp>
        <p:nvSpPr>
          <p:cNvPr id="4" name="Rectangle 3">
            <a:extLst>
              <a:ext uri="{FF2B5EF4-FFF2-40B4-BE49-F238E27FC236}">
                <a16:creationId xmlns:a16="http://schemas.microsoft.com/office/drawing/2014/main" id="{B3B944DE-91D9-F9CF-F6D7-B6F9EB5D3DFA}"/>
              </a:ext>
            </a:extLst>
          </p:cNvPr>
          <p:cNvSpPr/>
          <p:nvPr/>
        </p:nvSpPr>
        <p:spPr>
          <a:xfrm>
            <a:off x="414337" y="3218334"/>
            <a:ext cx="3614738" cy="923330"/>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800" dirty="0"/>
              <a:t>The setters are then called to update the values in the </a:t>
            </a:r>
            <a:r>
              <a:rPr lang="en-US" sz="1800" b="1" dirty="0">
                <a:solidFill>
                  <a:schemeClr val="accent4"/>
                </a:solidFill>
              </a:rPr>
              <a:t>spot</a:t>
            </a:r>
            <a:r>
              <a:rPr lang="en-US" sz="1800" dirty="0"/>
              <a:t> object.</a:t>
            </a:r>
          </a:p>
        </p:txBody>
      </p:sp>
      <p:sp>
        <p:nvSpPr>
          <p:cNvPr id="6" name="Footer Placeholder 5">
            <a:extLst>
              <a:ext uri="{FF2B5EF4-FFF2-40B4-BE49-F238E27FC236}">
                <a16:creationId xmlns:a16="http://schemas.microsoft.com/office/drawing/2014/main" id="{2E21000A-CCA5-823F-E1CA-92C4D5926A66}"/>
              </a:ext>
            </a:extLst>
          </p:cNvPr>
          <p:cNvSpPr>
            <a:spLocks noGrp="1"/>
          </p:cNvSpPr>
          <p:nvPr>
            <p:ph type="ftr" sz="quarter" idx="11"/>
          </p:nvPr>
        </p:nvSpPr>
        <p:spPr/>
        <p:txBody>
          <a:bodyPr/>
          <a:lstStyle/>
          <a:p>
            <a:r>
              <a:rPr lang="en-US"/>
              <a:t>https://www.java.com</a:t>
            </a:r>
          </a:p>
        </p:txBody>
      </p:sp>
      <p:sp>
        <p:nvSpPr>
          <p:cNvPr id="7" name="Slide Number Placeholder 6">
            <a:extLst>
              <a:ext uri="{FF2B5EF4-FFF2-40B4-BE49-F238E27FC236}">
                <a16:creationId xmlns:a16="http://schemas.microsoft.com/office/drawing/2014/main" id="{EE65CF09-9796-CF5C-9622-95A4F941BBB8}"/>
              </a:ext>
            </a:extLst>
          </p:cNvPr>
          <p:cNvSpPr>
            <a:spLocks noGrp="1"/>
          </p:cNvSpPr>
          <p:nvPr>
            <p:ph type="sldNum" sz="quarter" idx="12"/>
          </p:nvPr>
        </p:nvSpPr>
        <p:spPr/>
        <p:txBody>
          <a:bodyPr/>
          <a:lstStyle/>
          <a:p>
            <a:fld id="{B6F15528-21DE-4FAA-801E-634DDDAF4B2B}" type="slidenum">
              <a:rPr lang="en-US" smtClean="0"/>
              <a:pPr/>
              <a:t>31</a:t>
            </a:fld>
            <a:endParaRPr lang="en-US"/>
          </a:p>
        </p:txBody>
      </p:sp>
      <p:cxnSp>
        <p:nvCxnSpPr>
          <p:cNvPr id="12" name="Straight Arrow Connector 11">
            <a:extLst>
              <a:ext uri="{FF2B5EF4-FFF2-40B4-BE49-F238E27FC236}">
                <a16:creationId xmlns:a16="http://schemas.microsoft.com/office/drawing/2014/main" id="{9781D818-08F6-6D9B-552E-D26FDEF35739}"/>
              </a:ext>
            </a:extLst>
          </p:cNvPr>
          <p:cNvCxnSpPr>
            <a:cxnSpLocks/>
          </p:cNvCxnSpPr>
          <p:nvPr/>
        </p:nvCxnSpPr>
        <p:spPr>
          <a:xfrm>
            <a:off x="3145536" y="2344293"/>
            <a:ext cx="1040893" cy="0"/>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
        <p:nvSpPr>
          <p:cNvPr id="13" name="Rectangle 12">
            <a:extLst>
              <a:ext uri="{FF2B5EF4-FFF2-40B4-BE49-F238E27FC236}">
                <a16:creationId xmlns:a16="http://schemas.microsoft.com/office/drawing/2014/main" id="{B8496B2D-6C01-C7E9-65EE-6AD582CF4D2C}"/>
              </a:ext>
            </a:extLst>
          </p:cNvPr>
          <p:cNvSpPr/>
          <p:nvPr/>
        </p:nvSpPr>
        <p:spPr>
          <a:xfrm>
            <a:off x="2838450" y="114300"/>
            <a:ext cx="1477518" cy="369332"/>
          </a:xfrm>
          <a:prstGeom prst="rect">
            <a:avLst/>
          </a:prstGeom>
          <a:ln w="38100"/>
        </p:spPr>
        <p:style>
          <a:lnRef idx="1">
            <a:schemeClr val="accent5"/>
          </a:lnRef>
          <a:fillRef idx="2">
            <a:schemeClr val="accent5"/>
          </a:fillRef>
          <a:effectRef idx="1">
            <a:schemeClr val="accent5"/>
          </a:effectRef>
          <a:fontRef idx="minor">
            <a:schemeClr val="dk1"/>
          </a:fontRef>
        </p:style>
        <p:txBody>
          <a:bodyPr wrap="square">
            <a:spAutoFit/>
          </a:bodyPr>
          <a:lstStyle/>
          <a:p>
            <a:pPr>
              <a:defRPr/>
            </a:pPr>
            <a:r>
              <a:rPr lang="en-IE" sz="1800" b="1" dirty="0">
                <a:solidFill>
                  <a:schemeClr val="tx1"/>
                </a:solidFill>
              </a:rPr>
              <a:t>Driver class</a:t>
            </a:r>
            <a:endParaRPr lang="en-IE" sz="1800" dirty="0">
              <a:solidFill>
                <a:schemeClr val="tx1"/>
              </a:solidFill>
            </a:endParaRPr>
          </a:p>
        </p:txBody>
      </p:sp>
      <p:cxnSp>
        <p:nvCxnSpPr>
          <p:cNvPr id="15" name="Straight Arrow Connector 14">
            <a:extLst>
              <a:ext uri="{FF2B5EF4-FFF2-40B4-BE49-F238E27FC236}">
                <a16:creationId xmlns:a16="http://schemas.microsoft.com/office/drawing/2014/main" id="{99970756-FE09-850B-8DE5-8F580B4742BF}"/>
              </a:ext>
            </a:extLst>
          </p:cNvPr>
          <p:cNvCxnSpPr>
            <a:cxnSpLocks/>
          </p:cNvCxnSpPr>
          <p:nvPr/>
        </p:nvCxnSpPr>
        <p:spPr>
          <a:xfrm flipH="1">
            <a:off x="7314390" y="3721989"/>
            <a:ext cx="1020366" cy="0"/>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
        <p:nvSpPr>
          <p:cNvPr id="17" name="Rectangle 16">
            <a:extLst>
              <a:ext uri="{FF2B5EF4-FFF2-40B4-BE49-F238E27FC236}">
                <a16:creationId xmlns:a16="http://schemas.microsoft.com/office/drawing/2014/main" id="{83B26D68-CF5E-44EF-A084-9824F4E11907}"/>
              </a:ext>
            </a:extLst>
          </p:cNvPr>
          <p:cNvSpPr/>
          <p:nvPr/>
        </p:nvSpPr>
        <p:spPr>
          <a:xfrm>
            <a:off x="4812793" y="2219057"/>
            <a:ext cx="1416557" cy="286399"/>
          </a:xfrm>
          <a:prstGeom prst="rect">
            <a:avLst/>
          </a:prstGeom>
          <a:noFill/>
          <a:ln w="44450">
            <a:solidFill>
              <a:srgbClr val="598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66737" rtl="0"/>
            <a:endParaRPr lang="en-IE" sz="1688"/>
          </a:p>
        </p:txBody>
      </p:sp>
      <p:sp>
        <p:nvSpPr>
          <p:cNvPr id="18" name="Rectangle 17">
            <a:extLst>
              <a:ext uri="{FF2B5EF4-FFF2-40B4-BE49-F238E27FC236}">
                <a16:creationId xmlns:a16="http://schemas.microsoft.com/office/drawing/2014/main" id="{0C7EC2D9-105F-8C60-609E-BA3C36CD3BD6}"/>
              </a:ext>
            </a:extLst>
          </p:cNvPr>
          <p:cNvSpPr/>
          <p:nvPr/>
        </p:nvSpPr>
        <p:spPr>
          <a:xfrm>
            <a:off x="5687568" y="3578789"/>
            <a:ext cx="1373947" cy="286399"/>
          </a:xfrm>
          <a:prstGeom prst="rect">
            <a:avLst/>
          </a:prstGeom>
          <a:noFill/>
          <a:ln w="44450">
            <a:solidFill>
              <a:srgbClr val="598CB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66737" rtl="0"/>
            <a:endParaRPr lang="en-IE" sz="1688"/>
          </a:p>
        </p:txBody>
      </p:sp>
    </p:spTree>
    <p:extLst>
      <p:ext uri="{BB962C8B-B14F-4D97-AF65-F5344CB8AC3E}">
        <p14:creationId xmlns:p14="http://schemas.microsoft.com/office/powerpoint/2010/main" val="1039442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3F2B9-CA77-41E2-BFCC-DD2CEF5266DB}"/>
              </a:ext>
            </a:extLst>
          </p:cNvPr>
          <p:cNvSpPr>
            <a:spLocks noGrp="1"/>
          </p:cNvSpPr>
          <p:nvPr>
            <p:ph type="ctrTitle"/>
          </p:nvPr>
        </p:nvSpPr>
        <p:spPr>
          <a:xfrm>
            <a:off x="2519945" y="436914"/>
            <a:ext cx="4104108" cy="1102519"/>
          </a:xfrm>
        </p:spPr>
        <p:txBody>
          <a:bodyPr/>
          <a:lstStyle/>
          <a:p>
            <a:pPr>
              <a:spcBef>
                <a:spcPts val="633"/>
              </a:spcBef>
            </a:pPr>
            <a:r>
              <a:rPr lang="en-IE" sz="3600" dirty="0">
                <a:solidFill>
                  <a:schemeClr val="tx1"/>
                </a:solidFill>
              </a:rPr>
              <a:t>The </a:t>
            </a:r>
            <a:r>
              <a:rPr lang="en-IE" sz="3600" dirty="0">
                <a:solidFill>
                  <a:srgbClr val="598CBE"/>
                </a:solidFill>
                <a:latin typeface="Monaco" pitchFamily="2" charset="77"/>
              </a:rPr>
              <a:t>this</a:t>
            </a:r>
            <a:r>
              <a:rPr lang="en-IE" sz="3600" dirty="0">
                <a:solidFill>
                  <a:schemeClr val="tx1"/>
                </a:solidFill>
              </a:rPr>
              <a:t> Keyword</a:t>
            </a:r>
            <a:endParaRPr lang="en-IE" sz="3600" b="1" dirty="0">
              <a:solidFill>
                <a:srgbClr val="0368FF"/>
              </a:solidFill>
            </a:endParaRPr>
          </a:p>
        </p:txBody>
      </p:sp>
      <p:pic>
        <p:nvPicPr>
          <p:cNvPr id="4" name="Picture 2">
            <a:extLst>
              <a:ext uri="{FF2B5EF4-FFF2-40B4-BE49-F238E27FC236}">
                <a16:creationId xmlns:a16="http://schemas.microsoft.com/office/drawing/2014/main" id="{80B48627-70FE-4B45-9414-DD660DBF28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3256709" y="1722350"/>
            <a:ext cx="2630581" cy="2630581"/>
          </a:xfrm>
          <a:prstGeom prst="rect">
            <a:avLst/>
          </a:prstGeom>
          <a:noFill/>
          <a:ln w="38100">
            <a:noFill/>
          </a:ln>
          <a:effectLst>
            <a:outerShdw blurRad="50800" dist="1016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404EBBC8-D8C4-AD98-5A2D-86C0011001EA}"/>
              </a:ext>
            </a:extLst>
          </p:cNvPr>
          <p:cNvSpPr>
            <a:spLocks noGrp="1"/>
          </p:cNvSpPr>
          <p:nvPr>
            <p:ph type="sldNum" sz="quarter" idx="12"/>
          </p:nvPr>
        </p:nvSpPr>
        <p:spPr>
          <a:xfrm>
            <a:off x="6553201" y="4865349"/>
            <a:ext cx="1905000" cy="283023"/>
          </a:xfrm>
        </p:spPr>
        <p:txBody>
          <a:bodyPr/>
          <a:lstStyle/>
          <a:p>
            <a:fld id="{B6F15528-21DE-4FAA-801E-634DDDAF4B2B}" type="slidenum">
              <a:rPr lang="en-US" smtClean="0"/>
              <a:pPr/>
              <a:t>32</a:t>
            </a:fld>
            <a:endParaRPr lang="en-US" dirty="0"/>
          </a:p>
        </p:txBody>
      </p:sp>
      <p:sp>
        <p:nvSpPr>
          <p:cNvPr id="8" name="Footer Placeholder 7">
            <a:extLst>
              <a:ext uri="{FF2B5EF4-FFF2-40B4-BE49-F238E27FC236}">
                <a16:creationId xmlns:a16="http://schemas.microsoft.com/office/drawing/2014/main" id="{12E5978C-2993-225B-79D6-A53E710FFFEE}"/>
              </a:ext>
            </a:extLst>
          </p:cNvPr>
          <p:cNvSpPr>
            <a:spLocks noGrp="1"/>
          </p:cNvSpPr>
          <p:nvPr>
            <p:ph type="ftr" sz="quarter" idx="11"/>
          </p:nvPr>
        </p:nvSpPr>
        <p:spPr/>
        <p:txBody>
          <a:bodyPr/>
          <a:lstStyle/>
          <a:p>
            <a:r>
              <a:rPr lang="en-US" dirty="0"/>
              <a:t>https://</a:t>
            </a:r>
            <a:r>
              <a:rPr lang="en-US" dirty="0" err="1"/>
              <a:t>www.java.com</a:t>
            </a:r>
            <a:endParaRPr lang="en-US" dirty="0"/>
          </a:p>
        </p:txBody>
      </p:sp>
    </p:spTree>
    <p:extLst>
      <p:ext uri="{BB962C8B-B14F-4D97-AF65-F5344CB8AC3E}">
        <p14:creationId xmlns:p14="http://schemas.microsoft.com/office/powerpoint/2010/main" val="28872130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3" name="Rectangle 12">
            <a:extLst>
              <a:ext uri="{FF2B5EF4-FFF2-40B4-BE49-F238E27FC236}">
                <a16:creationId xmlns:a16="http://schemas.microsoft.com/office/drawing/2014/main" id="{6A4CD500-DDD2-E9D5-4672-0B8EA29D7AC0}"/>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a:t>
            </a:r>
            <a:r>
              <a:rPr lang="en-US" sz="1800" b="1" dirty="0"/>
              <a:t>Spot</a:t>
            </a:r>
            <a:r>
              <a:rPr lang="en-US" sz="1800" dirty="0"/>
              <a:t>, there are three private instance fields:</a:t>
            </a:r>
          </a:p>
        </p:txBody>
      </p:sp>
      <p:sp>
        <p:nvSpPr>
          <p:cNvPr id="2" name="Footer Placeholder 1">
            <a:extLst>
              <a:ext uri="{FF2B5EF4-FFF2-40B4-BE49-F238E27FC236}">
                <a16:creationId xmlns:a16="http://schemas.microsoft.com/office/drawing/2014/main" id="{AB5E1A39-B844-FE65-E17C-5192455AB54F}"/>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2B45CCA8-F021-477A-D0BD-7BAD8AFD909A}"/>
              </a:ext>
            </a:extLst>
          </p:cNvPr>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112613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Graphical user interface, text, application&#10;&#10;Description automatically generated">
            <a:extLst>
              <a:ext uri="{FF2B5EF4-FFF2-40B4-BE49-F238E27FC236}">
                <a16:creationId xmlns:a16="http://schemas.microsoft.com/office/drawing/2014/main" id="{CB5F3CB1-5207-7B8D-014F-539716ABB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350" y="1351026"/>
            <a:ext cx="4800600" cy="3402623"/>
          </a:xfrm>
          <a:prstGeom prst="rect">
            <a:avLst/>
          </a:prstGeom>
          <a:ln>
            <a:noFill/>
          </a:ln>
          <a:effectLst>
            <a:outerShdw blurRad="292100" dist="139700" dir="2700000" algn="tl" rotWithShape="0">
              <a:srgbClr val="333333">
                <a:alpha val="65000"/>
              </a:srgbClr>
            </a:outerShdw>
          </a:effectLst>
        </p:spPr>
      </p:pic>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0F389C3F-1A2F-C7F4-1462-13EF6850CEA8}"/>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are three private instance fields:</a:t>
            </a:r>
          </a:p>
        </p:txBody>
      </p:sp>
      <p:sp>
        <p:nvSpPr>
          <p:cNvPr id="5" name="Rectangle 4">
            <a:extLst>
              <a:ext uri="{FF2B5EF4-FFF2-40B4-BE49-F238E27FC236}">
                <a16:creationId xmlns:a16="http://schemas.microsoft.com/office/drawing/2014/main" id="{B63FE235-A92D-9127-3C19-884C3403D538}"/>
              </a:ext>
            </a:extLst>
          </p:cNvPr>
          <p:cNvSpPr/>
          <p:nvPr/>
        </p:nvSpPr>
        <p:spPr>
          <a:xfrm>
            <a:off x="3943350" y="838656"/>
            <a:ext cx="4800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a:t>
            </a:r>
            <a:r>
              <a:rPr lang="en-US" sz="1800" b="1" dirty="0"/>
              <a:t>Spot</a:t>
            </a:r>
            <a:r>
              <a:rPr lang="en-US" sz="1800" dirty="0"/>
              <a:t>, there is a setter for each of these fields:</a:t>
            </a:r>
          </a:p>
        </p:txBody>
      </p:sp>
      <p:sp>
        <p:nvSpPr>
          <p:cNvPr id="2" name="Footer Placeholder 1">
            <a:extLst>
              <a:ext uri="{FF2B5EF4-FFF2-40B4-BE49-F238E27FC236}">
                <a16:creationId xmlns:a16="http://schemas.microsoft.com/office/drawing/2014/main" id="{FEF13771-47DF-4204-B1FA-356DA39E4A35}"/>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1060D48D-5407-AFA3-49EF-28636CCEABD0}"/>
              </a:ext>
            </a:extLst>
          </p:cNvPr>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801691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0F389C3F-1A2F-C7F4-1462-13EF6850CEA8}"/>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are three private instance fields:</a:t>
            </a:r>
          </a:p>
        </p:txBody>
      </p:sp>
      <p:sp>
        <p:nvSpPr>
          <p:cNvPr id="6" name="Rectangle 5">
            <a:extLst>
              <a:ext uri="{FF2B5EF4-FFF2-40B4-BE49-F238E27FC236}">
                <a16:creationId xmlns:a16="http://schemas.microsoft.com/office/drawing/2014/main" id="{0CDEDB0D-B494-1229-F3BC-004C59EC8A5A}"/>
              </a:ext>
            </a:extLst>
          </p:cNvPr>
          <p:cNvSpPr/>
          <p:nvPr/>
        </p:nvSpPr>
        <p:spPr>
          <a:xfrm>
            <a:off x="616295" y="2971800"/>
            <a:ext cx="2921794" cy="1477328"/>
          </a:xfrm>
          <a:prstGeom prst="rect">
            <a:avLst/>
          </a:prstGeom>
          <a:ln>
            <a:solidFill>
              <a:srgbClr val="FF0000"/>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800" dirty="0"/>
              <a:t>The instance fields </a:t>
            </a:r>
            <a:r>
              <a:rPr lang="en-US" sz="1800" dirty="0">
                <a:solidFill>
                  <a:srgbClr val="00B050"/>
                </a:solidFill>
              </a:rPr>
              <a:t>(</a:t>
            </a:r>
            <a:r>
              <a:rPr lang="en-US" sz="1800" dirty="0">
                <a:solidFill>
                  <a:srgbClr val="598CBE"/>
                </a:solidFill>
              </a:rPr>
              <a:t>global</a:t>
            </a:r>
            <a:r>
              <a:rPr lang="en-US" sz="1800" dirty="0">
                <a:solidFill>
                  <a:srgbClr val="00B050"/>
                </a:solidFill>
              </a:rPr>
              <a:t>) </a:t>
            </a:r>
            <a:r>
              <a:rPr lang="en-US" sz="1800" dirty="0"/>
              <a:t>are named the same as the parameters for the setters </a:t>
            </a:r>
            <a:br>
              <a:rPr lang="en-US" sz="1800" dirty="0"/>
            </a:br>
            <a:r>
              <a:rPr lang="en-US" sz="1800" dirty="0"/>
              <a:t>(which are </a:t>
            </a:r>
            <a:r>
              <a:rPr lang="en-US" sz="1800" dirty="0">
                <a:solidFill>
                  <a:srgbClr val="FF0000"/>
                </a:solidFill>
              </a:rPr>
              <a:t>local</a:t>
            </a:r>
            <a:r>
              <a:rPr lang="en-US" sz="1800" dirty="0"/>
              <a:t> </a:t>
            </a:r>
            <a:r>
              <a:rPr lang="en-US" sz="1800" dirty="0">
                <a:solidFill>
                  <a:srgbClr val="FF0000"/>
                </a:solidFill>
              </a:rPr>
              <a:t>fields</a:t>
            </a:r>
            <a:r>
              <a:rPr lang="en-US" sz="1800" dirty="0"/>
              <a:t>).</a:t>
            </a:r>
          </a:p>
        </p:txBody>
      </p:sp>
      <p:cxnSp>
        <p:nvCxnSpPr>
          <p:cNvPr id="3" name="Straight Arrow Connector 2">
            <a:extLst>
              <a:ext uri="{FF2B5EF4-FFF2-40B4-BE49-F238E27FC236}">
                <a16:creationId xmlns:a16="http://schemas.microsoft.com/office/drawing/2014/main" id="{AAAAF172-5313-3739-9385-4B31ADDEAE22}"/>
              </a:ext>
            </a:extLst>
          </p:cNvPr>
          <p:cNvCxnSpPr/>
          <p:nvPr/>
        </p:nvCxnSpPr>
        <p:spPr>
          <a:xfrm flipH="1" flipV="1">
            <a:off x="2628900" y="1943100"/>
            <a:ext cx="114300" cy="1028700"/>
          </a:xfrm>
          <a:prstGeom prst="straightConnector1">
            <a:avLst/>
          </a:prstGeom>
          <a:ln w="57150">
            <a:solidFill>
              <a:srgbClr val="598CBE"/>
            </a:solidFill>
            <a:tailEnd type="triangle"/>
          </a:ln>
        </p:spPr>
        <p:style>
          <a:lnRef idx="1">
            <a:schemeClr val="accent1"/>
          </a:lnRef>
          <a:fillRef idx="0">
            <a:schemeClr val="accent1"/>
          </a:fillRef>
          <a:effectRef idx="0">
            <a:schemeClr val="accent1"/>
          </a:effectRef>
          <a:fontRef idx="minor">
            <a:schemeClr val="tx1"/>
          </a:fontRef>
        </p:style>
      </p:cxnSp>
      <p:sp>
        <p:nvSpPr>
          <p:cNvPr id="2" name="Rounded Rectangle 1">
            <a:extLst>
              <a:ext uri="{FF2B5EF4-FFF2-40B4-BE49-F238E27FC236}">
                <a16:creationId xmlns:a16="http://schemas.microsoft.com/office/drawing/2014/main" id="{4DCCAE25-AA4C-B896-4051-62F2FE5FDE44}"/>
              </a:ext>
            </a:extLst>
          </p:cNvPr>
          <p:cNvSpPr/>
          <p:nvPr/>
        </p:nvSpPr>
        <p:spPr>
          <a:xfrm>
            <a:off x="1657350" y="1076325"/>
            <a:ext cx="1714500" cy="857250"/>
          </a:xfrm>
          <a:prstGeom prst="roundRect">
            <a:avLst/>
          </a:prstGeom>
          <a:noFill/>
          <a:ln w="38100">
            <a:solidFill>
              <a:srgbClr val="598CBE"/>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366737" rtl="0"/>
            <a:endParaRPr lang="en-US" sz="1688"/>
          </a:p>
        </p:txBody>
      </p:sp>
      <p:sp>
        <p:nvSpPr>
          <p:cNvPr id="4" name="Footer Placeholder 3">
            <a:extLst>
              <a:ext uri="{FF2B5EF4-FFF2-40B4-BE49-F238E27FC236}">
                <a16:creationId xmlns:a16="http://schemas.microsoft.com/office/drawing/2014/main" id="{2E2D0F1D-9301-F5CE-77CE-10597201FE1A}"/>
              </a:ext>
            </a:extLst>
          </p:cNvPr>
          <p:cNvSpPr>
            <a:spLocks noGrp="1"/>
          </p:cNvSpPr>
          <p:nvPr>
            <p:ph type="ftr" sz="quarter" idx="11"/>
          </p:nvPr>
        </p:nvSpPr>
        <p:spPr/>
        <p:txBody>
          <a:bodyPr/>
          <a:lstStyle/>
          <a:p>
            <a:r>
              <a:rPr lang="en-US"/>
              <a:t>https://www.java.com</a:t>
            </a:r>
          </a:p>
        </p:txBody>
      </p:sp>
      <p:sp>
        <p:nvSpPr>
          <p:cNvPr id="7" name="Slide Number Placeholder 6">
            <a:extLst>
              <a:ext uri="{FF2B5EF4-FFF2-40B4-BE49-F238E27FC236}">
                <a16:creationId xmlns:a16="http://schemas.microsoft.com/office/drawing/2014/main" id="{A233E7CC-082D-1DCD-FE60-B3A564E104E6}"/>
              </a:ext>
            </a:extLst>
          </p:cNvPr>
          <p:cNvSpPr>
            <a:spLocks noGrp="1"/>
          </p:cNvSpPr>
          <p:nvPr>
            <p:ph type="sldNum" sz="quarter" idx="12"/>
          </p:nvPr>
        </p:nvSpPr>
        <p:spPr/>
        <p:txBody>
          <a:bodyPr/>
          <a:lstStyle/>
          <a:p>
            <a:fld id="{B6F15528-21DE-4FAA-801E-634DDDAF4B2B}" type="slidenum">
              <a:rPr lang="en-US" smtClean="0"/>
              <a:pPr/>
              <a:t>35</a:t>
            </a:fld>
            <a:endParaRPr lang="en-US"/>
          </a:p>
        </p:txBody>
      </p:sp>
      <p:pic>
        <p:nvPicPr>
          <p:cNvPr id="9" name="Picture 8" descr="Graphical user interface, text, application&#10;&#10;Description automatically generated">
            <a:extLst>
              <a:ext uri="{FF2B5EF4-FFF2-40B4-BE49-F238E27FC236}">
                <a16:creationId xmlns:a16="http://schemas.microsoft.com/office/drawing/2014/main" id="{9CF8872D-1F83-2C33-404F-C8C1AA2C2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3350" y="1351026"/>
            <a:ext cx="4800600" cy="3402623"/>
          </a:xfrm>
          <a:prstGeom prst="rect">
            <a:avLst/>
          </a:prstGeom>
          <a:ln>
            <a:noFill/>
          </a:ln>
          <a:effectLst>
            <a:outerShdw blurRad="292100" dist="139700" dir="2700000" algn="tl" rotWithShape="0">
              <a:srgbClr val="333333">
                <a:alpha val="65000"/>
              </a:srgbClr>
            </a:outerShdw>
          </a:effectLst>
        </p:spPr>
      </p:pic>
      <p:sp>
        <p:nvSpPr>
          <p:cNvPr id="10" name="Rectangle 9">
            <a:extLst>
              <a:ext uri="{FF2B5EF4-FFF2-40B4-BE49-F238E27FC236}">
                <a16:creationId xmlns:a16="http://schemas.microsoft.com/office/drawing/2014/main" id="{D0B86953-4DE4-E60D-9729-239B991E3ED6}"/>
              </a:ext>
            </a:extLst>
          </p:cNvPr>
          <p:cNvSpPr/>
          <p:nvPr/>
        </p:nvSpPr>
        <p:spPr>
          <a:xfrm>
            <a:off x="3943350" y="838656"/>
            <a:ext cx="4800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a:t>
            </a:r>
            <a:r>
              <a:rPr lang="en-US" sz="1800" b="1" dirty="0"/>
              <a:t>Spot</a:t>
            </a:r>
            <a:r>
              <a:rPr lang="en-US" sz="1800" dirty="0"/>
              <a:t>, there is a setter for each of these fields:</a:t>
            </a:r>
          </a:p>
        </p:txBody>
      </p:sp>
      <p:cxnSp>
        <p:nvCxnSpPr>
          <p:cNvPr id="17" name="Straight Arrow Connector 16">
            <a:extLst>
              <a:ext uri="{FF2B5EF4-FFF2-40B4-BE49-F238E27FC236}">
                <a16:creationId xmlns:a16="http://schemas.microsoft.com/office/drawing/2014/main" id="{BF9A5DC4-F4B8-87B5-C813-156D1087F113}"/>
              </a:ext>
            </a:extLst>
          </p:cNvPr>
          <p:cNvCxnSpPr>
            <a:cxnSpLocks/>
          </p:cNvCxnSpPr>
          <p:nvPr/>
        </p:nvCxnSpPr>
        <p:spPr>
          <a:xfrm flipV="1">
            <a:off x="6441949" y="2133409"/>
            <a:ext cx="0" cy="308039"/>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cxnSp>
        <p:nvCxnSpPr>
          <p:cNvPr id="19" name="Straight Arrow Connector 18">
            <a:extLst>
              <a:ext uri="{FF2B5EF4-FFF2-40B4-BE49-F238E27FC236}">
                <a16:creationId xmlns:a16="http://schemas.microsoft.com/office/drawing/2014/main" id="{FD07CC05-ADB1-C5E5-7CFF-15A47B52C964}"/>
              </a:ext>
            </a:extLst>
          </p:cNvPr>
          <p:cNvCxnSpPr>
            <a:cxnSpLocks/>
          </p:cNvCxnSpPr>
          <p:nvPr/>
        </p:nvCxnSpPr>
        <p:spPr>
          <a:xfrm flipV="1">
            <a:off x="6452618" y="3236785"/>
            <a:ext cx="0" cy="308039"/>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AA096638-3D10-430F-F744-AAD83BF092CC}"/>
              </a:ext>
            </a:extLst>
          </p:cNvPr>
          <p:cNvCxnSpPr>
            <a:cxnSpLocks/>
          </p:cNvCxnSpPr>
          <p:nvPr/>
        </p:nvCxnSpPr>
        <p:spPr>
          <a:xfrm flipV="1">
            <a:off x="6694933" y="4403217"/>
            <a:ext cx="0" cy="308039"/>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Tree>
    <p:extLst>
      <p:ext uri="{BB962C8B-B14F-4D97-AF65-F5344CB8AC3E}">
        <p14:creationId xmlns:p14="http://schemas.microsoft.com/office/powerpoint/2010/main" val="20488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0F389C3F-1A2F-C7F4-1462-13EF6850CEA8}"/>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are three private instance fields:</a:t>
            </a:r>
          </a:p>
        </p:txBody>
      </p:sp>
      <p:sp>
        <p:nvSpPr>
          <p:cNvPr id="2" name="Rounded Rectangle 1">
            <a:extLst>
              <a:ext uri="{FF2B5EF4-FFF2-40B4-BE49-F238E27FC236}">
                <a16:creationId xmlns:a16="http://schemas.microsoft.com/office/drawing/2014/main" id="{4DCCAE25-AA4C-B896-4051-62F2FE5FDE44}"/>
              </a:ext>
            </a:extLst>
          </p:cNvPr>
          <p:cNvSpPr/>
          <p:nvPr/>
        </p:nvSpPr>
        <p:spPr>
          <a:xfrm>
            <a:off x="1657350" y="1076325"/>
            <a:ext cx="1714500" cy="857250"/>
          </a:xfrm>
          <a:prstGeom prst="roundRect">
            <a:avLst/>
          </a:prstGeom>
          <a:noFill/>
          <a:ln w="38100">
            <a:solidFill>
              <a:srgbClr val="598CBE"/>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366737" rtl="0"/>
            <a:endParaRPr lang="en-US" sz="1688"/>
          </a:p>
        </p:txBody>
      </p:sp>
      <p:sp>
        <p:nvSpPr>
          <p:cNvPr id="4" name="Footer Placeholder 3">
            <a:extLst>
              <a:ext uri="{FF2B5EF4-FFF2-40B4-BE49-F238E27FC236}">
                <a16:creationId xmlns:a16="http://schemas.microsoft.com/office/drawing/2014/main" id="{2E2D0F1D-9301-F5CE-77CE-10597201FE1A}"/>
              </a:ext>
            </a:extLst>
          </p:cNvPr>
          <p:cNvSpPr>
            <a:spLocks noGrp="1"/>
          </p:cNvSpPr>
          <p:nvPr>
            <p:ph type="ftr" sz="quarter" idx="11"/>
          </p:nvPr>
        </p:nvSpPr>
        <p:spPr/>
        <p:txBody>
          <a:bodyPr/>
          <a:lstStyle/>
          <a:p>
            <a:r>
              <a:rPr lang="en-US"/>
              <a:t>https://www.java.com</a:t>
            </a:r>
          </a:p>
        </p:txBody>
      </p:sp>
      <p:sp>
        <p:nvSpPr>
          <p:cNvPr id="7" name="Slide Number Placeholder 6">
            <a:extLst>
              <a:ext uri="{FF2B5EF4-FFF2-40B4-BE49-F238E27FC236}">
                <a16:creationId xmlns:a16="http://schemas.microsoft.com/office/drawing/2014/main" id="{A233E7CC-082D-1DCD-FE60-B3A564E104E6}"/>
              </a:ext>
            </a:extLst>
          </p:cNvPr>
          <p:cNvSpPr>
            <a:spLocks noGrp="1"/>
          </p:cNvSpPr>
          <p:nvPr>
            <p:ph type="sldNum" sz="quarter" idx="12"/>
          </p:nvPr>
        </p:nvSpPr>
        <p:spPr/>
        <p:txBody>
          <a:bodyPr/>
          <a:lstStyle/>
          <a:p>
            <a:fld id="{B6F15528-21DE-4FAA-801E-634DDDAF4B2B}" type="slidenum">
              <a:rPr lang="en-US" smtClean="0"/>
              <a:pPr/>
              <a:t>36</a:t>
            </a:fld>
            <a:endParaRPr lang="en-US"/>
          </a:p>
        </p:txBody>
      </p:sp>
      <p:pic>
        <p:nvPicPr>
          <p:cNvPr id="9" name="Picture 8" descr="Graphical user interface, text, application&#10;&#10;Description automatically generated">
            <a:extLst>
              <a:ext uri="{FF2B5EF4-FFF2-40B4-BE49-F238E27FC236}">
                <a16:creationId xmlns:a16="http://schemas.microsoft.com/office/drawing/2014/main" id="{9CF8872D-1F83-2C33-404F-C8C1AA2C2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43350" y="1351026"/>
            <a:ext cx="4800600" cy="3402623"/>
          </a:xfrm>
          <a:prstGeom prst="rect">
            <a:avLst/>
          </a:prstGeom>
          <a:ln>
            <a:noFill/>
          </a:ln>
          <a:effectLst>
            <a:outerShdw blurRad="292100" dist="139700" dir="2700000" algn="tl" rotWithShape="0">
              <a:srgbClr val="333333">
                <a:alpha val="65000"/>
              </a:srgbClr>
            </a:outerShdw>
          </a:effectLst>
        </p:spPr>
      </p:pic>
      <p:sp>
        <p:nvSpPr>
          <p:cNvPr id="10" name="Rectangle 9">
            <a:extLst>
              <a:ext uri="{FF2B5EF4-FFF2-40B4-BE49-F238E27FC236}">
                <a16:creationId xmlns:a16="http://schemas.microsoft.com/office/drawing/2014/main" id="{D0B86953-4DE4-E60D-9729-239B991E3ED6}"/>
              </a:ext>
            </a:extLst>
          </p:cNvPr>
          <p:cNvSpPr/>
          <p:nvPr/>
        </p:nvSpPr>
        <p:spPr>
          <a:xfrm>
            <a:off x="3943350" y="838656"/>
            <a:ext cx="4800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a:t>
            </a:r>
            <a:r>
              <a:rPr lang="en-US" sz="1800" b="1" dirty="0"/>
              <a:t>Spot</a:t>
            </a:r>
            <a:r>
              <a:rPr lang="en-US" sz="1800" dirty="0"/>
              <a:t>, there is a setter for each of these fields:</a:t>
            </a:r>
          </a:p>
        </p:txBody>
      </p:sp>
      <p:cxnSp>
        <p:nvCxnSpPr>
          <p:cNvPr id="17" name="Straight Arrow Connector 16">
            <a:extLst>
              <a:ext uri="{FF2B5EF4-FFF2-40B4-BE49-F238E27FC236}">
                <a16:creationId xmlns:a16="http://schemas.microsoft.com/office/drawing/2014/main" id="{BF9A5DC4-F4B8-87B5-C813-156D1087F113}"/>
              </a:ext>
            </a:extLst>
          </p:cNvPr>
          <p:cNvCxnSpPr>
            <a:cxnSpLocks/>
          </p:cNvCxnSpPr>
          <p:nvPr/>
        </p:nvCxnSpPr>
        <p:spPr>
          <a:xfrm flipV="1">
            <a:off x="6441949" y="2133409"/>
            <a:ext cx="0" cy="308039"/>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cxnSp>
        <p:nvCxnSpPr>
          <p:cNvPr id="19" name="Straight Arrow Connector 18">
            <a:extLst>
              <a:ext uri="{FF2B5EF4-FFF2-40B4-BE49-F238E27FC236}">
                <a16:creationId xmlns:a16="http://schemas.microsoft.com/office/drawing/2014/main" id="{FD07CC05-ADB1-C5E5-7CFF-15A47B52C964}"/>
              </a:ext>
            </a:extLst>
          </p:cNvPr>
          <p:cNvCxnSpPr>
            <a:cxnSpLocks/>
          </p:cNvCxnSpPr>
          <p:nvPr/>
        </p:nvCxnSpPr>
        <p:spPr>
          <a:xfrm flipV="1">
            <a:off x="6452618" y="3236785"/>
            <a:ext cx="0" cy="308039"/>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cxnSp>
        <p:nvCxnSpPr>
          <p:cNvPr id="20" name="Straight Arrow Connector 19">
            <a:extLst>
              <a:ext uri="{FF2B5EF4-FFF2-40B4-BE49-F238E27FC236}">
                <a16:creationId xmlns:a16="http://schemas.microsoft.com/office/drawing/2014/main" id="{AA096638-3D10-430F-F744-AAD83BF092CC}"/>
              </a:ext>
            </a:extLst>
          </p:cNvPr>
          <p:cNvCxnSpPr>
            <a:cxnSpLocks/>
          </p:cNvCxnSpPr>
          <p:nvPr/>
        </p:nvCxnSpPr>
        <p:spPr>
          <a:xfrm flipV="1">
            <a:off x="6694933" y="4403217"/>
            <a:ext cx="0" cy="308039"/>
          </a:xfrm>
          <a:prstGeom prst="straightConnector1">
            <a:avLst/>
          </a:prstGeom>
          <a:noFill/>
          <a:ln w="50800" cap="flat">
            <a:solidFill>
              <a:srgbClr val="FF0000"/>
            </a:solidFill>
            <a:prstDash val="solid"/>
            <a:miter lim="400000"/>
            <a:tailEnd type="triangle"/>
          </a:ln>
          <a:effectLst/>
        </p:spPr>
        <p:style>
          <a:lnRef idx="0">
            <a:scrgbClr r="0" g="0" b="0"/>
          </a:lnRef>
          <a:fillRef idx="0">
            <a:scrgbClr r="0" g="0" b="0"/>
          </a:fillRef>
          <a:effectRef idx="0">
            <a:scrgbClr r="0" g="0" b="0"/>
          </a:effectRef>
          <a:fontRef idx="none"/>
        </p:style>
      </p:cxnSp>
      <p:sp>
        <p:nvSpPr>
          <p:cNvPr id="21" name="Rounded Rectangle 20">
            <a:extLst>
              <a:ext uri="{FF2B5EF4-FFF2-40B4-BE49-F238E27FC236}">
                <a16:creationId xmlns:a16="http://schemas.microsoft.com/office/drawing/2014/main" id="{F83D2F00-49DF-E871-9568-D8000BD29A0D}"/>
              </a:ext>
            </a:extLst>
          </p:cNvPr>
          <p:cNvSpPr/>
          <p:nvPr/>
        </p:nvSpPr>
        <p:spPr>
          <a:xfrm>
            <a:off x="4572000" y="1844802"/>
            <a:ext cx="1257300" cy="342900"/>
          </a:xfrm>
          <a:prstGeom prst="roundRect">
            <a:avLst/>
          </a:prstGeom>
          <a:noFill/>
          <a:ln w="38100">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defTabSz="366737" rtl="0"/>
            <a:endParaRPr lang="en-US" sz="1688"/>
          </a:p>
        </p:txBody>
      </p:sp>
      <p:sp>
        <p:nvSpPr>
          <p:cNvPr id="22" name="Rounded Rectangle 21">
            <a:extLst>
              <a:ext uri="{FF2B5EF4-FFF2-40B4-BE49-F238E27FC236}">
                <a16:creationId xmlns:a16="http://schemas.microsoft.com/office/drawing/2014/main" id="{89B1582A-F0BD-DFFA-EC19-13CE793DBEA3}"/>
              </a:ext>
            </a:extLst>
          </p:cNvPr>
          <p:cNvSpPr/>
          <p:nvPr/>
        </p:nvSpPr>
        <p:spPr>
          <a:xfrm>
            <a:off x="4572000" y="3031763"/>
            <a:ext cx="1257300" cy="342900"/>
          </a:xfrm>
          <a:prstGeom prst="roundRect">
            <a:avLst/>
          </a:prstGeom>
          <a:noFill/>
          <a:ln w="38100">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23" name="Rounded Rectangle 22">
            <a:extLst>
              <a:ext uri="{FF2B5EF4-FFF2-40B4-BE49-F238E27FC236}">
                <a16:creationId xmlns:a16="http://schemas.microsoft.com/office/drawing/2014/main" id="{26B1D200-5668-E61F-F2C5-DD2A8B487ADD}"/>
              </a:ext>
            </a:extLst>
          </p:cNvPr>
          <p:cNvSpPr/>
          <p:nvPr/>
        </p:nvSpPr>
        <p:spPr>
          <a:xfrm>
            <a:off x="4572000" y="4187952"/>
            <a:ext cx="1428750" cy="342900"/>
          </a:xfrm>
          <a:prstGeom prst="roundRect">
            <a:avLst/>
          </a:prstGeom>
          <a:noFill/>
          <a:ln w="38100">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24" name="Rectangle 23">
            <a:extLst>
              <a:ext uri="{FF2B5EF4-FFF2-40B4-BE49-F238E27FC236}">
                <a16:creationId xmlns:a16="http://schemas.microsoft.com/office/drawing/2014/main" id="{48C39A42-D51F-AD36-30F9-CE16F98F5AE2}"/>
              </a:ext>
            </a:extLst>
          </p:cNvPr>
          <p:cNvSpPr/>
          <p:nvPr/>
        </p:nvSpPr>
        <p:spPr>
          <a:xfrm>
            <a:off x="400050" y="2971800"/>
            <a:ext cx="3086100" cy="1754326"/>
          </a:xfrm>
          <a:prstGeom prst="rect">
            <a:avLst/>
          </a:prstGeom>
          <a:ln>
            <a:solidFill>
              <a:srgbClr val="FF0000"/>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800" dirty="0"/>
              <a:t>This is called </a:t>
            </a:r>
            <a:r>
              <a:rPr lang="en-US" sz="1800" dirty="0">
                <a:solidFill>
                  <a:schemeClr val="accent1"/>
                </a:solidFill>
              </a:rPr>
              <a:t>name overloading</a:t>
            </a:r>
            <a:r>
              <a:rPr lang="en-US" sz="1800" dirty="0"/>
              <a:t>.  </a:t>
            </a:r>
          </a:p>
          <a:p>
            <a:endParaRPr lang="en-US" sz="1800" dirty="0"/>
          </a:p>
          <a:p>
            <a:r>
              <a:rPr lang="en-US" sz="1800" dirty="0"/>
              <a:t>We use </a:t>
            </a:r>
            <a:r>
              <a:rPr lang="en-US" sz="1800" b="1" dirty="0">
                <a:solidFill>
                  <a:schemeClr val="accent1"/>
                </a:solidFill>
                <a:latin typeface="Monaco" pitchFamily="2" charset="77"/>
              </a:rPr>
              <a:t>this.</a:t>
            </a:r>
            <a:r>
              <a:rPr lang="en-US" sz="1800" dirty="0"/>
              <a:t> to distinguish between </a:t>
            </a:r>
            <a:r>
              <a:rPr lang="en-US" sz="1800" dirty="0">
                <a:solidFill>
                  <a:srgbClr val="FF0000"/>
                </a:solidFill>
              </a:rPr>
              <a:t>local</a:t>
            </a:r>
            <a:r>
              <a:rPr lang="en-US" sz="1800" dirty="0"/>
              <a:t> and </a:t>
            </a:r>
            <a:r>
              <a:rPr lang="en-US" sz="1800" dirty="0">
                <a:solidFill>
                  <a:srgbClr val="00B050"/>
                </a:solidFill>
              </a:rPr>
              <a:t>global</a:t>
            </a:r>
            <a:r>
              <a:rPr lang="en-US" sz="1800" dirty="0"/>
              <a:t> variables.</a:t>
            </a:r>
          </a:p>
        </p:txBody>
      </p:sp>
    </p:spTree>
    <p:extLst>
      <p:ext uri="{BB962C8B-B14F-4D97-AF65-F5344CB8AC3E}">
        <p14:creationId xmlns:p14="http://schemas.microsoft.com/office/powerpoint/2010/main" val="36182748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10;&#10;Description automatically generated">
            <a:extLst>
              <a:ext uri="{FF2B5EF4-FFF2-40B4-BE49-F238E27FC236}">
                <a16:creationId xmlns:a16="http://schemas.microsoft.com/office/drawing/2014/main" id="{636AA649-9F27-3764-F333-E9BD663EE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350" y="1351026"/>
            <a:ext cx="4800600" cy="3402623"/>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538C2B81-4076-5323-7E4E-7BE873D87D55}"/>
              </a:ext>
            </a:extLst>
          </p:cNvPr>
          <p:cNvSpPr/>
          <p:nvPr/>
        </p:nvSpPr>
        <p:spPr>
          <a:xfrm>
            <a:off x="3943350" y="838656"/>
            <a:ext cx="4800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a:t>
            </a:r>
            <a:r>
              <a:rPr lang="en-US" sz="1800" b="1" dirty="0"/>
              <a:t>Spot</a:t>
            </a:r>
            <a:r>
              <a:rPr lang="en-US" sz="1800" dirty="0"/>
              <a:t>, there is a setter for each of these fields:</a:t>
            </a:r>
          </a:p>
        </p:txBody>
      </p:sp>
      <p:sp>
        <p:nvSpPr>
          <p:cNvPr id="10" name="Rounded Rectangle 9">
            <a:extLst>
              <a:ext uri="{FF2B5EF4-FFF2-40B4-BE49-F238E27FC236}">
                <a16:creationId xmlns:a16="http://schemas.microsoft.com/office/drawing/2014/main" id="{828C4F58-61E8-C45D-4FA1-0BF2DF72FFAB}"/>
              </a:ext>
            </a:extLst>
          </p:cNvPr>
          <p:cNvSpPr/>
          <p:nvPr/>
        </p:nvSpPr>
        <p:spPr>
          <a:xfrm>
            <a:off x="4572000" y="1844802"/>
            <a:ext cx="1257300" cy="342900"/>
          </a:xfrm>
          <a:prstGeom prst="roundRect">
            <a:avLst/>
          </a:prstGeom>
          <a:noFill/>
          <a:ln w="38100">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defTabSz="366737" rtl="0"/>
            <a:endParaRPr lang="en-US" sz="1688"/>
          </a:p>
        </p:txBody>
      </p:sp>
      <p:sp>
        <p:nvSpPr>
          <p:cNvPr id="13" name="Rounded Rectangle 12">
            <a:extLst>
              <a:ext uri="{FF2B5EF4-FFF2-40B4-BE49-F238E27FC236}">
                <a16:creationId xmlns:a16="http://schemas.microsoft.com/office/drawing/2014/main" id="{5E6F33AC-894A-ACA4-6F6B-8F7252605D62}"/>
              </a:ext>
            </a:extLst>
          </p:cNvPr>
          <p:cNvSpPr/>
          <p:nvPr/>
        </p:nvSpPr>
        <p:spPr>
          <a:xfrm>
            <a:off x="4572000" y="3031763"/>
            <a:ext cx="1257300" cy="342900"/>
          </a:xfrm>
          <a:prstGeom prst="roundRect">
            <a:avLst/>
          </a:prstGeom>
          <a:noFill/>
          <a:ln w="38100">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14" name="Rounded Rectangle 13">
            <a:extLst>
              <a:ext uri="{FF2B5EF4-FFF2-40B4-BE49-F238E27FC236}">
                <a16:creationId xmlns:a16="http://schemas.microsoft.com/office/drawing/2014/main" id="{44D97568-15D0-17BF-A110-6FBB34BF3B53}"/>
              </a:ext>
            </a:extLst>
          </p:cNvPr>
          <p:cNvSpPr/>
          <p:nvPr/>
        </p:nvSpPr>
        <p:spPr>
          <a:xfrm>
            <a:off x="4572000" y="4187952"/>
            <a:ext cx="1428750" cy="342900"/>
          </a:xfrm>
          <a:prstGeom prst="roundRect">
            <a:avLst/>
          </a:prstGeom>
          <a:noFill/>
          <a:ln w="38100">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0F389C3F-1A2F-C7F4-1462-13EF6850CEA8}"/>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are three private instance fields:</a:t>
            </a:r>
          </a:p>
        </p:txBody>
      </p:sp>
      <p:sp>
        <p:nvSpPr>
          <p:cNvPr id="6" name="Rectangle 5">
            <a:extLst>
              <a:ext uri="{FF2B5EF4-FFF2-40B4-BE49-F238E27FC236}">
                <a16:creationId xmlns:a16="http://schemas.microsoft.com/office/drawing/2014/main" id="{0CDEDB0D-B494-1229-F3BC-004C59EC8A5A}"/>
              </a:ext>
            </a:extLst>
          </p:cNvPr>
          <p:cNvSpPr/>
          <p:nvPr/>
        </p:nvSpPr>
        <p:spPr>
          <a:xfrm>
            <a:off x="664099" y="3160840"/>
            <a:ext cx="2647950" cy="923330"/>
          </a:xfrm>
          <a:prstGeom prst="rect">
            <a:avLst/>
          </a:prstGeom>
          <a:ln>
            <a:solidFill>
              <a:srgbClr val="FF0000"/>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800" b="1" dirty="0">
                <a:solidFill>
                  <a:schemeClr val="accent1"/>
                </a:solidFill>
                <a:latin typeface="Monaco" pitchFamily="2" charset="77"/>
              </a:rPr>
              <a:t>this.</a:t>
            </a:r>
            <a:r>
              <a:rPr lang="en-US" sz="1800" dirty="0"/>
              <a:t> refers to the </a:t>
            </a:r>
            <a:r>
              <a:rPr lang="en-US" sz="1800" b="1" dirty="0"/>
              <a:t>current</a:t>
            </a:r>
            <a:r>
              <a:rPr lang="en-US" sz="1800" dirty="0"/>
              <a:t> objects fields i.e. the </a:t>
            </a:r>
            <a:r>
              <a:rPr lang="en-US" sz="1800" b="1" dirty="0">
                <a:solidFill>
                  <a:srgbClr val="598CBE"/>
                </a:solidFill>
              </a:rPr>
              <a:t>global</a:t>
            </a:r>
            <a:r>
              <a:rPr lang="en-US" sz="1800" dirty="0"/>
              <a:t> ones.</a:t>
            </a:r>
          </a:p>
        </p:txBody>
      </p:sp>
      <p:cxnSp>
        <p:nvCxnSpPr>
          <p:cNvPr id="20" name="Straight Arrow Connector 19">
            <a:extLst>
              <a:ext uri="{FF2B5EF4-FFF2-40B4-BE49-F238E27FC236}">
                <a16:creationId xmlns:a16="http://schemas.microsoft.com/office/drawing/2014/main" id="{54B96AF7-88E5-4EC7-F3CA-B18F1A380835}"/>
              </a:ext>
            </a:extLst>
          </p:cNvPr>
          <p:cNvCxnSpPr>
            <a:cxnSpLocks/>
          </p:cNvCxnSpPr>
          <p:nvPr/>
        </p:nvCxnSpPr>
        <p:spPr>
          <a:xfrm flipH="1" flipV="1">
            <a:off x="3214688" y="1271016"/>
            <a:ext cx="1342576" cy="786384"/>
          </a:xfrm>
          <a:prstGeom prst="straightConnector1">
            <a:avLst/>
          </a:prstGeom>
          <a:ln w="57150">
            <a:solidFill>
              <a:srgbClr val="598CBE"/>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DFB3220-F07D-740D-9067-A1C2645A41CC}"/>
              </a:ext>
            </a:extLst>
          </p:cNvPr>
          <p:cNvCxnSpPr>
            <a:cxnSpLocks/>
          </p:cNvCxnSpPr>
          <p:nvPr/>
        </p:nvCxnSpPr>
        <p:spPr>
          <a:xfrm flipH="1" flipV="1">
            <a:off x="3127248" y="1484987"/>
            <a:ext cx="1430016" cy="1715413"/>
          </a:xfrm>
          <a:prstGeom prst="straightConnector1">
            <a:avLst/>
          </a:prstGeom>
          <a:ln w="57150">
            <a:solidFill>
              <a:srgbClr val="598CBE"/>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DCC77F-0E03-0B08-33C8-A41AE58FF903}"/>
              </a:ext>
            </a:extLst>
          </p:cNvPr>
          <p:cNvCxnSpPr>
            <a:cxnSpLocks/>
          </p:cNvCxnSpPr>
          <p:nvPr/>
        </p:nvCxnSpPr>
        <p:spPr>
          <a:xfrm flipH="1" flipV="1">
            <a:off x="2680748" y="1907092"/>
            <a:ext cx="1876516" cy="2463740"/>
          </a:xfrm>
          <a:prstGeom prst="straightConnector1">
            <a:avLst/>
          </a:prstGeom>
          <a:ln w="57150">
            <a:solidFill>
              <a:srgbClr val="598CBE"/>
            </a:solidFill>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5F9B9A12-889D-F3C0-AAC5-0F6FBBA06B40}"/>
              </a:ext>
            </a:extLst>
          </p:cNvPr>
          <p:cNvSpPr>
            <a:spLocks noGrp="1"/>
          </p:cNvSpPr>
          <p:nvPr>
            <p:ph type="ftr" sz="quarter" idx="11"/>
          </p:nvPr>
        </p:nvSpPr>
        <p:spPr/>
        <p:txBody>
          <a:bodyPr/>
          <a:lstStyle/>
          <a:p>
            <a:r>
              <a:rPr lang="en-US"/>
              <a:t>https://www.java.com</a:t>
            </a:r>
          </a:p>
        </p:txBody>
      </p:sp>
      <p:sp>
        <p:nvSpPr>
          <p:cNvPr id="4" name="Slide Number Placeholder 3">
            <a:extLst>
              <a:ext uri="{FF2B5EF4-FFF2-40B4-BE49-F238E27FC236}">
                <a16:creationId xmlns:a16="http://schemas.microsoft.com/office/drawing/2014/main" id="{FD9A05F0-915D-CC93-DB32-214C27EFDA18}"/>
              </a:ext>
            </a:extLst>
          </p:cNvPr>
          <p:cNvSpPr>
            <a:spLocks noGrp="1"/>
          </p:cNvSpPr>
          <p:nvPr>
            <p:ph type="sldNum" sz="quarter" idx="12"/>
          </p:nvPr>
        </p:nvSpPr>
        <p:spPr/>
        <p:txBody>
          <a:bodyPr/>
          <a:lstStyle/>
          <a:p>
            <a:fld id="{B6F15528-21DE-4FAA-801E-634DDDAF4B2B}" type="slidenum">
              <a:rPr lang="en-US" smtClean="0"/>
              <a:pPr/>
              <a:t>37</a:t>
            </a:fld>
            <a:endParaRPr lang="en-US"/>
          </a:p>
        </p:txBody>
      </p:sp>
      <p:sp>
        <p:nvSpPr>
          <p:cNvPr id="26" name="Rounded Rectangle 25">
            <a:extLst>
              <a:ext uri="{FF2B5EF4-FFF2-40B4-BE49-F238E27FC236}">
                <a16:creationId xmlns:a16="http://schemas.microsoft.com/office/drawing/2014/main" id="{799FAAE2-4F9E-EEE1-C904-34BB769527A0}"/>
              </a:ext>
            </a:extLst>
          </p:cNvPr>
          <p:cNvSpPr/>
          <p:nvPr/>
        </p:nvSpPr>
        <p:spPr>
          <a:xfrm>
            <a:off x="1657350" y="1076325"/>
            <a:ext cx="1714500" cy="857250"/>
          </a:xfrm>
          <a:prstGeom prst="roundRect">
            <a:avLst/>
          </a:prstGeom>
          <a:noFill/>
          <a:ln w="38100">
            <a:solidFill>
              <a:srgbClr val="598CBE"/>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366737" rtl="0"/>
            <a:endParaRPr lang="en-US" sz="1688"/>
          </a:p>
        </p:txBody>
      </p:sp>
    </p:spTree>
    <p:extLst>
      <p:ext uri="{BB962C8B-B14F-4D97-AF65-F5344CB8AC3E}">
        <p14:creationId xmlns:p14="http://schemas.microsoft.com/office/powerpoint/2010/main" val="26793940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Graphical user interface, text, application&#10;&#10;Description automatically generated">
            <a:extLst>
              <a:ext uri="{FF2B5EF4-FFF2-40B4-BE49-F238E27FC236}">
                <a16:creationId xmlns:a16="http://schemas.microsoft.com/office/drawing/2014/main" id="{636AA649-9F27-3764-F333-E9BD663EE6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350" y="1351026"/>
            <a:ext cx="4800600" cy="3402623"/>
          </a:xfrm>
          <a:prstGeom prst="rect">
            <a:avLst/>
          </a:prstGeom>
          <a:ln>
            <a:noFill/>
          </a:ln>
          <a:effectLst>
            <a:outerShdw blurRad="292100" dist="139700" dir="2700000" algn="tl" rotWithShape="0">
              <a:srgbClr val="333333">
                <a:alpha val="65000"/>
              </a:srgbClr>
            </a:outerShdw>
          </a:effectLst>
        </p:spPr>
      </p:pic>
      <p:sp>
        <p:nvSpPr>
          <p:cNvPr id="9" name="Rectangle 8">
            <a:extLst>
              <a:ext uri="{FF2B5EF4-FFF2-40B4-BE49-F238E27FC236}">
                <a16:creationId xmlns:a16="http://schemas.microsoft.com/office/drawing/2014/main" id="{538C2B81-4076-5323-7E4E-7BE873D87D55}"/>
              </a:ext>
            </a:extLst>
          </p:cNvPr>
          <p:cNvSpPr/>
          <p:nvPr/>
        </p:nvSpPr>
        <p:spPr>
          <a:xfrm>
            <a:off x="3943350" y="838656"/>
            <a:ext cx="4800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a:t>
            </a:r>
            <a:r>
              <a:rPr lang="en-US" sz="1800" b="1" dirty="0"/>
              <a:t>Spot</a:t>
            </a:r>
            <a:r>
              <a:rPr lang="en-US" sz="1800" dirty="0"/>
              <a:t>, there is a setter for each of these fields:</a:t>
            </a:r>
          </a:p>
        </p:txBody>
      </p:sp>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0F389C3F-1A2F-C7F4-1462-13EF6850CEA8}"/>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are three private instance fields:</a:t>
            </a:r>
          </a:p>
        </p:txBody>
      </p:sp>
      <p:sp>
        <p:nvSpPr>
          <p:cNvPr id="3" name="Footer Placeholder 2">
            <a:extLst>
              <a:ext uri="{FF2B5EF4-FFF2-40B4-BE49-F238E27FC236}">
                <a16:creationId xmlns:a16="http://schemas.microsoft.com/office/drawing/2014/main" id="{5F9B9A12-889D-F3C0-AAC5-0F6FBBA06B40}"/>
              </a:ext>
            </a:extLst>
          </p:cNvPr>
          <p:cNvSpPr>
            <a:spLocks noGrp="1"/>
          </p:cNvSpPr>
          <p:nvPr>
            <p:ph type="ftr" sz="quarter" idx="11"/>
          </p:nvPr>
        </p:nvSpPr>
        <p:spPr/>
        <p:txBody>
          <a:bodyPr/>
          <a:lstStyle/>
          <a:p>
            <a:r>
              <a:rPr lang="en-US"/>
              <a:t>https://www.java.com</a:t>
            </a:r>
          </a:p>
        </p:txBody>
      </p:sp>
      <p:sp>
        <p:nvSpPr>
          <p:cNvPr id="4" name="Slide Number Placeholder 3">
            <a:extLst>
              <a:ext uri="{FF2B5EF4-FFF2-40B4-BE49-F238E27FC236}">
                <a16:creationId xmlns:a16="http://schemas.microsoft.com/office/drawing/2014/main" id="{FD9A05F0-915D-CC93-DB32-214C27EFDA18}"/>
              </a:ext>
            </a:extLst>
          </p:cNvPr>
          <p:cNvSpPr>
            <a:spLocks noGrp="1"/>
          </p:cNvSpPr>
          <p:nvPr>
            <p:ph type="sldNum" sz="quarter" idx="12"/>
          </p:nvPr>
        </p:nvSpPr>
        <p:spPr/>
        <p:txBody>
          <a:bodyPr/>
          <a:lstStyle/>
          <a:p>
            <a:fld id="{B6F15528-21DE-4FAA-801E-634DDDAF4B2B}" type="slidenum">
              <a:rPr lang="en-US" smtClean="0"/>
              <a:pPr/>
              <a:t>38</a:t>
            </a:fld>
            <a:endParaRPr lang="en-US"/>
          </a:p>
        </p:txBody>
      </p:sp>
      <p:sp>
        <p:nvSpPr>
          <p:cNvPr id="2" name="Rectangle 1">
            <a:extLst>
              <a:ext uri="{FF2B5EF4-FFF2-40B4-BE49-F238E27FC236}">
                <a16:creationId xmlns:a16="http://schemas.microsoft.com/office/drawing/2014/main" id="{06F7F8DC-EAAF-24DE-DCCE-B335F358F558}"/>
              </a:ext>
            </a:extLst>
          </p:cNvPr>
          <p:cNvSpPr/>
          <p:nvPr/>
        </p:nvSpPr>
        <p:spPr>
          <a:xfrm>
            <a:off x="611757" y="2884980"/>
            <a:ext cx="2647950" cy="1754326"/>
          </a:xfrm>
          <a:prstGeom prst="rect">
            <a:avLst/>
          </a:prstGeom>
          <a:ln>
            <a:solidFill>
              <a:srgbClr val="FF0000"/>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800" dirty="0">
                <a:solidFill>
                  <a:schemeClr val="tx1"/>
                </a:solidFill>
              </a:rPr>
              <a:t>The variables without the </a:t>
            </a:r>
            <a:r>
              <a:rPr lang="en-US" sz="1800" dirty="0">
                <a:solidFill>
                  <a:schemeClr val="accent1"/>
                </a:solidFill>
                <a:latin typeface="Monaco" pitchFamily="2" charset="77"/>
              </a:rPr>
              <a:t>this.</a:t>
            </a:r>
            <a:r>
              <a:rPr lang="en-US" sz="1800" dirty="0">
                <a:solidFill>
                  <a:schemeClr val="tx1"/>
                </a:solidFill>
              </a:rPr>
              <a:t> are the </a:t>
            </a:r>
            <a:r>
              <a:rPr lang="en-US" sz="1800" b="1" dirty="0">
                <a:solidFill>
                  <a:schemeClr val="tx1"/>
                </a:solidFill>
              </a:rPr>
              <a:t>local</a:t>
            </a:r>
            <a:r>
              <a:rPr lang="en-US" sz="1800" dirty="0">
                <a:solidFill>
                  <a:schemeClr val="tx1"/>
                </a:solidFill>
              </a:rPr>
              <a:t> ones that are destroyed when the method is finished running </a:t>
            </a:r>
            <a:r>
              <a:rPr lang="en-US" sz="1800" dirty="0"/>
              <a:t>i.e. the </a:t>
            </a:r>
            <a:r>
              <a:rPr lang="en-US" sz="1800" dirty="0">
                <a:solidFill>
                  <a:srgbClr val="FF0000"/>
                </a:solidFill>
              </a:rPr>
              <a:t>local</a:t>
            </a:r>
            <a:r>
              <a:rPr lang="en-US" sz="1800" dirty="0"/>
              <a:t> variables.</a:t>
            </a:r>
          </a:p>
        </p:txBody>
      </p:sp>
      <p:sp>
        <p:nvSpPr>
          <p:cNvPr id="5" name="Rounded Rectangle 4">
            <a:extLst>
              <a:ext uri="{FF2B5EF4-FFF2-40B4-BE49-F238E27FC236}">
                <a16:creationId xmlns:a16="http://schemas.microsoft.com/office/drawing/2014/main" id="{1409F9B1-5530-FFB9-0C54-7F5190E00A8A}"/>
              </a:ext>
            </a:extLst>
          </p:cNvPr>
          <p:cNvSpPr/>
          <p:nvPr/>
        </p:nvSpPr>
        <p:spPr>
          <a:xfrm>
            <a:off x="5966964" y="1893952"/>
            <a:ext cx="948187" cy="227762"/>
          </a:xfrm>
          <a:prstGeom prst="roundRect">
            <a:avLst/>
          </a:prstGeom>
          <a:noFill/>
          <a:ln>
            <a:solidFill>
              <a:srgbClr val="598CBE"/>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8" name="Rounded Rectangle 7">
            <a:extLst>
              <a:ext uri="{FF2B5EF4-FFF2-40B4-BE49-F238E27FC236}">
                <a16:creationId xmlns:a16="http://schemas.microsoft.com/office/drawing/2014/main" id="{4BEB595D-8DA0-E26F-022A-F3CD2A93F7A3}"/>
              </a:ext>
            </a:extLst>
          </p:cNvPr>
          <p:cNvSpPr/>
          <p:nvPr/>
        </p:nvSpPr>
        <p:spPr>
          <a:xfrm>
            <a:off x="6381750" y="1522476"/>
            <a:ext cx="1447800" cy="342900"/>
          </a:xfrm>
          <a:prstGeom prst="roundRect">
            <a:avLst/>
          </a:prstGeom>
          <a:noFill/>
          <a:ln w="38100">
            <a:solidFill>
              <a:srgbClr val="598CBE"/>
            </a:solidFill>
          </a:ln>
        </p:spPr>
        <p:style>
          <a:lnRef idx="2">
            <a:schemeClr val="accent2"/>
          </a:lnRef>
          <a:fillRef idx="1">
            <a:schemeClr val="lt1"/>
          </a:fillRef>
          <a:effectRef idx="0">
            <a:schemeClr val="accent2"/>
          </a:effectRef>
          <a:fontRef idx="minor">
            <a:schemeClr val="dk1"/>
          </a:fontRef>
        </p:style>
        <p:txBody>
          <a:bodyPr rtlCol="0" anchor="ctr"/>
          <a:lstStyle/>
          <a:p>
            <a:pPr algn="ctr" defTabSz="366737" rtl="0"/>
            <a:endParaRPr lang="en-US" sz="1688"/>
          </a:p>
        </p:txBody>
      </p:sp>
      <p:sp>
        <p:nvSpPr>
          <p:cNvPr id="15" name="Rounded Rectangle 14">
            <a:extLst>
              <a:ext uri="{FF2B5EF4-FFF2-40B4-BE49-F238E27FC236}">
                <a16:creationId xmlns:a16="http://schemas.microsoft.com/office/drawing/2014/main" id="{80523004-EBA6-7D88-E7AF-49809FF5E748}"/>
              </a:ext>
            </a:extLst>
          </p:cNvPr>
          <p:cNvSpPr/>
          <p:nvPr/>
        </p:nvSpPr>
        <p:spPr>
          <a:xfrm>
            <a:off x="6400800" y="2713623"/>
            <a:ext cx="1447800" cy="342900"/>
          </a:xfrm>
          <a:prstGeom prst="roundRect">
            <a:avLst/>
          </a:prstGeom>
          <a:noFill/>
          <a:ln w="38100">
            <a:solidFill>
              <a:srgbClr val="598CBE"/>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16" name="Rounded Rectangle 15">
            <a:extLst>
              <a:ext uri="{FF2B5EF4-FFF2-40B4-BE49-F238E27FC236}">
                <a16:creationId xmlns:a16="http://schemas.microsoft.com/office/drawing/2014/main" id="{38071DCD-652C-8394-3D7D-F8554431CFEA}"/>
              </a:ext>
            </a:extLst>
          </p:cNvPr>
          <p:cNvSpPr/>
          <p:nvPr/>
        </p:nvSpPr>
        <p:spPr>
          <a:xfrm>
            <a:off x="6572250" y="3865626"/>
            <a:ext cx="1714500" cy="342900"/>
          </a:xfrm>
          <a:prstGeom prst="roundRect">
            <a:avLst/>
          </a:prstGeom>
          <a:noFill/>
          <a:ln w="38100">
            <a:solidFill>
              <a:srgbClr val="598CBE"/>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cxnSp>
        <p:nvCxnSpPr>
          <p:cNvPr id="17" name="Straight Arrow Connector 16">
            <a:extLst>
              <a:ext uri="{FF2B5EF4-FFF2-40B4-BE49-F238E27FC236}">
                <a16:creationId xmlns:a16="http://schemas.microsoft.com/office/drawing/2014/main" id="{3D78063A-7F06-12EA-9F1A-4C6E38BA7956}"/>
              </a:ext>
            </a:extLst>
          </p:cNvPr>
          <p:cNvCxnSpPr>
            <a:stCxn id="5" idx="3"/>
          </p:cNvCxnSpPr>
          <p:nvPr/>
        </p:nvCxnSpPr>
        <p:spPr>
          <a:xfrm flipV="1">
            <a:off x="6915150" y="1904520"/>
            <a:ext cx="342900" cy="103313"/>
          </a:xfrm>
          <a:prstGeom prst="straightConnector1">
            <a:avLst/>
          </a:prstGeom>
          <a:ln>
            <a:solidFill>
              <a:srgbClr val="598CBE"/>
            </a:solidFill>
            <a:tailEnd type="triangle"/>
          </a:ln>
        </p:spPr>
        <p:style>
          <a:lnRef idx="1">
            <a:schemeClr val="accent2"/>
          </a:lnRef>
          <a:fillRef idx="0">
            <a:schemeClr val="accent2"/>
          </a:fillRef>
          <a:effectRef idx="0">
            <a:schemeClr val="accent2"/>
          </a:effectRef>
          <a:fontRef idx="minor">
            <a:schemeClr val="tx1"/>
          </a:fontRef>
        </p:style>
      </p:cxnSp>
      <p:sp>
        <p:nvSpPr>
          <p:cNvPr id="18" name="Rounded Rectangle 17">
            <a:extLst>
              <a:ext uri="{FF2B5EF4-FFF2-40B4-BE49-F238E27FC236}">
                <a16:creationId xmlns:a16="http://schemas.microsoft.com/office/drawing/2014/main" id="{CA3D1BF6-940C-D8A4-D018-69673A453A99}"/>
              </a:ext>
            </a:extLst>
          </p:cNvPr>
          <p:cNvSpPr/>
          <p:nvPr/>
        </p:nvSpPr>
        <p:spPr>
          <a:xfrm>
            <a:off x="5966964" y="3056523"/>
            <a:ext cx="948187" cy="227762"/>
          </a:xfrm>
          <a:prstGeom prst="roundRect">
            <a:avLst/>
          </a:prstGeom>
          <a:noFill/>
          <a:ln>
            <a:solidFill>
              <a:srgbClr val="598CBE"/>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cxnSp>
        <p:nvCxnSpPr>
          <p:cNvPr id="19" name="Straight Arrow Connector 18">
            <a:extLst>
              <a:ext uri="{FF2B5EF4-FFF2-40B4-BE49-F238E27FC236}">
                <a16:creationId xmlns:a16="http://schemas.microsoft.com/office/drawing/2014/main" id="{50949685-9FC4-7BD7-47D9-542AFFF9EE34}"/>
              </a:ext>
            </a:extLst>
          </p:cNvPr>
          <p:cNvCxnSpPr>
            <a:stCxn id="18" idx="3"/>
          </p:cNvCxnSpPr>
          <p:nvPr/>
        </p:nvCxnSpPr>
        <p:spPr>
          <a:xfrm flipV="1">
            <a:off x="6915150" y="3067091"/>
            <a:ext cx="342900" cy="103313"/>
          </a:xfrm>
          <a:prstGeom prst="straightConnector1">
            <a:avLst/>
          </a:prstGeom>
          <a:ln>
            <a:solidFill>
              <a:srgbClr val="598CBE"/>
            </a:solidFill>
            <a:tailEnd type="triangle"/>
          </a:ln>
        </p:spPr>
        <p:style>
          <a:lnRef idx="1">
            <a:schemeClr val="accent2"/>
          </a:lnRef>
          <a:fillRef idx="0">
            <a:schemeClr val="accent2"/>
          </a:fillRef>
          <a:effectRef idx="0">
            <a:schemeClr val="accent2"/>
          </a:effectRef>
          <a:fontRef idx="minor">
            <a:schemeClr val="tx1"/>
          </a:fontRef>
        </p:style>
      </p:cxnSp>
      <p:sp>
        <p:nvSpPr>
          <p:cNvPr id="23" name="Rounded Rectangle 22">
            <a:extLst>
              <a:ext uri="{FF2B5EF4-FFF2-40B4-BE49-F238E27FC236}">
                <a16:creationId xmlns:a16="http://schemas.microsoft.com/office/drawing/2014/main" id="{53A661FF-A95A-F9AC-5DA4-F655B0A79828}"/>
              </a:ext>
            </a:extLst>
          </p:cNvPr>
          <p:cNvSpPr/>
          <p:nvPr/>
        </p:nvSpPr>
        <p:spPr>
          <a:xfrm>
            <a:off x="6229351" y="4219094"/>
            <a:ext cx="1028700" cy="213428"/>
          </a:xfrm>
          <a:prstGeom prst="roundRect">
            <a:avLst/>
          </a:prstGeom>
          <a:noFill/>
          <a:ln>
            <a:solidFill>
              <a:srgbClr val="598CBE"/>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cxnSp>
        <p:nvCxnSpPr>
          <p:cNvPr id="24" name="Straight Arrow Connector 23">
            <a:extLst>
              <a:ext uri="{FF2B5EF4-FFF2-40B4-BE49-F238E27FC236}">
                <a16:creationId xmlns:a16="http://schemas.microsoft.com/office/drawing/2014/main" id="{57C99E99-E38E-1084-82F6-79F3AE8E1C02}"/>
              </a:ext>
            </a:extLst>
          </p:cNvPr>
          <p:cNvCxnSpPr>
            <a:stCxn id="23" idx="3"/>
          </p:cNvCxnSpPr>
          <p:nvPr/>
        </p:nvCxnSpPr>
        <p:spPr>
          <a:xfrm flipV="1">
            <a:off x="7258051" y="4215328"/>
            <a:ext cx="342899" cy="110480"/>
          </a:xfrm>
          <a:prstGeom prst="straightConnector1">
            <a:avLst/>
          </a:prstGeom>
          <a:ln>
            <a:solidFill>
              <a:srgbClr val="598CBE"/>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823693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Graphical user interface, text, application&#10;&#10;Description automatically generated">
            <a:extLst>
              <a:ext uri="{FF2B5EF4-FFF2-40B4-BE49-F238E27FC236}">
                <a16:creationId xmlns:a16="http://schemas.microsoft.com/office/drawing/2014/main" id="{CB5F3CB1-5207-7B8D-014F-539716ABB2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43350" y="1543050"/>
            <a:ext cx="4800600" cy="3402623"/>
          </a:xfrm>
          <a:prstGeom prst="rect">
            <a:avLst/>
          </a:prstGeom>
          <a:ln>
            <a:noFill/>
          </a:ln>
          <a:effectLst>
            <a:outerShdw blurRad="292100" dist="139700" dir="2700000" algn="tl" rotWithShape="0">
              <a:srgbClr val="333333">
                <a:alpha val="65000"/>
              </a:srgbClr>
            </a:outerShdw>
          </a:effectLst>
        </p:spPr>
      </p:pic>
      <p:pic>
        <p:nvPicPr>
          <p:cNvPr id="11" name="Picture 10" descr="Graphical user interface, text, application&#10;&#10;Description automatically generated">
            <a:extLst>
              <a:ext uri="{FF2B5EF4-FFF2-40B4-BE49-F238E27FC236}">
                <a16:creationId xmlns:a16="http://schemas.microsoft.com/office/drawing/2014/main" id="{59485F45-8090-B04A-16B0-C5A4BA3CA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37" y="516024"/>
            <a:ext cx="3056627" cy="1541376"/>
          </a:xfrm>
          <a:prstGeom prst="rect">
            <a:avLst/>
          </a:prstGeom>
          <a:ln>
            <a:noFill/>
          </a:ln>
          <a:effectLst>
            <a:outerShdw blurRad="292100" dist="139700" dir="2700000" algn="tl" rotWithShape="0">
              <a:srgbClr val="333333">
                <a:alpha val="65000"/>
              </a:srgbClr>
            </a:outerShdw>
          </a:effectLst>
        </p:spPr>
      </p:pic>
      <p:sp>
        <p:nvSpPr>
          <p:cNvPr id="12" name="Rectangle 11">
            <a:extLst>
              <a:ext uri="{FF2B5EF4-FFF2-40B4-BE49-F238E27FC236}">
                <a16:creationId xmlns:a16="http://schemas.microsoft.com/office/drawing/2014/main" id="{0F389C3F-1A2F-C7F4-1462-13EF6850CEA8}"/>
              </a:ext>
            </a:extLst>
          </p:cNvPr>
          <p:cNvSpPr/>
          <p:nvPr/>
        </p:nvSpPr>
        <p:spPr>
          <a:xfrm>
            <a:off x="171450" y="134187"/>
            <a:ext cx="45720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are three private instance fields:</a:t>
            </a:r>
          </a:p>
        </p:txBody>
      </p:sp>
      <p:sp>
        <p:nvSpPr>
          <p:cNvPr id="5" name="Rectangle 4">
            <a:extLst>
              <a:ext uri="{FF2B5EF4-FFF2-40B4-BE49-F238E27FC236}">
                <a16:creationId xmlns:a16="http://schemas.microsoft.com/office/drawing/2014/main" id="{B63FE235-A92D-9127-3C19-884C3403D538}"/>
              </a:ext>
            </a:extLst>
          </p:cNvPr>
          <p:cNvSpPr/>
          <p:nvPr/>
        </p:nvSpPr>
        <p:spPr>
          <a:xfrm>
            <a:off x="3943350" y="912630"/>
            <a:ext cx="4800600" cy="646331"/>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1800" dirty="0"/>
              <a:t>In Spot, there is a setter for each of these fields:</a:t>
            </a:r>
          </a:p>
        </p:txBody>
      </p:sp>
      <p:sp>
        <p:nvSpPr>
          <p:cNvPr id="6" name="Rectangle 5">
            <a:extLst>
              <a:ext uri="{FF2B5EF4-FFF2-40B4-BE49-F238E27FC236}">
                <a16:creationId xmlns:a16="http://schemas.microsoft.com/office/drawing/2014/main" id="{0CDEDB0D-B494-1229-F3BC-004C59EC8A5A}"/>
              </a:ext>
            </a:extLst>
          </p:cNvPr>
          <p:cNvSpPr/>
          <p:nvPr/>
        </p:nvSpPr>
        <p:spPr>
          <a:xfrm>
            <a:off x="611757" y="3150156"/>
            <a:ext cx="2647950" cy="1754326"/>
          </a:xfrm>
          <a:prstGeom prst="rect">
            <a:avLst/>
          </a:prstGeom>
          <a:ln>
            <a:solidFill>
              <a:srgbClr val="FF0000"/>
            </a:solidFill>
          </a:ln>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800" dirty="0">
                <a:solidFill>
                  <a:schemeClr val="tx1"/>
                </a:solidFill>
              </a:rPr>
              <a:t>The variables without the </a:t>
            </a:r>
            <a:r>
              <a:rPr lang="en-US" sz="1800" dirty="0">
                <a:solidFill>
                  <a:schemeClr val="accent1"/>
                </a:solidFill>
              </a:rPr>
              <a:t>this.</a:t>
            </a:r>
            <a:r>
              <a:rPr lang="en-US" sz="1800" dirty="0">
                <a:solidFill>
                  <a:schemeClr val="tx1"/>
                </a:solidFill>
              </a:rPr>
              <a:t> are the local ones that are destroyed when the method is finished running </a:t>
            </a:r>
            <a:r>
              <a:rPr lang="en-US" sz="1800" dirty="0"/>
              <a:t>i.e. the </a:t>
            </a:r>
            <a:r>
              <a:rPr lang="en-US" sz="1800" dirty="0">
                <a:solidFill>
                  <a:srgbClr val="FF0000"/>
                </a:solidFill>
              </a:rPr>
              <a:t>local</a:t>
            </a:r>
            <a:r>
              <a:rPr lang="en-US" sz="1800" dirty="0"/>
              <a:t> ones.</a:t>
            </a:r>
          </a:p>
        </p:txBody>
      </p:sp>
      <p:sp>
        <p:nvSpPr>
          <p:cNvPr id="17" name="Rounded Rectangle 16">
            <a:extLst>
              <a:ext uri="{FF2B5EF4-FFF2-40B4-BE49-F238E27FC236}">
                <a16:creationId xmlns:a16="http://schemas.microsoft.com/office/drawing/2014/main" id="{F742B15B-E52F-4DA3-992B-30C7B3794179}"/>
              </a:ext>
            </a:extLst>
          </p:cNvPr>
          <p:cNvSpPr/>
          <p:nvPr/>
        </p:nvSpPr>
        <p:spPr>
          <a:xfrm>
            <a:off x="5966964" y="2085976"/>
            <a:ext cx="948187" cy="227762"/>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14" name="Rounded Rectangle 13">
            <a:extLst>
              <a:ext uri="{FF2B5EF4-FFF2-40B4-BE49-F238E27FC236}">
                <a16:creationId xmlns:a16="http://schemas.microsoft.com/office/drawing/2014/main" id="{DB8D4BC6-3EA3-6F07-C7B9-CB42C3A4755A}"/>
              </a:ext>
            </a:extLst>
          </p:cNvPr>
          <p:cNvSpPr/>
          <p:nvPr/>
        </p:nvSpPr>
        <p:spPr>
          <a:xfrm>
            <a:off x="6381750" y="1714500"/>
            <a:ext cx="1447800" cy="34290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defTabSz="366737" rtl="0"/>
            <a:endParaRPr lang="en-US" sz="1688"/>
          </a:p>
        </p:txBody>
      </p:sp>
      <p:sp>
        <p:nvSpPr>
          <p:cNvPr id="15" name="Rounded Rectangle 14">
            <a:extLst>
              <a:ext uri="{FF2B5EF4-FFF2-40B4-BE49-F238E27FC236}">
                <a16:creationId xmlns:a16="http://schemas.microsoft.com/office/drawing/2014/main" id="{27DBA609-02D9-B8C7-8721-DDFCFCE9767C}"/>
              </a:ext>
            </a:extLst>
          </p:cNvPr>
          <p:cNvSpPr/>
          <p:nvPr/>
        </p:nvSpPr>
        <p:spPr>
          <a:xfrm>
            <a:off x="6400800" y="2905647"/>
            <a:ext cx="1447800" cy="34290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sp>
        <p:nvSpPr>
          <p:cNvPr id="18" name="Rounded Rectangle 17">
            <a:extLst>
              <a:ext uri="{FF2B5EF4-FFF2-40B4-BE49-F238E27FC236}">
                <a16:creationId xmlns:a16="http://schemas.microsoft.com/office/drawing/2014/main" id="{600CEA04-EE32-EDE6-69DB-B662474BB215}"/>
              </a:ext>
            </a:extLst>
          </p:cNvPr>
          <p:cNvSpPr/>
          <p:nvPr/>
        </p:nvSpPr>
        <p:spPr>
          <a:xfrm>
            <a:off x="6572250" y="4057650"/>
            <a:ext cx="1714500" cy="342900"/>
          </a:xfrm>
          <a:prstGeom prst="roundRect">
            <a:avLst/>
          </a:prstGeom>
          <a:noFill/>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cxnSp>
        <p:nvCxnSpPr>
          <p:cNvPr id="7" name="Straight Arrow Connector 6">
            <a:extLst>
              <a:ext uri="{FF2B5EF4-FFF2-40B4-BE49-F238E27FC236}">
                <a16:creationId xmlns:a16="http://schemas.microsoft.com/office/drawing/2014/main" id="{92363E72-ED2E-6E06-8CCC-244C26E8302D}"/>
              </a:ext>
            </a:extLst>
          </p:cNvPr>
          <p:cNvCxnSpPr>
            <a:stCxn id="17" idx="3"/>
          </p:cNvCxnSpPr>
          <p:nvPr/>
        </p:nvCxnSpPr>
        <p:spPr>
          <a:xfrm flipV="1">
            <a:off x="6915150" y="2096544"/>
            <a:ext cx="342900" cy="1033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3" name="Rounded Rectangle 22">
            <a:extLst>
              <a:ext uri="{FF2B5EF4-FFF2-40B4-BE49-F238E27FC236}">
                <a16:creationId xmlns:a16="http://schemas.microsoft.com/office/drawing/2014/main" id="{4FEDFF9B-1084-F69D-88F2-704871E964F8}"/>
              </a:ext>
            </a:extLst>
          </p:cNvPr>
          <p:cNvSpPr/>
          <p:nvPr/>
        </p:nvSpPr>
        <p:spPr>
          <a:xfrm>
            <a:off x="5966964" y="3248547"/>
            <a:ext cx="948187" cy="227762"/>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cxnSp>
        <p:nvCxnSpPr>
          <p:cNvPr id="24" name="Straight Arrow Connector 23">
            <a:extLst>
              <a:ext uri="{FF2B5EF4-FFF2-40B4-BE49-F238E27FC236}">
                <a16:creationId xmlns:a16="http://schemas.microsoft.com/office/drawing/2014/main" id="{052C235A-07A7-2D0B-769D-FF6D35067DF1}"/>
              </a:ext>
            </a:extLst>
          </p:cNvPr>
          <p:cNvCxnSpPr>
            <a:stCxn id="23" idx="3"/>
          </p:cNvCxnSpPr>
          <p:nvPr/>
        </p:nvCxnSpPr>
        <p:spPr>
          <a:xfrm flipV="1">
            <a:off x="6915150" y="3259115"/>
            <a:ext cx="342900" cy="103313"/>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Rounded Rectangle 24">
            <a:extLst>
              <a:ext uri="{FF2B5EF4-FFF2-40B4-BE49-F238E27FC236}">
                <a16:creationId xmlns:a16="http://schemas.microsoft.com/office/drawing/2014/main" id="{1B940A6C-EE96-DAD3-F809-E48D8C4B57C0}"/>
              </a:ext>
            </a:extLst>
          </p:cNvPr>
          <p:cNvSpPr/>
          <p:nvPr/>
        </p:nvSpPr>
        <p:spPr>
          <a:xfrm>
            <a:off x="6229351" y="4411118"/>
            <a:ext cx="1028700" cy="213428"/>
          </a:xfrm>
          <a:prstGeom prst="round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688"/>
          </a:p>
        </p:txBody>
      </p:sp>
      <p:cxnSp>
        <p:nvCxnSpPr>
          <p:cNvPr id="26" name="Straight Arrow Connector 25">
            <a:extLst>
              <a:ext uri="{FF2B5EF4-FFF2-40B4-BE49-F238E27FC236}">
                <a16:creationId xmlns:a16="http://schemas.microsoft.com/office/drawing/2014/main" id="{D13CB590-4163-0AE6-C65D-E5606CA85465}"/>
              </a:ext>
            </a:extLst>
          </p:cNvPr>
          <p:cNvCxnSpPr>
            <a:stCxn id="25" idx="3"/>
          </p:cNvCxnSpPr>
          <p:nvPr/>
        </p:nvCxnSpPr>
        <p:spPr>
          <a:xfrm flipV="1">
            <a:off x="7258051" y="4407352"/>
            <a:ext cx="342899" cy="11048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 name="Footer Placeholder 1">
            <a:extLst>
              <a:ext uri="{FF2B5EF4-FFF2-40B4-BE49-F238E27FC236}">
                <a16:creationId xmlns:a16="http://schemas.microsoft.com/office/drawing/2014/main" id="{2D76F06D-A34F-5FBE-0E1B-FD34B8A22BCA}"/>
              </a:ext>
            </a:extLst>
          </p:cNvPr>
          <p:cNvSpPr>
            <a:spLocks noGrp="1"/>
          </p:cNvSpPr>
          <p:nvPr>
            <p:ph type="ftr" sz="quarter" idx="11"/>
          </p:nvPr>
        </p:nvSpPr>
        <p:spPr/>
        <p:txBody>
          <a:bodyPr/>
          <a:lstStyle/>
          <a:p>
            <a:r>
              <a:rPr lang="en-US"/>
              <a:t>https://www.java.com</a:t>
            </a:r>
          </a:p>
        </p:txBody>
      </p:sp>
      <p:sp>
        <p:nvSpPr>
          <p:cNvPr id="3" name="Slide Number Placeholder 2">
            <a:extLst>
              <a:ext uri="{FF2B5EF4-FFF2-40B4-BE49-F238E27FC236}">
                <a16:creationId xmlns:a16="http://schemas.microsoft.com/office/drawing/2014/main" id="{B10EF1B0-B9B3-9D0E-D028-F7468235D1F9}"/>
              </a:ext>
            </a:extLst>
          </p:cNvPr>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657470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a:t>Questions?</a:t>
            </a:r>
          </a:p>
        </p:txBody>
      </p:sp>
      <p:pic>
        <p:nvPicPr>
          <p:cNvPr id="3074" name="Picture 2" descr="Image result for ques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00" y="1543051"/>
            <a:ext cx="3257550" cy="2632102"/>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74ABF721-2CD3-DD75-D63E-7BCC6F10EBE1}"/>
              </a:ext>
            </a:extLst>
          </p:cNvPr>
          <p:cNvSpPr>
            <a:spLocks noGrp="1"/>
          </p:cNvSpPr>
          <p:nvPr>
            <p:ph type="ftr" sz="quarter" idx="3"/>
          </p:nvPr>
        </p:nvSpPr>
        <p:spPr/>
        <p:txBody>
          <a:bodyPr/>
          <a:lstStyle/>
          <a:p>
            <a:r>
              <a:rPr lang="en-IE"/>
              <a:t>https://www.java.com</a:t>
            </a:r>
            <a:endParaRPr lang="en-IE" dirty="0"/>
          </a:p>
        </p:txBody>
      </p:sp>
      <p:sp>
        <p:nvSpPr>
          <p:cNvPr id="4" name="Slide Number Placeholder 3">
            <a:extLst>
              <a:ext uri="{FF2B5EF4-FFF2-40B4-BE49-F238E27FC236}">
                <a16:creationId xmlns:a16="http://schemas.microsoft.com/office/drawing/2014/main" id="{238BDD31-F005-E822-3A17-240BABB4EFA4}"/>
              </a:ext>
            </a:extLst>
          </p:cNvPr>
          <p:cNvSpPr>
            <a:spLocks noGrp="1"/>
          </p:cNvSpPr>
          <p:nvPr>
            <p:ph type="sldNum" sz="quarter" idx="2"/>
          </p:nvPr>
        </p:nvSpPr>
        <p:spPr/>
        <p:txBody>
          <a:bodyPr/>
          <a:lstStyle/>
          <a:p>
            <a:pPr lvl="0"/>
            <a:fld id="{86CB4B4D-7CA3-9044-876B-883B54F8677D}" type="slidenum">
              <a:rPr lang="en-IE" smtClean="0"/>
              <a:t>40</a:t>
            </a:fld>
            <a:endParaRPr lang="en-IE" dirty="0"/>
          </a:p>
        </p:txBody>
      </p:sp>
    </p:spTree>
    <p:extLst>
      <p:ext uri="{BB962C8B-B14F-4D97-AF65-F5344CB8AC3E}">
        <p14:creationId xmlns:p14="http://schemas.microsoft.com/office/powerpoint/2010/main" val="210987867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close up of a logo&#13;&#10;&#13;&#10;Description automatically generated">
            <a:extLst>
              <a:ext uri="{FF2B5EF4-FFF2-40B4-BE49-F238E27FC236}">
                <a16:creationId xmlns:a16="http://schemas.microsoft.com/office/drawing/2014/main" id="{64886AB6-DCB6-9645-8125-CA11F57910D5}"/>
              </a:ext>
            </a:extLst>
          </p:cNvPr>
          <p:cNvPicPr>
            <a:picLocks noChangeAspect="1"/>
          </p:cNvPicPr>
          <p:nvPr/>
        </p:nvPicPr>
        <p:blipFill rotWithShape="1">
          <a:blip r:embed="rId2">
            <a:extLst>
              <a:ext uri="{28A0092B-C50C-407E-A947-70E740481C1C}">
                <a14:useLocalDpi xmlns:a14="http://schemas.microsoft.com/office/drawing/2010/main" val="0"/>
              </a:ext>
            </a:extLst>
          </a:blip>
          <a:srcRect t="1662" r="1" b="1"/>
          <a:stretch/>
        </p:blipFill>
        <p:spPr>
          <a:xfrm>
            <a:off x="1347374" y="473974"/>
            <a:ext cx="5821443" cy="4007299"/>
          </a:xfrm>
          <a:custGeom>
            <a:avLst/>
            <a:gdLst>
              <a:gd name="connsiteX0" fmla="*/ 3025687 w 7761924"/>
              <a:gd name="connsiteY0" fmla="*/ 76 h 5343065"/>
              <a:gd name="connsiteX1" fmla="*/ 3372722 w 7761924"/>
              <a:gd name="connsiteY1" fmla="*/ 16088 h 5343065"/>
              <a:gd name="connsiteX2" fmla="*/ 7761924 w 7761924"/>
              <a:gd name="connsiteY2" fmla="*/ 3316816 h 5343065"/>
              <a:gd name="connsiteX3" fmla="*/ 3701109 w 7761924"/>
              <a:gd name="connsiteY3" fmla="*/ 5320611 h 5343065"/>
              <a:gd name="connsiteX4" fmla="*/ 36290 w 7761924"/>
              <a:gd name="connsiteY4" fmla="*/ 2696959 h 5343065"/>
              <a:gd name="connsiteX5" fmla="*/ 3025687 w 7761924"/>
              <a:gd name="connsiteY5" fmla="*/ 76 h 5343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61924" h="5343065">
                <a:moveTo>
                  <a:pt x="3025687" y="76"/>
                </a:moveTo>
                <a:cubicBezTo>
                  <a:pt x="3140786" y="756"/>
                  <a:pt x="3256631" y="6055"/>
                  <a:pt x="3372722" y="16088"/>
                </a:cubicBezTo>
                <a:cubicBezTo>
                  <a:pt x="5230178" y="176616"/>
                  <a:pt x="7761924" y="1424594"/>
                  <a:pt x="7761924" y="3316816"/>
                </a:cubicBezTo>
                <a:cubicBezTo>
                  <a:pt x="7646022" y="5237647"/>
                  <a:pt x="4988715" y="5423921"/>
                  <a:pt x="3701109" y="5320611"/>
                </a:cubicBezTo>
                <a:cubicBezTo>
                  <a:pt x="2413504" y="5217301"/>
                  <a:pt x="351800" y="4486992"/>
                  <a:pt x="36290" y="2696959"/>
                </a:cubicBezTo>
                <a:cubicBezTo>
                  <a:pt x="-259500" y="1018804"/>
                  <a:pt x="1299198" y="-10133"/>
                  <a:pt x="3025687" y="76"/>
                </a:cubicBezTo>
                <a:close/>
              </a:path>
            </a:pathLst>
          </a:custGeom>
          <a:solidFill>
            <a:srgbClr val="FDE111"/>
          </a:solidFill>
          <a:ln>
            <a:noFill/>
          </a:ln>
        </p:spPr>
      </p:pic>
      <p:sp>
        <p:nvSpPr>
          <p:cNvPr id="2" name="Footer Placeholder 1">
            <a:extLst>
              <a:ext uri="{FF2B5EF4-FFF2-40B4-BE49-F238E27FC236}">
                <a16:creationId xmlns:a16="http://schemas.microsoft.com/office/drawing/2014/main" id="{CCEEA231-6D6B-5147-A9A7-1A48939EBD30}"/>
              </a:ext>
            </a:extLst>
          </p:cNvPr>
          <p:cNvSpPr>
            <a:spLocks noGrp="1"/>
          </p:cNvSpPr>
          <p:nvPr>
            <p:ph type="ftr" sz="quarter" idx="11"/>
          </p:nvPr>
        </p:nvSpPr>
        <p:spPr/>
        <p:txBody>
          <a:bodyPr/>
          <a:lstStyle/>
          <a:p>
            <a:r>
              <a:rPr lang="en-IE"/>
              <a:t>https://www.java.com</a:t>
            </a:r>
            <a:endParaRPr lang="en-IE" dirty="0"/>
          </a:p>
        </p:txBody>
      </p:sp>
      <p:pic>
        <p:nvPicPr>
          <p:cNvPr id="7" name="Picture 6" descr="A close up of a toy&#13;&#10;&#13;&#10;Description automatically generated">
            <a:extLst>
              <a:ext uri="{FF2B5EF4-FFF2-40B4-BE49-F238E27FC236}">
                <a16:creationId xmlns:a16="http://schemas.microsoft.com/office/drawing/2014/main" id="{2D47C071-A929-7E49-8327-BB4D84AA98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9971" y="4095032"/>
            <a:ext cx="628034" cy="772482"/>
          </a:xfrm>
          <a:prstGeom prst="rect">
            <a:avLst/>
          </a:prstGeom>
        </p:spPr>
      </p:pic>
      <p:sp>
        <p:nvSpPr>
          <p:cNvPr id="9" name="Rectangle 8">
            <a:extLst>
              <a:ext uri="{FF2B5EF4-FFF2-40B4-BE49-F238E27FC236}">
                <a16:creationId xmlns:a16="http://schemas.microsoft.com/office/drawing/2014/main" id="{879B5407-EB5B-AF48-8192-C2BB3AEC3F33}"/>
              </a:ext>
            </a:extLst>
          </p:cNvPr>
          <p:cNvSpPr/>
          <p:nvPr/>
        </p:nvSpPr>
        <p:spPr>
          <a:xfrm>
            <a:off x="11" y="4902399"/>
            <a:ext cx="9143989" cy="241102"/>
          </a:xfrm>
          <a:prstGeom prst="rect">
            <a:avLst/>
          </a:prstGeom>
          <a:solidFill>
            <a:srgbClr val="598CBE"/>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469025A5-5106-3945-8404-F8F73E40F972}"/>
              </a:ext>
            </a:extLst>
          </p:cNvPr>
          <p:cNvSpPr/>
          <p:nvPr/>
        </p:nvSpPr>
        <p:spPr>
          <a:xfrm>
            <a:off x="21" y="4867339"/>
            <a:ext cx="9143978" cy="35060"/>
          </a:xfrm>
          <a:prstGeom prst="rect">
            <a:avLst/>
          </a:prstGeom>
          <a:solidFill>
            <a:srgbClr val="2F486B"/>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Arc 4">
            <a:extLst>
              <a:ext uri="{FF2B5EF4-FFF2-40B4-BE49-F238E27FC236}">
                <a16:creationId xmlns:a16="http://schemas.microsoft.com/office/drawing/2014/main" id="{E905818B-C982-6824-2D72-82CAA50EB15F}"/>
              </a:ext>
            </a:extLst>
          </p:cNvPr>
          <p:cNvSpPr/>
          <p:nvPr/>
        </p:nvSpPr>
        <p:spPr>
          <a:xfrm>
            <a:off x="3119770" y="246781"/>
            <a:ext cx="4825046" cy="4363451"/>
          </a:xfrm>
          <a:custGeom>
            <a:avLst/>
            <a:gdLst>
              <a:gd name="connsiteX0" fmla="*/ 2412523 w 4825046"/>
              <a:gd name="connsiteY0" fmla="*/ 0 h 4363451"/>
              <a:gd name="connsiteX1" fmla="*/ 4825046 w 4825046"/>
              <a:gd name="connsiteY1" fmla="*/ 2181726 h 4363451"/>
              <a:gd name="connsiteX2" fmla="*/ 4294291 w 4825046"/>
              <a:gd name="connsiteY2" fmla="*/ 2181726 h 4363451"/>
              <a:gd name="connsiteX3" fmla="*/ 3835912 w 4825046"/>
              <a:gd name="connsiteY3" fmla="*/ 2181726 h 4363451"/>
              <a:gd name="connsiteX4" fmla="*/ 3401657 w 4825046"/>
              <a:gd name="connsiteY4" fmla="*/ 2181726 h 4363451"/>
              <a:gd name="connsiteX5" fmla="*/ 2895028 w 4825046"/>
              <a:gd name="connsiteY5" fmla="*/ 2181726 h 4363451"/>
              <a:gd name="connsiteX6" fmla="*/ 2412523 w 4825046"/>
              <a:gd name="connsiteY6" fmla="*/ 2181726 h 4363451"/>
              <a:gd name="connsiteX7" fmla="*/ 2412523 w 4825046"/>
              <a:gd name="connsiteY7" fmla="*/ 1592660 h 4363451"/>
              <a:gd name="connsiteX8" fmla="*/ 2412523 w 4825046"/>
              <a:gd name="connsiteY8" fmla="*/ 1003594 h 4363451"/>
              <a:gd name="connsiteX9" fmla="*/ 2412523 w 4825046"/>
              <a:gd name="connsiteY9" fmla="*/ 0 h 4363451"/>
              <a:gd name="connsiteX0" fmla="*/ 2412523 w 4825046"/>
              <a:gd name="connsiteY0" fmla="*/ 0 h 4363451"/>
              <a:gd name="connsiteX1" fmla="*/ 4825046 w 4825046"/>
              <a:gd name="connsiteY1" fmla="*/ 2181726 h 4363451"/>
            </a:gdLst>
            <a:ahLst/>
            <a:cxnLst>
              <a:cxn ang="0">
                <a:pos x="connsiteX0" y="connsiteY0"/>
              </a:cxn>
              <a:cxn ang="0">
                <a:pos x="connsiteX1" y="connsiteY1"/>
              </a:cxn>
            </a:cxnLst>
            <a:rect l="l" t="t" r="r" b="b"/>
            <a:pathLst>
              <a:path w="4825046" h="4363451" stroke="0" extrusionOk="0">
                <a:moveTo>
                  <a:pt x="2412523" y="0"/>
                </a:moveTo>
                <a:cubicBezTo>
                  <a:pt x="3628794" y="-71631"/>
                  <a:pt x="4778611" y="994220"/>
                  <a:pt x="4825046" y="2181726"/>
                </a:cubicBezTo>
                <a:cubicBezTo>
                  <a:pt x="4648381" y="2216667"/>
                  <a:pt x="4555722" y="2178687"/>
                  <a:pt x="4294291" y="2181726"/>
                </a:cubicBezTo>
                <a:cubicBezTo>
                  <a:pt x="4032860" y="2184765"/>
                  <a:pt x="3930079" y="2128263"/>
                  <a:pt x="3835912" y="2181726"/>
                </a:cubicBezTo>
                <a:cubicBezTo>
                  <a:pt x="3741745" y="2235189"/>
                  <a:pt x="3611727" y="2130904"/>
                  <a:pt x="3401657" y="2181726"/>
                </a:cubicBezTo>
                <a:cubicBezTo>
                  <a:pt x="3191588" y="2232548"/>
                  <a:pt x="3023759" y="2129332"/>
                  <a:pt x="2895028" y="2181726"/>
                </a:cubicBezTo>
                <a:cubicBezTo>
                  <a:pt x="2766297" y="2234120"/>
                  <a:pt x="2573145" y="2144605"/>
                  <a:pt x="2412523" y="2181726"/>
                </a:cubicBezTo>
                <a:cubicBezTo>
                  <a:pt x="2399089" y="2048791"/>
                  <a:pt x="2438220" y="1759814"/>
                  <a:pt x="2412523" y="1592660"/>
                </a:cubicBezTo>
                <a:cubicBezTo>
                  <a:pt x="2386826" y="1425506"/>
                  <a:pt x="2428532" y="1262217"/>
                  <a:pt x="2412523" y="1003594"/>
                </a:cubicBezTo>
                <a:cubicBezTo>
                  <a:pt x="2396514" y="744971"/>
                  <a:pt x="2425062" y="317837"/>
                  <a:pt x="2412523" y="0"/>
                </a:cubicBezTo>
                <a:close/>
              </a:path>
              <a:path w="4825046" h="4363451" fill="none" extrusionOk="0">
                <a:moveTo>
                  <a:pt x="2412523" y="0"/>
                </a:moveTo>
                <a:cubicBezTo>
                  <a:pt x="3893069" y="220530"/>
                  <a:pt x="4841856" y="1150891"/>
                  <a:pt x="4825046" y="2181726"/>
                </a:cubicBezTo>
              </a:path>
              <a:path w="4825046" h="4363451" fill="none" stroke="0" extrusionOk="0">
                <a:moveTo>
                  <a:pt x="2412523" y="0"/>
                </a:moveTo>
                <a:cubicBezTo>
                  <a:pt x="3594218" y="-24376"/>
                  <a:pt x="4991083" y="1112579"/>
                  <a:pt x="4825046" y="2181726"/>
                </a:cubicBezTo>
              </a:path>
            </a:pathLst>
          </a:custGeom>
          <a:ln w="161925">
            <a:solidFill>
              <a:srgbClr val="598CBE"/>
            </a:solidFill>
            <a:extLst>
              <a:ext uri="{C807C97D-BFC1-408E-A445-0C87EB9F89A2}">
                <ask:lineSketchStyleProps xmlns:ask="http://schemas.microsoft.com/office/drawing/2018/sketchyshapes" sd="1219033472">
                  <a:prstGeom prst="arc">
                    <a:avLst/>
                  </a:prstGeom>
                  <ask:type>
                    <ask:lineSketchScribble/>
                  </ask:type>
                </ask:lineSketchStyleProps>
              </a:ext>
            </a:extLst>
          </a:ln>
        </p:spPr>
        <p:style>
          <a:lnRef idx="1">
            <a:schemeClr val="accent1"/>
          </a:lnRef>
          <a:fillRef idx="0">
            <a:schemeClr val="accent1"/>
          </a:fillRef>
          <a:effectRef idx="0">
            <a:schemeClr val="accent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6" name="Arc 5">
            <a:extLst>
              <a:ext uri="{FF2B5EF4-FFF2-40B4-BE49-F238E27FC236}">
                <a16:creationId xmlns:a16="http://schemas.microsoft.com/office/drawing/2014/main" id="{0E12D8E3-B5EB-1F63-44BF-C8DFC4B7792B}"/>
              </a:ext>
            </a:extLst>
          </p:cNvPr>
          <p:cNvSpPr/>
          <p:nvPr/>
        </p:nvSpPr>
        <p:spPr>
          <a:xfrm rot="10800000">
            <a:off x="1199184" y="241101"/>
            <a:ext cx="4825046" cy="4363451"/>
          </a:xfrm>
          <a:custGeom>
            <a:avLst/>
            <a:gdLst>
              <a:gd name="connsiteX0" fmla="*/ 2412523 w 4825046"/>
              <a:gd name="connsiteY0" fmla="*/ 0 h 4363451"/>
              <a:gd name="connsiteX1" fmla="*/ 4825046 w 4825046"/>
              <a:gd name="connsiteY1" fmla="*/ 2181726 h 4363451"/>
              <a:gd name="connsiteX2" fmla="*/ 4294291 w 4825046"/>
              <a:gd name="connsiteY2" fmla="*/ 2181726 h 4363451"/>
              <a:gd name="connsiteX3" fmla="*/ 3835912 w 4825046"/>
              <a:gd name="connsiteY3" fmla="*/ 2181726 h 4363451"/>
              <a:gd name="connsiteX4" fmla="*/ 3401657 w 4825046"/>
              <a:gd name="connsiteY4" fmla="*/ 2181726 h 4363451"/>
              <a:gd name="connsiteX5" fmla="*/ 2895028 w 4825046"/>
              <a:gd name="connsiteY5" fmla="*/ 2181726 h 4363451"/>
              <a:gd name="connsiteX6" fmla="*/ 2412523 w 4825046"/>
              <a:gd name="connsiteY6" fmla="*/ 2181726 h 4363451"/>
              <a:gd name="connsiteX7" fmla="*/ 2412523 w 4825046"/>
              <a:gd name="connsiteY7" fmla="*/ 1592660 h 4363451"/>
              <a:gd name="connsiteX8" fmla="*/ 2412523 w 4825046"/>
              <a:gd name="connsiteY8" fmla="*/ 1003594 h 4363451"/>
              <a:gd name="connsiteX9" fmla="*/ 2412523 w 4825046"/>
              <a:gd name="connsiteY9" fmla="*/ 0 h 4363451"/>
              <a:gd name="connsiteX0" fmla="*/ 2412523 w 4825046"/>
              <a:gd name="connsiteY0" fmla="*/ 0 h 4363451"/>
              <a:gd name="connsiteX1" fmla="*/ 4825046 w 4825046"/>
              <a:gd name="connsiteY1" fmla="*/ 2181726 h 4363451"/>
            </a:gdLst>
            <a:ahLst/>
            <a:cxnLst>
              <a:cxn ang="0">
                <a:pos x="connsiteX0" y="connsiteY0"/>
              </a:cxn>
              <a:cxn ang="0">
                <a:pos x="connsiteX1" y="connsiteY1"/>
              </a:cxn>
            </a:cxnLst>
            <a:rect l="l" t="t" r="r" b="b"/>
            <a:pathLst>
              <a:path w="4825046" h="4363451" stroke="0" extrusionOk="0">
                <a:moveTo>
                  <a:pt x="2412523" y="0"/>
                </a:moveTo>
                <a:cubicBezTo>
                  <a:pt x="3628794" y="-71631"/>
                  <a:pt x="4778611" y="994220"/>
                  <a:pt x="4825046" y="2181726"/>
                </a:cubicBezTo>
                <a:cubicBezTo>
                  <a:pt x="4648381" y="2216667"/>
                  <a:pt x="4555722" y="2178687"/>
                  <a:pt x="4294291" y="2181726"/>
                </a:cubicBezTo>
                <a:cubicBezTo>
                  <a:pt x="4032860" y="2184765"/>
                  <a:pt x="3930079" y="2128263"/>
                  <a:pt x="3835912" y="2181726"/>
                </a:cubicBezTo>
                <a:cubicBezTo>
                  <a:pt x="3741745" y="2235189"/>
                  <a:pt x="3611727" y="2130904"/>
                  <a:pt x="3401657" y="2181726"/>
                </a:cubicBezTo>
                <a:cubicBezTo>
                  <a:pt x="3191588" y="2232548"/>
                  <a:pt x="3023759" y="2129332"/>
                  <a:pt x="2895028" y="2181726"/>
                </a:cubicBezTo>
                <a:cubicBezTo>
                  <a:pt x="2766297" y="2234120"/>
                  <a:pt x="2573145" y="2144605"/>
                  <a:pt x="2412523" y="2181726"/>
                </a:cubicBezTo>
                <a:cubicBezTo>
                  <a:pt x="2399089" y="2048791"/>
                  <a:pt x="2438220" y="1759814"/>
                  <a:pt x="2412523" y="1592660"/>
                </a:cubicBezTo>
                <a:cubicBezTo>
                  <a:pt x="2386826" y="1425506"/>
                  <a:pt x="2428532" y="1262217"/>
                  <a:pt x="2412523" y="1003594"/>
                </a:cubicBezTo>
                <a:cubicBezTo>
                  <a:pt x="2396514" y="744971"/>
                  <a:pt x="2425062" y="317837"/>
                  <a:pt x="2412523" y="0"/>
                </a:cubicBezTo>
                <a:close/>
              </a:path>
              <a:path w="4825046" h="4363451" fill="none" extrusionOk="0">
                <a:moveTo>
                  <a:pt x="2412523" y="0"/>
                </a:moveTo>
                <a:cubicBezTo>
                  <a:pt x="3893069" y="220530"/>
                  <a:pt x="4841856" y="1150891"/>
                  <a:pt x="4825046" y="2181726"/>
                </a:cubicBezTo>
              </a:path>
              <a:path w="4825046" h="4363451" fill="none" stroke="0" extrusionOk="0">
                <a:moveTo>
                  <a:pt x="2412523" y="0"/>
                </a:moveTo>
                <a:cubicBezTo>
                  <a:pt x="3594218" y="-24376"/>
                  <a:pt x="4991083" y="1112579"/>
                  <a:pt x="4825046" y="2181726"/>
                </a:cubicBezTo>
              </a:path>
            </a:pathLst>
          </a:custGeom>
          <a:ln w="161925">
            <a:solidFill>
              <a:srgbClr val="598CBE"/>
            </a:solidFill>
            <a:extLst>
              <a:ext uri="{C807C97D-BFC1-408E-A445-0C87EB9F89A2}">
                <ask:lineSketchStyleProps xmlns:ask="http://schemas.microsoft.com/office/drawing/2018/sketchyshapes" sd="1219033472">
                  <a:prstGeom prst="arc">
                    <a:avLst/>
                  </a:prstGeom>
                  <ask:type>
                    <ask:lineSketchScribble/>
                  </ask:type>
                </ask:lineSketchStyleProps>
              </a:ext>
            </a:extLst>
          </a:ln>
        </p:spPr>
        <p:style>
          <a:lnRef idx="1">
            <a:schemeClr val="accent1"/>
          </a:lnRef>
          <a:fillRef idx="0">
            <a:schemeClr val="accent1"/>
          </a:fillRef>
          <a:effectRef idx="0">
            <a:schemeClr val="accent1"/>
          </a:effectRef>
          <a:fontRef idx="minor">
            <a:schemeClr val="tx1"/>
          </a:fontRef>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12" name="Slide Number Placeholder 11">
            <a:extLst>
              <a:ext uri="{FF2B5EF4-FFF2-40B4-BE49-F238E27FC236}">
                <a16:creationId xmlns:a16="http://schemas.microsoft.com/office/drawing/2014/main" id="{4BA07139-B4B0-117B-EC27-2D34964457A0}"/>
              </a:ext>
            </a:extLst>
          </p:cNvPr>
          <p:cNvSpPr>
            <a:spLocks noGrp="1"/>
          </p:cNvSpPr>
          <p:nvPr>
            <p:ph type="sldNum" sz="quarter" idx="10"/>
          </p:nvPr>
        </p:nvSpPr>
        <p:spPr/>
        <p:txBody>
          <a:bodyPr/>
          <a:lstStyle/>
          <a:p>
            <a:fld id="{86CB4B4D-7CA3-9044-876B-883B54F8677D}" type="slidenum">
              <a:rPr lang="en-US" smtClean="0"/>
              <a:pPr/>
              <a:t>41</a:t>
            </a:fld>
            <a:endParaRPr lang="en-US" dirty="0"/>
          </a:p>
        </p:txBody>
      </p:sp>
    </p:spTree>
    <p:extLst>
      <p:ext uri="{BB962C8B-B14F-4D97-AF65-F5344CB8AC3E}">
        <p14:creationId xmlns:p14="http://schemas.microsoft.com/office/powerpoint/2010/main" val="372468529"/>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IMING" val="|0.9|12.9|2.5|10.4|5.2"/>
</p:tagLst>
</file>

<file path=ppt/tags/tag2.xml><?xml version="1.0" encoding="utf-8"?>
<p:tagLst xmlns:a="http://schemas.openxmlformats.org/drawingml/2006/main" xmlns:r="http://schemas.openxmlformats.org/officeDocument/2006/relationships" xmlns:p="http://schemas.openxmlformats.org/presentationml/2006/main">
  <p:tag name="TIMING" val="|0.9|44.5|18.4"/>
</p:tagLst>
</file>

<file path=ppt/tags/tag3.xml><?xml version="1.0" encoding="utf-8"?>
<p:tagLst xmlns:a="http://schemas.openxmlformats.org/drawingml/2006/main" xmlns:r="http://schemas.openxmlformats.org/officeDocument/2006/relationships" xmlns:p="http://schemas.openxmlformats.org/presentationml/2006/main">
  <p:tag name="TIMING" val="|9.7"/>
</p:tagLst>
</file>

<file path=ppt/tags/tag4.xml><?xml version="1.0" encoding="utf-8"?>
<p:tagLst xmlns:a="http://schemas.openxmlformats.org/drawingml/2006/main" xmlns:r="http://schemas.openxmlformats.org/officeDocument/2006/relationships" xmlns:p="http://schemas.openxmlformats.org/presentationml/2006/main">
  <p:tag name="TIMING" val="|9.7"/>
</p:tagLst>
</file>

<file path=ppt/tags/tag5.xml><?xml version="1.0" encoding="utf-8"?>
<p:tagLst xmlns:a="http://schemas.openxmlformats.org/drawingml/2006/main" xmlns:r="http://schemas.openxmlformats.org/officeDocument/2006/relationships" xmlns:p="http://schemas.openxmlformats.org/presentationml/2006/main">
  <p:tag name="TIMING" val="|14.5"/>
</p:tagLst>
</file>

<file path=ppt/tags/tag6.xml><?xml version="1.0" encoding="utf-8"?>
<p:tagLst xmlns:a="http://schemas.openxmlformats.org/drawingml/2006/main" xmlns:r="http://schemas.openxmlformats.org/officeDocument/2006/relationships" xmlns:p="http://schemas.openxmlformats.org/presentationml/2006/main">
  <p:tag name="TIMING" val="|14|4.4|3.4|2.3|9.1|18.9"/>
</p:tagLst>
</file>

<file path=ppt/tags/tag7.xml><?xml version="1.0" encoding="utf-8"?>
<p:tagLst xmlns:a="http://schemas.openxmlformats.org/drawingml/2006/main" xmlns:r="http://schemas.openxmlformats.org/officeDocument/2006/relationships" xmlns:p="http://schemas.openxmlformats.org/presentationml/2006/main">
  <p:tag name="TIMING" val="|4.7|15|19.1|6|50.9|1.8"/>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28600</TotalTime>
  <Words>1726</Words>
  <Application>Microsoft Macintosh PowerPoint</Application>
  <PresentationFormat>On-screen Show (16:9)</PresentationFormat>
  <Paragraphs>300</Paragraphs>
  <Slides>41</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Arial</vt:lpstr>
      <vt:lpstr>Avenir</vt:lpstr>
      <vt:lpstr>Calibri</vt:lpstr>
      <vt:lpstr>Helvetica</vt:lpstr>
      <vt:lpstr>Helvetica Light</vt:lpstr>
      <vt:lpstr>Helvetica Neue</vt:lpstr>
      <vt:lpstr>Helvetica Neue Light</vt:lpstr>
      <vt:lpstr>Helvetica Neue UltraLight</vt:lpstr>
      <vt:lpstr>Monaco</vt:lpstr>
      <vt:lpstr>Wingdings</vt:lpstr>
      <vt:lpstr>White</vt:lpstr>
      <vt:lpstr>Programming Fundamentals 1</vt:lpstr>
      <vt:lpstr>PowerPoint Presentation</vt:lpstr>
      <vt:lpstr>Agenda</vt:lpstr>
      <vt:lpstr>What is Encapsulation?</vt:lpstr>
      <vt:lpstr>PowerPoint Presentation</vt:lpstr>
      <vt:lpstr>Encapsulation</vt:lpstr>
      <vt:lpstr>Encapsulation in Java – steps 1-3 </vt:lpstr>
      <vt:lpstr>Access Modifiers</vt:lpstr>
      <vt:lpstr>Access Modifiers</vt:lpstr>
      <vt:lpstr>Spot and Encapsulation</vt:lpstr>
      <vt:lpstr>Spot and Encapsulation</vt:lpstr>
      <vt:lpstr>PowerPoint Presentation</vt:lpstr>
      <vt:lpstr>Spot and Encapsulation</vt:lpstr>
      <vt:lpstr>PowerPoint Presentation</vt:lpstr>
      <vt:lpstr>PowerPoint Presentation</vt:lpstr>
      <vt:lpstr>PowerPoint Presentation</vt:lpstr>
      <vt:lpstr>Spot and Encapsulation</vt:lpstr>
      <vt:lpstr>Solution: Getters and Setters</vt:lpstr>
      <vt:lpstr>Getters (Accessor Methods)</vt:lpstr>
      <vt:lpstr>Getters</vt:lpstr>
      <vt:lpstr>Setters (Mutator methods)</vt:lpstr>
      <vt:lpstr>Setters</vt:lpstr>
      <vt:lpstr>Getters/Setters</vt:lpstr>
      <vt:lpstr>Spot and Encapsulation</vt:lpstr>
      <vt:lpstr>PowerPoint Presentation</vt:lpstr>
      <vt:lpstr>PowerPoint Presentation</vt:lpstr>
      <vt:lpstr>Spot and Encapsulation</vt:lpstr>
      <vt:lpstr>PowerPoint Presentation</vt:lpstr>
      <vt:lpstr>New values for xCoord, yCoord, diameter…</vt:lpstr>
      <vt:lpstr>PowerPoint Presentation</vt:lpstr>
      <vt:lpstr>  </vt:lpstr>
      <vt:lpstr>The this Keyword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Mobile Application Development</dc:title>
  <dc:creator>David Drohan</dc:creator>
  <cp:lastModifiedBy>David Drohan</cp:lastModifiedBy>
  <cp:revision>216</cp:revision>
  <dcterms:created xsi:type="dcterms:W3CDTF">2019-01-29T16:40:14Z</dcterms:created>
  <dcterms:modified xsi:type="dcterms:W3CDTF">2023-10-16T09:15:47Z</dcterms:modified>
</cp:coreProperties>
</file>