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465" r:id="rId3"/>
    <p:sldId id="346" r:id="rId4"/>
    <p:sldId id="341" r:id="rId5"/>
    <p:sldId id="738" r:id="rId6"/>
    <p:sldId id="739" r:id="rId7"/>
    <p:sldId id="777" r:id="rId8"/>
    <p:sldId id="740" r:id="rId9"/>
    <p:sldId id="741" r:id="rId10"/>
    <p:sldId id="742" r:id="rId11"/>
    <p:sldId id="743" r:id="rId12"/>
    <p:sldId id="785" r:id="rId13"/>
    <p:sldId id="745" r:id="rId14"/>
    <p:sldId id="786" r:id="rId15"/>
    <p:sldId id="787" r:id="rId16"/>
    <p:sldId id="778" r:id="rId17"/>
    <p:sldId id="753" r:id="rId18"/>
    <p:sldId id="754" r:id="rId19"/>
    <p:sldId id="755" r:id="rId20"/>
    <p:sldId id="756" r:id="rId21"/>
    <p:sldId id="779" r:id="rId22"/>
    <p:sldId id="758" r:id="rId23"/>
    <p:sldId id="759" r:id="rId24"/>
    <p:sldId id="760" r:id="rId25"/>
    <p:sldId id="780" r:id="rId26"/>
    <p:sldId id="762" r:id="rId27"/>
    <p:sldId id="781" r:id="rId28"/>
    <p:sldId id="764" r:id="rId29"/>
    <p:sldId id="765" r:id="rId30"/>
    <p:sldId id="782" r:id="rId31"/>
    <p:sldId id="767" r:id="rId32"/>
    <p:sldId id="768" r:id="rId33"/>
    <p:sldId id="783" r:id="rId34"/>
    <p:sldId id="770" r:id="rId35"/>
    <p:sldId id="771" r:id="rId36"/>
    <p:sldId id="784" r:id="rId37"/>
    <p:sldId id="773" r:id="rId38"/>
    <p:sldId id="774" r:id="rId39"/>
    <p:sldId id="775" r:id="rId40"/>
    <p:sldId id="776" r:id="rId41"/>
    <p:sldId id="281" r:id="rId42"/>
    <p:sldId id="298" r:id="rId43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CBE"/>
    <a:srgbClr val="0E9647"/>
    <a:srgbClr val="2F486B"/>
    <a:srgbClr val="0368FF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4"/>
    <p:restoredTop sz="85581"/>
  </p:normalViewPr>
  <p:slideViewPr>
    <p:cSldViewPr snapToGrid="0" snapToObjects="1">
      <p:cViewPr varScale="1">
        <p:scale>
          <a:sx n="108" d="100"/>
          <a:sy n="108" d="100"/>
        </p:scale>
        <p:origin x="200" y="3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10/17/23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3954521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69" r:id="rId4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47" y="1010648"/>
            <a:ext cx="7893844" cy="1077818"/>
          </a:xfrm>
        </p:spPr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IntelliJ and Spot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6793" y="239884"/>
            <a:ext cx="2791808" cy="446240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Add Spot (and Validate Input)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pPr algn="l" rtl="0">
              <a:buClr>
                <a:srgbClr val="194699"/>
              </a:buClr>
            </a:pPr>
            <a:r>
              <a:rPr lang="en-US" sz="3200" dirty="0"/>
              <a:t>RECAP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Spot Constructors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Add a Spot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User Input Validation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8957" y="455202"/>
            <a:ext cx="1626083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RECAP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3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B26D-F9DC-5F26-3686-0655B82D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</a:t>
            </a:r>
            <a:r>
              <a:rPr lang="en-US" dirty="0">
                <a:latin typeface="Monaco" pitchFamily="2" charset="77"/>
              </a:rPr>
              <a:t>Scanner</a:t>
            </a:r>
            <a:r>
              <a:rPr lang="en-US" dirty="0"/>
              <a:t> class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597F396-2776-06B3-E676-2687CCEEC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800225"/>
            <a:ext cx="3857625" cy="1543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3CEB66-3680-720E-DB4B-21176CB2D84E}"/>
              </a:ext>
            </a:extLst>
          </p:cNvPr>
          <p:cNvSpPr/>
          <p:nvPr/>
        </p:nvSpPr>
        <p:spPr>
          <a:xfrm>
            <a:off x="4189476" y="1615559"/>
            <a:ext cx="1571244" cy="369332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E" sz="1800" b="1" dirty="0">
                <a:solidFill>
                  <a:schemeClr val="tx1"/>
                </a:solidFill>
              </a:rPr>
              <a:t>Driver class</a:t>
            </a:r>
            <a:endParaRPr lang="en-IE" sz="1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81070-08C8-30EE-75C5-A3FF8139E91C}"/>
              </a:ext>
            </a:extLst>
          </p:cNvPr>
          <p:cNvSpPr/>
          <p:nvPr/>
        </p:nvSpPr>
        <p:spPr>
          <a:xfrm>
            <a:off x="5443538" y="2581276"/>
            <a:ext cx="25146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latin typeface="Monaco" pitchFamily="2" charset="77"/>
              </a:rPr>
              <a:t>Scanner</a:t>
            </a:r>
            <a:r>
              <a:rPr lang="en-US" sz="1800" dirty="0"/>
              <a:t> Class to read from the console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DB7049-F066-30FF-3467-530B49EE7B94}"/>
              </a:ext>
            </a:extLst>
          </p:cNvPr>
          <p:cNvCxnSpPr>
            <a:cxnSpLocks/>
          </p:cNvCxnSpPr>
          <p:nvPr/>
        </p:nvCxnSpPr>
        <p:spPr>
          <a:xfrm flipV="1">
            <a:off x="2193809" y="3227607"/>
            <a:ext cx="0" cy="576297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03B82A-3FB6-DDB8-5E6A-5A0CE0003E35}"/>
              </a:ext>
            </a:extLst>
          </p:cNvPr>
          <p:cNvCxnSpPr>
            <a:cxnSpLocks/>
          </p:cNvCxnSpPr>
          <p:nvPr/>
        </p:nvCxnSpPr>
        <p:spPr>
          <a:xfrm flipV="1">
            <a:off x="3900689" y="3227606"/>
            <a:ext cx="0" cy="576297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495449-771E-96B7-3F58-E3915BD8F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B99C10-BEB8-AD6E-84C5-1AC90CF88E1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7565777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B26D-F9DC-5F26-3686-0655B82D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</a:t>
            </a:r>
            <a:r>
              <a:rPr lang="en-US" dirty="0">
                <a:latin typeface="Monaco" pitchFamily="2" charset="77"/>
              </a:rPr>
              <a:t>Driver</a:t>
            </a:r>
            <a:r>
              <a:rPr lang="en-US" dirty="0"/>
              <a:t> class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385A08-3512-E7DA-47F0-552AC573336B}"/>
              </a:ext>
            </a:extLst>
          </p:cNvPr>
          <p:cNvSpPr txBox="1">
            <a:spLocks/>
          </p:cNvSpPr>
          <p:nvPr/>
        </p:nvSpPr>
        <p:spPr>
          <a:xfrm>
            <a:off x="6229350" y="2743200"/>
            <a:ext cx="2400300" cy="9367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2100"/>
            </a:br>
            <a:br>
              <a:rPr lang="en-US" sz="2100"/>
            </a:br>
            <a:endParaRPr lang="en-US" sz="2100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BF75F9C-5A1F-614B-60AE-9AE939572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25897"/>
            <a:ext cx="3143250" cy="1257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BF9677-13F1-B2EA-A957-D0FAF61AE53F}"/>
              </a:ext>
            </a:extLst>
          </p:cNvPr>
          <p:cNvSpPr/>
          <p:nvPr/>
        </p:nvSpPr>
        <p:spPr>
          <a:xfrm>
            <a:off x="2423451" y="1036766"/>
            <a:ext cx="1530382" cy="369332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E" sz="1800" b="1" dirty="0">
                <a:solidFill>
                  <a:schemeClr val="tx1"/>
                </a:solidFill>
              </a:rPr>
              <a:t>Driver class</a:t>
            </a:r>
            <a:endParaRPr lang="en-IE" sz="1800" dirty="0">
              <a:solidFill>
                <a:schemeClr val="tx1"/>
              </a:solidFill>
            </a:endParaRPr>
          </a:p>
        </p:txBody>
      </p:sp>
      <p:pic>
        <p:nvPicPr>
          <p:cNvPr id="10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C9DF7FF-B8FA-E735-FE10-A695E2C37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55" y="1681050"/>
            <a:ext cx="5274469" cy="3061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8030EF-923B-ED66-9265-459054921580}"/>
              </a:ext>
            </a:extLst>
          </p:cNvPr>
          <p:cNvSpPr/>
          <p:nvPr/>
        </p:nvSpPr>
        <p:spPr>
          <a:xfrm>
            <a:off x="4307215" y="902731"/>
            <a:ext cx="417195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Method to ask the user to enter new values for the three fields.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7BEEC95-CF23-71EA-BA2A-CAEBA1B7D7C5}"/>
              </a:ext>
            </a:extLst>
          </p:cNvPr>
          <p:cNvCxnSpPr>
            <a:cxnSpLocks/>
          </p:cNvCxnSpPr>
          <p:nvPr/>
        </p:nvCxnSpPr>
        <p:spPr>
          <a:xfrm flipV="1">
            <a:off x="1495817" y="2379500"/>
            <a:ext cx="0" cy="576297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3B0F67-4D8B-3518-9219-2AA96D731094}"/>
              </a:ext>
            </a:extLst>
          </p:cNvPr>
          <p:cNvCxnSpPr>
            <a:cxnSpLocks/>
          </p:cNvCxnSpPr>
          <p:nvPr/>
        </p:nvCxnSpPr>
        <p:spPr>
          <a:xfrm flipH="1" flipV="1">
            <a:off x="7104888" y="3575304"/>
            <a:ext cx="649224" cy="566928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830AE43-35BA-AB97-ED4B-59B919726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17FB4AC-E0DB-A2AB-04D7-DE0CBA9CFDF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182414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573" y="473490"/>
            <a:ext cx="3848851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Spot Constructors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BCE64-18A3-AFF3-05EC-670EA10D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761815"/>
            <a:ext cx="4114800" cy="3394472"/>
          </a:xfrm>
        </p:spPr>
        <p:txBody>
          <a:bodyPr/>
          <a:lstStyle/>
          <a:p>
            <a:r>
              <a:rPr lang="en-US" dirty="0"/>
              <a:t>Currently, the </a:t>
            </a:r>
            <a:r>
              <a:rPr lang="en-US" dirty="0">
                <a:latin typeface="Monaco" pitchFamily="2" charset="77"/>
              </a:rPr>
              <a:t>Spot</a:t>
            </a:r>
            <a:r>
              <a:rPr lang="en-US" dirty="0"/>
              <a:t> class only has one constructor</a:t>
            </a:r>
          </a:p>
          <a:p>
            <a:endParaRPr lang="en-US" dirty="0"/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598CBE"/>
                </a:solidFill>
              </a:rPr>
              <a:t>default</a:t>
            </a:r>
            <a:r>
              <a:rPr lang="en-US" dirty="0"/>
              <a:t> constructor as it has no parameters</a:t>
            </a:r>
          </a:p>
          <a:p>
            <a:endParaRPr lang="en-US" dirty="0"/>
          </a:p>
          <a:p>
            <a:r>
              <a:rPr lang="en-US" dirty="0"/>
              <a:t>This constructor sets default values for each field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D7609E-095B-A06A-2068-1AEBCD847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922" y="1059978"/>
            <a:ext cx="3314700" cy="3023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20C46-EA3F-386C-9BB6-1369EF464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7B33B-6107-4DCE-D155-6AC29768DF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5520581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adding a second one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BCE64-18A3-AFF3-05EC-670EA10D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63" y="752671"/>
            <a:ext cx="3966925" cy="2937273"/>
          </a:xfrm>
        </p:spPr>
        <p:txBody>
          <a:bodyPr>
            <a:normAutofit/>
          </a:bodyPr>
          <a:lstStyle/>
          <a:p>
            <a:r>
              <a:rPr lang="en-US" dirty="0"/>
              <a:t>If we want to allow the user to add a new Spot with their own data (read from the console), then we need to provide a second constructor that will allow this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891CC99-0700-4E89-7263-5A67326B3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2F925-E7DD-2538-F150-B24EB76B6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129F7-BE80-A15B-75AE-9D17A6FB3CA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32879B-20FB-BE48-C9BB-17BA02BE2DA9}"/>
              </a:ext>
            </a:extLst>
          </p:cNvPr>
          <p:cNvCxnSpPr>
            <a:cxnSpLocks/>
          </p:cNvCxnSpPr>
          <p:nvPr/>
        </p:nvCxnSpPr>
        <p:spPr>
          <a:xfrm>
            <a:off x="3214688" y="3200400"/>
            <a:ext cx="1850887" cy="155448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9340310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overloading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FAB5E-3533-E93E-C95E-A0AC6BD5A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CD4EA-01A8-99C8-66EC-602FE0820FD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D95546F-9C9C-B5D7-4AE6-5384A1F71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E85CA0-ED24-DF59-8B26-C254956519AC}"/>
              </a:ext>
            </a:extLst>
          </p:cNvPr>
          <p:cNvSpPr txBox="1">
            <a:spLocks/>
          </p:cNvSpPr>
          <p:nvPr/>
        </p:nvSpPr>
        <p:spPr>
          <a:xfrm>
            <a:off x="394763" y="750429"/>
            <a:ext cx="4114800" cy="2937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>
            <a:normAutofit/>
          </a:bodyPr>
          <a:lstStyle>
            <a:lvl1pPr marL="292097" indent="-292097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570956" indent="-283984">
              <a:spcBef>
                <a:spcPts val="377"/>
              </a:spcBef>
              <a:buClr>
                <a:srgbClr val="194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846570" indent="-272624">
              <a:spcBef>
                <a:spcPts val="377"/>
              </a:spcBef>
              <a:buClr>
                <a:srgbClr val="194699"/>
              </a:buClr>
              <a:buSzPct val="95000"/>
              <a:buFont typeface="Wingdings"/>
              <a:buChar char="⬥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163835" indent="-302916">
              <a:spcBef>
                <a:spcPts val="377"/>
              </a:spcBef>
              <a:buClr>
                <a:srgbClr val="194699"/>
              </a:buClr>
              <a:buSzPct val="65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450808" indent="-302916">
              <a:spcBef>
                <a:spcPts val="377"/>
              </a:spcBef>
              <a:buClr>
                <a:srgbClr val="194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1737781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024754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2311727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2598700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US" dirty="0"/>
              <a:t>We now have two constructors, both called </a:t>
            </a:r>
            <a:r>
              <a:rPr lang="en-US" b="1" dirty="0"/>
              <a:t>Spot</a:t>
            </a:r>
            <a:r>
              <a:rPr lang="en-US" dirty="0"/>
              <a:t>, with different parameter lists in our class</a:t>
            </a:r>
          </a:p>
          <a:p>
            <a:pPr algn="l" defTabSz="914400"/>
            <a:r>
              <a:rPr lang="en-US" dirty="0"/>
              <a:t>This is called </a:t>
            </a:r>
            <a:r>
              <a:rPr lang="en-US" b="1" dirty="0">
                <a:solidFill>
                  <a:srgbClr val="598CBE"/>
                </a:solidFill>
              </a:rPr>
              <a:t>constructor overloading</a:t>
            </a:r>
            <a:endParaRPr lang="en-US" dirty="0"/>
          </a:p>
          <a:p>
            <a:pPr algn="l" defTabSz="914400"/>
            <a:endParaRPr lang="en-US" dirty="0"/>
          </a:p>
          <a:p>
            <a:pPr marL="0" indent="0" algn="l" defTabSz="914400">
              <a:buFont typeface="Wingdings"/>
              <a:buNone/>
            </a:pP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EBBAA9-9788-2269-0676-69210F488C77}"/>
              </a:ext>
            </a:extLst>
          </p:cNvPr>
          <p:cNvCxnSpPr>
            <a:cxnSpLocks/>
          </p:cNvCxnSpPr>
          <p:nvPr/>
        </p:nvCxnSpPr>
        <p:spPr>
          <a:xfrm>
            <a:off x="4198667" y="2322576"/>
            <a:ext cx="877623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307954-96F7-27E3-08B2-3D660451C212}"/>
              </a:ext>
            </a:extLst>
          </p:cNvPr>
          <p:cNvCxnSpPr>
            <a:cxnSpLocks/>
          </p:cNvCxnSpPr>
          <p:nvPr/>
        </p:nvCxnSpPr>
        <p:spPr>
          <a:xfrm>
            <a:off x="4198667" y="3361944"/>
            <a:ext cx="877623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704147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overloading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5CDAC6-D16C-6270-FDA6-B2C5215556CB}"/>
              </a:ext>
            </a:extLst>
          </p:cNvPr>
          <p:cNvSpPr txBox="1">
            <a:spLocks/>
          </p:cNvSpPr>
          <p:nvPr/>
        </p:nvSpPr>
        <p:spPr>
          <a:xfrm>
            <a:off x="397319" y="743526"/>
            <a:ext cx="4114800" cy="3883337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>
            <a:normAutofit/>
          </a:bodyPr>
          <a:lstStyle>
            <a:lvl1pPr marL="292097" indent="-292097" algn="l" defTabSz="91440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  <a:defRPr sz="2400">
                <a:latin typeface="Helvetica Neue Light"/>
                <a:ea typeface="Helvetica Neue Light"/>
                <a:cs typeface="Helvetica Neue Light"/>
              </a:defRPr>
            </a:lvl1pPr>
            <a:lvl2pPr marL="570956" indent="-283984">
              <a:spcBef>
                <a:spcPts val="377"/>
              </a:spcBef>
              <a:buClr>
                <a:srgbClr val="194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2pPr>
            <a:lvl3pPr marL="846570" indent="-272624">
              <a:spcBef>
                <a:spcPts val="377"/>
              </a:spcBef>
              <a:buClr>
                <a:srgbClr val="194699"/>
              </a:buClr>
              <a:buSzPct val="95000"/>
              <a:buFont typeface="Wingdings"/>
              <a:buChar char="⬥"/>
              <a:defRPr sz="2400">
                <a:latin typeface="Helvetica Neue Light"/>
                <a:ea typeface="Helvetica Neue Light"/>
                <a:cs typeface="Helvetica Neue Light"/>
              </a:defRPr>
            </a:lvl3pPr>
            <a:lvl4pPr marL="1163835" indent="-302916">
              <a:spcBef>
                <a:spcPts val="377"/>
              </a:spcBef>
              <a:buClr>
                <a:srgbClr val="194699"/>
              </a:buClr>
              <a:buSzPct val="65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4pPr>
            <a:lvl5pPr marL="1450808" indent="-302916">
              <a:spcBef>
                <a:spcPts val="377"/>
              </a:spcBef>
              <a:buClr>
                <a:srgbClr val="194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5pPr>
            <a:lvl6pPr marL="1737781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6pPr>
            <a:lvl7pPr marL="2024754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7pPr>
            <a:lvl8pPr marL="2311727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8pPr>
            <a:lvl9pPr marL="2598700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9pPr>
          </a:lstStyle>
          <a:p>
            <a:r>
              <a:rPr lang="en-US" dirty="0"/>
              <a:t>Why would we need two different constructors?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D976E-17DD-5F9A-4416-22786872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24E93-CBC5-328B-FAEC-3110CA23322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CA6CB46-B06C-D6AB-7443-2756E1A8E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74410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overloading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5CDAC6-D16C-6270-FDA6-B2C5215556CB}"/>
              </a:ext>
            </a:extLst>
          </p:cNvPr>
          <p:cNvSpPr txBox="1">
            <a:spLocks/>
          </p:cNvSpPr>
          <p:nvPr/>
        </p:nvSpPr>
        <p:spPr>
          <a:xfrm>
            <a:off x="397319" y="743526"/>
            <a:ext cx="4114800" cy="3883337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>
            <a:normAutofit/>
          </a:bodyPr>
          <a:lstStyle>
            <a:lvl1pPr marL="292097" indent="-292097" algn="l" defTabSz="91440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  <a:defRPr sz="2400">
                <a:latin typeface="Helvetica Neue Light"/>
                <a:ea typeface="Helvetica Neue Light"/>
                <a:cs typeface="Helvetica Neue Light"/>
              </a:defRPr>
            </a:lvl1pPr>
            <a:lvl2pPr marL="570956" indent="-283984">
              <a:spcBef>
                <a:spcPts val="377"/>
              </a:spcBef>
              <a:buClr>
                <a:srgbClr val="194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2pPr>
            <a:lvl3pPr marL="846570" indent="-272624">
              <a:spcBef>
                <a:spcPts val="377"/>
              </a:spcBef>
              <a:buClr>
                <a:srgbClr val="194699"/>
              </a:buClr>
              <a:buSzPct val="95000"/>
              <a:buFont typeface="Wingdings"/>
              <a:buChar char="⬥"/>
              <a:defRPr sz="2400">
                <a:latin typeface="Helvetica Neue Light"/>
                <a:ea typeface="Helvetica Neue Light"/>
                <a:cs typeface="Helvetica Neue Light"/>
              </a:defRPr>
            </a:lvl3pPr>
            <a:lvl4pPr marL="1163835" indent="-302916">
              <a:spcBef>
                <a:spcPts val="377"/>
              </a:spcBef>
              <a:buClr>
                <a:srgbClr val="194699"/>
              </a:buClr>
              <a:buSzPct val="65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4pPr>
            <a:lvl5pPr marL="1450808" indent="-302916">
              <a:spcBef>
                <a:spcPts val="377"/>
              </a:spcBef>
              <a:buClr>
                <a:srgbClr val="194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5pPr>
            <a:lvl6pPr marL="1737781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6pPr>
            <a:lvl7pPr marL="2024754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7pPr>
            <a:lvl8pPr marL="2311727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8pPr>
            <a:lvl9pPr marL="2598700" indent="-302916">
              <a:spcBef>
                <a:spcPts val="377"/>
              </a:spcBef>
              <a:buClr>
                <a:srgbClr val="006699"/>
              </a:buClr>
              <a:buSzPct val="60000"/>
              <a:buFont typeface="Wingdings"/>
              <a:buChar char="■"/>
              <a:defRPr sz="2400">
                <a:latin typeface="Helvetica Neue Light"/>
                <a:ea typeface="Helvetica Neue Light"/>
                <a:cs typeface="Helvetica Neue Light"/>
              </a:defRPr>
            </a:lvl9pPr>
          </a:lstStyle>
          <a:p>
            <a:r>
              <a:rPr lang="en-US" dirty="0"/>
              <a:t>Why would we need two different constructors?</a:t>
            </a:r>
          </a:p>
          <a:p>
            <a:endParaRPr lang="en-US" dirty="0"/>
          </a:p>
          <a:p>
            <a:r>
              <a:rPr lang="en-US" dirty="0"/>
              <a:t>It gives us different options for creating a </a:t>
            </a:r>
            <a:r>
              <a:rPr lang="en-US" b="1" dirty="0">
                <a:solidFill>
                  <a:srgbClr val="598CBE"/>
                </a:solidFill>
              </a:rPr>
              <a:t>Spot</a:t>
            </a:r>
            <a:r>
              <a:rPr lang="en-US" dirty="0"/>
              <a:t> object:</a:t>
            </a:r>
          </a:p>
          <a:p>
            <a:pPr lvl="1" algn="l"/>
            <a:r>
              <a:rPr lang="en-US" sz="2000" dirty="0"/>
              <a:t>When we have no values for the fields</a:t>
            </a:r>
          </a:p>
          <a:p>
            <a:pPr lvl="1" algn="l"/>
            <a:r>
              <a:rPr lang="en-US" sz="2000" dirty="0"/>
              <a:t>When we have values for the fields (from the user, maybe)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D976E-17DD-5F9A-4416-22786872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24E93-CBC5-328B-FAEC-3110CA23322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CA6CB46-B06C-D6AB-7443-2756E1A8E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415917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D0A5B3A-B4F4-DAC3-9047-F70E323AE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</a:t>
            </a:r>
            <a:r>
              <a:rPr lang="en-US" dirty="0">
                <a:solidFill>
                  <a:srgbClr val="598CBE"/>
                </a:solidFill>
                <a:latin typeface="Monaco" pitchFamily="2" charset="77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3FC3A-45AC-4057-DED8-1C40E667B8A5}"/>
              </a:ext>
            </a:extLst>
          </p:cNvPr>
          <p:cNvSpPr/>
          <p:nvPr/>
        </p:nvSpPr>
        <p:spPr>
          <a:xfrm>
            <a:off x="6858001" y="884216"/>
            <a:ext cx="1600200" cy="92333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Instance fields </a:t>
            </a:r>
            <a:br>
              <a:rPr lang="en-US" sz="1800" dirty="0"/>
            </a:br>
            <a:r>
              <a:rPr lang="en-US" sz="1800" dirty="0"/>
              <a:t>(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EBA94C-0260-4C8A-9510-99FBA7D568A0}"/>
              </a:ext>
            </a:extLst>
          </p:cNvPr>
          <p:cNvSpPr/>
          <p:nvPr/>
        </p:nvSpPr>
        <p:spPr>
          <a:xfrm>
            <a:off x="4972050" y="1507259"/>
            <a:ext cx="1714500" cy="62865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383E18-A2EC-ADD9-9B0D-1ADF85D5E523}"/>
              </a:ext>
            </a:extLst>
          </p:cNvPr>
          <p:cNvSpPr/>
          <p:nvPr/>
        </p:nvSpPr>
        <p:spPr>
          <a:xfrm>
            <a:off x="5829300" y="3208682"/>
            <a:ext cx="2711196" cy="285750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AFBEDD-ECE2-E941-3B94-5CB056B3B841}"/>
              </a:ext>
            </a:extLst>
          </p:cNvPr>
          <p:cNvSpPr/>
          <p:nvPr/>
        </p:nvSpPr>
        <p:spPr>
          <a:xfrm>
            <a:off x="7090744" y="2366924"/>
            <a:ext cx="1939528" cy="646331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800" dirty="0"/>
              <a:t>Parameters (</a:t>
            </a:r>
            <a:r>
              <a:rPr lang="en-US" sz="1800" dirty="0">
                <a:solidFill>
                  <a:srgbClr val="C00000"/>
                </a:solidFill>
              </a:rPr>
              <a:t>local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07BEB-067C-4471-1190-5BE5FCEE1F8E}"/>
              </a:ext>
            </a:extLst>
          </p:cNvPr>
          <p:cNvSpPr/>
          <p:nvPr/>
        </p:nvSpPr>
        <p:spPr>
          <a:xfrm>
            <a:off x="403537" y="1043309"/>
            <a:ext cx="3086100" cy="286232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Both the </a:t>
            </a:r>
            <a:r>
              <a:rPr lang="en-US" sz="1800" dirty="0">
                <a:solidFill>
                  <a:srgbClr val="FF0000"/>
                </a:solidFill>
              </a:rPr>
              <a:t>local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/>
              <a:t> variables have the same name. </a:t>
            </a:r>
          </a:p>
          <a:p>
            <a:endParaRPr lang="en-US" sz="1800" dirty="0"/>
          </a:p>
          <a:p>
            <a:r>
              <a:rPr lang="en-US" sz="1800" dirty="0"/>
              <a:t>This is called </a:t>
            </a:r>
            <a:r>
              <a:rPr lang="en-US" sz="1800" dirty="0">
                <a:solidFill>
                  <a:schemeClr val="accent1"/>
                </a:solidFill>
              </a:rPr>
              <a:t>name overloading</a:t>
            </a:r>
            <a:r>
              <a:rPr lang="en-US" sz="1800" dirty="0"/>
              <a:t>.  </a:t>
            </a:r>
          </a:p>
          <a:p>
            <a:endParaRPr lang="en-US" sz="1800" dirty="0"/>
          </a:p>
          <a:p>
            <a:r>
              <a:rPr lang="en-US" sz="1800" dirty="0"/>
              <a:t>We use </a:t>
            </a:r>
            <a:r>
              <a:rPr lang="en-US" sz="1800" b="1" dirty="0">
                <a:solidFill>
                  <a:schemeClr val="accent1"/>
                </a:solidFill>
                <a:latin typeface="Monaco" pitchFamily="2" charset="77"/>
              </a:rPr>
              <a:t>this.</a:t>
            </a:r>
            <a:r>
              <a:rPr lang="en-US" sz="1800" dirty="0"/>
              <a:t> to distinguish between </a:t>
            </a:r>
            <a:r>
              <a:rPr lang="en-US" sz="1800" dirty="0">
                <a:solidFill>
                  <a:srgbClr val="FF0000"/>
                </a:solidFill>
              </a:rPr>
              <a:t>local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/>
              <a:t> variables.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3BA39-B448-9626-C129-8B6CA1A83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4332B-AA86-6100-5ECD-69F34C95F4E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0BCFF6-2CF0-D7BB-56BD-4EBFDF33989D}"/>
              </a:ext>
            </a:extLst>
          </p:cNvPr>
          <p:cNvCxnSpPr>
            <a:cxnSpLocks/>
          </p:cNvCxnSpPr>
          <p:nvPr/>
        </p:nvCxnSpPr>
        <p:spPr>
          <a:xfrm flipH="1">
            <a:off x="6473952" y="1389888"/>
            <a:ext cx="694944" cy="347472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7710BA-D118-D424-798F-B8BB790DB5B5}"/>
              </a:ext>
            </a:extLst>
          </p:cNvPr>
          <p:cNvCxnSpPr>
            <a:cxnSpLocks/>
          </p:cNvCxnSpPr>
          <p:nvPr/>
        </p:nvCxnSpPr>
        <p:spPr>
          <a:xfrm flipH="1">
            <a:off x="7022165" y="2906930"/>
            <a:ext cx="694944" cy="347472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947642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D0A5B3A-B4F4-DAC3-9047-F70E323AE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</a:t>
            </a:r>
            <a:r>
              <a:rPr lang="en-US" dirty="0">
                <a:solidFill>
                  <a:srgbClr val="598CBE"/>
                </a:solidFill>
                <a:latin typeface="Monaco" pitchFamily="2" charset="77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3FC3A-45AC-4057-DED8-1C40E667B8A5}"/>
              </a:ext>
            </a:extLst>
          </p:cNvPr>
          <p:cNvSpPr/>
          <p:nvPr/>
        </p:nvSpPr>
        <p:spPr>
          <a:xfrm>
            <a:off x="6858001" y="884216"/>
            <a:ext cx="1600200" cy="92333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Instance fields </a:t>
            </a:r>
            <a:br>
              <a:rPr lang="en-US" sz="1800" dirty="0"/>
            </a:br>
            <a:r>
              <a:rPr lang="en-US" sz="1800" dirty="0"/>
              <a:t>(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EBA94C-0260-4C8A-9510-99FBA7D568A0}"/>
              </a:ext>
            </a:extLst>
          </p:cNvPr>
          <p:cNvSpPr/>
          <p:nvPr/>
        </p:nvSpPr>
        <p:spPr>
          <a:xfrm>
            <a:off x="4972050" y="1507259"/>
            <a:ext cx="1714500" cy="62865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07BEB-067C-4471-1190-5BE5FCEE1F8E}"/>
              </a:ext>
            </a:extLst>
          </p:cNvPr>
          <p:cNvSpPr/>
          <p:nvPr/>
        </p:nvSpPr>
        <p:spPr>
          <a:xfrm>
            <a:off x="403537" y="1043309"/>
            <a:ext cx="3086100" cy="286232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Both the </a:t>
            </a:r>
            <a:r>
              <a:rPr lang="en-US" sz="1800" dirty="0">
                <a:solidFill>
                  <a:srgbClr val="FF0000"/>
                </a:solidFill>
              </a:rPr>
              <a:t>local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/>
              <a:t> variables have the same name. </a:t>
            </a:r>
          </a:p>
          <a:p>
            <a:endParaRPr lang="en-US" sz="1800" dirty="0"/>
          </a:p>
          <a:p>
            <a:r>
              <a:rPr lang="en-US" sz="1800" dirty="0"/>
              <a:t>This is called </a:t>
            </a:r>
            <a:r>
              <a:rPr lang="en-US" sz="1800" dirty="0">
                <a:solidFill>
                  <a:schemeClr val="accent1"/>
                </a:solidFill>
              </a:rPr>
              <a:t>name overloading</a:t>
            </a:r>
            <a:r>
              <a:rPr lang="en-US" sz="1800" dirty="0"/>
              <a:t>.  </a:t>
            </a:r>
          </a:p>
          <a:p>
            <a:endParaRPr lang="en-US" sz="1800" dirty="0"/>
          </a:p>
          <a:p>
            <a:r>
              <a:rPr lang="en-US" sz="1800" dirty="0"/>
              <a:t>We use </a:t>
            </a:r>
            <a:r>
              <a:rPr lang="en-US" sz="1800" b="1" dirty="0">
                <a:solidFill>
                  <a:schemeClr val="accent1"/>
                </a:solidFill>
                <a:latin typeface="Monaco" pitchFamily="2" charset="77"/>
              </a:rPr>
              <a:t>this.</a:t>
            </a:r>
            <a:r>
              <a:rPr lang="en-US" sz="1800" dirty="0"/>
              <a:t> to distinguish between </a:t>
            </a:r>
            <a:r>
              <a:rPr lang="en-US" sz="1800" dirty="0">
                <a:solidFill>
                  <a:srgbClr val="FF0000"/>
                </a:solidFill>
              </a:rPr>
              <a:t>local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/>
              <a:t> variables.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3BA39-B448-9626-C129-8B6CA1A83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4332B-AA86-6100-5ECD-69F34C95F4E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0BCFF6-2CF0-D7BB-56BD-4EBFDF33989D}"/>
              </a:ext>
            </a:extLst>
          </p:cNvPr>
          <p:cNvCxnSpPr>
            <a:cxnSpLocks/>
          </p:cNvCxnSpPr>
          <p:nvPr/>
        </p:nvCxnSpPr>
        <p:spPr>
          <a:xfrm flipH="1">
            <a:off x="6473952" y="1389888"/>
            <a:ext cx="694944" cy="347472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EC6BF0-00E9-2E1F-7241-3646A6A01F30}"/>
              </a:ext>
            </a:extLst>
          </p:cNvPr>
          <p:cNvSpPr/>
          <p:nvPr/>
        </p:nvSpPr>
        <p:spPr>
          <a:xfrm>
            <a:off x="5310378" y="3388785"/>
            <a:ext cx="934974" cy="62865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250391600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D0A5B3A-B4F4-DAC3-9047-F70E323AE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3" y="1006259"/>
            <a:ext cx="4389590" cy="3130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86FAB-B356-AE11-C1C5-0B440C40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Constructor – </a:t>
            </a:r>
            <a:r>
              <a:rPr lang="en-US" dirty="0">
                <a:solidFill>
                  <a:srgbClr val="598CBE"/>
                </a:solidFill>
                <a:latin typeface="Monaco" pitchFamily="2" charset="77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EBA94C-0260-4C8A-9510-99FBA7D568A0}"/>
              </a:ext>
            </a:extLst>
          </p:cNvPr>
          <p:cNvSpPr/>
          <p:nvPr/>
        </p:nvSpPr>
        <p:spPr>
          <a:xfrm>
            <a:off x="6164915" y="3439542"/>
            <a:ext cx="857250" cy="55353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383E18-A2EC-ADD9-9B0D-1ADF85D5E523}"/>
              </a:ext>
            </a:extLst>
          </p:cNvPr>
          <p:cNvSpPr/>
          <p:nvPr/>
        </p:nvSpPr>
        <p:spPr>
          <a:xfrm>
            <a:off x="5829300" y="3144674"/>
            <a:ext cx="2711196" cy="285750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AFBEDD-ECE2-E941-3B94-5CB056B3B841}"/>
              </a:ext>
            </a:extLst>
          </p:cNvPr>
          <p:cNvSpPr/>
          <p:nvPr/>
        </p:nvSpPr>
        <p:spPr>
          <a:xfrm>
            <a:off x="7090744" y="2366924"/>
            <a:ext cx="1939528" cy="646331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800" dirty="0"/>
              <a:t>Parameters (</a:t>
            </a:r>
            <a:r>
              <a:rPr lang="en-US" sz="1800" dirty="0">
                <a:solidFill>
                  <a:srgbClr val="C00000"/>
                </a:solidFill>
              </a:rPr>
              <a:t>local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07BEB-067C-4471-1190-5BE5FCEE1F8E}"/>
              </a:ext>
            </a:extLst>
          </p:cNvPr>
          <p:cNvSpPr/>
          <p:nvPr/>
        </p:nvSpPr>
        <p:spPr>
          <a:xfrm>
            <a:off x="403537" y="1043309"/>
            <a:ext cx="3086100" cy="286232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Both the </a:t>
            </a:r>
            <a:r>
              <a:rPr lang="en-US" sz="1800" dirty="0">
                <a:solidFill>
                  <a:srgbClr val="FF0000"/>
                </a:solidFill>
              </a:rPr>
              <a:t>local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/>
              <a:t> variables have the same name. </a:t>
            </a:r>
          </a:p>
          <a:p>
            <a:endParaRPr lang="en-US" sz="1800" dirty="0"/>
          </a:p>
          <a:p>
            <a:r>
              <a:rPr lang="en-US" sz="1800" dirty="0"/>
              <a:t>This is called </a:t>
            </a:r>
            <a:r>
              <a:rPr lang="en-US" sz="1800" dirty="0">
                <a:solidFill>
                  <a:schemeClr val="accent1"/>
                </a:solidFill>
              </a:rPr>
              <a:t>name overloading</a:t>
            </a:r>
            <a:r>
              <a:rPr lang="en-US" sz="1800" dirty="0"/>
              <a:t>.  </a:t>
            </a:r>
          </a:p>
          <a:p>
            <a:endParaRPr lang="en-US" sz="1800" dirty="0"/>
          </a:p>
          <a:p>
            <a:r>
              <a:rPr lang="en-US" sz="1800" dirty="0"/>
              <a:t>We use </a:t>
            </a:r>
            <a:r>
              <a:rPr lang="en-US" sz="1800" b="1" dirty="0">
                <a:solidFill>
                  <a:schemeClr val="accent1"/>
                </a:solidFill>
                <a:latin typeface="Monaco" pitchFamily="2" charset="77"/>
              </a:rPr>
              <a:t>this.</a:t>
            </a:r>
            <a:r>
              <a:rPr lang="en-US" sz="1800" dirty="0"/>
              <a:t> to distinguish between </a:t>
            </a:r>
            <a:r>
              <a:rPr lang="en-US" sz="1800" dirty="0">
                <a:solidFill>
                  <a:srgbClr val="FF0000"/>
                </a:solidFill>
              </a:rPr>
              <a:t>local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00B050"/>
                </a:solidFill>
              </a:rPr>
              <a:t>global</a:t>
            </a:r>
            <a:r>
              <a:rPr lang="en-US" sz="1800" dirty="0"/>
              <a:t> variables.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3BA39-B448-9626-C129-8B6CA1A83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4332B-AA86-6100-5ECD-69F34C95F4E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15</a:t>
            </a:fld>
            <a:endParaRPr lang="en-IE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7710BA-D118-D424-798F-B8BB790DB5B5}"/>
              </a:ext>
            </a:extLst>
          </p:cNvPr>
          <p:cNvCxnSpPr>
            <a:cxnSpLocks/>
          </p:cNvCxnSpPr>
          <p:nvPr/>
        </p:nvCxnSpPr>
        <p:spPr>
          <a:xfrm flipH="1">
            <a:off x="7022165" y="2906930"/>
            <a:ext cx="694944" cy="347472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337615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6863" y="482634"/>
            <a:ext cx="2430271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Add a Spot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50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4385A08-3512-E7DA-47F0-552AC573336B}"/>
              </a:ext>
            </a:extLst>
          </p:cNvPr>
          <p:cNvSpPr txBox="1">
            <a:spLocks/>
          </p:cNvSpPr>
          <p:nvPr/>
        </p:nvSpPr>
        <p:spPr>
          <a:xfrm>
            <a:off x="6229350" y="2743200"/>
            <a:ext cx="2400300" cy="9367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2100"/>
            </a:br>
            <a:br>
              <a:rPr lang="en-US" sz="2100"/>
            </a:br>
            <a:endParaRPr lang="en-US" sz="2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030EF-923B-ED66-9265-459054921580}"/>
              </a:ext>
            </a:extLst>
          </p:cNvPr>
          <p:cNvSpPr/>
          <p:nvPr/>
        </p:nvSpPr>
        <p:spPr>
          <a:xfrm>
            <a:off x="4143375" y="1221914"/>
            <a:ext cx="417195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We defined a Scanner object, called </a:t>
            </a:r>
            <a:r>
              <a:rPr lang="en-US" sz="1800" b="1" dirty="0">
                <a:solidFill>
                  <a:srgbClr val="FF0000"/>
                </a:solidFill>
                <a:latin typeface="Monaco" pitchFamily="2" charset="77"/>
              </a:rPr>
              <a:t>input</a:t>
            </a:r>
            <a:r>
              <a:rPr lang="en-US" sz="1800" dirty="0"/>
              <a:t>, when writing the code to Update a Spot.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4B9B4E-89DD-7DB6-A4C7-AF36778C695F}"/>
              </a:ext>
            </a:extLst>
          </p:cNvPr>
          <p:cNvSpPr/>
          <p:nvPr/>
        </p:nvSpPr>
        <p:spPr>
          <a:xfrm>
            <a:off x="8115300" y="921832"/>
            <a:ext cx="571500" cy="54575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1</a:t>
            </a:r>
            <a:endParaRPr lang="en-US" sz="1688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01A78E-A602-3FBE-8B19-36C50DE8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Adding a New Spot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59294-6F08-510E-37F1-F8560DD17E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1031C2-22A7-572D-8975-03EA9B30B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93594D03-9EBE-2DBF-4797-DA61E0488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10" y="1022411"/>
            <a:ext cx="3504528" cy="1401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3988B4-A4C0-409D-1540-9047A752E793}"/>
              </a:ext>
            </a:extLst>
          </p:cNvPr>
          <p:cNvSpPr/>
          <p:nvPr/>
        </p:nvSpPr>
        <p:spPr>
          <a:xfrm>
            <a:off x="2359771" y="876876"/>
            <a:ext cx="1530382" cy="369332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E" sz="1800" b="1" dirty="0">
                <a:solidFill>
                  <a:schemeClr val="tx1"/>
                </a:solidFill>
              </a:rPr>
              <a:t>Driver class</a:t>
            </a:r>
            <a:endParaRPr lang="en-IE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F71EF6-D58B-E061-D279-5562838E460A}"/>
              </a:ext>
            </a:extLst>
          </p:cNvPr>
          <p:cNvCxnSpPr>
            <a:cxnSpLocks/>
          </p:cNvCxnSpPr>
          <p:nvPr/>
        </p:nvCxnSpPr>
        <p:spPr>
          <a:xfrm flipV="1">
            <a:off x="1407749" y="2280897"/>
            <a:ext cx="0" cy="773199"/>
          </a:xfrm>
          <a:prstGeom prst="straightConnector1">
            <a:avLst/>
          </a:prstGeom>
          <a:noFill/>
          <a:ln w="63500" cap="flat">
            <a:solidFill>
              <a:srgbClr val="0E9647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0550824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603B022-E23E-E251-C6EC-929F61F03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10" y="1022411"/>
            <a:ext cx="3504528" cy="1401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4385A08-3512-E7DA-47F0-552AC573336B}"/>
              </a:ext>
            </a:extLst>
          </p:cNvPr>
          <p:cNvSpPr txBox="1">
            <a:spLocks/>
          </p:cNvSpPr>
          <p:nvPr/>
        </p:nvSpPr>
        <p:spPr>
          <a:xfrm>
            <a:off x="6229350" y="2743200"/>
            <a:ext cx="2400300" cy="9367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2100"/>
            </a:br>
            <a:br>
              <a:rPr lang="en-US" sz="2100"/>
            </a:br>
            <a:endParaRPr lang="en-US" sz="2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030EF-923B-ED66-9265-459054921580}"/>
              </a:ext>
            </a:extLst>
          </p:cNvPr>
          <p:cNvSpPr/>
          <p:nvPr/>
        </p:nvSpPr>
        <p:spPr>
          <a:xfrm>
            <a:off x="4286251" y="984352"/>
            <a:ext cx="417195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Now write a new method that will ask the user for the values for the three Spot fields and then use our new constructor to create a new Spot object.</a:t>
            </a: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DE7FD3A-ABCE-07B3-1FCF-D38286693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324" y="2507400"/>
            <a:ext cx="5436975" cy="2076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F25C1AA-663D-A4FE-2D8D-DC3C3196FCCA}"/>
              </a:ext>
            </a:extLst>
          </p:cNvPr>
          <p:cNvSpPr/>
          <p:nvPr/>
        </p:nvSpPr>
        <p:spPr>
          <a:xfrm>
            <a:off x="8282799" y="711475"/>
            <a:ext cx="571500" cy="54575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2</a:t>
            </a:r>
            <a:endParaRPr lang="en-US" sz="1688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57F363A-72E0-3DDA-52E9-CD12AD54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a New Spot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B0948-B6AF-9815-17D6-0BB43232EAA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18</a:t>
            </a:fld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58F805-1A23-7E22-3E70-75E1CCBB6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1DA530-5ABD-B22C-7A58-5930AF1110BC}"/>
              </a:ext>
            </a:extLst>
          </p:cNvPr>
          <p:cNvSpPr/>
          <p:nvPr/>
        </p:nvSpPr>
        <p:spPr>
          <a:xfrm>
            <a:off x="2359771" y="876876"/>
            <a:ext cx="1530382" cy="369332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E" sz="1800" b="1" dirty="0">
                <a:solidFill>
                  <a:schemeClr val="tx1"/>
                </a:solidFill>
              </a:rPr>
              <a:t>Driver class</a:t>
            </a:r>
            <a:endParaRPr lang="en-IE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470606-7AB7-174D-EC14-28AD9C627D15}"/>
              </a:ext>
            </a:extLst>
          </p:cNvPr>
          <p:cNvCxnSpPr>
            <a:cxnSpLocks/>
          </p:cNvCxnSpPr>
          <p:nvPr/>
        </p:nvCxnSpPr>
        <p:spPr>
          <a:xfrm>
            <a:off x="2681572" y="3901365"/>
            <a:ext cx="1066232" cy="268442"/>
          </a:xfrm>
          <a:prstGeom prst="straightConnector1">
            <a:avLst/>
          </a:prstGeom>
          <a:noFill/>
          <a:ln w="63500" cap="flat">
            <a:solidFill>
              <a:srgbClr val="0E9647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16EFF8-EA0F-DC49-F964-9927F01F94A1}"/>
              </a:ext>
            </a:extLst>
          </p:cNvPr>
          <p:cNvSpPr/>
          <p:nvPr/>
        </p:nvSpPr>
        <p:spPr>
          <a:xfrm>
            <a:off x="4649429" y="4035586"/>
            <a:ext cx="4071784" cy="285750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16656044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B26D-F9DC-5F26-3686-0655B82D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a New Spot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760BA-5BC6-EE44-8288-594F1C849B9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19</a:t>
            </a:fld>
            <a:endParaRPr lang="en-I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F159D-D0DF-14F4-A782-EB4346EF0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385A08-3512-E7DA-47F0-552AC573336B}"/>
              </a:ext>
            </a:extLst>
          </p:cNvPr>
          <p:cNvSpPr txBox="1">
            <a:spLocks/>
          </p:cNvSpPr>
          <p:nvPr/>
        </p:nvSpPr>
        <p:spPr>
          <a:xfrm>
            <a:off x="6229350" y="2743200"/>
            <a:ext cx="2400300" cy="9367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2100"/>
            </a:br>
            <a:br>
              <a:rPr lang="en-US" sz="2100"/>
            </a:br>
            <a:endParaRPr lang="en-US" sz="2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030EF-923B-ED66-9265-459054921580}"/>
              </a:ext>
            </a:extLst>
          </p:cNvPr>
          <p:cNvSpPr/>
          <p:nvPr/>
        </p:nvSpPr>
        <p:spPr>
          <a:xfrm>
            <a:off x="4343400" y="1319497"/>
            <a:ext cx="417195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Now call this new method from the Driver() constructor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25C1AA-663D-A4FE-2D8D-DC3C3196FCCA}"/>
              </a:ext>
            </a:extLst>
          </p:cNvPr>
          <p:cNvSpPr/>
          <p:nvPr/>
        </p:nvSpPr>
        <p:spPr>
          <a:xfrm>
            <a:off x="8343900" y="1001534"/>
            <a:ext cx="571500" cy="54575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3</a:t>
            </a:r>
            <a:endParaRPr lang="en-US" sz="1688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C349174-9103-0DBD-A34E-D08C724C8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797" y="2147855"/>
            <a:ext cx="3669131" cy="2438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0D0F1CDC-CBA4-7E7A-1F04-028A7634F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10" y="1022411"/>
            <a:ext cx="3504528" cy="1401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854A2EC-900B-843B-9B81-EDC11DF6BFEE}"/>
              </a:ext>
            </a:extLst>
          </p:cNvPr>
          <p:cNvSpPr/>
          <p:nvPr/>
        </p:nvSpPr>
        <p:spPr>
          <a:xfrm>
            <a:off x="2359771" y="876876"/>
            <a:ext cx="1530382" cy="369332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E" sz="1800" b="1" dirty="0">
                <a:solidFill>
                  <a:schemeClr val="tx1"/>
                </a:solidFill>
              </a:rPr>
              <a:t>Driver class</a:t>
            </a:r>
            <a:endParaRPr lang="en-IE" sz="18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5314CF-0D31-4F41-7C62-3DE59DCCB9B1}"/>
              </a:ext>
            </a:extLst>
          </p:cNvPr>
          <p:cNvCxnSpPr>
            <a:cxnSpLocks/>
          </p:cNvCxnSpPr>
          <p:nvPr/>
        </p:nvCxnSpPr>
        <p:spPr>
          <a:xfrm flipH="1">
            <a:off x="6131029" y="2526702"/>
            <a:ext cx="899037" cy="0"/>
          </a:xfrm>
          <a:prstGeom prst="straightConnector1">
            <a:avLst/>
          </a:prstGeom>
          <a:noFill/>
          <a:ln w="63500" cap="flat">
            <a:solidFill>
              <a:srgbClr val="0E9647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6914512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B26D-F9DC-5F26-3686-0655B82D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a New Spot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385A08-3512-E7DA-47F0-552AC573336B}"/>
              </a:ext>
            </a:extLst>
          </p:cNvPr>
          <p:cNvSpPr txBox="1">
            <a:spLocks/>
          </p:cNvSpPr>
          <p:nvPr/>
        </p:nvSpPr>
        <p:spPr>
          <a:xfrm>
            <a:off x="6229350" y="2743200"/>
            <a:ext cx="2400300" cy="9367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2100"/>
            </a:br>
            <a:br>
              <a:rPr lang="en-US" sz="2100"/>
            </a:br>
            <a:endParaRPr lang="en-US" sz="2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030EF-923B-ED66-9265-459054921580}"/>
              </a:ext>
            </a:extLst>
          </p:cNvPr>
          <p:cNvSpPr/>
          <p:nvPr/>
        </p:nvSpPr>
        <p:spPr>
          <a:xfrm>
            <a:off x="4213454" y="1028357"/>
            <a:ext cx="3446861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When you run the app, you should now be asked to enter in any details you wish for each of the fields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25C1AA-663D-A4FE-2D8D-DC3C3196FCCA}"/>
              </a:ext>
            </a:extLst>
          </p:cNvPr>
          <p:cNvSpPr/>
          <p:nvPr/>
        </p:nvSpPr>
        <p:spPr>
          <a:xfrm>
            <a:off x="7429500" y="730576"/>
            <a:ext cx="571500" cy="54575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4</a:t>
            </a:r>
            <a:endParaRPr lang="en-US" sz="1688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0F1ADC-BB2C-7DFB-C27A-2458900D9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9" b="13504"/>
          <a:stretch/>
        </p:blipFill>
        <p:spPr bwMode="auto">
          <a:xfrm>
            <a:off x="239316" y="1103707"/>
            <a:ext cx="2975372" cy="3083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791FF-FF53-658B-A39C-5470240F1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19145-8C82-50A0-5F3A-8B4F4ABCA73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20</a:t>
            </a:fld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B5D83-4E2E-6232-BFA8-D741AB159C74}"/>
              </a:ext>
            </a:extLst>
          </p:cNvPr>
          <p:cNvSpPr/>
          <p:nvPr/>
        </p:nvSpPr>
        <p:spPr>
          <a:xfrm>
            <a:off x="2359771" y="876876"/>
            <a:ext cx="1530382" cy="369332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IE" sz="1800" b="1" dirty="0">
                <a:solidFill>
                  <a:schemeClr val="tx1"/>
                </a:solidFill>
              </a:rPr>
              <a:t>Driver class</a:t>
            </a:r>
            <a:endParaRPr lang="en-IE" sz="18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18AFD7-EA8C-B89B-7F24-379C50623D0E}"/>
              </a:ext>
            </a:extLst>
          </p:cNvPr>
          <p:cNvCxnSpPr>
            <a:cxnSpLocks/>
          </p:cNvCxnSpPr>
          <p:nvPr/>
        </p:nvCxnSpPr>
        <p:spPr>
          <a:xfrm flipH="1" flipV="1">
            <a:off x="2784265" y="1798551"/>
            <a:ext cx="1335451" cy="875823"/>
          </a:xfrm>
          <a:prstGeom prst="straightConnector1">
            <a:avLst/>
          </a:prstGeom>
          <a:noFill/>
          <a:ln w="63500" cap="flat">
            <a:solidFill>
              <a:srgbClr val="0E9647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9300425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345" y="482634"/>
            <a:ext cx="4393307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User Input Validation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90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E630-5076-4E08-535E-C9B8299E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No Validation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4613AB-7342-AA77-F045-720A9995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4520593" cy="4299943"/>
          </a:xfrm>
        </p:spPr>
        <p:txBody>
          <a:bodyPr/>
          <a:lstStyle/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r>
              <a:rPr lang="en-US" sz="2800" dirty="0"/>
              <a:t>The purpose of this app is to do calculations on a Spot that can be drawn on a monitor. </a:t>
            </a:r>
          </a:p>
          <a:p>
            <a:pPr marL="0" indent="0" algn="l" rtl="0">
              <a:spcBef>
                <a:spcPts val="377"/>
              </a:spcBef>
              <a:buClr>
                <a:srgbClr val="194699"/>
              </a:buClr>
              <a:buSzPct val="100000"/>
              <a:buNone/>
            </a:pPr>
            <a:endParaRPr lang="en-US" sz="28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r>
              <a:rPr lang="en-US" sz="2800" dirty="0"/>
              <a:t>Do you, for either the add or the update, try enter absurd values for any of the fields?</a:t>
            </a:r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28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0BD11-C18F-E430-120B-7BA603FCAA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22</a:t>
            </a:fld>
            <a:endParaRPr lang="en-I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CD49F-E44A-6894-3F77-61D0FE221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5" name="Content Placeholder 4" descr="Text&#10;&#10;Description automatically generated with medium confidence">
            <a:extLst>
              <a:ext uri="{FF2B5EF4-FFF2-40B4-BE49-F238E27FC236}">
                <a16:creationId xmlns:a16="http://schemas.microsoft.com/office/drawing/2014/main" id="{60C55A86-B0E8-7F08-2BFE-7178AE52F73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614" y="1122952"/>
            <a:ext cx="3371850" cy="3371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4D3A3B-8C4C-75CB-4802-E351F5A20935}"/>
              </a:ext>
            </a:extLst>
          </p:cNvPr>
          <p:cNvSpPr/>
          <p:nvPr/>
        </p:nvSpPr>
        <p:spPr>
          <a:xfrm>
            <a:off x="5886450" y="1543050"/>
            <a:ext cx="2800350" cy="685800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7874886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782603-2B3C-97F6-274E-B292B54D2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4530425" cy="4299943"/>
          </a:xfrm>
        </p:spPr>
        <p:txBody>
          <a:bodyPr/>
          <a:lstStyle/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r>
              <a:rPr lang="en-US" sz="2800" dirty="0"/>
              <a:t>Clearly we need to put some restrictions in place for each field i.e.:</a:t>
            </a:r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dirty="0"/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b="1" dirty="0"/>
              <a:t>min</a:t>
            </a:r>
            <a:r>
              <a:rPr lang="en-US" dirty="0"/>
              <a:t> and </a:t>
            </a:r>
            <a:r>
              <a:rPr lang="en-US" b="1" dirty="0"/>
              <a:t>max</a:t>
            </a:r>
            <a:r>
              <a:rPr lang="en-US" dirty="0"/>
              <a:t> permitted values</a:t>
            </a:r>
          </a:p>
          <a:p>
            <a:pPr lvl="1" indent="-292097" algn="l" rtl="0">
              <a:buSzPct val="100000"/>
              <a:buFont typeface="Wingdings"/>
              <a:buChar char="❑"/>
            </a:pPr>
            <a:endParaRPr lang="en-US" dirty="0"/>
          </a:p>
          <a:p>
            <a:pPr lvl="1" indent="-292097" algn="l" rtl="0">
              <a:buSzPct val="100000"/>
              <a:buFont typeface="Wingdings"/>
              <a:buChar char="❑"/>
            </a:pPr>
            <a:r>
              <a:rPr lang="en-US" b="1" dirty="0"/>
              <a:t>default</a:t>
            </a:r>
            <a:r>
              <a:rPr lang="en-US" dirty="0"/>
              <a:t> value if the </a:t>
            </a:r>
            <a:r>
              <a:rPr lang="en-US" b="1" dirty="0"/>
              <a:t>min</a:t>
            </a:r>
            <a:r>
              <a:rPr lang="en-US" dirty="0"/>
              <a:t> and </a:t>
            </a:r>
            <a:r>
              <a:rPr lang="en-US" b="1" dirty="0"/>
              <a:t>max</a:t>
            </a:r>
            <a:r>
              <a:rPr lang="en-US" dirty="0"/>
              <a:t> are breached.</a:t>
            </a:r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dirty="0"/>
          </a:p>
        </p:txBody>
      </p:sp>
      <p:pic>
        <p:nvPicPr>
          <p:cNvPr id="10" name="Content Placeholder 4" descr="Text&#10;&#10;Description automatically generated with medium confidence">
            <a:extLst>
              <a:ext uri="{FF2B5EF4-FFF2-40B4-BE49-F238E27FC236}">
                <a16:creationId xmlns:a16="http://schemas.microsoft.com/office/drawing/2014/main" id="{C1DE391B-CB68-C141-6BA5-8DC6A269E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614" y="1122952"/>
            <a:ext cx="3371850" cy="3371850"/>
          </a:xfrm>
          <a:prstGeom prst="rect">
            <a:avLst/>
          </a:prstGeom>
          <a:ln w="12700">
            <a:noFill/>
            <a:miter lim="400000"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EE630-5076-4E08-535E-C9B8299E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No Validation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4D3A3B-8C4C-75CB-4802-E351F5A20935}"/>
              </a:ext>
            </a:extLst>
          </p:cNvPr>
          <p:cNvSpPr/>
          <p:nvPr/>
        </p:nvSpPr>
        <p:spPr>
          <a:xfrm>
            <a:off x="5886450" y="1543050"/>
            <a:ext cx="2800350" cy="685800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7828A-E051-DD8B-4913-51294085B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B0134-8162-19A9-EF10-CCC78490CE3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7719909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747D-D827-C8FF-D045-8C748248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Rules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438B3F-FB56-705A-C8E7-560082B8E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951893"/>
              </p:ext>
            </p:extLst>
          </p:nvPr>
        </p:nvGraphicFramePr>
        <p:xfrm>
          <a:off x="152400" y="1061516"/>
          <a:ext cx="8839200" cy="2744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2193">
                  <a:extLst>
                    <a:ext uri="{9D8B030D-6E8A-4147-A177-3AD203B41FA5}">
                      <a16:colId xmlns:a16="http://schemas.microsoft.com/office/drawing/2014/main" val="223991253"/>
                    </a:ext>
                  </a:extLst>
                </a:gridCol>
                <a:gridCol w="3417794">
                  <a:extLst>
                    <a:ext uri="{9D8B030D-6E8A-4147-A177-3AD203B41FA5}">
                      <a16:colId xmlns:a16="http://schemas.microsoft.com/office/drawing/2014/main" val="2644060556"/>
                    </a:ext>
                  </a:extLst>
                </a:gridCol>
                <a:gridCol w="2982930">
                  <a:extLst>
                    <a:ext uri="{9D8B030D-6E8A-4147-A177-3AD203B41FA5}">
                      <a16:colId xmlns:a16="http://schemas.microsoft.com/office/drawing/2014/main" val="3222256304"/>
                    </a:ext>
                  </a:extLst>
                </a:gridCol>
                <a:gridCol w="1166283">
                  <a:extLst>
                    <a:ext uri="{9D8B030D-6E8A-4147-A177-3AD203B41FA5}">
                      <a16:colId xmlns:a16="http://schemas.microsoft.com/office/drawing/2014/main" val="4192201958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Default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124558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xCoord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or equal to 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Less than or equal to 800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400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15035535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yCoord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or equal to 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Less than or equal to 700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350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47952788"/>
                  </a:ext>
                </a:extLst>
              </a:tr>
              <a:tr h="618475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diameter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Greater than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600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993658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698DE-DEFE-9BD4-D7F5-BD2E97802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E20BE-0A05-97B3-0BEE-423C972915E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154137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345" y="482634"/>
            <a:ext cx="4393307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User Input Validation</a:t>
            </a:r>
            <a:endParaRPr lang="en-IE" sz="3600" b="1" dirty="0">
              <a:solidFill>
                <a:srgbClr val="0368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486DBD9-B854-15F9-FD95-2B3F5E2258DC}"/>
              </a:ext>
            </a:extLst>
          </p:cNvPr>
          <p:cNvSpPr txBox="1">
            <a:spLocks/>
          </p:cNvSpPr>
          <p:nvPr/>
        </p:nvSpPr>
        <p:spPr>
          <a:xfrm>
            <a:off x="1915223" y="2325817"/>
            <a:ext cx="5029200" cy="1102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>
            <a:lvl1pPr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defTabSz="914400"/>
            <a:r>
              <a:rPr lang="en-US" dirty="0"/>
              <a:t>Implementing Validation Rules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598CBE"/>
                </a:solidFill>
              </a:rPr>
              <a:t>Default Values</a:t>
            </a:r>
          </a:p>
        </p:txBody>
      </p:sp>
    </p:spTree>
    <p:extLst>
      <p:ext uri="{BB962C8B-B14F-4D97-AF65-F5344CB8AC3E}">
        <p14:creationId xmlns:p14="http://schemas.microsoft.com/office/powerpoint/2010/main" val="3544997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Rules – Default Values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F39BCF8-DDC2-2B0D-BAA7-10CE89FF4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82" y="2978561"/>
            <a:ext cx="3075165" cy="1485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3545219" y="3219068"/>
            <a:ext cx="1611788" cy="753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B8DF95A-E448-1625-2C56-B46D1D1D0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70" y="2928555"/>
            <a:ext cx="3493554" cy="1548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51B7CCF-14F3-36A1-B487-6D33FAAF5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325543"/>
              </p:ext>
            </p:extLst>
          </p:nvPr>
        </p:nvGraphicFramePr>
        <p:xfrm>
          <a:off x="457200" y="933301"/>
          <a:ext cx="4493419" cy="18295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9045">
                  <a:extLst>
                    <a:ext uri="{9D8B030D-6E8A-4147-A177-3AD203B41FA5}">
                      <a16:colId xmlns:a16="http://schemas.microsoft.com/office/drawing/2014/main" val="223991253"/>
                    </a:ext>
                  </a:extLst>
                </a:gridCol>
                <a:gridCol w="2134374">
                  <a:extLst>
                    <a:ext uri="{9D8B030D-6E8A-4147-A177-3AD203B41FA5}">
                      <a16:colId xmlns:a16="http://schemas.microsoft.com/office/drawing/2014/main" val="4192201958"/>
                    </a:ext>
                  </a:extLst>
                </a:gridCol>
              </a:tblGrid>
              <a:tr h="47665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Default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124558"/>
                  </a:ext>
                </a:extLst>
              </a:tr>
              <a:tr h="35577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xCoord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400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150355354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yCoord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350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47952788"/>
                  </a:ext>
                </a:extLst>
              </a:tr>
              <a:tr h="497394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diameter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993658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F06A4-4886-226D-5647-0D08097F2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45488-C2D6-99D3-3AFF-D435C1C2A6E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2495162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345" y="482634"/>
            <a:ext cx="4393307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User Input Validation</a:t>
            </a:r>
            <a:endParaRPr lang="en-IE" sz="3600" b="1" dirty="0">
              <a:solidFill>
                <a:srgbClr val="0368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486DBD9-B854-15F9-FD95-2B3F5E2258DC}"/>
              </a:ext>
            </a:extLst>
          </p:cNvPr>
          <p:cNvSpPr txBox="1">
            <a:spLocks/>
          </p:cNvSpPr>
          <p:nvPr/>
        </p:nvSpPr>
        <p:spPr>
          <a:xfrm>
            <a:off x="1915223" y="2325817"/>
            <a:ext cx="5029200" cy="1102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>
            <a:lvl1pPr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defTabSz="914400"/>
            <a:r>
              <a:rPr lang="en-US" dirty="0"/>
              <a:t>Implementing Validation Rules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solidFill>
                  <a:srgbClr val="598CBE"/>
                </a:solidFill>
              </a:rPr>
              <a:t>xCoord</a:t>
            </a:r>
            <a:endParaRPr lang="en-US" b="1" dirty="0">
              <a:solidFill>
                <a:srgbClr val="598C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45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Monaco" pitchFamily="2" charset="77"/>
              </a:rPr>
              <a:t>xCoord</a:t>
            </a:r>
            <a:r>
              <a:rPr lang="en-US" dirty="0"/>
              <a:t> – mutator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3804502" y="2619299"/>
            <a:ext cx="154305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769520"/>
              </p:ext>
            </p:extLst>
          </p:nvPr>
        </p:nvGraphicFramePr>
        <p:xfrm>
          <a:off x="457201" y="1200151"/>
          <a:ext cx="8229600" cy="85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573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348935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357677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43598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4212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xCoord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or equal to 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or equal to 800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55D869C-49A1-1EEB-ECA0-8BFD65E9F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712" y="2344073"/>
            <a:ext cx="3588253" cy="1161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FB26C4C-0561-21FD-3474-9EBA9C6E0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35" y="2571750"/>
            <a:ext cx="3508397" cy="814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CD11A-7C7F-3F5C-03CC-DBE5621B7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57462-D58A-B755-1C17-A6F6B443FBE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6573342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Monaco" pitchFamily="2" charset="77"/>
              </a:rPr>
              <a:t>xCoord</a:t>
            </a:r>
            <a:r>
              <a:rPr lang="en-US" dirty="0"/>
              <a:t> – constructor changes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8395"/>
              </p:ext>
            </p:extLst>
          </p:nvPr>
        </p:nvGraphicFramePr>
        <p:xfrm>
          <a:off x="457201" y="1200151"/>
          <a:ext cx="8229600" cy="85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573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348935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357677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43598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4212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xCoord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or equal to 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or equal to 800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EE162BA5-7220-9C81-D04E-9C0ECFD7A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2282428"/>
            <a:ext cx="4305300" cy="1085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1F2C3B37-9A95-EA13-79F9-0067ECC84F06}"/>
              </a:ext>
            </a:extLst>
          </p:cNvPr>
          <p:cNvSpPr/>
          <p:nvPr/>
        </p:nvSpPr>
        <p:spPr>
          <a:xfrm>
            <a:off x="2539795" y="3753597"/>
            <a:ext cx="154305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pic>
        <p:nvPicPr>
          <p:cNvPr id="18" name="Picture 17" descr="Text&#10;&#10;Description automatically generated with medium confidence">
            <a:extLst>
              <a:ext uri="{FF2B5EF4-FFF2-40B4-BE49-F238E27FC236}">
                <a16:creationId xmlns:a16="http://schemas.microsoft.com/office/drawing/2014/main" id="{4D328955-ACBA-A856-B9CE-8DA20C829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582857"/>
            <a:ext cx="4352925" cy="1085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F7C57-DC2B-E794-A721-07A3C00B8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2F746-7163-0CD8-E039-6A53EBDA59D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4783127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345" y="482634"/>
            <a:ext cx="4393307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User Input Validation</a:t>
            </a:r>
            <a:endParaRPr lang="en-IE" sz="3600" b="1" dirty="0">
              <a:solidFill>
                <a:srgbClr val="0368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486DBD9-B854-15F9-FD95-2B3F5E2258DC}"/>
              </a:ext>
            </a:extLst>
          </p:cNvPr>
          <p:cNvSpPr txBox="1">
            <a:spLocks/>
          </p:cNvSpPr>
          <p:nvPr/>
        </p:nvSpPr>
        <p:spPr>
          <a:xfrm>
            <a:off x="1915223" y="2325817"/>
            <a:ext cx="5029200" cy="1102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>
            <a:lvl1pPr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defTabSz="914400"/>
            <a:r>
              <a:rPr lang="en-US" dirty="0"/>
              <a:t>Implementing Validation Rules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solidFill>
                  <a:srgbClr val="598CBE"/>
                </a:solidFill>
              </a:rPr>
              <a:t>yCoord</a:t>
            </a:r>
            <a:endParaRPr lang="en-US" b="1" dirty="0">
              <a:solidFill>
                <a:srgbClr val="598C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0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Monaco" pitchFamily="2" charset="77"/>
              </a:rPr>
              <a:t>yCoord</a:t>
            </a:r>
            <a:r>
              <a:rPr lang="en-US" dirty="0"/>
              <a:t> – mutator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3486150" y="2714278"/>
            <a:ext cx="154305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46422"/>
              </p:ext>
            </p:extLst>
          </p:nvPr>
        </p:nvGraphicFramePr>
        <p:xfrm>
          <a:off x="457201" y="1200151"/>
          <a:ext cx="8229600" cy="85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573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348935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357677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43598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4212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yCoord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or equal to 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or equal to 700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FBD51A5-838D-14C0-6285-B41A04E10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2487462"/>
            <a:ext cx="3915237" cy="1330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16F4006-6F28-E320-28BA-1291D374E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6" y="2583307"/>
            <a:ext cx="3199466" cy="8078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61D34-49D0-FB44-44CC-50EF4F1D6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63532-D423-35CB-6BF8-43B784D14ED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6725061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Monaco" pitchFamily="2" charset="77"/>
              </a:rPr>
              <a:t>yCoord</a:t>
            </a:r>
            <a:r>
              <a:rPr lang="en-US" dirty="0"/>
              <a:t> – constructor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2738686" y="3799189"/>
            <a:ext cx="154305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20936"/>
              </p:ext>
            </p:extLst>
          </p:nvPr>
        </p:nvGraphicFramePr>
        <p:xfrm>
          <a:off x="457201" y="1200151"/>
          <a:ext cx="8229600" cy="85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573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348935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357677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43598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4212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yCoord</a:t>
                      </a:r>
                      <a:endParaRPr lang="en-US" sz="2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or equal to 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or equal to 700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4F92DF0-B0A2-8674-5A18-96350B154E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4"/>
          <a:stretch/>
        </p:blipFill>
        <p:spPr>
          <a:xfrm>
            <a:off x="171450" y="2246674"/>
            <a:ext cx="4400550" cy="1213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D76BF92F-A876-6240-E832-AD6A3CD1D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597841"/>
            <a:ext cx="4400550" cy="1162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81A72-D7FC-1E9E-77F6-C34F903CD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C1D5BC-E123-1E21-877A-CF264D6A0F2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9334031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345" y="482634"/>
            <a:ext cx="4393307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User Input Validation</a:t>
            </a:r>
            <a:endParaRPr lang="en-IE" sz="3600" b="1" dirty="0">
              <a:solidFill>
                <a:srgbClr val="0368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486DBD9-B854-15F9-FD95-2B3F5E2258DC}"/>
              </a:ext>
            </a:extLst>
          </p:cNvPr>
          <p:cNvSpPr txBox="1">
            <a:spLocks/>
          </p:cNvSpPr>
          <p:nvPr/>
        </p:nvSpPr>
        <p:spPr>
          <a:xfrm>
            <a:off x="1915223" y="2325817"/>
            <a:ext cx="5029200" cy="1102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>
            <a:lvl1pPr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defTabSz="914400"/>
            <a:r>
              <a:rPr lang="en-US" dirty="0"/>
              <a:t>Implementing Validation Rules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598CBE"/>
                </a:solidFill>
              </a:rPr>
              <a:t>diameter</a:t>
            </a:r>
          </a:p>
        </p:txBody>
      </p:sp>
    </p:spTree>
    <p:extLst>
      <p:ext uri="{BB962C8B-B14F-4D97-AF65-F5344CB8AC3E}">
        <p14:creationId xmlns:p14="http://schemas.microsoft.com/office/powerpoint/2010/main" val="2348950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onaco" pitchFamily="2" charset="77"/>
              </a:rPr>
              <a:t>diameter</a:t>
            </a:r>
            <a:r>
              <a:rPr lang="en-US" dirty="0"/>
              <a:t> – mutator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3491955" y="2652363"/>
            <a:ext cx="154305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30AC60-8ECD-0043-0FA3-EB92E8684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821049"/>
              </p:ext>
            </p:extLst>
          </p:nvPr>
        </p:nvGraphicFramePr>
        <p:xfrm>
          <a:off x="457201" y="1200151"/>
          <a:ext cx="8229600" cy="85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573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348935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357677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43598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4212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diameter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600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8BD01FD2-6B91-9DBD-9C0E-07B0549F3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209" y="2503538"/>
            <a:ext cx="3768041" cy="1171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85052822-2368-C1D9-431F-5338D5A9A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81" y="2628550"/>
            <a:ext cx="3105150" cy="638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8726C-8386-DC7E-250E-73A7B5F6A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BFA3A-D42F-2397-47D8-9CB8CCBD13E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2780610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641-A2AE-33C0-D3B7-069C781F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onaco" pitchFamily="2" charset="77"/>
              </a:rPr>
              <a:t>diameter</a:t>
            </a:r>
            <a:r>
              <a:rPr lang="en-US" dirty="0"/>
              <a:t> – constructor changes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7F30EB-038F-F45B-7C9A-A4073CB08721}"/>
              </a:ext>
            </a:extLst>
          </p:cNvPr>
          <p:cNvSpPr/>
          <p:nvPr/>
        </p:nvSpPr>
        <p:spPr>
          <a:xfrm>
            <a:off x="2457450" y="3545761"/>
            <a:ext cx="154305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becomes</a:t>
            </a:r>
            <a:endParaRPr lang="en-US" sz="1688" dirty="0"/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1EB6286C-865B-3F25-E649-190EAEF7C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58182"/>
            <a:ext cx="4400550" cy="1162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84DB1DD-0391-6F01-AA92-B07AC054C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337" y="3538115"/>
            <a:ext cx="4720825" cy="1162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22411-20BD-175A-B278-9FE526916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206A6F-1A10-C3D6-567C-3C3B939FA55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35</a:t>
            </a:fld>
            <a:endParaRPr lang="en-I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FC20EB-3A44-E331-AB53-2671EB743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0674"/>
              </p:ext>
            </p:extLst>
          </p:nvPr>
        </p:nvGraphicFramePr>
        <p:xfrm>
          <a:off x="457201" y="1200151"/>
          <a:ext cx="8229600" cy="85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573">
                  <a:extLst>
                    <a:ext uri="{9D8B030D-6E8A-4147-A177-3AD203B41FA5}">
                      <a16:colId xmlns:a16="http://schemas.microsoft.com/office/drawing/2014/main" val="2105601890"/>
                    </a:ext>
                  </a:extLst>
                </a:gridCol>
                <a:gridCol w="3489350">
                  <a:extLst>
                    <a:ext uri="{9D8B030D-6E8A-4147-A177-3AD203B41FA5}">
                      <a16:colId xmlns:a16="http://schemas.microsoft.com/office/drawing/2014/main" val="552944904"/>
                    </a:ext>
                  </a:extLst>
                </a:gridCol>
                <a:gridCol w="3357677">
                  <a:extLst>
                    <a:ext uri="{9D8B030D-6E8A-4147-A177-3AD203B41FA5}">
                      <a16:colId xmlns:a16="http://schemas.microsoft.com/office/drawing/2014/main" val="2874185333"/>
                    </a:ext>
                  </a:extLst>
                </a:gridCol>
              </a:tblGrid>
              <a:tr h="435983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Min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solidFill>
                            <a:schemeClr val="bg1"/>
                          </a:solidFill>
                        </a:rPr>
                        <a:t>Max Value</a:t>
                      </a:r>
                    </a:p>
                  </a:txBody>
                  <a:tcPr marL="68580" marR="68580" marT="34290" marB="34290" anchor="ctr"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0240"/>
                  </a:ext>
                </a:extLst>
              </a:tr>
              <a:tr h="421267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diameter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Greater than 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Less than 600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9421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12399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345" y="482634"/>
            <a:ext cx="4393307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User Input Validation</a:t>
            </a:r>
            <a:endParaRPr lang="en-IE" sz="3600" b="1" dirty="0">
              <a:solidFill>
                <a:srgbClr val="0368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486DBD9-B854-15F9-FD95-2B3F5E2258DC}"/>
              </a:ext>
            </a:extLst>
          </p:cNvPr>
          <p:cNvSpPr txBox="1">
            <a:spLocks/>
          </p:cNvSpPr>
          <p:nvPr/>
        </p:nvSpPr>
        <p:spPr>
          <a:xfrm>
            <a:off x="1551969" y="1585153"/>
            <a:ext cx="6040057" cy="184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>
            <a:lvl1pPr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defTabSz="914400"/>
            <a:r>
              <a:rPr lang="en-US" dirty="0"/>
              <a:t>Boundary Testing the Validation Rules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598CBE"/>
                </a:solidFill>
              </a:rPr>
              <a:t>for Add and Update</a:t>
            </a:r>
          </a:p>
        </p:txBody>
      </p:sp>
    </p:spTree>
    <p:extLst>
      <p:ext uri="{BB962C8B-B14F-4D97-AF65-F5344CB8AC3E}">
        <p14:creationId xmlns:p14="http://schemas.microsoft.com/office/powerpoint/2010/main" val="2305803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D549-26FC-AB14-6B91-9900912D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Boundary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5841-7C4C-18EF-EBD0-C41424289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Boundary Testing is when you input test data that is:</a:t>
            </a:r>
          </a:p>
          <a:p>
            <a:pPr lvl="1"/>
            <a:r>
              <a:rPr lang="en-US" dirty="0"/>
              <a:t>Just inside</a:t>
            </a:r>
          </a:p>
          <a:p>
            <a:pPr lvl="1"/>
            <a:r>
              <a:rPr lang="en-US" dirty="0"/>
              <a:t>Just outside </a:t>
            </a:r>
          </a:p>
          <a:p>
            <a:pPr marL="0" indent="0">
              <a:buNone/>
            </a:pPr>
            <a:r>
              <a:rPr lang="en-US" dirty="0"/>
              <a:t>the boundary values in your Boolean expressions.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5DF93C4-C610-E4F0-8C22-26E1A2E37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106008"/>
            <a:ext cx="3553121" cy="1150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91AABE-0B1E-9796-8917-B9A748471A4A}"/>
              </a:ext>
            </a:extLst>
          </p:cNvPr>
          <p:cNvSpPr txBox="1"/>
          <p:nvPr/>
        </p:nvSpPr>
        <p:spPr>
          <a:xfrm>
            <a:off x="333080" y="2821434"/>
            <a:ext cx="4800600" cy="17370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/>
              <a:t>Inputting the following values for </a:t>
            </a:r>
            <a:r>
              <a:rPr lang="en-US" sz="1800" dirty="0" err="1"/>
              <a:t>xCoord</a:t>
            </a:r>
            <a:r>
              <a:rPr lang="en-US" sz="1800" dirty="0"/>
              <a:t> would test the ‘boundaries’ of this if statement:</a:t>
            </a:r>
          </a:p>
          <a:p>
            <a:endParaRPr lang="en-US" sz="1800" dirty="0"/>
          </a:p>
          <a:p>
            <a:r>
              <a:rPr lang="en-US" sz="1800" dirty="0"/>
              <a:t>[-1,  0,  1,  799,  800,  801]</a:t>
            </a:r>
          </a:p>
          <a:p>
            <a:endParaRPr lang="en-US" sz="1688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750D-F293-0429-8A9A-97DD7B739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217D0-D620-0ABE-1C03-A9E8B1F912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2418404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3CD03CB-BAC6-F63E-852A-978A5FF82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0" y="102989"/>
            <a:ext cx="3048899" cy="4937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1007269" y="1200150"/>
            <a:ext cx="3714750" cy="30008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700" dirty="0">
                <a:solidFill>
                  <a:srgbClr val="C00000"/>
                </a:solidFill>
              </a:rPr>
              <a:t>Just-Outside </a:t>
            </a:r>
            <a:r>
              <a:rPr lang="en-US" sz="2700" dirty="0"/>
              <a:t>Upper Boundary Test:</a:t>
            </a:r>
          </a:p>
          <a:p>
            <a:pPr algn="l"/>
            <a:endParaRPr lang="en-US" sz="2700" dirty="0"/>
          </a:p>
          <a:p>
            <a:pPr marL="428625" indent="-428625" algn="l">
              <a:buFont typeface="Arial" panose="020B0604020202020204" pitchFamily="34" charset="0"/>
              <a:buChar char="•"/>
            </a:pPr>
            <a:r>
              <a:rPr lang="en-US" sz="2700" dirty="0"/>
              <a:t>default values are correctly used when adding and updating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5E1ABF-A3BC-0548-DD8C-923294487F80}"/>
              </a:ext>
            </a:extLst>
          </p:cNvPr>
          <p:cNvSpPr/>
          <p:nvPr/>
        </p:nvSpPr>
        <p:spPr>
          <a:xfrm>
            <a:off x="6400800" y="1200150"/>
            <a:ext cx="177165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08E56C-00DB-A2DC-5389-06EA42E1D8D2}"/>
              </a:ext>
            </a:extLst>
          </p:cNvPr>
          <p:cNvSpPr/>
          <p:nvPr/>
        </p:nvSpPr>
        <p:spPr>
          <a:xfrm>
            <a:off x="6365081" y="3771900"/>
            <a:ext cx="177165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42F37-7AA6-B780-08F7-5D8AC9054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E9007-76F1-310D-093C-7FAF6E87CC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689790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971550" y="1279088"/>
            <a:ext cx="3714750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700" dirty="0">
                <a:solidFill>
                  <a:srgbClr val="C00000"/>
                </a:solidFill>
              </a:rPr>
              <a:t>Just-Inside</a:t>
            </a:r>
            <a:r>
              <a:rPr lang="en-US" sz="2700" dirty="0"/>
              <a:t> Upper Boundary Test:</a:t>
            </a:r>
          </a:p>
          <a:p>
            <a:endParaRPr lang="en-US" sz="2700" dirty="0"/>
          </a:p>
          <a:p>
            <a:pPr marL="428625" indent="-428625" algn="l">
              <a:buFont typeface="Arial" panose="020B0604020202020204" pitchFamily="34" charset="0"/>
              <a:buChar char="•"/>
            </a:pPr>
            <a:r>
              <a:rPr lang="en-US" sz="2700" dirty="0"/>
              <a:t>all values are accepted for both add and update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BF92944B-B5BD-76FA-2287-FB17021E1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1" y="111919"/>
            <a:ext cx="2997434" cy="4854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638473-17C9-72E4-2758-824C22C69F12}"/>
              </a:ext>
            </a:extLst>
          </p:cNvPr>
          <p:cNvSpPr/>
          <p:nvPr/>
        </p:nvSpPr>
        <p:spPr>
          <a:xfrm>
            <a:off x="6400800" y="1200150"/>
            <a:ext cx="177165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339B71-636B-8FFA-8A59-C9BC19668AA3}"/>
              </a:ext>
            </a:extLst>
          </p:cNvPr>
          <p:cNvSpPr/>
          <p:nvPr/>
        </p:nvSpPr>
        <p:spPr>
          <a:xfrm>
            <a:off x="6400800" y="3712384"/>
            <a:ext cx="177165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EEEFF-ADF9-9E0F-F986-708FB7075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3873A-5F6F-5766-9A88-CEA82211FD7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274089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89D0-18C0-8908-6E58-BC3DB2EB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Boundary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8A430-66EF-D1CF-D96A-0C2C0D16884A}"/>
              </a:ext>
            </a:extLst>
          </p:cNvPr>
          <p:cNvSpPr txBox="1"/>
          <p:nvPr/>
        </p:nvSpPr>
        <p:spPr>
          <a:xfrm>
            <a:off x="975855" y="1279088"/>
            <a:ext cx="3714750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700" dirty="0">
                <a:solidFill>
                  <a:srgbClr val="C00000"/>
                </a:solidFill>
              </a:rPr>
              <a:t>Just-Inside</a:t>
            </a:r>
            <a:r>
              <a:rPr lang="en-US" sz="2700" dirty="0"/>
              <a:t> Lower Boundary Test:</a:t>
            </a:r>
          </a:p>
          <a:p>
            <a:endParaRPr lang="en-US" sz="2700" dirty="0"/>
          </a:p>
          <a:p>
            <a:pPr marL="428625" indent="-428625" algn="l">
              <a:buFont typeface="Arial" panose="020B0604020202020204" pitchFamily="34" charset="0"/>
              <a:buChar char="•"/>
            </a:pPr>
            <a:r>
              <a:rPr lang="en-US" sz="2700" dirty="0"/>
              <a:t>all values are accepted for both add and update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7F47A1A0-F2E7-34A3-5901-2826B5530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708" y="104776"/>
            <a:ext cx="3046693" cy="4933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DAB8FA-EE02-CB06-7E1E-E75E1F0CDF97}"/>
              </a:ext>
            </a:extLst>
          </p:cNvPr>
          <p:cNvSpPr/>
          <p:nvPr/>
        </p:nvSpPr>
        <p:spPr>
          <a:xfrm>
            <a:off x="6400800" y="1200150"/>
            <a:ext cx="177165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59008A-7940-CCF8-3405-AB80824C8E25}"/>
              </a:ext>
            </a:extLst>
          </p:cNvPr>
          <p:cNvSpPr/>
          <p:nvPr/>
        </p:nvSpPr>
        <p:spPr>
          <a:xfrm>
            <a:off x="6400800" y="3771900"/>
            <a:ext cx="177165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8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0D75E-4852-B013-E9D1-A06A3117A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0F7C0-D95F-0086-3381-90DC93B2E70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9075751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BF721-2CD3-DD75-D63E-7BCC6F10E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DD31-F005-E822-3A17-240BABB4EFA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41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29279</TotalTime>
  <Words>1215</Words>
  <Application>Microsoft Macintosh PowerPoint</Application>
  <PresentationFormat>On-screen Show (16:9)</PresentationFormat>
  <Paragraphs>298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Avenir</vt:lpstr>
      <vt:lpstr>Calibri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Agenda</vt:lpstr>
      <vt:lpstr>RECAP</vt:lpstr>
      <vt:lpstr>RECAP: Scanner class</vt:lpstr>
      <vt:lpstr>RECAP: Driver class</vt:lpstr>
      <vt:lpstr>Spot Constructors</vt:lpstr>
      <vt:lpstr>Spot Constructor</vt:lpstr>
      <vt:lpstr>Spot Constructor – adding a second one </vt:lpstr>
      <vt:lpstr>Spot Constructor – overloading</vt:lpstr>
      <vt:lpstr>Spot Constructor – overloading</vt:lpstr>
      <vt:lpstr>Spot Constructor – overloading</vt:lpstr>
      <vt:lpstr>Spot Constructor – this keyword</vt:lpstr>
      <vt:lpstr>Spot Constructor – this keyword</vt:lpstr>
      <vt:lpstr>Spot Constructor – this keyword</vt:lpstr>
      <vt:lpstr>Add a Spot</vt:lpstr>
      <vt:lpstr>Adding a New Spot</vt:lpstr>
      <vt:lpstr>Adding a New Spot</vt:lpstr>
      <vt:lpstr>Adding a New Spot</vt:lpstr>
      <vt:lpstr>Adding a New Spot</vt:lpstr>
      <vt:lpstr>User Input Validation</vt:lpstr>
      <vt:lpstr> No Validation</vt:lpstr>
      <vt:lpstr> No Validation</vt:lpstr>
      <vt:lpstr>Validation Rules</vt:lpstr>
      <vt:lpstr>User Input Validation</vt:lpstr>
      <vt:lpstr>Validation Rules – Default Values</vt:lpstr>
      <vt:lpstr>User Input Validation</vt:lpstr>
      <vt:lpstr>xCoord – mutator changes</vt:lpstr>
      <vt:lpstr>xCoord – constructor changes</vt:lpstr>
      <vt:lpstr>User Input Validation</vt:lpstr>
      <vt:lpstr>yCoord – mutator changes</vt:lpstr>
      <vt:lpstr>yCoord – constructor changes</vt:lpstr>
      <vt:lpstr>User Input Validation</vt:lpstr>
      <vt:lpstr>diameter – mutator changes</vt:lpstr>
      <vt:lpstr>diameter – constructor changes</vt:lpstr>
      <vt:lpstr>User Input Validation</vt:lpstr>
      <vt:lpstr>What is Boundary Testing?</vt:lpstr>
      <vt:lpstr>Example Boundary Test</vt:lpstr>
      <vt:lpstr>Example Boundary Test</vt:lpstr>
      <vt:lpstr>Example Boundary Test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222</cp:revision>
  <dcterms:created xsi:type="dcterms:W3CDTF">2019-01-29T16:40:14Z</dcterms:created>
  <dcterms:modified xsi:type="dcterms:W3CDTF">2023-10-20T08:23:17Z</dcterms:modified>
</cp:coreProperties>
</file>