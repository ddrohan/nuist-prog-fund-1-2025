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2"/>
  </p:notesMasterIdLst>
  <p:handoutMasterIdLst>
    <p:handoutMasterId r:id="rId43"/>
  </p:handoutMasterIdLst>
  <p:sldIdLst>
    <p:sldId id="256" r:id="rId2"/>
    <p:sldId id="465" r:id="rId3"/>
    <p:sldId id="346" r:id="rId4"/>
    <p:sldId id="777" r:id="rId5"/>
    <p:sldId id="631" r:id="rId6"/>
    <p:sldId id="632" r:id="rId7"/>
    <p:sldId id="399" r:id="rId8"/>
    <p:sldId id="633" r:id="rId9"/>
    <p:sldId id="585" r:id="rId10"/>
    <p:sldId id="622" r:id="rId11"/>
    <p:sldId id="623" r:id="rId12"/>
    <p:sldId id="588" r:id="rId13"/>
    <p:sldId id="634" r:id="rId14"/>
    <p:sldId id="635" r:id="rId15"/>
    <p:sldId id="592" r:id="rId16"/>
    <p:sldId id="591" r:id="rId17"/>
    <p:sldId id="586" r:id="rId18"/>
    <p:sldId id="636" r:id="rId19"/>
    <p:sldId id="594" r:id="rId20"/>
    <p:sldId id="624" r:id="rId21"/>
    <p:sldId id="625" r:id="rId22"/>
    <p:sldId id="605" r:id="rId23"/>
    <p:sldId id="595" r:id="rId24"/>
    <p:sldId id="626" r:id="rId25"/>
    <p:sldId id="627" r:id="rId26"/>
    <p:sldId id="606" r:id="rId27"/>
    <p:sldId id="628" r:id="rId28"/>
    <p:sldId id="596" r:id="rId29"/>
    <p:sldId id="590" r:id="rId30"/>
    <p:sldId id="614" r:id="rId31"/>
    <p:sldId id="629" r:id="rId32"/>
    <p:sldId id="613" r:id="rId33"/>
    <p:sldId id="637" r:id="rId34"/>
    <p:sldId id="638" r:id="rId35"/>
    <p:sldId id="617" r:id="rId36"/>
    <p:sldId id="630" r:id="rId37"/>
    <p:sldId id="619" r:id="rId38"/>
    <p:sldId id="620" r:id="rId39"/>
    <p:sldId id="281" r:id="rId40"/>
    <p:sldId id="298" r:id="rId41"/>
  </p:sldIdLst>
  <p:sldSz cx="9144000" cy="5143500" type="screen16x9"/>
  <p:notesSz cx="6858000" cy="9144000"/>
  <p:defaultTextStyle>
    <a:lvl1pPr algn="ctr" defTabSz="366737">
      <a:defRPr sz="2250">
        <a:latin typeface="+mn-lt"/>
        <a:ea typeface="+mn-ea"/>
        <a:cs typeface="+mn-cs"/>
        <a:sym typeface="Helvetica Light"/>
      </a:defRPr>
    </a:lvl1pPr>
    <a:lvl2pPr indent="143505" algn="ctr" defTabSz="366737">
      <a:defRPr sz="2250">
        <a:latin typeface="+mn-lt"/>
        <a:ea typeface="+mn-ea"/>
        <a:cs typeface="+mn-cs"/>
        <a:sym typeface="Helvetica Light"/>
      </a:defRPr>
    </a:lvl2pPr>
    <a:lvl3pPr indent="287012" algn="ctr" defTabSz="366737">
      <a:defRPr sz="2250">
        <a:latin typeface="+mn-lt"/>
        <a:ea typeface="+mn-ea"/>
        <a:cs typeface="+mn-cs"/>
        <a:sym typeface="Helvetica Light"/>
      </a:defRPr>
    </a:lvl3pPr>
    <a:lvl4pPr indent="430517" algn="ctr" defTabSz="366737">
      <a:defRPr sz="2250">
        <a:latin typeface="+mn-lt"/>
        <a:ea typeface="+mn-ea"/>
        <a:cs typeface="+mn-cs"/>
        <a:sym typeface="Helvetica Light"/>
      </a:defRPr>
    </a:lvl4pPr>
    <a:lvl5pPr indent="574022" algn="ctr" defTabSz="366737">
      <a:defRPr sz="2250">
        <a:latin typeface="+mn-lt"/>
        <a:ea typeface="+mn-ea"/>
        <a:cs typeface="+mn-cs"/>
        <a:sym typeface="Helvetica Light"/>
      </a:defRPr>
    </a:lvl5pPr>
    <a:lvl6pPr indent="717528" algn="ctr" defTabSz="366737">
      <a:defRPr sz="2250">
        <a:latin typeface="+mn-lt"/>
        <a:ea typeface="+mn-ea"/>
        <a:cs typeface="+mn-cs"/>
        <a:sym typeface="Helvetica Light"/>
      </a:defRPr>
    </a:lvl6pPr>
    <a:lvl7pPr indent="861034" algn="ctr" defTabSz="366737">
      <a:defRPr sz="2250">
        <a:latin typeface="+mn-lt"/>
        <a:ea typeface="+mn-ea"/>
        <a:cs typeface="+mn-cs"/>
        <a:sym typeface="Helvetica Light"/>
      </a:defRPr>
    </a:lvl7pPr>
    <a:lvl8pPr indent="1004539" algn="ctr" defTabSz="366737">
      <a:defRPr sz="2250">
        <a:latin typeface="+mn-lt"/>
        <a:ea typeface="+mn-ea"/>
        <a:cs typeface="+mn-cs"/>
        <a:sym typeface="Helvetica Light"/>
      </a:defRPr>
    </a:lvl8pPr>
    <a:lvl9pPr indent="1148045" algn="ctr" defTabSz="366737">
      <a:defRPr sz="2250">
        <a:latin typeface="+mn-lt"/>
        <a:ea typeface="+mn-ea"/>
        <a:cs typeface="+mn-cs"/>
        <a:sym typeface="Helvetica Light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98CBE"/>
    <a:srgbClr val="0E9647"/>
    <a:srgbClr val="2F486B"/>
    <a:srgbClr val="0368FF"/>
    <a:srgbClr val="194699"/>
    <a:srgbClr val="1F33AB"/>
    <a:srgbClr val="84AEFF"/>
    <a:srgbClr val="FDE111"/>
    <a:srgbClr val="EDED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365C0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00882B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394"/>
    <p:restoredTop sz="85442"/>
  </p:normalViewPr>
  <p:slideViewPr>
    <p:cSldViewPr snapToGrid="0" snapToObjects="1">
      <p:cViewPr varScale="1">
        <p:scale>
          <a:sx n="139" d="100"/>
          <a:sy n="139" d="100"/>
        </p:scale>
        <p:origin x="944" y="16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10" d="100"/>
        <a:sy n="11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149E08-5597-3E45-8582-EEB58189C482}" type="datetimeFigureOut">
              <a:rPr lang="en-US" smtClean="0"/>
              <a:t>7/31/23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A69502-A57F-A84E-93AF-100B756C632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870288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pPr lvl="0"/>
            <a:endParaRPr dirty="0"/>
          </a:p>
        </p:txBody>
      </p:sp>
      <p:sp>
        <p:nvSpPr>
          <p:cNvPr id="73" name="Shape 73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</p:spTree>
    <p:extLst>
      <p:ext uri="{BB962C8B-B14F-4D97-AF65-F5344CB8AC3E}">
        <p14:creationId xmlns:p14="http://schemas.microsoft.com/office/powerpoint/2010/main" val="195149390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defTabSz="287012">
      <a:lnSpc>
        <a:spcPct val="125000"/>
      </a:lnSpc>
      <a:defRPr sz="1500">
        <a:latin typeface="Avenir"/>
        <a:ea typeface="Avenir"/>
        <a:cs typeface="Avenir"/>
        <a:sym typeface="Avenir Roman"/>
      </a:defRPr>
    </a:lvl1pPr>
    <a:lvl2pPr indent="143505" defTabSz="287012">
      <a:lnSpc>
        <a:spcPct val="125000"/>
      </a:lnSpc>
      <a:defRPr sz="1500">
        <a:latin typeface="Avenir"/>
        <a:ea typeface="Avenir"/>
        <a:cs typeface="Avenir"/>
        <a:sym typeface="Avenir Roman"/>
      </a:defRPr>
    </a:lvl2pPr>
    <a:lvl3pPr indent="287012" defTabSz="287012">
      <a:lnSpc>
        <a:spcPct val="125000"/>
      </a:lnSpc>
      <a:defRPr sz="1500">
        <a:latin typeface="Avenir"/>
        <a:ea typeface="Avenir"/>
        <a:cs typeface="Avenir"/>
        <a:sym typeface="Avenir Roman"/>
      </a:defRPr>
    </a:lvl3pPr>
    <a:lvl4pPr indent="430517" defTabSz="287012">
      <a:lnSpc>
        <a:spcPct val="125000"/>
      </a:lnSpc>
      <a:defRPr sz="1500">
        <a:latin typeface="Avenir"/>
        <a:ea typeface="Avenir"/>
        <a:cs typeface="Avenir"/>
        <a:sym typeface="Avenir Roman"/>
      </a:defRPr>
    </a:lvl4pPr>
    <a:lvl5pPr indent="574022" defTabSz="287012">
      <a:lnSpc>
        <a:spcPct val="125000"/>
      </a:lnSpc>
      <a:defRPr sz="1500">
        <a:latin typeface="Avenir"/>
        <a:ea typeface="Avenir"/>
        <a:cs typeface="Avenir"/>
        <a:sym typeface="Avenir Roman"/>
      </a:defRPr>
    </a:lvl5pPr>
    <a:lvl6pPr indent="717528" defTabSz="287012">
      <a:lnSpc>
        <a:spcPct val="125000"/>
      </a:lnSpc>
      <a:defRPr sz="1500">
        <a:latin typeface="Avenir"/>
        <a:ea typeface="Avenir"/>
        <a:cs typeface="Avenir"/>
        <a:sym typeface="Avenir Roman"/>
      </a:defRPr>
    </a:lvl6pPr>
    <a:lvl7pPr indent="861034" defTabSz="287012">
      <a:lnSpc>
        <a:spcPct val="125000"/>
      </a:lnSpc>
      <a:defRPr sz="1500">
        <a:latin typeface="Avenir"/>
        <a:ea typeface="Avenir"/>
        <a:cs typeface="Avenir"/>
        <a:sym typeface="Avenir Roman"/>
      </a:defRPr>
    </a:lvl7pPr>
    <a:lvl8pPr indent="1004539" defTabSz="287012">
      <a:lnSpc>
        <a:spcPct val="125000"/>
      </a:lnSpc>
      <a:defRPr sz="1500">
        <a:latin typeface="Avenir"/>
        <a:ea typeface="Avenir"/>
        <a:cs typeface="Avenir"/>
        <a:sym typeface="Avenir Roman"/>
      </a:defRPr>
    </a:lvl8pPr>
    <a:lvl9pPr indent="1148045" defTabSz="287012">
      <a:lnSpc>
        <a:spcPct val="125000"/>
      </a:lnSpc>
      <a:defRPr sz="1500">
        <a:latin typeface="Avenir"/>
        <a:ea typeface="Avenir"/>
        <a:cs typeface="Avenir"/>
        <a:sym typeface="Avenir Roman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defTabSz="287012" rtl="0">
              <a:lnSpc>
                <a:spcPct val="125000"/>
              </a:lnSpc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1404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6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537543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19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12274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/>
              <a:t>Objects First with Java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/>
              <a:t>© David J. Barnes and Michael Kölling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3E85BA6-CFDF-430E-8374-ADA2BF6C5E53}" type="slidenum">
              <a:rPr lang="en-GB"/>
              <a:pPr/>
              <a:t>21</a:t>
            </a:fld>
            <a:endParaRPr lang="en-GB"/>
          </a:p>
        </p:txBody>
      </p:sp>
      <p:sp>
        <p:nvSpPr>
          <p:cNvPr id="78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1448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23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9835025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/>
              <a:t>Objects First with Java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/>
              <a:t>© David J. Barnes and Michael Kölling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C17B96C-5BE9-455B-93AF-B6A38B95CFEB}" type="slidenum">
              <a:rPr lang="en-GB"/>
              <a:pPr/>
              <a:t>25</a:t>
            </a:fld>
            <a:endParaRPr lang="en-GB"/>
          </a:p>
        </p:txBody>
      </p:sp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0338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28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752859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32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9681582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33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2456885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34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177088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5" Type="http://schemas.openxmlformats.org/officeDocument/2006/relationships/hyperlink" Target="mailto:ddrohan@wit.ie" TargetMode="Externa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Lab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7" descr="A close-up of a metal structure&#10;&#10;Description automatically generated with low confidence">
            <a:extLst>
              <a:ext uri="{FF2B5EF4-FFF2-40B4-BE49-F238E27FC236}">
                <a16:creationId xmlns:a16="http://schemas.microsoft.com/office/drawing/2014/main" id="{14F6341F-72F0-BFA6-6798-9AC71A86B3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5096" t="1189" r="36524" b="51187"/>
          <a:stretch/>
        </p:blipFill>
        <p:spPr>
          <a:xfrm>
            <a:off x="-6264" y="-6182"/>
            <a:ext cx="9150263" cy="51470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</p:pic>
      <p:sp>
        <p:nvSpPr>
          <p:cNvPr id="12" name="Shape 33">
            <a:extLst>
              <a:ext uri="{FF2B5EF4-FFF2-40B4-BE49-F238E27FC236}">
                <a16:creationId xmlns:a16="http://schemas.microsoft.com/office/drawing/2014/main" id="{EAD08510-7D5A-594A-AAEC-59C7087561FC}"/>
              </a:ext>
            </a:extLst>
          </p:cNvPr>
          <p:cNvSpPr/>
          <p:nvPr userDrawn="1"/>
        </p:nvSpPr>
        <p:spPr>
          <a:xfrm>
            <a:off x="3778568" y="2059379"/>
            <a:ext cx="4846151" cy="0"/>
          </a:xfrm>
          <a:prstGeom prst="line">
            <a:avLst/>
          </a:prstGeom>
          <a:ln w="3175">
            <a:solidFill>
              <a:schemeClr val="tx1"/>
            </a:solidFill>
            <a:miter lim="400000"/>
          </a:ln>
        </p:spPr>
        <p:txBody>
          <a:bodyPr lIns="0" tIns="0" rIns="0" bIns="0" anchor="ctr"/>
          <a:lstStyle/>
          <a:p>
            <a:pPr lvl="0" algn="l" defTabSz="286973" rtl="0">
              <a:defRPr sz="1100">
                <a:latin typeface="Helvetica"/>
                <a:ea typeface="Helvetica"/>
                <a:cs typeface="Helvetica"/>
                <a:sym typeface="Helvetica"/>
              </a:defRPr>
            </a:pPr>
            <a:endParaRPr sz="825" dirty="0"/>
          </a:p>
        </p:txBody>
      </p:sp>
      <p:sp>
        <p:nvSpPr>
          <p:cNvPr id="13" name="Shape 34">
            <a:extLst>
              <a:ext uri="{FF2B5EF4-FFF2-40B4-BE49-F238E27FC236}">
                <a16:creationId xmlns:a16="http://schemas.microsoft.com/office/drawing/2014/main" id="{BB2C258E-D81B-5B4E-8B1B-562CE71165EB}"/>
              </a:ext>
            </a:extLst>
          </p:cNvPr>
          <p:cNvSpPr/>
          <p:nvPr userDrawn="1"/>
        </p:nvSpPr>
        <p:spPr>
          <a:xfrm>
            <a:off x="3613319" y="2299116"/>
            <a:ext cx="1208664" cy="5909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0" tIns="0" rIns="0" bIns="0" anchor="ctr">
            <a:spAutoFit/>
          </a:bodyPr>
          <a:lstStyle/>
          <a:p>
            <a:pPr lvl="0" algn="r">
              <a:lnSpc>
                <a:spcPct val="80000"/>
              </a:lnSpc>
              <a:defRPr sz="1800"/>
            </a:pPr>
            <a:r>
              <a:rPr sz="2400" b="1" i="0" baseline="0" dirty="0">
                <a:solidFill>
                  <a:schemeClr val="bg1">
                    <a:lumMod val="85000"/>
                  </a:schemeClr>
                </a:solidFill>
                <a:latin typeface="Helvetica Neue UltraLight"/>
                <a:ea typeface="Helvetica Neue UltraLight"/>
                <a:cs typeface="Helvetica Neue UltraLight"/>
                <a:sym typeface="Helvetica Neue UltraLight"/>
              </a:rPr>
              <a:t>Produced</a:t>
            </a:r>
          </a:p>
          <a:p>
            <a:pPr lvl="0" algn="r">
              <a:lnSpc>
                <a:spcPct val="80000"/>
              </a:lnSpc>
              <a:defRPr sz="1800"/>
            </a:pPr>
            <a:r>
              <a:rPr sz="2400" b="1" i="0" baseline="0" dirty="0">
                <a:solidFill>
                  <a:schemeClr val="bg1">
                    <a:lumMod val="85000"/>
                  </a:schemeClr>
                </a:solidFill>
                <a:latin typeface="Helvetica Neue UltraLight"/>
                <a:ea typeface="Helvetica Neue UltraLight"/>
                <a:cs typeface="Helvetica Neue UltraLight"/>
                <a:sym typeface="Helvetica Neue UltraLight"/>
              </a:rPr>
              <a:t>by</a:t>
            </a:r>
          </a:p>
        </p:txBody>
      </p:sp>
      <p:sp>
        <p:nvSpPr>
          <p:cNvPr id="15" name="Shape 35">
            <a:extLst>
              <a:ext uri="{FF2B5EF4-FFF2-40B4-BE49-F238E27FC236}">
                <a16:creationId xmlns:a16="http://schemas.microsoft.com/office/drawing/2014/main" id="{885F7572-8BDA-2441-A5EC-7D945A8A5010}"/>
              </a:ext>
            </a:extLst>
          </p:cNvPr>
          <p:cNvSpPr/>
          <p:nvPr/>
        </p:nvSpPr>
        <p:spPr>
          <a:xfrm>
            <a:off x="4970252" y="3114062"/>
            <a:ext cx="3241478" cy="5453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 numCol="1" anchor="ctr">
            <a:noAutofit/>
          </a:bodyPr>
          <a:lstStyle/>
          <a:p>
            <a:pPr lvl="0" algn="l">
              <a:lnSpc>
                <a:spcPct val="120000"/>
              </a:lnSpc>
              <a:defRPr sz="1800"/>
            </a:pPr>
            <a:r>
              <a:rPr sz="975" b="1" i="0" baseline="0" dirty="0">
                <a:solidFill>
                  <a:srgbClr val="1334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Department of Computing &amp; Mathematics</a:t>
            </a:r>
          </a:p>
          <a:p>
            <a:pPr lvl="0" algn="l">
              <a:lnSpc>
                <a:spcPct val="120000"/>
              </a:lnSpc>
              <a:defRPr sz="1800"/>
            </a:pPr>
            <a:r>
              <a:rPr lang="en-IE" sz="975" b="1" i="0" baseline="0" dirty="0">
                <a:solidFill>
                  <a:srgbClr val="1334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South East Technological University</a:t>
            </a:r>
            <a:br>
              <a:rPr lang="en-IE" sz="975" b="1" i="0" baseline="0" dirty="0">
                <a:solidFill>
                  <a:srgbClr val="133455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IE" sz="975" b="1" i="0" baseline="0" dirty="0">
                <a:solidFill>
                  <a:srgbClr val="1334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Waterford, Ireland</a:t>
            </a:r>
          </a:p>
        </p:txBody>
      </p:sp>
      <p:pic>
        <p:nvPicPr>
          <p:cNvPr id="18" name="Picture 3">
            <a:extLst>
              <a:ext uri="{FF2B5EF4-FFF2-40B4-BE49-F238E27FC236}">
                <a16:creationId xmlns:a16="http://schemas.microsoft.com/office/drawing/2014/main" id="{F323B0CE-A19A-E748-98EC-D40F56CC332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187903" y="4360424"/>
            <a:ext cx="730559" cy="7305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65E7D44-1D07-9340-B610-CE9A2D7BB0E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58289" y="188773"/>
            <a:ext cx="560173" cy="63879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0A583B1-550B-C14A-A9E9-8D176BDC6F6E}"/>
              </a:ext>
            </a:extLst>
          </p:cNvPr>
          <p:cNvSpPr txBox="1"/>
          <p:nvPr userDrawn="1"/>
        </p:nvSpPr>
        <p:spPr>
          <a:xfrm>
            <a:off x="4721847" y="4551298"/>
            <a:ext cx="3425984" cy="34881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r" fontAlgn="auto"/>
            <a:r>
              <a:rPr lang="en-IE" sz="1600" b="1" i="0" u="none" strike="noStrike" baseline="0" dirty="0" err="1">
                <a:solidFill>
                  <a:schemeClr val="bg1">
                    <a:lumMod val="85000"/>
                  </a:schemeClr>
                </a:solidFill>
                <a:effectLst/>
                <a:latin typeface="+mn-lt"/>
                <a:ea typeface="+mn-ea"/>
                <a:cs typeface="+mn-cs"/>
                <a:sym typeface="Helvetica Light"/>
              </a:rPr>
              <a:t>setu.ie</a:t>
            </a:r>
            <a:endParaRPr lang="en-IE" sz="1600" b="1" i="0" u="none" strike="noStrike" baseline="0" dirty="0">
              <a:solidFill>
                <a:schemeClr val="bg1">
                  <a:lumMod val="85000"/>
                </a:schemeClr>
              </a:solidFill>
              <a:effectLst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21" name="Shape 35">
            <a:extLst>
              <a:ext uri="{FF2B5EF4-FFF2-40B4-BE49-F238E27FC236}">
                <a16:creationId xmlns:a16="http://schemas.microsoft.com/office/drawing/2014/main" id="{1EC3B031-7C7C-5846-BACC-8C65A8064D86}"/>
              </a:ext>
            </a:extLst>
          </p:cNvPr>
          <p:cNvSpPr/>
          <p:nvPr userDrawn="1"/>
        </p:nvSpPr>
        <p:spPr>
          <a:xfrm>
            <a:off x="4963941" y="2144699"/>
            <a:ext cx="3954521" cy="104681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 numCol="1" anchor="ctr">
            <a:noAutofit/>
          </a:bodyPr>
          <a:lstStyle/>
          <a:p>
            <a:pPr algn="l"/>
            <a:r>
              <a:rPr lang="en-IE" sz="1800" b="1" i="0" baseline="0" dirty="0"/>
              <a:t>Mr. Dave Drohan </a:t>
            </a:r>
            <a:r>
              <a:rPr lang="en-IE" sz="1600" b="1" i="0" baseline="0" dirty="0"/>
              <a:t>(</a:t>
            </a:r>
            <a:r>
              <a:rPr lang="en-IE" sz="1600" b="1" i="0" baseline="0" dirty="0">
                <a:solidFill>
                  <a:srgbClr val="006699"/>
                </a:solidFill>
                <a:uFill>
                  <a:solidFill>
                    <a:srgbClr val="006699"/>
                  </a:solidFill>
                </a:uFill>
                <a:hlinkClick r:id="rId5"/>
              </a:rPr>
              <a:t>david.drohan@setu.ie</a:t>
            </a:r>
            <a:r>
              <a:rPr lang="en-IE" sz="1600" b="1" i="0" baseline="0" dirty="0"/>
              <a:t>)</a:t>
            </a:r>
            <a:br>
              <a:rPr lang="en-IE" sz="1600" b="1" i="0" baseline="0" dirty="0"/>
            </a:br>
            <a:r>
              <a:rPr lang="en-IE" sz="1800" dirty="0" err="1">
                <a:solidFill>
                  <a:schemeClr val="tx1"/>
                </a:solidFill>
              </a:rPr>
              <a:t>Dr.</a:t>
            </a:r>
            <a:r>
              <a:rPr lang="en-IE" sz="1800" dirty="0">
                <a:solidFill>
                  <a:schemeClr val="tx1"/>
                </a:solidFill>
              </a:rPr>
              <a:t> </a:t>
            </a:r>
            <a:r>
              <a:rPr lang="en-IE" sz="1800" dirty="0" err="1">
                <a:solidFill>
                  <a:schemeClr val="tx1"/>
                </a:solidFill>
              </a:rPr>
              <a:t>Siobhán</a:t>
            </a:r>
            <a:r>
              <a:rPr lang="en-IE" sz="1800" dirty="0">
                <a:solidFill>
                  <a:schemeClr val="tx1"/>
                </a:solidFill>
              </a:rPr>
              <a:t> </a:t>
            </a:r>
            <a:r>
              <a:rPr lang="en-IE" sz="1800" dirty="0" err="1">
                <a:solidFill>
                  <a:schemeClr val="tx1"/>
                </a:solidFill>
              </a:rPr>
              <a:t>Drohan</a:t>
            </a:r>
            <a:endParaRPr lang="en-IE" sz="1800" dirty="0">
              <a:solidFill>
                <a:schemeClr val="tx1"/>
              </a:solidFill>
            </a:endParaRPr>
          </a:p>
          <a:p>
            <a:pPr algn="l"/>
            <a:r>
              <a:rPr lang="en-IE" sz="1800" dirty="0">
                <a:solidFill>
                  <a:schemeClr val="tx1"/>
                </a:solidFill>
              </a:rPr>
              <a:t>Ms. Mairead Meagher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BBD13589-119E-31F3-037B-F798E38525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9399" y="1324611"/>
            <a:ext cx="7893844" cy="542479"/>
          </a:xfrm>
        </p:spPr>
        <p:txBody>
          <a:bodyPr/>
          <a:lstStyle>
            <a:lvl1pPr>
              <a:defRPr sz="2800" b="1"/>
            </a:lvl1pPr>
          </a:lstStyle>
          <a:p>
            <a:pPr algn="r" defTabSz="366688" rtl="0"/>
            <a:r>
              <a:rPr lang="en-US" dirty="0"/>
              <a:t>Programming Fundamentals 1</a:t>
            </a:r>
          </a:p>
        </p:txBody>
      </p:sp>
    </p:spTree>
    <p:extLst>
      <p:ext uri="{BB962C8B-B14F-4D97-AF65-F5344CB8AC3E}">
        <p14:creationId xmlns:p14="http://schemas.microsoft.com/office/powerpoint/2010/main" val="3124422196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4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3200" baseline="0"/>
            </a:lvl1pPr>
          </a:lstStyle>
          <a:p>
            <a:pPr lvl="0">
              <a:defRPr sz="1800"/>
            </a:pPr>
            <a:r>
              <a:rPr sz="2775" dirty="0"/>
              <a:t>Title Text</a:t>
            </a:r>
          </a:p>
        </p:txBody>
      </p:sp>
      <p:sp>
        <p:nvSpPr>
          <p:cNvPr id="49" name="Shape 49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buClr>
                <a:srgbClr val="194699"/>
              </a:buClr>
              <a:defRPr/>
            </a:lvl1pPr>
            <a:lvl2pPr>
              <a:buClr>
                <a:srgbClr val="194699"/>
              </a:buClr>
              <a:defRPr/>
            </a:lvl2pPr>
            <a:lvl3pPr>
              <a:buClr>
                <a:srgbClr val="194699"/>
              </a:buClr>
              <a:defRPr/>
            </a:lvl3pPr>
            <a:lvl4pPr>
              <a:buClr>
                <a:srgbClr val="194699"/>
              </a:buClr>
              <a:defRPr/>
            </a:lvl4pPr>
            <a:lvl5pPr>
              <a:buClr>
                <a:srgbClr val="194699"/>
              </a:buClr>
              <a:defRPr/>
            </a:lvl5pPr>
          </a:lstStyle>
          <a:p>
            <a:pPr lvl="0">
              <a:defRPr sz="1800"/>
            </a:pPr>
            <a:r>
              <a:rPr sz="2400" dirty="0"/>
              <a:t>Body Level One</a:t>
            </a:r>
          </a:p>
          <a:p>
            <a:pPr lvl="1">
              <a:defRPr sz="1800"/>
            </a:pPr>
            <a:r>
              <a:rPr sz="2400" dirty="0"/>
              <a:t>Body Level Two</a:t>
            </a:r>
          </a:p>
          <a:p>
            <a:pPr lvl="2">
              <a:defRPr sz="1800"/>
            </a:pPr>
            <a:r>
              <a:rPr sz="2400" dirty="0"/>
              <a:t>Body Level Three</a:t>
            </a:r>
          </a:p>
          <a:p>
            <a:pPr lvl="3">
              <a:defRPr sz="1800"/>
            </a:pPr>
            <a:r>
              <a:rPr sz="2400" dirty="0"/>
              <a:t>Body Level Four</a:t>
            </a:r>
          </a:p>
          <a:p>
            <a:pPr lvl="4">
              <a:defRPr sz="1800"/>
            </a:pPr>
            <a:r>
              <a:rPr sz="2400" dirty="0"/>
              <a:t>Body Level Five</a:t>
            </a:r>
          </a:p>
        </p:txBody>
      </p:sp>
      <p:sp>
        <p:nvSpPr>
          <p:cNvPr id="50" name="Shape 50"/>
          <p:cNvSpPr>
            <a:spLocks noGrp="1"/>
          </p:cNvSpPr>
          <p:nvPr>
            <p:ph type="sldNum" sz="quarter" idx="2"/>
          </p:nvPr>
        </p:nvSpPr>
        <p:spPr>
          <a:xfrm>
            <a:off x="6553201" y="4875912"/>
            <a:ext cx="1905000" cy="283023"/>
          </a:xfrm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rPr/>
              <a:t>‹#›</a:t>
            </a:fld>
            <a:endParaRPr dirty="0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14688" y="4895886"/>
            <a:ext cx="2430270" cy="241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76526" tIns="38263" rIns="76526" bIns="38263" numCol="1" anchor="b" anchorCtr="0" compatLnSpc="1">
            <a:prstTxWarp prst="textNoShape">
              <a:avLst/>
            </a:prstTxWarp>
          </a:bodyPr>
          <a:lstStyle>
            <a:lvl1pPr algn="ctr">
              <a:defRPr sz="1125" b="0" i="0">
                <a:latin typeface="Helvetica Neue Light"/>
                <a:cs typeface="Helvetica Neue Light"/>
              </a:defRPr>
            </a:lvl1pPr>
          </a:lstStyle>
          <a:p>
            <a:r>
              <a:rPr lang="en-IE"/>
              <a:t>https://www.java.com</a:t>
            </a:r>
            <a:endParaRPr lang="en-IE" dirty="0"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1FE51DA-9AF5-F835-204E-B5376FB7A7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946552-8ABC-2684-8EA3-A12C826FB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AC3EAD-3ACD-68D9-A159-986D3E0E55D6}"/>
              </a:ext>
            </a:extLst>
          </p:cNvPr>
          <p:cNvSpPr/>
          <p:nvPr userDrawn="1"/>
        </p:nvSpPr>
        <p:spPr>
          <a:xfrm>
            <a:off x="375385" y="683393"/>
            <a:ext cx="7324826" cy="327259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641451682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https://www.java.com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8275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https://www.java.com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3038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https://www.java.com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457200" y="1085850"/>
            <a:ext cx="8305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4182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11" y="4902399"/>
            <a:ext cx="9143989" cy="241102"/>
          </a:xfrm>
          <a:prstGeom prst="rect">
            <a:avLst/>
          </a:prstGeom>
          <a:solidFill>
            <a:srgbClr val="598C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 defTabSz="366737" rtl="0"/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21" y="4867339"/>
            <a:ext cx="9143978" cy="35060"/>
          </a:xfrm>
          <a:prstGeom prst="rect">
            <a:avLst/>
          </a:prstGeom>
          <a:solidFill>
            <a:srgbClr val="2F48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Shape 2"/>
          <p:cNvSpPr>
            <a:spLocks noGrp="1"/>
          </p:cNvSpPr>
          <p:nvPr>
            <p:ph type="title"/>
          </p:nvPr>
        </p:nvSpPr>
        <p:spPr>
          <a:xfrm>
            <a:off x="395536" y="0"/>
            <a:ext cx="7772401" cy="761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4418" tIns="54418" rIns="54418" bIns="54418" anchor="b"/>
          <a:lstStyle/>
          <a:p>
            <a:pPr lvl="0">
              <a:defRPr sz="1800"/>
            </a:pPr>
            <a:r>
              <a:rPr sz="2775" dirty="0"/>
              <a:t>Title Text</a:t>
            </a:r>
          </a:p>
        </p:txBody>
      </p:sp>
      <p:sp>
        <p:nvSpPr>
          <p:cNvPr id="3" name="Shape 3"/>
          <p:cNvSpPr>
            <a:spLocks noGrp="1"/>
          </p:cNvSpPr>
          <p:nvPr>
            <p:ph type="body" idx="1"/>
          </p:nvPr>
        </p:nvSpPr>
        <p:spPr>
          <a:xfrm>
            <a:off x="395536" y="843558"/>
            <a:ext cx="7772401" cy="42999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4418" tIns="54418" rIns="54418" bIns="54418"/>
          <a:lstStyle/>
          <a:p>
            <a:pPr lvl="0">
              <a:defRPr sz="1800"/>
            </a:pPr>
            <a:r>
              <a:rPr sz="2400" dirty="0"/>
              <a:t>Body Level One</a:t>
            </a:r>
          </a:p>
          <a:p>
            <a:pPr lvl="1">
              <a:defRPr sz="1800"/>
            </a:pPr>
            <a:r>
              <a:rPr sz="2400" dirty="0"/>
              <a:t>Body Level Two</a:t>
            </a:r>
          </a:p>
          <a:p>
            <a:pPr lvl="2">
              <a:defRPr sz="1800"/>
            </a:pPr>
            <a:r>
              <a:rPr sz="2400" dirty="0"/>
              <a:t>Body Level Three</a:t>
            </a:r>
          </a:p>
          <a:p>
            <a:pPr lvl="3">
              <a:defRPr sz="1800"/>
            </a:pPr>
            <a:r>
              <a:rPr sz="2400" dirty="0"/>
              <a:t>Body Level Four</a:t>
            </a:r>
          </a:p>
          <a:p>
            <a:pPr lvl="4">
              <a:defRPr sz="1800"/>
            </a:pPr>
            <a:r>
              <a:rPr sz="2400" dirty="0"/>
              <a:t>Body Level Five</a:t>
            </a:r>
          </a:p>
        </p:txBody>
      </p:sp>
      <p:sp>
        <p:nvSpPr>
          <p:cNvPr id="4" name="Shape 4"/>
          <p:cNvSpPr>
            <a:spLocks noGrp="1"/>
          </p:cNvSpPr>
          <p:nvPr>
            <p:ph type="sldNum" sz="quarter" idx="2"/>
          </p:nvPr>
        </p:nvSpPr>
        <p:spPr>
          <a:xfrm>
            <a:off x="6553201" y="4847061"/>
            <a:ext cx="1905000" cy="283023"/>
          </a:xfrm>
          <a:prstGeom prst="rect">
            <a:avLst/>
          </a:prstGeom>
          <a:ln w="12700">
            <a:miter lim="400000"/>
          </a:ln>
        </p:spPr>
        <p:txBody>
          <a:bodyPr lIns="54418" tIns="54418" rIns="54418" bIns="54418" anchor="b">
            <a:spAutoFit/>
          </a:bodyPr>
          <a:lstStyle>
            <a:lvl1pPr algn="r" defTabSz="573946">
              <a:defRPr sz="1125">
                <a:solidFill>
                  <a:srgbClr val="FFFFFF"/>
                </a:solidFill>
                <a:latin typeface="+mn-lt"/>
                <a:ea typeface="Tahoma"/>
                <a:cs typeface="Tahoma"/>
                <a:sym typeface="Tahoma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Shape 5"/>
          <p:cNvSpPr/>
          <p:nvPr/>
        </p:nvSpPr>
        <p:spPr>
          <a:xfrm>
            <a:off x="467545" y="789552"/>
            <a:ext cx="7128792" cy="1"/>
          </a:xfrm>
          <a:prstGeom prst="line">
            <a:avLst/>
          </a:prstGeom>
          <a:ln w="12700">
            <a:solidFill>
              <a:srgbClr val="94BBE7"/>
            </a:solidFill>
          </a:ln>
          <a:effectLst>
            <a:outerShdw blurRad="101600" dist="12700" dir="2700000" rotWithShape="0">
              <a:srgbClr val="003D62">
                <a:alpha val="20000"/>
              </a:srgbClr>
            </a:outerShdw>
          </a:effectLst>
        </p:spPr>
        <p:txBody>
          <a:bodyPr lIns="40814" tIns="40814" rIns="40814" bIns="40814"/>
          <a:lstStyle/>
          <a:p>
            <a:pPr lvl="0" algn="l" defTabSz="286973">
              <a:defRPr sz="1600">
                <a:latin typeface="Helvetica"/>
                <a:ea typeface="Helvetica"/>
                <a:cs typeface="Helvetica"/>
                <a:sym typeface="Helvetica"/>
              </a:defRPr>
            </a:pPr>
            <a:endParaRPr sz="1200" dirty="0"/>
          </a:p>
        </p:txBody>
      </p:sp>
      <p:sp>
        <p:nvSpPr>
          <p:cNvPr id="10" name="Rectangle 6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14688" y="4888982"/>
            <a:ext cx="2430270" cy="241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76526" tIns="38263" rIns="76526" bIns="38263" numCol="1" anchor="b" anchorCtr="0" compatLnSpc="1">
            <a:prstTxWarp prst="textNoShape">
              <a:avLst/>
            </a:prstTxWarp>
          </a:bodyPr>
          <a:lstStyle>
            <a:lvl1pPr algn="ctr">
              <a:defRPr sz="1125" b="0" i="0">
                <a:solidFill>
                  <a:schemeClr val="bg1"/>
                </a:solidFill>
                <a:latin typeface="Helvetica Neue Light"/>
                <a:cs typeface="Helvetica Neue Light"/>
              </a:defRPr>
            </a:lvl1pPr>
          </a:lstStyle>
          <a:p>
            <a:r>
              <a:rPr lang="en-IE"/>
              <a:t>https://www.java.com</a:t>
            </a:r>
            <a:endParaRPr lang="en-IE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43B9B00-B977-E94D-8CAA-76ABE98D04EE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47621" y="5935"/>
            <a:ext cx="741809" cy="68672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3" r:id="rId2"/>
    <p:sldLayoutId id="2147483668" r:id="rId3"/>
    <p:sldLayoutId id="2147483669" r:id="rId4"/>
    <p:sldLayoutId id="2147483670" r:id="rId5"/>
    <p:sldLayoutId id="2147483671" r:id="rId6"/>
  </p:sldLayoutIdLst>
  <p:transition spd="med"/>
  <p:hf hdr="0" dt="0"/>
  <p:txStyles>
    <p:titleStyle>
      <a:lvl1pPr>
        <a:defRPr sz="2800">
          <a:latin typeface="Helvetica Neue Light"/>
          <a:ea typeface="Helvetica Neue Light"/>
          <a:cs typeface="Helvetica Neue Light"/>
          <a:sym typeface="Helvetica Neue Light"/>
        </a:defRPr>
      </a:lvl1pPr>
      <a:lvl2pPr>
        <a:defRPr sz="2775">
          <a:latin typeface="Helvetica Neue Light"/>
          <a:ea typeface="Helvetica Neue Light"/>
          <a:cs typeface="Helvetica Neue Light"/>
          <a:sym typeface="Helvetica Neue Light"/>
        </a:defRPr>
      </a:lvl2pPr>
      <a:lvl3pPr>
        <a:defRPr sz="2775">
          <a:latin typeface="Helvetica Neue Light"/>
          <a:ea typeface="Helvetica Neue Light"/>
          <a:cs typeface="Helvetica Neue Light"/>
          <a:sym typeface="Helvetica Neue Light"/>
        </a:defRPr>
      </a:lvl3pPr>
      <a:lvl4pPr>
        <a:defRPr sz="2775">
          <a:latin typeface="Helvetica Neue Light"/>
          <a:ea typeface="Helvetica Neue Light"/>
          <a:cs typeface="Helvetica Neue Light"/>
          <a:sym typeface="Helvetica Neue Light"/>
        </a:defRPr>
      </a:lvl4pPr>
      <a:lvl5pPr>
        <a:defRPr sz="2775">
          <a:latin typeface="Helvetica Neue Light"/>
          <a:ea typeface="Helvetica Neue Light"/>
          <a:cs typeface="Helvetica Neue Light"/>
          <a:sym typeface="Helvetica Neue Light"/>
        </a:defRPr>
      </a:lvl5pPr>
      <a:lvl6pPr indent="286973">
        <a:defRPr sz="2775">
          <a:latin typeface="Helvetica Neue Light"/>
          <a:ea typeface="Helvetica Neue Light"/>
          <a:cs typeface="Helvetica Neue Light"/>
          <a:sym typeface="Helvetica Neue Light"/>
        </a:defRPr>
      </a:lvl6pPr>
      <a:lvl7pPr indent="573946">
        <a:defRPr sz="2775">
          <a:latin typeface="Helvetica Neue Light"/>
          <a:ea typeface="Helvetica Neue Light"/>
          <a:cs typeface="Helvetica Neue Light"/>
          <a:sym typeface="Helvetica Neue Light"/>
        </a:defRPr>
      </a:lvl7pPr>
      <a:lvl8pPr indent="860919">
        <a:defRPr sz="2775">
          <a:latin typeface="Helvetica Neue Light"/>
          <a:ea typeface="Helvetica Neue Light"/>
          <a:cs typeface="Helvetica Neue Light"/>
          <a:sym typeface="Helvetica Neue Light"/>
        </a:defRPr>
      </a:lvl8pPr>
      <a:lvl9pPr indent="1147892">
        <a:defRPr sz="2775">
          <a:latin typeface="Helvetica Neue Light"/>
          <a:ea typeface="Helvetica Neue Light"/>
          <a:cs typeface="Helvetica Neue Light"/>
          <a:sym typeface="Helvetica Neue Light"/>
        </a:defRPr>
      </a:lvl9pPr>
    </p:titleStyle>
    <p:bodyStyle>
      <a:lvl1pPr marL="292097" indent="-292097">
        <a:spcBef>
          <a:spcPts val="377"/>
        </a:spcBef>
        <a:buClr>
          <a:srgbClr val="008000"/>
        </a:buClr>
        <a:buSzPct val="100000"/>
        <a:buFont typeface="Wingdings"/>
        <a:buChar char="❑"/>
        <a:defRPr sz="2400">
          <a:latin typeface="Helvetica Neue Light"/>
          <a:ea typeface="Helvetica Neue Light"/>
          <a:cs typeface="Helvetica Neue Light"/>
          <a:sym typeface="Helvetica Neue Light"/>
        </a:defRPr>
      </a:lvl1pPr>
      <a:lvl2pPr marL="570956" indent="-283984">
        <a:spcBef>
          <a:spcPts val="377"/>
        </a:spcBef>
        <a:buClr>
          <a:srgbClr val="008000"/>
        </a:buClr>
        <a:buSzPct val="60000"/>
        <a:buFont typeface="Wingdings"/>
        <a:buChar char="■"/>
        <a:defRPr sz="2400">
          <a:latin typeface="Helvetica Neue Light"/>
          <a:ea typeface="Helvetica Neue Light"/>
          <a:cs typeface="Helvetica Neue Light"/>
          <a:sym typeface="Helvetica Neue Light"/>
        </a:defRPr>
      </a:lvl2pPr>
      <a:lvl3pPr marL="846570" indent="-272624">
        <a:spcBef>
          <a:spcPts val="377"/>
        </a:spcBef>
        <a:buClr>
          <a:srgbClr val="008000"/>
        </a:buClr>
        <a:buSzPct val="95000"/>
        <a:buFont typeface="Wingdings"/>
        <a:buChar char="⬥"/>
        <a:defRPr sz="2400">
          <a:latin typeface="Helvetica Neue Light"/>
          <a:ea typeface="Helvetica Neue Light"/>
          <a:cs typeface="Helvetica Neue Light"/>
          <a:sym typeface="Helvetica Neue Light"/>
        </a:defRPr>
      </a:lvl3pPr>
      <a:lvl4pPr marL="1163835" indent="-302916">
        <a:spcBef>
          <a:spcPts val="377"/>
        </a:spcBef>
        <a:buClr>
          <a:srgbClr val="008000"/>
        </a:buClr>
        <a:buSzPct val="65000"/>
        <a:buFont typeface="Wingdings"/>
        <a:buChar char="■"/>
        <a:defRPr sz="2400">
          <a:latin typeface="Helvetica Neue Light"/>
          <a:ea typeface="Helvetica Neue Light"/>
          <a:cs typeface="Helvetica Neue Light"/>
          <a:sym typeface="Helvetica Neue Light"/>
        </a:defRPr>
      </a:lvl4pPr>
      <a:lvl5pPr marL="1450808" indent="-302916">
        <a:spcBef>
          <a:spcPts val="377"/>
        </a:spcBef>
        <a:buClr>
          <a:srgbClr val="008000"/>
        </a:buClr>
        <a:buSzPct val="60000"/>
        <a:buFont typeface="Wingdings"/>
        <a:buChar char="■"/>
        <a:defRPr sz="2400">
          <a:latin typeface="Helvetica Neue Light"/>
          <a:ea typeface="Helvetica Neue Light"/>
          <a:cs typeface="Helvetica Neue Light"/>
          <a:sym typeface="Helvetica Neue Light"/>
        </a:defRPr>
      </a:lvl5pPr>
      <a:lvl6pPr marL="1737781" indent="-302916">
        <a:spcBef>
          <a:spcPts val="377"/>
        </a:spcBef>
        <a:buClr>
          <a:srgbClr val="006699"/>
        </a:buClr>
        <a:buSzPct val="60000"/>
        <a:buFont typeface="Wingdings"/>
        <a:buChar char="■"/>
        <a:defRPr sz="2400">
          <a:latin typeface="Helvetica Neue Light"/>
          <a:ea typeface="Helvetica Neue Light"/>
          <a:cs typeface="Helvetica Neue Light"/>
          <a:sym typeface="Helvetica Neue Light"/>
        </a:defRPr>
      </a:lvl6pPr>
      <a:lvl7pPr marL="2024754" indent="-302916">
        <a:spcBef>
          <a:spcPts val="377"/>
        </a:spcBef>
        <a:buClr>
          <a:srgbClr val="006699"/>
        </a:buClr>
        <a:buSzPct val="60000"/>
        <a:buFont typeface="Wingdings"/>
        <a:buChar char="■"/>
        <a:defRPr sz="2400">
          <a:latin typeface="Helvetica Neue Light"/>
          <a:ea typeface="Helvetica Neue Light"/>
          <a:cs typeface="Helvetica Neue Light"/>
          <a:sym typeface="Helvetica Neue Light"/>
        </a:defRPr>
      </a:lvl7pPr>
      <a:lvl8pPr marL="2311727" indent="-302916">
        <a:spcBef>
          <a:spcPts val="377"/>
        </a:spcBef>
        <a:buClr>
          <a:srgbClr val="006699"/>
        </a:buClr>
        <a:buSzPct val="60000"/>
        <a:buFont typeface="Wingdings"/>
        <a:buChar char="■"/>
        <a:defRPr sz="2400">
          <a:latin typeface="Helvetica Neue Light"/>
          <a:ea typeface="Helvetica Neue Light"/>
          <a:cs typeface="Helvetica Neue Light"/>
          <a:sym typeface="Helvetica Neue Light"/>
        </a:defRPr>
      </a:lvl8pPr>
      <a:lvl9pPr marL="2598700" indent="-302916">
        <a:spcBef>
          <a:spcPts val="377"/>
        </a:spcBef>
        <a:buClr>
          <a:srgbClr val="006699"/>
        </a:buClr>
        <a:buSzPct val="60000"/>
        <a:buFont typeface="Wingdings"/>
        <a:buChar char="■"/>
        <a:defRPr sz="2400">
          <a:latin typeface="Helvetica Neue Light"/>
          <a:ea typeface="Helvetica Neue Light"/>
          <a:cs typeface="Helvetica Neue Light"/>
          <a:sym typeface="Helvetica Neue Light"/>
        </a:defRPr>
      </a:lvl9pPr>
    </p:bodyStyle>
    <p:otherStyle>
      <a:lvl1pPr algn="r">
        <a:defRPr>
          <a:solidFill>
            <a:schemeClr val="tx1"/>
          </a:solidFill>
          <a:latin typeface="+mn-lt"/>
          <a:ea typeface="+mn-ea"/>
          <a:cs typeface="+mn-cs"/>
          <a:sym typeface="Tahoma"/>
        </a:defRPr>
      </a:lvl1pPr>
      <a:lvl2pPr indent="286973" algn="r">
        <a:defRPr>
          <a:solidFill>
            <a:schemeClr val="tx1"/>
          </a:solidFill>
          <a:latin typeface="+mn-lt"/>
          <a:ea typeface="+mn-ea"/>
          <a:cs typeface="+mn-cs"/>
          <a:sym typeface="Tahoma"/>
        </a:defRPr>
      </a:lvl2pPr>
      <a:lvl3pPr indent="573946" algn="r">
        <a:defRPr>
          <a:solidFill>
            <a:schemeClr val="tx1"/>
          </a:solidFill>
          <a:latin typeface="+mn-lt"/>
          <a:ea typeface="+mn-ea"/>
          <a:cs typeface="+mn-cs"/>
          <a:sym typeface="Tahoma"/>
        </a:defRPr>
      </a:lvl3pPr>
      <a:lvl4pPr indent="860919" algn="r">
        <a:defRPr>
          <a:solidFill>
            <a:schemeClr val="tx1"/>
          </a:solidFill>
          <a:latin typeface="+mn-lt"/>
          <a:ea typeface="+mn-ea"/>
          <a:cs typeface="+mn-cs"/>
          <a:sym typeface="Tahoma"/>
        </a:defRPr>
      </a:lvl4pPr>
      <a:lvl5pPr indent="1147892" algn="r">
        <a:defRPr>
          <a:solidFill>
            <a:schemeClr val="tx1"/>
          </a:solidFill>
          <a:latin typeface="+mn-lt"/>
          <a:ea typeface="+mn-ea"/>
          <a:cs typeface="+mn-cs"/>
          <a:sym typeface="Tahoma"/>
        </a:defRPr>
      </a:lvl5pPr>
      <a:lvl6pPr indent="1434865" algn="r">
        <a:defRPr>
          <a:solidFill>
            <a:schemeClr val="tx1"/>
          </a:solidFill>
          <a:latin typeface="+mn-lt"/>
          <a:ea typeface="+mn-ea"/>
          <a:cs typeface="+mn-cs"/>
          <a:sym typeface="Tahoma"/>
        </a:defRPr>
      </a:lvl6pPr>
      <a:lvl7pPr indent="1721838" algn="r">
        <a:defRPr>
          <a:solidFill>
            <a:schemeClr val="tx1"/>
          </a:solidFill>
          <a:latin typeface="+mn-lt"/>
          <a:ea typeface="+mn-ea"/>
          <a:cs typeface="+mn-cs"/>
          <a:sym typeface="Tahoma"/>
        </a:defRPr>
      </a:lvl7pPr>
      <a:lvl8pPr indent="2008811" algn="r">
        <a:defRPr>
          <a:solidFill>
            <a:schemeClr val="tx1"/>
          </a:solidFill>
          <a:latin typeface="+mn-lt"/>
          <a:ea typeface="+mn-ea"/>
          <a:cs typeface="+mn-cs"/>
          <a:sym typeface="Tahoma"/>
        </a:defRPr>
      </a:lvl8pPr>
      <a:lvl9pPr indent="2295784" algn="r">
        <a:defRPr>
          <a:solidFill>
            <a:schemeClr val="tx1"/>
          </a:solidFill>
          <a:latin typeface="+mn-lt"/>
          <a:ea typeface="+mn-ea"/>
          <a:cs typeface="+mn-cs"/>
          <a:sym typeface="Tahoma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iff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66A5DAE-8FD5-49CE-E28B-6EDA2BB14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1747" y="1010648"/>
            <a:ext cx="7893844" cy="1077818"/>
          </a:xfrm>
        </p:spPr>
        <p:txBody>
          <a:bodyPr/>
          <a:lstStyle/>
          <a:p>
            <a:pPr algn="r" defTabSz="366688" rtl="0"/>
            <a:r>
              <a:rPr lang="en-US" sz="3200" dirty="0"/>
              <a:t>Programming Fundamentals 1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5F8875-BE14-6F78-797D-7623587C6E38}"/>
              </a:ext>
            </a:extLst>
          </p:cNvPr>
          <p:cNvCxnSpPr/>
          <p:nvPr/>
        </p:nvCxnSpPr>
        <p:spPr>
          <a:xfrm>
            <a:off x="192024" y="2240280"/>
            <a:ext cx="8705088" cy="0"/>
          </a:xfrm>
          <a:prstGeom prst="line">
            <a:avLst/>
          </a:prstGeom>
          <a:noFill/>
          <a:ln w="15875" cap="flat">
            <a:solidFill>
              <a:srgbClr val="84AEFF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" name="Title 2">
            <a:extLst>
              <a:ext uri="{FF2B5EF4-FFF2-40B4-BE49-F238E27FC236}">
                <a16:creationId xmlns:a16="http://schemas.microsoft.com/office/drawing/2014/main" id="{F3D22CC2-63B9-5CB6-174A-205E5A7B9B8B}"/>
              </a:ext>
            </a:extLst>
          </p:cNvPr>
          <p:cNvSpPr txBox="1">
            <a:spLocks/>
          </p:cNvSpPr>
          <p:nvPr/>
        </p:nvSpPr>
        <p:spPr>
          <a:xfrm>
            <a:off x="192024" y="1269402"/>
            <a:ext cx="7772401" cy="106302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286973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573946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860919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1147892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algn="l" defTabSz="914400"/>
            <a:endParaRPr lang="en-IE" sz="2800" dirty="0">
              <a:solidFill>
                <a:schemeClr val="tx1"/>
              </a:solidFill>
            </a:endParaRPr>
          </a:p>
          <a:p>
            <a:pPr algn="l" defTabSz="914400"/>
            <a:r>
              <a:rPr lang="en-IE" sz="2800" dirty="0">
                <a:solidFill>
                  <a:schemeClr val="tx1"/>
                </a:solidFill>
              </a:rPr>
              <a:t>Recap of OO Concepts</a:t>
            </a:r>
            <a:endParaRPr lang="en-US" sz="28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E8C56AC-B899-2568-9517-5FD54D9A74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56793" y="260907"/>
            <a:ext cx="2791808" cy="4420362"/>
          </a:xfrm>
          <a:prstGeom prst="rect">
            <a:avLst/>
          </a:prstGeom>
        </p:spPr>
      </p:pic>
      <p:sp>
        <p:nvSpPr>
          <p:cNvPr id="9" name="Title 2">
            <a:extLst>
              <a:ext uri="{FF2B5EF4-FFF2-40B4-BE49-F238E27FC236}">
                <a16:creationId xmlns:a16="http://schemas.microsoft.com/office/drawing/2014/main" id="{92B49638-F999-2A91-FA44-4A9EC7335E24}"/>
              </a:ext>
            </a:extLst>
          </p:cNvPr>
          <p:cNvSpPr txBox="1">
            <a:spLocks/>
          </p:cNvSpPr>
          <p:nvPr/>
        </p:nvSpPr>
        <p:spPr>
          <a:xfrm>
            <a:off x="192024" y="2262468"/>
            <a:ext cx="7772401" cy="161162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286973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573946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860919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1147892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algn="l" defTabSz="914400"/>
            <a:r>
              <a:rPr lang="en-IE" sz="2400" dirty="0">
                <a:solidFill>
                  <a:schemeClr val="bg1">
                    <a:lumMod val="75000"/>
                  </a:schemeClr>
                </a:solidFill>
              </a:rPr>
              <a:t>Objects, classes, methods </a:t>
            </a:r>
          </a:p>
          <a:p>
            <a:pPr algn="l" defTabSz="914400"/>
            <a:r>
              <a:rPr lang="en-IE" sz="2400" dirty="0">
                <a:solidFill>
                  <a:schemeClr val="bg1">
                    <a:lumMod val="75000"/>
                  </a:schemeClr>
                </a:solidFill>
              </a:rPr>
              <a:t>and more</a:t>
            </a:r>
          </a:p>
          <a:p>
            <a:pPr algn="l" defTabSz="914400"/>
            <a:endParaRPr lang="en-IE" sz="24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794E400-A0C7-BE1B-44A0-8F17F3B22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EBDE2ED-9613-EC3D-7D95-0004F92FA4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553201" y="4884769"/>
            <a:ext cx="1905000" cy="283023"/>
          </a:xfrm>
        </p:spPr>
        <p:txBody>
          <a:bodyPr/>
          <a:lstStyle/>
          <a:p>
            <a:fld id="{86CB4B4D-7CA3-9044-876B-883B54F8677D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490614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F8B8A-BE9E-4D04-2451-E715F6A97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6" y="0"/>
            <a:ext cx="7772401" cy="761815"/>
          </a:xfrm>
        </p:spPr>
        <p:txBody>
          <a:bodyPr/>
          <a:lstStyle/>
          <a:p>
            <a:r>
              <a:rPr lang="en-US" sz="3200" dirty="0"/>
              <a:t>RECAP 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2BD6FB-AF6E-8217-F9F7-1F14B2F623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5536" y="806982"/>
            <a:ext cx="8382703" cy="3911321"/>
          </a:xfrm>
        </p:spPr>
        <p:txBody>
          <a:bodyPr/>
          <a:lstStyle/>
          <a:p>
            <a:pPr algn="l" rtl="0">
              <a:buClr>
                <a:srgbClr val="194699"/>
              </a:buClr>
            </a:pPr>
            <a:r>
              <a:rPr lang="en-US" sz="3200" dirty="0"/>
              <a:t>Classes &amp; Objects</a:t>
            </a:r>
          </a:p>
          <a:p>
            <a:pPr algn="l" rtl="0">
              <a:buClr>
                <a:srgbClr val="194699"/>
              </a:buClr>
            </a:pPr>
            <a:endParaRPr lang="en-US" sz="3200" dirty="0"/>
          </a:p>
          <a:p>
            <a:pPr algn="l" rtl="0">
              <a:buClr>
                <a:srgbClr val="194699"/>
              </a:buClr>
            </a:pPr>
            <a:r>
              <a:rPr lang="en-US" sz="3200" b="1" dirty="0"/>
              <a:t>SHOP</a:t>
            </a:r>
            <a:r>
              <a:rPr lang="en-US" sz="3200" dirty="0"/>
              <a:t> Version 1.0</a:t>
            </a:r>
          </a:p>
          <a:p>
            <a:pPr algn="l" rtl="0">
              <a:buClr>
                <a:srgbClr val="194699"/>
              </a:buClr>
            </a:pPr>
            <a:endParaRPr lang="en-US" sz="3200" dirty="0"/>
          </a:p>
          <a:p>
            <a:pPr algn="l" rtl="0">
              <a:buClr>
                <a:srgbClr val="194699"/>
              </a:buClr>
            </a:pPr>
            <a:r>
              <a:rPr lang="en-US" sz="3200" dirty="0"/>
              <a:t>A </a:t>
            </a:r>
            <a:r>
              <a:rPr lang="en-US" sz="3200" dirty="0">
                <a:latin typeface="Monaco" pitchFamily="2" charset="77"/>
              </a:rPr>
              <a:t>Product</a:t>
            </a:r>
            <a:r>
              <a:rPr lang="en-US" sz="3200" dirty="0"/>
              <a:t> Class</a:t>
            </a:r>
          </a:p>
          <a:p>
            <a:pPr algn="l" rtl="0">
              <a:buClr>
                <a:srgbClr val="194699"/>
              </a:buClr>
            </a:pPr>
            <a:endParaRPr lang="en-US" sz="3200" dirty="0"/>
          </a:p>
          <a:p>
            <a:pPr algn="l" rtl="0">
              <a:buClr>
                <a:srgbClr val="194699"/>
              </a:buClr>
            </a:pPr>
            <a:r>
              <a:rPr lang="en-US" sz="3200" dirty="0"/>
              <a:t>Setters/Getters/Encapsulation…</a:t>
            </a:r>
          </a:p>
          <a:p>
            <a:pPr marL="0" indent="0" algn="l" rtl="0">
              <a:buClr>
                <a:srgbClr val="194699"/>
              </a:buClr>
              <a:buNone/>
            </a:pPr>
            <a:endParaRPr lang="en-US" sz="3200" dirty="0"/>
          </a:p>
          <a:p>
            <a:pPr algn="l" rtl="0">
              <a:buClr>
                <a:srgbClr val="194699"/>
              </a:buClr>
            </a:pPr>
            <a:endParaRPr lang="en-US" sz="3200" dirty="0"/>
          </a:p>
          <a:p>
            <a:pPr algn="l" rtl="0">
              <a:buClr>
                <a:srgbClr val="194699"/>
              </a:buClr>
            </a:pPr>
            <a:endParaRPr lang="en-US" sz="3600" dirty="0"/>
          </a:p>
          <a:p>
            <a:pPr marL="292097" indent="-292097" algn="l" rtl="0">
              <a:spcBef>
                <a:spcPts val="377"/>
              </a:spcBef>
              <a:buClr>
                <a:srgbClr val="194699"/>
              </a:buClr>
              <a:buSzPct val="100000"/>
              <a:buFont typeface="Wingdings"/>
              <a:buChar char="❑"/>
            </a:pPr>
            <a:endParaRPr lang="en-US" sz="3600" dirty="0"/>
          </a:p>
          <a:p>
            <a:pPr marL="292097" indent="-292097" algn="l" rtl="0">
              <a:spcBef>
                <a:spcPts val="377"/>
              </a:spcBef>
              <a:buClr>
                <a:srgbClr val="194699"/>
              </a:buClr>
              <a:buSzPct val="100000"/>
              <a:buFont typeface="Wingdings"/>
              <a:buChar char="❑"/>
            </a:pPr>
            <a:endParaRPr lang="en-US" sz="3600" dirty="0"/>
          </a:p>
          <a:p>
            <a:pPr marL="292097" indent="-292097" algn="l" rtl="0">
              <a:spcBef>
                <a:spcPts val="377"/>
              </a:spcBef>
              <a:buClr>
                <a:srgbClr val="194699"/>
              </a:buClr>
              <a:buSzPct val="100000"/>
              <a:buFont typeface="Wingdings"/>
              <a:buChar char="❑"/>
            </a:pPr>
            <a:endParaRPr lang="en-US" sz="3600" dirty="0"/>
          </a:p>
          <a:p>
            <a:pPr marL="292097" indent="-292097" algn="l" rtl="0">
              <a:spcBef>
                <a:spcPts val="377"/>
              </a:spcBef>
              <a:buClr>
                <a:srgbClr val="194699"/>
              </a:buClr>
              <a:buSzPct val="100000"/>
              <a:buFont typeface="Wingdings"/>
              <a:buChar char="❑"/>
            </a:pPr>
            <a:endParaRPr lang="en-US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D2201E-8983-5C5E-8827-2194B58BEE0D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3</a:t>
            </a:fld>
            <a:endParaRPr lang="en-I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A30C4F-E4E1-59F1-E8DB-B1C6155ED3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18623203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3F2B9-CA77-41E2-BFCC-DD2CEF5266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05396" y="382050"/>
            <a:ext cx="3848851" cy="1102519"/>
          </a:xfrm>
        </p:spPr>
        <p:txBody>
          <a:bodyPr/>
          <a:lstStyle/>
          <a:p>
            <a:pPr>
              <a:spcBef>
                <a:spcPts val="633"/>
              </a:spcBef>
            </a:pPr>
            <a:r>
              <a:rPr lang="en-IE" sz="3600" dirty="0">
                <a:solidFill>
                  <a:schemeClr val="tx1"/>
                </a:solidFill>
              </a:rPr>
              <a:t>Classes &amp; Objects</a:t>
            </a:r>
            <a:endParaRPr lang="en-IE" sz="3600" b="1" dirty="0">
              <a:solidFill>
                <a:srgbClr val="0368FF"/>
              </a:solidFill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80B48627-70FE-4B45-9414-DD660DBF28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114532" y="1660137"/>
            <a:ext cx="2630581" cy="2630581"/>
          </a:xfrm>
          <a:prstGeom prst="rect">
            <a:avLst/>
          </a:prstGeom>
          <a:noFill/>
          <a:ln w="38100">
            <a:noFill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4EBBC8-D8C4-AD98-5A2D-86C001100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1" y="4865349"/>
            <a:ext cx="1905000" cy="283023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E5978C-2993-225B-79D6-A53E710FF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www.java.com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73023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b="1" dirty="0"/>
              <a:t>Classes</a:t>
            </a:r>
            <a:r>
              <a:rPr lang="en-IE" dirty="0"/>
              <a:t> and 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5856" y="852679"/>
            <a:ext cx="7143750" cy="3735601"/>
          </a:xfrm>
        </p:spPr>
        <p:txBody>
          <a:bodyPr>
            <a:normAutofit/>
          </a:bodyPr>
          <a:lstStyle/>
          <a:p>
            <a:r>
              <a:rPr lang="en-IE" dirty="0"/>
              <a:t>A </a:t>
            </a:r>
            <a:r>
              <a:rPr lang="en-IE" b="1" dirty="0">
                <a:solidFill>
                  <a:srgbClr val="FF0000"/>
                </a:solidFill>
              </a:rPr>
              <a:t>class</a:t>
            </a:r>
            <a:r>
              <a:rPr lang="en-IE" dirty="0"/>
              <a:t> </a:t>
            </a:r>
          </a:p>
          <a:p>
            <a:pPr lvl="1"/>
            <a:r>
              <a:rPr lang="en-IE" dirty="0"/>
              <a:t>defines a group of related </a:t>
            </a:r>
            <a:r>
              <a:rPr lang="en-IE" b="1" dirty="0"/>
              <a:t>methods</a:t>
            </a:r>
            <a:r>
              <a:rPr lang="en-IE" dirty="0"/>
              <a:t> (functions) and </a:t>
            </a:r>
            <a:r>
              <a:rPr lang="en-IE" b="1" dirty="0"/>
              <a:t>fields</a:t>
            </a:r>
            <a:r>
              <a:rPr lang="en-IE" dirty="0"/>
              <a:t> (variables / properties).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5874DE-90EA-41EA-86E5-51E7A0D9B6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673" y="2163066"/>
            <a:ext cx="3026181" cy="185857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DF6FCCA-C00B-49E6-8B3D-B324B23AC4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3671" y="2163066"/>
            <a:ext cx="3188489" cy="256164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681F4D-1917-E0CE-4BD8-B3110C382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CF5C07-9C8E-FF1F-86BE-B92AEFFF751E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5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1598320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Classes and </a:t>
            </a:r>
            <a:r>
              <a:rPr lang="en-IE" b="1" dirty="0"/>
              <a:t>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855700"/>
            <a:ext cx="7200900" cy="2171699"/>
          </a:xfrm>
        </p:spPr>
        <p:txBody>
          <a:bodyPr>
            <a:normAutofit/>
          </a:bodyPr>
          <a:lstStyle/>
          <a:p>
            <a:r>
              <a:rPr lang="en-IE" dirty="0"/>
              <a:t>An </a:t>
            </a:r>
            <a:r>
              <a:rPr lang="en-IE" b="1" dirty="0">
                <a:solidFill>
                  <a:srgbClr val="FF0000"/>
                </a:solidFill>
              </a:rPr>
              <a:t>object</a:t>
            </a:r>
            <a:r>
              <a:rPr lang="en-IE" dirty="0"/>
              <a:t> </a:t>
            </a:r>
          </a:p>
          <a:p>
            <a:pPr lvl="1"/>
            <a:r>
              <a:rPr lang="en-IE" dirty="0"/>
              <a:t>is a single instance of a class </a:t>
            </a:r>
          </a:p>
          <a:p>
            <a:pPr lvl="1"/>
            <a:r>
              <a:rPr lang="en-IE" dirty="0"/>
              <a:t>i.e. an object is created (instantiated) from a class.</a:t>
            </a:r>
          </a:p>
          <a:p>
            <a:pPr marL="0" indent="0">
              <a:buNone/>
            </a:pPr>
            <a:endParaRPr lang="en-IE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7EE3CB2-F2C5-4545-9C1D-2FF645411CBB}"/>
              </a:ext>
            </a:extLst>
          </p:cNvPr>
          <p:cNvSpPr/>
          <p:nvPr/>
        </p:nvSpPr>
        <p:spPr>
          <a:xfrm>
            <a:off x="2743200" y="2580895"/>
            <a:ext cx="3968496" cy="219015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66737" rtl="0"/>
            <a:endParaRPr lang="en-IE" sz="1688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FEC5DA-C691-4A16-BFAC-95576BE9D6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3250" y="2988684"/>
            <a:ext cx="571500" cy="4000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 sz="1688"/>
          </a:p>
        </p:txBody>
      </p:sp>
      <p:sp>
        <p:nvSpPr>
          <p:cNvPr id="6" name="Text Box 9">
            <a:extLst>
              <a:ext uri="{FF2B5EF4-FFF2-40B4-BE49-F238E27FC236}">
                <a16:creationId xmlns:a16="http://schemas.microsoft.com/office/drawing/2014/main" id="{6BCD8AFD-9026-4584-BB0C-DA0914FEC0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2580895"/>
            <a:ext cx="406908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pPr eaLnBrk="1" hangingPunct="1"/>
            <a:r>
              <a:rPr lang="en-GB" sz="2100" dirty="0">
                <a:latin typeface="Courier New" pitchFamily="-32" charset="0"/>
              </a:rPr>
              <a:t>String a = new String();</a:t>
            </a:r>
          </a:p>
        </p:txBody>
      </p:sp>
      <p:sp>
        <p:nvSpPr>
          <p:cNvPr id="7" name="Arrow: Right 17">
            <a:extLst>
              <a:ext uri="{FF2B5EF4-FFF2-40B4-BE49-F238E27FC236}">
                <a16:creationId xmlns:a16="http://schemas.microsoft.com/office/drawing/2014/main" id="{90064D53-8AFB-4A36-BA20-25ADE20F0BE9}"/>
              </a:ext>
            </a:extLst>
          </p:cNvPr>
          <p:cNvSpPr/>
          <p:nvPr/>
        </p:nvSpPr>
        <p:spPr>
          <a:xfrm>
            <a:off x="265176" y="2370582"/>
            <a:ext cx="2420874" cy="885742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800" b="1" dirty="0"/>
              <a:t>String</a:t>
            </a:r>
            <a:r>
              <a:rPr lang="en-IE" sz="1800" dirty="0"/>
              <a:t> is the Class</a:t>
            </a:r>
          </a:p>
        </p:txBody>
      </p:sp>
      <p:sp>
        <p:nvSpPr>
          <p:cNvPr id="8" name="AutoShape 5">
            <a:extLst>
              <a:ext uri="{FF2B5EF4-FFF2-40B4-BE49-F238E27FC236}">
                <a16:creationId xmlns:a16="http://schemas.microsoft.com/office/drawing/2014/main" id="{C30C3CDF-DEA8-45B0-990D-88395B3AA3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6988" y="3952591"/>
            <a:ext cx="1110854" cy="300569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sz="1500" dirty="0"/>
              <a:t>“Hello”</a:t>
            </a:r>
          </a:p>
        </p:txBody>
      </p:sp>
      <p:sp>
        <p:nvSpPr>
          <p:cNvPr id="9" name="Line 6">
            <a:extLst>
              <a:ext uri="{FF2B5EF4-FFF2-40B4-BE49-F238E27FC236}">
                <a16:creationId xmlns:a16="http://schemas.microsoft.com/office/drawing/2014/main" id="{6C425F9A-7CE8-466A-AEAF-CC71F0BA9F57}"/>
              </a:ext>
            </a:extLst>
          </p:cNvPr>
          <p:cNvSpPr>
            <a:spLocks noChangeShapeType="1"/>
          </p:cNvSpPr>
          <p:nvPr/>
        </p:nvSpPr>
        <p:spPr bwMode="auto">
          <a:xfrm>
            <a:off x="3523245" y="3224026"/>
            <a:ext cx="820156" cy="72856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defTabSz="366737" rtl="0"/>
            <a:endParaRPr lang="en-IE" sz="1688"/>
          </a:p>
        </p:txBody>
      </p:sp>
      <p:sp>
        <p:nvSpPr>
          <p:cNvPr id="10" name="Arrow: Left 9">
            <a:extLst>
              <a:ext uri="{FF2B5EF4-FFF2-40B4-BE49-F238E27FC236}">
                <a16:creationId xmlns:a16="http://schemas.microsoft.com/office/drawing/2014/main" id="{E383D759-3D69-43BE-BD20-70D6E14EC852}"/>
              </a:ext>
            </a:extLst>
          </p:cNvPr>
          <p:cNvSpPr/>
          <p:nvPr/>
        </p:nvSpPr>
        <p:spPr>
          <a:xfrm>
            <a:off x="5104858" y="3407172"/>
            <a:ext cx="3280766" cy="1363877"/>
          </a:xfrm>
          <a:prstGeom prst="lef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800" b="1" dirty="0"/>
              <a:t>a</a:t>
            </a:r>
            <a:r>
              <a:rPr lang="en-IE" sz="1800" dirty="0"/>
              <a:t> is the Object, </a:t>
            </a:r>
            <a:br>
              <a:rPr lang="en-IE" sz="1800" dirty="0"/>
            </a:br>
            <a:r>
              <a:rPr lang="en-IE" sz="1800" dirty="0"/>
              <a:t>which contains “Hello”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2614" y="2970110"/>
            <a:ext cx="63030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b="1" dirty="0">
                <a:solidFill>
                  <a:srgbClr val="92D050"/>
                </a:solidFill>
              </a:rPr>
              <a:t>&amp;FFCC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64570" y="3736373"/>
            <a:ext cx="63030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b="1" dirty="0">
                <a:solidFill>
                  <a:srgbClr val="92D050"/>
                </a:solidFill>
              </a:rPr>
              <a:t>&amp;FFCC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82B599BA-1349-C48E-C1A9-D0F92170B5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D9898652-6BE3-7B21-CE7B-76925648054B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6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91676420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/>
      <p:bldP spid="7" grpId="0" animBg="1"/>
      <p:bldP spid="8" grpId="0" animBg="1"/>
      <p:bldP spid="9" grpId="0" animBg="1"/>
      <p:bldP spid="10" grpId="0" animBg="1"/>
      <p:bldP spid="11" grpId="0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Classes and Objects – </a:t>
            </a:r>
            <a:r>
              <a:rPr lang="en-IE" b="1" dirty="0"/>
              <a:t>Many 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843559"/>
            <a:ext cx="7772401" cy="3472410"/>
          </a:xfrm>
        </p:spPr>
        <p:txBody>
          <a:bodyPr>
            <a:normAutofit/>
          </a:bodyPr>
          <a:lstStyle/>
          <a:p>
            <a:r>
              <a:rPr lang="en-IE" sz="2800" dirty="0"/>
              <a:t>Many </a:t>
            </a:r>
            <a:r>
              <a:rPr lang="en-IE" sz="2800" b="1" dirty="0">
                <a:solidFill>
                  <a:srgbClr val="FF0000"/>
                </a:solidFill>
              </a:rPr>
              <a:t>objects</a:t>
            </a:r>
            <a:r>
              <a:rPr lang="en-IE" sz="2800" dirty="0"/>
              <a:t> can be constructed from a single </a:t>
            </a:r>
            <a:r>
              <a:rPr lang="en-IE" sz="2800" b="1" dirty="0">
                <a:solidFill>
                  <a:srgbClr val="FF0000"/>
                </a:solidFill>
              </a:rPr>
              <a:t>class</a:t>
            </a:r>
            <a:r>
              <a:rPr lang="en-IE" sz="2800" dirty="0"/>
              <a:t> definition</a:t>
            </a:r>
          </a:p>
          <a:p>
            <a:endParaRPr lang="en-IE" sz="2800" dirty="0"/>
          </a:p>
          <a:p>
            <a:r>
              <a:rPr lang="en-IE" sz="2800" dirty="0"/>
              <a:t>Each </a:t>
            </a:r>
            <a:r>
              <a:rPr lang="en-IE" sz="2800" b="1" dirty="0">
                <a:solidFill>
                  <a:srgbClr val="FF0000"/>
                </a:solidFill>
              </a:rPr>
              <a:t>object</a:t>
            </a:r>
            <a:r>
              <a:rPr lang="en-IE" sz="2800" dirty="0"/>
              <a:t> must have a </a:t>
            </a:r>
            <a:r>
              <a:rPr lang="en-IE" sz="2800" b="1" dirty="0"/>
              <a:t>unique</a:t>
            </a:r>
            <a:r>
              <a:rPr lang="en-IE" sz="2800" dirty="0"/>
              <a:t> name within the program</a:t>
            </a:r>
          </a:p>
          <a:p>
            <a:endParaRPr lang="en-IE" sz="28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B502E8-14E6-FA44-0A13-281D0E0949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17102B-610A-134E-6E11-A5CBC0F5F8A3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7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02473168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66281" y="1421512"/>
            <a:ext cx="7772400" cy="1303400"/>
          </a:xfrm>
        </p:spPr>
        <p:txBody>
          <a:bodyPr>
            <a:normAutofit/>
          </a:bodyPr>
          <a:lstStyle/>
          <a:p>
            <a:r>
              <a:rPr lang="en-GB" sz="3300" dirty="0"/>
              <a:t>Shop </a:t>
            </a:r>
            <a:br>
              <a:rPr lang="en-GB" sz="3300" dirty="0"/>
            </a:br>
            <a:r>
              <a:rPr lang="en-GB" sz="3300" dirty="0"/>
              <a:t>Version 1.0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6350" y="1042988"/>
            <a:ext cx="3057525" cy="3057525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3C4DCEF-509C-6BF1-9E6E-10B879E99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https://www.java.com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3C4E080-4421-27CE-F2E4-30F0574AA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7984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7C54F-25E0-4FBC-AA95-B1EADD8A2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Shop V1.0 - </a:t>
            </a:r>
            <a:r>
              <a:rPr lang="en-IE" b="1" dirty="0">
                <a:latin typeface="Monaco" pitchFamily="2" charset="77"/>
              </a:rPr>
              <a:t>Product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878F51-A6C3-4DFC-8DDB-3489B717AD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We will recap object oriented concepts through the study of a new class called </a:t>
            </a:r>
            <a:r>
              <a:rPr lang="en-IE" b="1" dirty="0">
                <a:solidFill>
                  <a:srgbClr val="598CBE"/>
                </a:solidFill>
                <a:latin typeface="Monaco" pitchFamily="2" charset="77"/>
              </a:rPr>
              <a:t>Product</a:t>
            </a:r>
            <a:endParaRPr lang="en-IE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516932-0A6D-DC96-9152-7635D89CE7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80760" y="1871009"/>
            <a:ext cx="2172745" cy="2163237"/>
          </a:xfrm>
          <a:prstGeom prst="rect">
            <a:avLst/>
          </a:prstGeom>
        </p:spPr>
      </p:pic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707EC440-6FEF-B1D2-E67A-48BDD9D8D5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E1BC80E-1B9D-2E3A-07D9-B8A18129EE0B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9</a:t>
            </a:fld>
            <a:endParaRPr lang="en-IE" dirty="0"/>
          </a:p>
        </p:txBody>
      </p:sp>
      <p:sp>
        <p:nvSpPr>
          <p:cNvPr id="12" name="Rectangle: Rounded Corners 3">
            <a:extLst>
              <a:ext uri="{FF2B5EF4-FFF2-40B4-BE49-F238E27FC236}">
                <a16:creationId xmlns:a16="http://schemas.microsoft.com/office/drawing/2014/main" id="{62098E53-AA63-17F7-CD7C-6F7DA295C0C6}"/>
              </a:ext>
            </a:extLst>
          </p:cNvPr>
          <p:cNvSpPr/>
          <p:nvPr/>
        </p:nvSpPr>
        <p:spPr>
          <a:xfrm>
            <a:off x="848135" y="2309034"/>
            <a:ext cx="1543050" cy="800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3000" dirty="0"/>
              <a:t>Driver</a:t>
            </a:r>
          </a:p>
        </p:txBody>
      </p:sp>
      <p:sp>
        <p:nvSpPr>
          <p:cNvPr id="13" name="Rectangle: Rounded Corners 4">
            <a:extLst>
              <a:ext uri="{FF2B5EF4-FFF2-40B4-BE49-F238E27FC236}">
                <a16:creationId xmlns:a16="http://schemas.microsoft.com/office/drawing/2014/main" id="{2252D83D-A70E-C38D-2B6D-E9005A34EE81}"/>
              </a:ext>
            </a:extLst>
          </p:cNvPr>
          <p:cNvSpPr/>
          <p:nvPr/>
        </p:nvSpPr>
        <p:spPr>
          <a:xfrm>
            <a:off x="3457506" y="3623484"/>
            <a:ext cx="1734029" cy="800100"/>
          </a:xfrm>
          <a:prstGeom prst="roundRect">
            <a:avLst/>
          </a:prstGeom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3000" b="1" dirty="0"/>
              <a:t>Product</a:t>
            </a:r>
          </a:p>
        </p:txBody>
      </p:sp>
      <p:cxnSp>
        <p:nvCxnSpPr>
          <p:cNvPr id="14" name="Connector: Elbow 5">
            <a:extLst>
              <a:ext uri="{FF2B5EF4-FFF2-40B4-BE49-F238E27FC236}">
                <a16:creationId xmlns:a16="http://schemas.microsoft.com/office/drawing/2014/main" id="{0305EADD-AC2B-8A5A-A0A2-85B58CD5A743}"/>
              </a:ext>
            </a:extLst>
          </p:cNvPr>
          <p:cNvCxnSpPr>
            <a:cxnSpLocks/>
            <a:stCxn id="12" idx="3"/>
            <a:endCxn id="13" idx="0"/>
          </p:cNvCxnSpPr>
          <p:nvPr/>
        </p:nvCxnSpPr>
        <p:spPr>
          <a:xfrm>
            <a:off x="2391185" y="2709084"/>
            <a:ext cx="1933336" cy="914400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6182202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7C54F-25E0-4FBC-AA95-B1EADD8A2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Shop V1.0 - </a:t>
            </a:r>
            <a:r>
              <a:rPr lang="en-IE" b="1" dirty="0">
                <a:latin typeface="Monaco" pitchFamily="2" charset="77"/>
              </a:rPr>
              <a:t>Product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878F51-A6C3-4DFC-8DDB-3489B717A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5" y="809244"/>
            <a:ext cx="7772401" cy="3394472"/>
          </a:xfrm>
        </p:spPr>
        <p:txBody>
          <a:bodyPr/>
          <a:lstStyle/>
          <a:p>
            <a:r>
              <a:rPr lang="en-IE" dirty="0"/>
              <a:t>The </a:t>
            </a:r>
            <a:r>
              <a:rPr lang="en-IE" b="1" dirty="0">
                <a:solidFill>
                  <a:srgbClr val="598CBE"/>
                </a:solidFill>
                <a:latin typeface="Monaco" pitchFamily="2" charset="77"/>
              </a:rPr>
              <a:t>Product</a:t>
            </a:r>
            <a:r>
              <a:rPr lang="en-IE" dirty="0"/>
              <a:t> class stores </a:t>
            </a:r>
            <a:r>
              <a:rPr lang="en-IE" b="1" dirty="0"/>
              <a:t>details</a:t>
            </a:r>
            <a:r>
              <a:rPr lang="en-IE" dirty="0"/>
              <a:t> about a product, e.g. </a:t>
            </a:r>
            <a:r>
              <a:rPr lang="en-IE" dirty="0">
                <a:latin typeface="Monaco" pitchFamily="2" charset="77"/>
              </a:rPr>
              <a:t>name</a:t>
            </a:r>
            <a:r>
              <a:rPr lang="en-IE" dirty="0"/>
              <a:t>, </a:t>
            </a:r>
            <a:r>
              <a:rPr lang="en-IE" dirty="0">
                <a:latin typeface="Monaco" pitchFamily="2" charset="77"/>
              </a:rPr>
              <a:t>code</a:t>
            </a:r>
            <a:r>
              <a:rPr lang="en-IE" dirty="0"/>
              <a:t>, </a:t>
            </a:r>
            <a:r>
              <a:rPr lang="en-IE" dirty="0">
                <a:latin typeface="Monaco" pitchFamily="2" charset="77"/>
              </a:rPr>
              <a:t>unit cost</a:t>
            </a:r>
            <a:r>
              <a:rPr lang="en-IE" dirty="0"/>
              <a:t>, in the </a:t>
            </a:r>
            <a:r>
              <a:rPr lang="en-IE" dirty="0">
                <a:latin typeface="Monaco" pitchFamily="2" charset="77"/>
              </a:rPr>
              <a:t>current product line </a:t>
            </a:r>
            <a:r>
              <a:rPr lang="en-IE" dirty="0"/>
              <a:t>or not?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2E16D95-83A0-6011-F1B4-6F02212A21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0060D38-144C-A586-DC1E-8AAA89EE5786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10</a:t>
            </a:fld>
            <a:endParaRPr lang="en-IE" dirty="0"/>
          </a:p>
        </p:txBody>
      </p:sp>
      <p:sp>
        <p:nvSpPr>
          <p:cNvPr id="11" name="Rectangle: Rounded Corners 3">
            <a:extLst>
              <a:ext uri="{FF2B5EF4-FFF2-40B4-BE49-F238E27FC236}">
                <a16:creationId xmlns:a16="http://schemas.microsoft.com/office/drawing/2014/main" id="{FDDA9D37-5551-B8F2-B02E-952FFC4D7622}"/>
              </a:ext>
            </a:extLst>
          </p:cNvPr>
          <p:cNvSpPr/>
          <p:nvPr/>
        </p:nvSpPr>
        <p:spPr>
          <a:xfrm>
            <a:off x="848135" y="2309034"/>
            <a:ext cx="1543050" cy="800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3000" dirty="0"/>
              <a:t>Driver</a:t>
            </a:r>
          </a:p>
        </p:txBody>
      </p:sp>
      <p:sp>
        <p:nvSpPr>
          <p:cNvPr id="12" name="Rectangle: Rounded Corners 4">
            <a:extLst>
              <a:ext uri="{FF2B5EF4-FFF2-40B4-BE49-F238E27FC236}">
                <a16:creationId xmlns:a16="http://schemas.microsoft.com/office/drawing/2014/main" id="{83D255C9-AAFB-22C1-4D96-BF8CB855F2CF}"/>
              </a:ext>
            </a:extLst>
          </p:cNvPr>
          <p:cNvSpPr/>
          <p:nvPr/>
        </p:nvSpPr>
        <p:spPr>
          <a:xfrm>
            <a:off x="3457506" y="3623484"/>
            <a:ext cx="1734029" cy="800100"/>
          </a:xfrm>
          <a:prstGeom prst="roundRect">
            <a:avLst/>
          </a:prstGeom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3000" b="1" dirty="0"/>
              <a:t>Product</a:t>
            </a:r>
          </a:p>
        </p:txBody>
      </p:sp>
      <p:cxnSp>
        <p:nvCxnSpPr>
          <p:cNvPr id="13" name="Connector: Elbow 5">
            <a:extLst>
              <a:ext uri="{FF2B5EF4-FFF2-40B4-BE49-F238E27FC236}">
                <a16:creationId xmlns:a16="http://schemas.microsoft.com/office/drawing/2014/main" id="{43805EF2-3A0B-949F-D972-7862E2DC0ACE}"/>
              </a:ext>
            </a:extLst>
          </p:cNvPr>
          <p:cNvCxnSpPr>
            <a:cxnSpLocks/>
            <a:stCxn id="11" idx="3"/>
            <a:endCxn id="12" idx="0"/>
          </p:cNvCxnSpPr>
          <p:nvPr/>
        </p:nvCxnSpPr>
        <p:spPr>
          <a:xfrm>
            <a:off x="2391185" y="2709084"/>
            <a:ext cx="1933336" cy="914400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FAA8C8D1-AEA5-7E74-409F-10B6835A64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80760" y="1871009"/>
            <a:ext cx="2172745" cy="2163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751956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7C54F-25E0-4FBC-AA95-B1EADD8A2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Shop V1.0 - </a:t>
            </a:r>
            <a:r>
              <a:rPr lang="en-IE" b="1" dirty="0">
                <a:latin typeface="Monaco" pitchFamily="2" charset="77"/>
              </a:rPr>
              <a:t>Driver</a:t>
            </a:r>
            <a:endParaRPr lang="en-IE" dirty="0">
              <a:latin typeface="Monaco" pitchFamily="2" charset="77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878F51-A6C3-4DFC-8DDB-3489B717A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816679"/>
            <a:ext cx="7148264" cy="3829050"/>
          </a:xfrm>
        </p:spPr>
        <p:txBody>
          <a:bodyPr>
            <a:noAutofit/>
          </a:bodyPr>
          <a:lstStyle/>
          <a:p>
            <a:r>
              <a:rPr lang="en-IE" dirty="0"/>
              <a:t>The </a:t>
            </a:r>
            <a:r>
              <a:rPr lang="en-IE" b="1" dirty="0">
                <a:solidFill>
                  <a:srgbClr val="00B050"/>
                </a:solidFill>
                <a:latin typeface="Monaco" pitchFamily="2" charset="77"/>
              </a:rPr>
              <a:t>Driver</a:t>
            </a:r>
            <a:r>
              <a:rPr lang="en-IE" dirty="0">
                <a:solidFill>
                  <a:schemeClr val="accent6"/>
                </a:solidFill>
              </a:rPr>
              <a:t> </a:t>
            </a:r>
            <a:r>
              <a:rPr lang="en-IE" dirty="0"/>
              <a:t>class </a:t>
            </a:r>
          </a:p>
          <a:p>
            <a:pPr lvl="1"/>
            <a:r>
              <a:rPr lang="en-IE" sz="2800" dirty="0"/>
              <a:t>has the </a:t>
            </a:r>
            <a:r>
              <a:rPr lang="en-IE" sz="2800" b="1" dirty="0">
                <a:solidFill>
                  <a:srgbClr val="FF0000"/>
                </a:solidFill>
                <a:latin typeface="Monaco" pitchFamily="2" charset="77"/>
              </a:rPr>
              <a:t>main()</a:t>
            </a:r>
            <a:r>
              <a:rPr lang="en-IE" sz="2800" dirty="0">
                <a:solidFill>
                  <a:srgbClr val="FF0000"/>
                </a:solidFill>
              </a:rPr>
              <a:t> </a:t>
            </a:r>
            <a:r>
              <a:rPr lang="en-IE" sz="2800" dirty="0"/>
              <a:t>method.  </a:t>
            </a:r>
          </a:p>
          <a:p>
            <a:pPr lvl="1"/>
            <a:r>
              <a:rPr lang="en-IE" sz="2800" b="1" dirty="0"/>
              <a:t>reads</a:t>
            </a:r>
            <a:r>
              <a:rPr lang="en-IE" sz="2800" dirty="0"/>
              <a:t> the product details from the user (via the console)</a:t>
            </a:r>
          </a:p>
          <a:p>
            <a:pPr lvl="1"/>
            <a:r>
              <a:rPr lang="en-IE" sz="2800" b="1" dirty="0"/>
              <a:t>creates</a:t>
            </a:r>
            <a:r>
              <a:rPr lang="en-IE" sz="2800" dirty="0"/>
              <a:t> a new Product object  </a:t>
            </a:r>
          </a:p>
          <a:p>
            <a:pPr lvl="1"/>
            <a:r>
              <a:rPr lang="en-IE" sz="2800" b="1" dirty="0"/>
              <a:t>prints</a:t>
            </a:r>
            <a:r>
              <a:rPr lang="en-IE" sz="2800" dirty="0"/>
              <a:t> the product object (to the console)</a:t>
            </a:r>
            <a:br>
              <a:rPr lang="en-IE" sz="2800" dirty="0"/>
            </a:br>
            <a:endParaRPr lang="en-IE" sz="2800" dirty="0"/>
          </a:p>
          <a:p>
            <a:r>
              <a:rPr lang="en-IE" b="1" dirty="0">
                <a:solidFill>
                  <a:srgbClr val="00B050"/>
                </a:solidFill>
                <a:latin typeface="Monaco" pitchFamily="2" charset="77"/>
              </a:rPr>
              <a:t>Driver</a:t>
            </a:r>
            <a:r>
              <a:rPr lang="en-IE" b="1" dirty="0">
                <a:solidFill>
                  <a:schemeClr val="accent6"/>
                </a:solidFill>
              </a:rPr>
              <a:t> </a:t>
            </a:r>
            <a:r>
              <a:rPr lang="en-IE" dirty="0"/>
              <a:t>is covered in the next lecture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F48EAA3-F50D-4307-B4CB-4A28736D5065}"/>
              </a:ext>
            </a:extLst>
          </p:cNvPr>
          <p:cNvSpPr/>
          <p:nvPr/>
        </p:nvSpPr>
        <p:spPr>
          <a:xfrm>
            <a:off x="6227064" y="150876"/>
            <a:ext cx="1543050" cy="800100"/>
          </a:xfrm>
          <a:prstGeom prst="roundRect">
            <a:avLst/>
          </a:prstGeom>
          <a:ln w="635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3000" b="1" dirty="0"/>
              <a:t>Driver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492F55B-1604-4D99-A22D-1190EB809A71}"/>
              </a:ext>
            </a:extLst>
          </p:cNvPr>
          <p:cNvSpPr/>
          <p:nvPr/>
        </p:nvSpPr>
        <p:spPr>
          <a:xfrm>
            <a:off x="7424928" y="2648212"/>
            <a:ext cx="1659636" cy="800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3000" dirty="0"/>
              <a:t>Product</a:t>
            </a:r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911C9948-2B5E-4D2E-9333-9172083D4EDA}"/>
              </a:ext>
            </a:extLst>
          </p:cNvPr>
          <p:cNvCxnSpPr>
            <a:cxnSpLocks/>
            <a:stCxn id="4" idx="3"/>
            <a:endCxn id="5" idx="0"/>
          </p:cNvCxnSpPr>
          <p:nvPr/>
        </p:nvCxnSpPr>
        <p:spPr>
          <a:xfrm>
            <a:off x="7770114" y="550926"/>
            <a:ext cx="484632" cy="2097286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BEDDEA-06DA-1D3F-7419-566DCD723A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0DAFA7-F802-767F-3B3D-F03ACA1612F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11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35572298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A </a:t>
            </a:r>
            <a:r>
              <a:rPr lang="en-IE" b="1" dirty="0">
                <a:latin typeface="Monaco" pitchFamily="2" charset="77"/>
              </a:rPr>
              <a:t>Product</a:t>
            </a:r>
            <a:r>
              <a:rPr lang="en-IE" dirty="0"/>
              <a:t> Class…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8507" y="903132"/>
            <a:ext cx="3072486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1800" dirty="0"/>
              <a:t>Object Type/ </a:t>
            </a:r>
            <a:r>
              <a:rPr lang="en-IE" sz="1800" b="1" dirty="0"/>
              <a:t>Class</a:t>
            </a:r>
            <a:r>
              <a:rPr lang="en-IE" sz="1800" dirty="0"/>
              <a:t> Name</a:t>
            </a:r>
          </a:p>
          <a:p>
            <a:pPr algn="ctr"/>
            <a:r>
              <a:rPr lang="en-IE" sz="1800" dirty="0"/>
              <a:t>i.e. Product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AE6AF8B-5811-487C-98AB-286B6F721A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3350" y="893335"/>
            <a:ext cx="3886201" cy="389919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EA65584-D9F8-47FD-8EF6-E2D83A0BCBAE}"/>
              </a:ext>
            </a:extLst>
          </p:cNvPr>
          <p:cNvSpPr txBox="1"/>
          <p:nvPr/>
        </p:nvSpPr>
        <p:spPr>
          <a:xfrm>
            <a:off x="395537" y="1853163"/>
            <a:ext cx="3488548" cy="36933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1800" dirty="0"/>
              <a:t>The </a:t>
            </a:r>
            <a:r>
              <a:rPr lang="en-IE" sz="1800" b="1" dirty="0"/>
              <a:t>C</a:t>
            </a:r>
            <a:r>
              <a:rPr lang="en-IE" sz="1800" dirty="0"/>
              <a:t> icon means it is a </a:t>
            </a:r>
            <a:r>
              <a:rPr lang="en-IE" sz="1800" b="1" dirty="0"/>
              <a:t>Class</a:t>
            </a:r>
            <a:r>
              <a:rPr lang="en-IE" sz="1800" dirty="0"/>
              <a:t>.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6DB8DED-05D7-4233-89A9-69D12A06D8C0}"/>
              </a:ext>
            </a:extLst>
          </p:cNvPr>
          <p:cNvCxnSpPr>
            <a:cxnSpLocks/>
          </p:cNvCxnSpPr>
          <p:nvPr/>
        </p:nvCxnSpPr>
        <p:spPr>
          <a:xfrm flipV="1">
            <a:off x="3743327" y="1065515"/>
            <a:ext cx="485774" cy="814584"/>
          </a:xfrm>
          <a:prstGeom prst="straightConnector1">
            <a:avLst/>
          </a:prstGeom>
          <a:ln w="28575">
            <a:solidFill>
              <a:schemeClr val="accent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3EBAFC0-DD4C-427D-86E5-1622439D0E56}"/>
              </a:ext>
            </a:extLst>
          </p:cNvPr>
          <p:cNvSpPr txBox="1"/>
          <p:nvPr/>
        </p:nvSpPr>
        <p:spPr>
          <a:xfrm>
            <a:off x="274321" y="2642816"/>
            <a:ext cx="4026216" cy="369332"/>
          </a:xfrm>
          <a:prstGeom prst="rect">
            <a:avLst/>
          </a:prstGeom>
          <a:solidFill>
            <a:srgbClr val="92D050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1800" dirty="0"/>
              <a:t>The open padlock means it is </a:t>
            </a:r>
            <a:r>
              <a:rPr lang="en-IE" sz="1800" b="1" dirty="0"/>
              <a:t>public</a:t>
            </a:r>
            <a:r>
              <a:rPr lang="en-IE" sz="1800" dirty="0"/>
              <a:t>.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01A018E-A2FD-4EE2-BAD6-1F821407C8A1}"/>
              </a:ext>
            </a:extLst>
          </p:cNvPr>
          <p:cNvCxnSpPr>
            <a:cxnSpLocks/>
          </p:cNvCxnSpPr>
          <p:nvPr/>
        </p:nvCxnSpPr>
        <p:spPr>
          <a:xfrm flipV="1">
            <a:off x="4171949" y="1063511"/>
            <a:ext cx="257175" cy="1579305"/>
          </a:xfrm>
          <a:prstGeom prst="straightConnector1">
            <a:avLst/>
          </a:prstGeom>
          <a:ln w="28575">
            <a:solidFill>
              <a:schemeClr val="accent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BC7FD38-AFFF-4C8F-A2FA-103ABA30C76D}"/>
              </a:ext>
            </a:extLst>
          </p:cNvPr>
          <p:cNvSpPr/>
          <p:nvPr/>
        </p:nvSpPr>
        <p:spPr>
          <a:xfrm>
            <a:off x="3886201" y="859536"/>
            <a:ext cx="1714500" cy="285750"/>
          </a:xfrm>
          <a:prstGeom prst="roundRect">
            <a:avLst/>
          </a:prstGeom>
          <a:noFill/>
          <a:ln w="349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688"/>
          </a:p>
        </p:txBody>
      </p:sp>
      <p:cxnSp>
        <p:nvCxnSpPr>
          <p:cNvPr id="11" name="Straight Arrow Connector 10"/>
          <p:cNvCxnSpPr>
            <a:cxnSpLocks/>
            <a:stCxn id="5" idx="3"/>
            <a:endCxn id="15" idx="1"/>
          </p:cNvCxnSpPr>
          <p:nvPr/>
        </p:nvCxnSpPr>
        <p:spPr>
          <a:xfrm flipV="1">
            <a:off x="3340993" y="1002411"/>
            <a:ext cx="545208" cy="223887"/>
          </a:xfrm>
          <a:prstGeom prst="straightConnector1">
            <a:avLst/>
          </a:prstGeom>
          <a:ln w="28575">
            <a:solidFill>
              <a:schemeClr val="bg1">
                <a:lumMod val="8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4C9E93-D11E-CB1B-7FD7-DD9CF7D3E2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DDFD69-4E9C-9959-2FE0-D3B7164B9FFB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12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44342203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  <p:bldP spid="1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F411BA78-6EC3-FFFA-B841-F776ED3089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3350" y="893335"/>
            <a:ext cx="3886201" cy="389919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A </a:t>
            </a:r>
            <a:r>
              <a:rPr lang="en-IE" b="1" dirty="0">
                <a:latin typeface="Monaco" pitchFamily="2" charset="77"/>
              </a:rPr>
              <a:t>Product</a:t>
            </a:r>
            <a:r>
              <a:rPr lang="en-IE" dirty="0"/>
              <a:t> Class…</a:t>
            </a:r>
            <a:r>
              <a:rPr lang="en-IE" b="1" dirty="0"/>
              <a:t>fields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779015"/>
            <a:ext cx="2930652" cy="784830"/>
          </a:xfrm>
          <a:prstGeom prst="rect">
            <a:avLst/>
          </a:prstGeom>
          <a:solidFill>
            <a:srgbClr val="F9CF8B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500" b="1" dirty="0"/>
              <a:t>Fields</a:t>
            </a:r>
            <a:r>
              <a:rPr lang="en-IE" sz="1500" dirty="0"/>
              <a:t> </a:t>
            </a:r>
            <a:br>
              <a:rPr lang="en-IE" sz="1500" dirty="0"/>
            </a:br>
            <a:r>
              <a:rPr lang="en-IE" sz="1500" dirty="0"/>
              <a:t>i.e. the </a:t>
            </a:r>
            <a:r>
              <a:rPr lang="en-IE" sz="1500" b="1" dirty="0"/>
              <a:t>attributes / properties</a:t>
            </a:r>
            <a:r>
              <a:rPr lang="en-IE" sz="1500" dirty="0"/>
              <a:t> </a:t>
            </a:r>
            <a:br>
              <a:rPr lang="en-IE" sz="1500" dirty="0"/>
            </a:br>
            <a:r>
              <a:rPr lang="en-IE" sz="1500" dirty="0"/>
              <a:t>of the class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14AD3A7-B1A7-470E-B762-76D1124547C5}"/>
              </a:ext>
            </a:extLst>
          </p:cNvPr>
          <p:cNvSpPr/>
          <p:nvPr/>
        </p:nvSpPr>
        <p:spPr>
          <a:xfrm>
            <a:off x="4286250" y="3726180"/>
            <a:ext cx="2857500" cy="1075496"/>
          </a:xfrm>
          <a:prstGeom prst="roundRect">
            <a:avLst/>
          </a:prstGeom>
          <a:noFill/>
          <a:ln w="38100">
            <a:solidFill>
              <a:srgbClr val="F9CF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66737" rtl="0"/>
            <a:endParaRPr lang="en-IE" sz="1688"/>
          </a:p>
        </p:txBody>
      </p:sp>
      <p:cxnSp>
        <p:nvCxnSpPr>
          <p:cNvPr id="11" name="Straight Arrow Connector 10"/>
          <p:cNvCxnSpPr>
            <a:cxnSpLocks/>
          </p:cNvCxnSpPr>
          <p:nvPr/>
        </p:nvCxnSpPr>
        <p:spPr>
          <a:xfrm>
            <a:off x="3600450" y="4249674"/>
            <a:ext cx="685800" cy="0"/>
          </a:xfrm>
          <a:prstGeom prst="straightConnector1">
            <a:avLst/>
          </a:prstGeom>
          <a:ln w="28575">
            <a:solidFill>
              <a:srgbClr val="F9CF8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EA65584-D9F8-47FD-8EF6-E2D83A0BCBAE}"/>
              </a:ext>
            </a:extLst>
          </p:cNvPr>
          <p:cNvSpPr txBox="1"/>
          <p:nvPr/>
        </p:nvSpPr>
        <p:spPr>
          <a:xfrm>
            <a:off x="953904" y="3325475"/>
            <a:ext cx="2646546" cy="323165"/>
          </a:xfrm>
          <a:prstGeom prst="rect">
            <a:avLst/>
          </a:prstGeom>
          <a:solidFill>
            <a:srgbClr val="F9CF8B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/>
            </a:lvl1pPr>
          </a:lstStyle>
          <a:p>
            <a:r>
              <a:rPr lang="en-IE" sz="1500" b="0" dirty="0"/>
              <a:t>The </a:t>
            </a:r>
            <a:r>
              <a:rPr lang="en-IE" sz="1500" dirty="0"/>
              <a:t>f</a:t>
            </a:r>
            <a:r>
              <a:rPr lang="en-IE" sz="1500" b="0" dirty="0"/>
              <a:t> icon means it is a </a:t>
            </a:r>
            <a:r>
              <a:rPr lang="en-IE" sz="1500" dirty="0"/>
              <a:t>field</a:t>
            </a:r>
            <a:r>
              <a:rPr lang="en-IE" sz="1500" b="0" dirty="0"/>
              <a:t>.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01A018E-A2FD-4EE2-BAD6-1F821407C8A1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3600450" y="3487058"/>
            <a:ext cx="896752" cy="648316"/>
          </a:xfrm>
          <a:prstGeom prst="straightConnector1">
            <a:avLst/>
          </a:prstGeom>
          <a:ln w="28575">
            <a:solidFill>
              <a:srgbClr val="F9CF8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D82883-F527-DF57-B10E-9FBBC6C535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296EFF-0D3C-3775-3F32-78894C7F5688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13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01197321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820B4F0A-4991-F092-964F-2DE06E8088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3350" y="893335"/>
            <a:ext cx="3886201" cy="3899198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6DB8DED-05D7-4233-89A9-69D12A06D8C0}"/>
              </a:ext>
            </a:extLst>
          </p:cNvPr>
          <p:cNvCxnSpPr>
            <a:cxnSpLocks/>
            <a:stCxn id="15" idx="3"/>
          </p:cNvCxnSpPr>
          <p:nvPr/>
        </p:nvCxnSpPr>
        <p:spPr>
          <a:xfrm>
            <a:off x="3563874" y="2898515"/>
            <a:ext cx="1143000" cy="938185"/>
          </a:xfrm>
          <a:prstGeom prst="straightConnector1">
            <a:avLst/>
          </a:prstGeom>
          <a:ln w="28575">
            <a:solidFill>
              <a:srgbClr val="F9CF8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3EBAFC0-DD4C-427D-86E5-1622439D0E56}"/>
              </a:ext>
            </a:extLst>
          </p:cNvPr>
          <p:cNvSpPr txBox="1"/>
          <p:nvPr/>
        </p:nvSpPr>
        <p:spPr>
          <a:xfrm>
            <a:off x="1170298" y="2621516"/>
            <a:ext cx="2393576" cy="553998"/>
          </a:xfrm>
          <a:prstGeom prst="rect">
            <a:avLst/>
          </a:prstGeom>
          <a:solidFill>
            <a:srgbClr val="F9CF8B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/>
            </a:lvl1pPr>
          </a:lstStyle>
          <a:p>
            <a:r>
              <a:rPr lang="en-IE" sz="1500" b="0" dirty="0"/>
              <a:t>The </a:t>
            </a:r>
            <a:r>
              <a:rPr lang="en-IE" sz="1500" b="0" u="sng" dirty="0"/>
              <a:t>closed padlock </a:t>
            </a:r>
            <a:r>
              <a:rPr lang="en-IE" sz="1500" b="0" dirty="0"/>
              <a:t>means it is </a:t>
            </a:r>
            <a:r>
              <a:rPr lang="en-IE" sz="1500" dirty="0"/>
              <a:t>private</a:t>
            </a:r>
            <a:r>
              <a:rPr lang="en-IE" sz="1500" b="0" dirty="0"/>
              <a:t>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73F90E8-03DD-43F1-BF10-765AA6E94505}"/>
              </a:ext>
            </a:extLst>
          </p:cNvPr>
          <p:cNvSpPr txBox="1"/>
          <p:nvPr/>
        </p:nvSpPr>
        <p:spPr>
          <a:xfrm>
            <a:off x="2379288" y="2185215"/>
            <a:ext cx="1200150" cy="323165"/>
          </a:xfrm>
          <a:prstGeom prst="rect">
            <a:avLst/>
          </a:prstGeom>
          <a:solidFill>
            <a:srgbClr val="F9CF8B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0"/>
            </a:lvl1pPr>
          </a:lstStyle>
          <a:p>
            <a:r>
              <a:rPr lang="en-IE" sz="1500" dirty="0"/>
              <a:t>field </a:t>
            </a:r>
            <a:r>
              <a:rPr lang="en-IE" sz="1500" b="1" dirty="0"/>
              <a:t>name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F2D9563-E598-49C9-8195-1E1708E6A1EF}"/>
              </a:ext>
            </a:extLst>
          </p:cNvPr>
          <p:cNvSpPr txBox="1"/>
          <p:nvPr/>
        </p:nvSpPr>
        <p:spPr>
          <a:xfrm>
            <a:off x="2379289" y="1760198"/>
            <a:ext cx="1211918" cy="323165"/>
          </a:xfrm>
          <a:prstGeom prst="rect">
            <a:avLst/>
          </a:prstGeom>
          <a:solidFill>
            <a:srgbClr val="F9CF8B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0"/>
            </a:lvl1pPr>
          </a:lstStyle>
          <a:p>
            <a:r>
              <a:rPr lang="en-IE" sz="1500" dirty="0"/>
              <a:t>field </a:t>
            </a:r>
            <a:r>
              <a:rPr lang="en-IE" sz="1500" b="1" dirty="0"/>
              <a:t>type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B5A1961-5668-46EA-A7A0-596219B5B24D}"/>
              </a:ext>
            </a:extLst>
          </p:cNvPr>
          <p:cNvCxnSpPr>
            <a:cxnSpLocks/>
            <a:stCxn id="18" idx="3"/>
          </p:cNvCxnSpPr>
          <p:nvPr/>
        </p:nvCxnSpPr>
        <p:spPr>
          <a:xfrm>
            <a:off x="3579438" y="2346798"/>
            <a:ext cx="1678362" cy="1479927"/>
          </a:xfrm>
          <a:prstGeom prst="straightConnector1">
            <a:avLst/>
          </a:prstGeom>
          <a:ln w="28575">
            <a:solidFill>
              <a:srgbClr val="F9CF8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8F00E0F-15E2-4069-8CD2-1F0AF97BEF0E}"/>
              </a:ext>
            </a:extLst>
          </p:cNvPr>
          <p:cNvCxnSpPr>
            <a:cxnSpLocks/>
            <a:stCxn id="19" idx="3"/>
          </p:cNvCxnSpPr>
          <p:nvPr/>
        </p:nvCxnSpPr>
        <p:spPr>
          <a:xfrm>
            <a:off x="3591207" y="1921781"/>
            <a:ext cx="2535273" cy="1857234"/>
          </a:xfrm>
          <a:prstGeom prst="straightConnector1">
            <a:avLst/>
          </a:prstGeom>
          <a:ln w="28575">
            <a:solidFill>
              <a:srgbClr val="F9CF8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223173-875C-933E-7F30-6F79AC4FCE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82DF14-B20B-B7E3-347A-E626D7490EFA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14</a:t>
            </a:fld>
            <a:endParaRPr lang="en-IE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5903B885-E0FA-D72C-CACE-E9868245F3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6" y="0"/>
            <a:ext cx="7772401" cy="761815"/>
          </a:xfrm>
        </p:spPr>
        <p:txBody>
          <a:bodyPr>
            <a:normAutofit/>
          </a:bodyPr>
          <a:lstStyle/>
          <a:p>
            <a:r>
              <a:rPr lang="en-IE" dirty="0"/>
              <a:t>A </a:t>
            </a:r>
            <a:r>
              <a:rPr lang="en-IE" b="1" dirty="0">
                <a:latin typeface="Monaco" pitchFamily="2" charset="77"/>
              </a:rPr>
              <a:t>Product</a:t>
            </a:r>
            <a:r>
              <a:rPr lang="en-IE" dirty="0"/>
              <a:t> Class…</a:t>
            </a:r>
            <a:r>
              <a:rPr lang="en-IE" b="1" dirty="0"/>
              <a:t>fields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D6B5091-9C54-38CB-2BBD-CFA778A1F86E}"/>
              </a:ext>
            </a:extLst>
          </p:cNvPr>
          <p:cNvSpPr txBox="1"/>
          <p:nvPr/>
        </p:nvSpPr>
        <p:spPr>
          <a:xfrm>
            <a:off x="841248" y="3779015"/>
            <a:ext cx="2930652" cy="784830"/>
          </a:xfrm>
          <a:prstGeom prst="rect">
            <a:avLst/>
          </a:prstGeom>
          <a:solidFill>
            <a:srgbClr val="F9CF8B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500" b="1" dirty="0"/>
              <a:t>Fields</a:t>
            </a:r>
            <a:r>
              <a:rPr lang="en-IE" sz="1500" dirty="0"/>
              <a:t> </a:t>
            </a:r>
            <a:br>
              <a:rPr lang="en-IE" sz="1500" dirty="0"/>
            </a:br>
            <a:r>
              <a:rPr lang="en-IE" sz="1500" dirty="0"/>
              <a:t>i.e. the </a:t>
            </a:r>
            <a:r>
              <a:rPr lang="en-IE" sz="1500" b="1" dirty="0"/>
              <a:t>attributes / properties</a:t>
            </a:r>
            <a:r>
              <a:rPr lang="en-IE" sz="1500" dirty="0"/>
              <a:t> </a:t>
            </a:r>
            <a:br>
              <a:rPr lang="en-IE" sz="1500" dirty="0"/>
            </a:br>
            <a:r>
              <a:rPr lang="en-IE" sz="1500" dirty="0"/>
              <a:t>of the class</a:t>
            </a:r>
          </a:p>
        </p:txBody>
      </p:sp>
      <p:sp>
        <p:nvSpPr>
          <p:cNvPr id="24" name="Rectangle: Rounded Corners 6">
            <a:extLst>
              <a:ext uri="{FF2B5EF4-FFF2-40B4-BE49-F238E27FC236}">
                <a16:creationId xmlns:a16="http://schemas.microsoft.com/office/drawing/2014/main" id="{3F7902A6-84F7-C719-C979-441F1D4541BD}"/>
              </a:ext>
            </a:extLst>
          </p:cNvPr>
          <p:cNvSpPr/>
          <p:nvPr/>
        </p:nvSpPr>
        <p:spPr>
          <a:xfrm>
            <a:off x="4286250" y="3726180"/>
            <a:ext cx="2857500" cy="1075496"/>
          </a:xfrm>
          <a:prstGeom prst="roundRect">
            <a:avLst/>
          </a:prstGeom>
          <a:noFill/>
          <a:ln w="38100">
            <a:solidFill>
              <a:srgbClr val="F9CF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66737" rtl="0"/>
            <a:endParaRPr lang="en-IE" sz="1688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02D1CAF-D5F5-911E-2724-C006D58C3F1B}"/>
              </a:ext>
            </a:extLst>
          </p:cNvPr>
          <p:cNvCxnSpPr>
            <a:cxnSpLocks/>
          </p:cNvCxnSpPr>
          <p:nvPr/>
        </p:nvCxnSpPr>
        <p:spPr>
          <a:xfrm>
            <a:off x="3600450" y="4249674"/>
            <a:ext cx="685800" cy="0"/>
          </a:xfrm>
          <a:prstGeom prst="straightConnector1">
            <a:avLst/>
          </a:prstGeom>
          <a:ln w="28575">
            <a:solidFill>
              <a:srgbClr val="F9CF8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A2E2E61C-BBF6-C600-78A8-FA354DFAF558}"/>
              </a:ext>
            </a:extLst>
          </p:cNvPr>
          <p:cNvSpPr txBox="1"/>
          <p:nvPr/>
        </p:nvSpPr>
        <p:spPr>
          <a:xfrm>
            <a:off x="953904" y="3325475"/>
            <a:ext cx="2646546" cy="323165"/>
          </a:xfrm>
          <a:prstGeom prst="rect">
            <a:avLst/>
          </a:prstGeom>
          <a:solidFill>
            <a:srgbClr val="F9CF8B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/>
            </a:lvl1pPr>
          </a:lstStyle>
          <a:p>
            <a:r>
              <a:rPr lang="en-IE" sz="1500" b="0" dirty="0"/>
              <a:t>The </a:t>
            </a:r>
            <a:r>
              <a:rPr lang="en-IE" sz="1500" dirty="0"/>
              <a:t>f</a:t>
            </a:r>
            <a:r>
              <a:rPr lang="en-IE" sz="1500" b="0" dirty="0"/>
              <a:t> icon means it is a </a:t>
            </a:r>
            <a:r>
              <a:rPr lang="en-IE" sz="1500" dirty="0"/>
              <a:t>field</a:t>
            </a:r>
            <a:r>
              <a:rPr lang="en-IE" sz="1500" b="0" dirty="0"/>
              <a:t>.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5EFC606-EA37-11D0-914E-D228710003FC}"/>
              </a:ext>
            </a:extLst>
          </p:cNvPr>
          <p:cNvCxnSpPr>
            <a:cxnSpLocks/>
            <a:stCxn id="26" idx="3"/>
          </p:cNvCxnSpPr>
          <p:nvPr/>
        </p:nvCxnSpPr>
        <p:spPr>
          <a:xfrm>
            <a:off x="3600450" y="3487058"/>
            <a:ext cx="896752" cy="648316"/>
          </a:xfrm>
          <a:prstGeom prst="straightConnector1">
            <a:avLst/>
          </a:prstGeom>
          <a:ln w="28575">
            <a:solidFill>
              <a:srgbClr val="F9CF8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020893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8" grpId="0" animBg="1"/>
      <p:bldP spid="19" grpId="0" animBg="1"/>
      <p:bldP spid="23" grpId="0" animBg="1"/>
      <p:bldP spid="2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014984" y="1200151"/>
            <a:ext cx="2699767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800" b="1" dirty="0"/>
              <a:t>Constructor</a:t>
            </a:r>
            <a:r>
              <a:rPr lang="en-IE" sz="1800" dirty="0"/>
              <a:t> </a:t>
            </a:r>
            <a:br>
              <a:rPr lang="en-IE" sz="1800" dirty="0"/>
            </a:br>
            <a:r>
              <a:rPr lang="en-IE" sz="1800" dirty="0"/>
              <a:t>i.e. for building objects.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AE6AF8B-5811-487C-98AB-286B6F721AB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86809"/>
          <a:stretch/>
        </p:blipFill>
        <p:spPr>
          <a:xfrm>
            <a:off x="3946711" y="1143001"/>
            <a:ext cx="3886201" cy="51435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68E9ECC-112E-40DC-84EA-6A19D160A5D2}"/>
              </a:ext>
            </a:extLst>
          </p:cNvPr>
          <p:cNvSpPr/>
          <p:nvPr/>
        </p:nvSpPr>
        <p:spPr>
          <a:xfrm>
            <a:off x="4133292" y="1405398"/>
            <a:ext cx="3528170" cy="251953"/>
          </a:xfrm>
          <a:prstGeom prst="roundRect">
            <a:avLst/>
          </a:prstGeom>
          <a:noFill/>
          <a:ln w="412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688"/>
          </a:p>
        </p:txBody>
      </p:sp>
      <p:cxnSp>
        <p:nvCxnSpPr>
          <p:cNvPr id="11" name="Straight Arrow Connector 10"/>
          <p:cNvCxnSpPr>
            <a:cxnSpLocks/>
          </p:cNvCxnSpPr>
          <p:nvPr/>
        </p:nvCxnSpPr>
        <p:spPr>
          <a:xfrm>
            <a:off x="3714751" y="1489261"/>
            <a:ext cx="418541" cy="0"/>
          </a:xfrm>
          <a:prstGeom prst="straightConnector1">
            <a:avLst/>
          </a:prstGeom>
          <a:ln w="28575">
            <a:solidFill>
              <a:schemeClr val="bg1">
                <a:lumMod val="8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E321F45-1F1D-4F33-A6F2-04CD6CAA8E7F}"/>
              </a:ext>
            </a:extLst>
          </p:cNvPr>
          <p:cNvSpPr txBox="1"/>
          <p:nvPr/>
        </p:nvSpPr>
        <p:spPr>
          <a:xfrm>
            <a:off x="1392215" y="2262439"/>
            <a:ext cx="2862305" cy="553998"/>
          </a:xfrm>
          <a:prstGeom prst="rect">
            <a:avLst/>
          </a:prstGeom>
          <a:solidFill>
            <a:srgbClr val="FCBAC5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1500" dirty="0"/>
              <a:t>The </a:t>
            </a:r>
            <a:r>
              <a:rPr lang="en-IE" sz="1500" b="1" dirty="0"/>
              <a:t>m</a:t>
            </a:r>
            <a:r>
              <a:rPr lang="en-IE" sz="1500" dirty="0"/>
              <a:t> icon means it is a </a:t>
            </a:r>
            <a:r>
              <a:rPr lang="en-IE" sz="1500" b="1" dirty="0"/>
              <a:t>method</a:t>
            </a:r>
            <a:r>
              <a:rPr lang="en-IE" sz="1500" dirty="0"/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CE040A-8066-4D94-B0C6-FE2C62492D60}"/>
              </a:ext>
            </a:extLst>
          </p:cNvPr>
          <p:cNvSpPr txBox="1"/>
          <p:nvPr/>
        </p:nvSpPr>
        <p:spPr>
          <a:xfrm>
            <a:off x="1887989" y="2941006"/>
            <a:ext cx="3129804" cy="553998"/>
          </a:xfrm>
          <a:prstGeom prst="rect">
            <a:avLst/>
          </a:prstGeom>
          <a:solidFill>
            <a:srgbClr val="A1D38E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000"/>
            </a:lvl1pPr>
          </a:lstStyle>
          <a:p>
            <a:r>
              <a:rPr lang="en-IE" sz="1500" dirty="0"/>
              <a:t>The </a:t>
            </a:r>
            <a:r>
              <a:rPr lang="en-IE" sz="1500" u="sng" dirty="0"/>
              <a:t>open padlock </a:t>
            </a:r>
            <a:r>
              <a:rPr lang="en-IE" sz="1500" dirty="0"/>
              <a:t>means it is </a:t>
            </a:r>
            <a:r>
              <a:rPr lang="en-IE" sz="1500" b="1" dirty="0"/>
              <a:t>public</a:t>
            </a:r>
            <a:r>
              <a:rPr lang="en-IE" sz="1500" dirty="0"/>
              <a:t>.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AF85218-656B-4CCB-AF71-567D93EFDB37}"/>
              </a:ext>
            </a:extLst>
          </p:cNvPr>
          <p:cNvCxnSpPr>
            <a:cxnSpLocks/>
          </p:cNvCxnSpPr>
          <p:nvPr/>
        </p:nvCxnSpPr>
        <p:spPr>
          <a:xfrm flipV="1">
            <a:off x="3686175" y="1543050"/>
            <a:ext cx="771526" cy="733875"/>
          </a:xfrm>
          <a:prstGeom prst="straightConnector1">
            <a:avLst/>
          </a:prstGeom>
          <a:ln w="28575">
            <a:solidFill>
              <a:srgbClr val="FCBAC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F54BF45E-94EB-4FAE-ACC1-3C8D5081B9A6}"/>
              </a:ext>
            </a:extLst>
          </p:cNvPr>
          <p:cNvSpPr txBox="1"/>
          <p:nvPr/>
        </p:nvSpPr>
        <p:spPr>
          <a:xfrm>
            <a:off x="2918403" y="3605055"/>
            <a:ext cx="3429000" cy="553998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000"/>
            </a:lvl1pPr>
          </a:lstStyle>
          <a:p>
            <a:r>
              <a:rPr lang="en-IE" sz="1500"/>
              <a:t>Constructors have same </a:t>
            </a:r>
            <a:r>
              <a:rPr lang="en-IE" sz="1500" dirty="0"/>
              <a:t>name as the class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C11272-E773-4288-84E5-15121F65542E}"/>
              </a:ext>
            </a:extLst>
          </p:cNvPr>
          <p:cNvSpPr txBox="1"/>
          <p:nvPr/>
        </p:nvSpPr>
        <p:spPr>
          <a:xfrm>
            <a:off x="5867720" y="4114800"/>
            <a:ext cx="1965191" cy="553998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000"/>
            </a:lvl1pPr>
          </a:lstStyle>
          <a:p>
            <a:r>
              <a:rPr lang="en-IE" sz="1500" dirty="0"/>
              <a:t>Four </a:t>
            </a:r>
            <a:r>
              <a:rPr lang="en-IE" sz="1500" b="1" dirty="0"/>
              <a:t>parameters</a:t>
            </a:r>
            <a:r>
              <a:rPr lang="en-IE" sz="1500" dirty="0"/>
              <a:t>; </a:t>
            </a:r>
            <a:br>
              <a:rPr lang="en-IE" sz="1500" dirty="0"/>
            </a:br>
            <a:r>
              <a:rPr lang="en-IE" sz="1500" dirty="0"/>
              <a:t>one for each field.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AF85218-656B-4CCB-AF71-567D93EFDB37}"/>
              </a:ext>
            </a:extLst>
          </p:cNvPr>
          <p:cNvCxnSpPr>
            <a:cxnSpLocks/>
          </p:cNvCxnSpPr>
          <p:nvPr/>
        </p:nvCxnSpPr>
        <p:spPr>
          <a:xfrm flipH="1" flipV="1">
            <a:off x="5060775" y="1613002"/>
            <a:ext cx="425625" cy="1992053"/>
          </a:xfrm>
          <a:prstGeom prst="straightConnector1">
            <a:avLst/>
          </a:prstGeom>
          <a:ln w="28575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AF85218-656B-4CCB-AF71-567D93EFDB37}"/>
              </a:ext>
            </a:extLst>
          </p:cNvPr>
          <p:cNvCxnSpPr>
            <a:cxnSpLocks/>
          </p:cNvCxnSpPr>
          <p:nvPr/>
        </p:nvCxnSpPr>
        <p:spPr>
          <a:xfrm flipV="1">
            <a:off x="4641757" y="1600203"/>
            <a:ext cx="113039" cy="1340804"/>
          </a:xfrm>
          <a:prstGeom prst="straightConnector1">
            <a:avLst/>
          </a:prstGeom>
          <a:ln w="28575">
            <a:solidFill>
              <a:srgbClr val="A1D38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AF85218-656B-4CCB-AF71-567D93EFDB37}"/>
              </a:ext>
            </a:extLst>
          </p:cNvPr>
          <p:cNvCxnSpPr>
            <a:cxnSpLocks/>
            <a:stCxn id="17" idx="0"/>
          </p:cNvCxnSpPr>
          <p:nvPr/>
        </p:nvCxnSpPr>
        <p:spPr>
          <a:xfrm flipH="1" flipV="1">
            <a:off x="5654789" y="1635177"/>
            <a:ext cx="1195527" cy="2479623"/>
          </a:xfrm>
          <a:prstGeom prst="straightConnector1">
            <a:avLst/>
          </a:prstGeom>
          <a:ln w="28575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AF85218-656B-4CCB-AF71-567D93EFDB37}"/>
              </a:ext>
            </a:extLst>
          </p:cNvPr>
          <p:cNvCxnSpPr>
            <a:cxnSpLocks/>
            <a:stCxn id="17" idx="0"/>
          </p:cNvCxnSpPr>
          <p:nvPr/>
        </p:nvCxnSpPr>
        <p:spPr>
          <a:xfrm flipH="1" flipV="1">
            <a:off x="6049434" y="1613002"/>
            <a:ext cx="800882" cy="2501798"/>
          </a:xfrm>
          <a:prstGeom prst="straightConnector1">
            <a:avLst/>
          </a:prstGeom>
          <a:ln w="28575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AF85218-656B-4CCB-AF71-567D93EFDB37}"/>
              </a:ext>
            </a:extLst>
          </p:cNvPr>
          <p:cNvCxnSpPr>
            <a:cxnSpLocks/>
            <a:stCxn id="17" idx="0"/>
          </p:cNvCxnSpPr>
          <p:nvPr/>
        </p:nvCxnSpPr>
        <p:spPr>
          <a:xfrm flipH="1" flipV="1">
            <a:off x="6438260" y="1600201"/>
            <a:ext cx="412056" cy="2514599"/>
          </a:xfrm>
          <a:prstGeom prst="straightConnector1">
            <a:avLst/>
          </a:prstGeom>
          <a:ln w="28575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AF85218-656B-4CCB-AF71-567D93EFDB37}"/>
              </a:ext>
            </a:extLst>
          </p:cNvPr>
          <p:cNvCxnSpPr>
            <a:cxnSpLocks/>
            <a:stCxn id="17" idx="0"/>
          </p:cNvCxnSpPr>
          <p:nvPr/>
        </p:nvCxnSpPr>
        <p:spPr>
          <a:xfrm flipV="1">
            <a:off x="6850316" y="1606602"/>
            <a:ext cx="78103" cy="2508198"/>
          </a:xfrm>
          <a:prstGeom prst="straightConnector1">
            <a:avLst/>
          </a:prstGeom>
          <a:ln w="28575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4DAC98-2D56-A0E1-B0F1-35B11F337A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95C2EC-131F-205D-EA91-165FB06DB61C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15</a:t>
            </a:fld>
            <a:endParaRPr lang="en-IE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D804B130-3365-CF67-B561-F4093FAB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6" y="0"/>
            <a:ext cx="7772401" cy="761815"/>
          </a:xfrm>
        </p:spPr>
        <p:txBody>
          <a:bodyPr>
            <a:normAutofit/>
          </a:bodyPr>
          <a:lstStyle/>
          <a:p>
            <a:r>
              <a:rPr lang="en-IE" dirty="0"/>
              <a:t>A </a:t>
            </a:r>
            <a:r>
              <a:rPr lang="en-IE" b="1" dirty="0">
                <a:latin typeface="Monaco" pitchFamily="2" charset="77"/>
              </a:rPr>
              <a:t>Product</a:t>
            </a:r>
            <a:r>
              <a:rPr lang="en-IE" dirty="0"/>
              <a:t> Class…</a:t>
            </a:r>
            <a:r>
              <a:rPr lang="en-IE" b="1" dirty="0"/>
              <a:t>constructor</a:t>
            </a:r>
          </a:p>
        </p:txBody>
      </p:sp>
    </p:spTree>
    <p:extLst>
      <p:ext uri="{BB962C8B-B14F-4D97-AF65-F5344CB8AC3E}">
        <p14:creationId xmlns:p14="http://schemas.microsoft.com/office/powerpoint/2010/main" val="13022595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12" grpId="0" animBg="1"/>
      <p:bldP spid="14" grpId="0" animBg="1"/>
      <p:bldP spid="1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90CB1BFE-F901-4208-ABB3-3B11E7E9E3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2676" y="1570483"/>
            <a:ext cx="6274795" cy="2839239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lvl="0"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public class </a:t>
            </a:r>
            <a:r>
              <a:rPr lang="en-US" altLang="en-US" sz="12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Product {</a:t>
            </a:r>
            <a:br>
              <a:rPr lang="en-US" altLang="en-US" sz="12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br>
              <a:rPr lang="en-US" altLang="en-US" sz="12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</a:t>
            </a:r>
            <a:r>
              <a:rPr lang="en-US" altLang="en-US" sz="1200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private </a:t>
            </a:r>
            <a:r>
              <a:rPr lang="en-US" altLang="en-US" sz="12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String </a:t>
            </a:r>
            <a:r>
              <a:rPr lang="en-US" altLang="en-US" sz="1200" b="1" dirty="0" err="1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productName</a:t>
            </a:r>
            <a:r>
              <a:rPr lang="en-US" altLang="en-US" sz="12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;</a:t>
            </a:r>
            <a:br>
              <a:rPr lang="en-US" altLang="en-US" sz="12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</a:t>
            </a:r>
            <a:r>
              <a:rPr lang="en-US" altLang="en-US" sz="1200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private </a:t>
            </a:r>
            <a:r>
              <a:rPr lang="en-US" altLang="en-US" sz="1200" b="1" dirty="0" err="1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int</a:t>
            </a:r>
            <a:r>
              <a:rPr lang="en-US" altLang="en-US" sz="1200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 </a:t>
            </a:r>
            <a:r>
              <a:rPr lang="en-US" altLang="en-US" sz="1200" b="1" dirty="0" err="1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productCode</a:t>
            </a:r>
            <a:r>
              <a:rPr lang="en-US" altLang="en-US" sz="12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;</a:t>
            </a:r>
            <a:br>
              <a:rPr lang="en-US" altLang="en-US" sz="12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</a:t>
            </a:r>
            <a:r>
              <a:rPr lang="en-US" altLang="en-US" sz="1200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private double </a:t>
            </a:r>
            <a:r>
              <a:rPr lang="en-US" altLang="en-US" sz="1200" b="1" dirty="0" err="1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unitCost</a:t>
            </a:r>
            <a:r>
              <a:rPr lang="en-US" altLang="en-US" sz="12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;</a:t>
            </a:r>
            <a:br>
              <a:rPr lang="en-US" altLang="en-US" sz="12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</a:t>
            </a:r>
            <a:r>
              <a:rPr lang="en-US" altLang="en-US" sz="1200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private </a:t>
            </a:r>
            <a:r>
              <a:rPr lang="en-US" altLang="en-US" sz="1200" b="1" dirty="0" err="1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boolean</a:t>
            </a:r>
            <a:r>
              <a:rPr lang="en-US" altLang="en-US" sz="1200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 </a:t>
            </a:r>
            <a:r>
              <a:rPr lang="en-US" altLang="en-US" sz="1200" b="1" dirty="0" err="1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inCurrentProductLine</a:t>
            </a:r>
            <a:r>
              <a:rPr lang="en-US" altLang="en-US" sz="12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;</a:t>
            </a:r>
            <a:br>
              <a:rPr lang="en-US" altLang="en-US" sz="12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br>
              <a:rPr lang="en-US" altLang="en-US" sz="12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</a:t>
            </a:r>
            <a:r>
              <a:rPr lang="en-US" altLang="en-US" sz="1200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public </a:t>
            </a:r>
            <a:r>
              <a:rPr lang="en-US" altLang="en-US" sz="12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Product (String </a:t>
            </a:r>
            <a:r>
              <a:rPr lang="en-US" altLang="en-US" sz="12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productName</a:t>
            </a:r>
            <a:r>
              <a:rPr lang="en-US" altLang="en-US" sz="12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, </a:t>
            </a:r>
            <a:r>
              <a:rPr lang="en-US" altLang="en-US" sz="1200" b="1" dirty="0" err="1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int</a:t>
            </a:r>
            <a:r>
              <a:rPr lang="en-US" altLang="en-US" sz="1200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 </a:t>
            </a:r>
            <a:r>
              <a:rPr lang="en-US" altLang="en-US" sz="12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productCode</a:t>
            </a:r>
            <a:r>
              <a:rPr lang="en-US" altLang="en-US" sz="12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, </a:t>
            </a:r>
            <a:br>
              <a:rPr lang="en-US" altLang="en-US" sz="12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               </a:t>
            </a:r>
            <a:r>
              <a:rPr lang="en-US" altLang="en-US" sz="1200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double </a:t>
            </a:r>
            <a:r>
              <a:rPr lang="en-US" altLang="en-US" sz="12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unitCost</a:t>
            </a:r>
            <a:r>
              <a:rPr lang="en-US" altLang="en-US" sz="12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, </a:t>
            </a:r>
            <a:r>
              <a:rPr lang="en-US" altLang="en-US" sz="1200" b="1" dirty="0" err="1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boolean</a:t>
            </a:r>
            <a:r>
              <a:rPr lang="en-US" altLang="en-US" sz="1200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 </a:t>
            </a:r>
            <a:r>
              <a:rPr lang="en-US" altLang="en-US" sz="12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inCurrentProductLine</a:t>
            </a:r>
            <a:r>
              <a:rPr lang="en-US" altLang="en-US" sz="12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){</a:t>
            </a:r>
            <a:br>
              <a:rPr lang="en-US" altLang="en-US" sz="12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endParaRPr lang="en-US" altLang="en-US" sz="1200" dirty="0">
              <a:solidFill>
                <a:srgbClr val="000000"/>
              </a:solidFill>
              <a:latin typeface="Monaco" pitchFamily="2" charset="77"/>
              <a:cs typeface="Courier New" panose="02070309020205020404" pitchFamily="49" charset="0"/>
            </a:endParaRPr>
          </a:p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    </a:t>
            </a:r>
            <a:r>
              <a:rPr lang="en-US" altLang="en-US" sz="1200" b="1" dirty="0" err="1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this</a:t>
            </a:r>
            <a:r>
              <a:rPr lang="en-US" altLang="en-US" sz="12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.</a:t>
            </a:r>
            <a:r>
              <a:rPr lang="en-US" altLang="en-US" sz="1200" b="1" dirty="0" err="1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productName</a:t>
            </a:r>
            <a:r>
              <a:rPr lang="en-US" altLang="en-US" sz="1200" b="1" dirty="0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 </a:t>
            </a:r>
            <a:r>
              <a:rPr lang="en-US" altLang="en-US" sz="12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= </a:t>
            </a:r>
            <a:r>
              <a:rPr lang="en-US" altLang="en-US" sz="12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productName</a:t>
            </a:r>
            <a:r>
              <a:rPr lang="en-US" altLang="en-US" sz="12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;</a:t>
            </a:r>
            <a:br>
              <a:rPr lang="en-US" altLang="en-US" sz="12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    </a:t>
            </a:r>
            <a:r>
              <a:rPr lang="en-US" altLang="en-US" sz="1200" b="1" dirty="0" err="1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this</a:t>
            </a:r>
            <a:r>
              <a:rPr lang="en-US" altLang="en-US" sz="12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.</a:t>
            </a:r>
            <a:r>
              <a:rPr lang="en-US" altLang="en-US" sz="1200" b="1" dirty="0" err="1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productCode</a:t>
            </a:r>
            <a:r>
              <a:rPr lang="en-US" altLang="en-US" sz="1200" b="1" dirty="0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 </a:t>
            </a:r>
            <a:r>
              <a:rPr lang="en-US" altLang="en-US" sz="12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= </a:t>
            </a:r>
            <a:r>
              <a:rPr lang="en-US" altLang="en-US" sz="12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productCode</a:t>
            </a:r>
            <a:r>
              <a:rPr lang="en-US" altLang="en-US" sz="12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;</a:t>
            </a:r>
            <a:br>
              <a:rPr lang="en-US" altLang="en-US" sz="12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    </a:t>
            </a:r>
            <a:r>
              <a:rPr lang="en-US" altLang="en-US" sz="1200" b="1" dirty="0" err="1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this</a:t>
            </a:r>
            <a:r>
              <a:rPr lang="en-US" altLang="en-US" sz="12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.</a:t>
            </a:r>
            <a:r>
              <a:rPr lang="en-US" altLang="en-US" sz="1200" b="1" dirty="0" err="1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unitCost</a:t>
            </a:r>
            <a:r>
              <a:rPr lang="en-US" altLang="en-US" sz="1200" b="1" dirty="0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 </a:t>
            </a:r>
            <a:r>
              <a:rPr lang="en-US" altLang="en-US" sz="12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= </a:t>
            </a:r>
            <a:r>
              <a:rPr lang="en-US" altLang="en-US" sz="12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unitCost</a:t>
            </a:r>
            <a:r>
              <a:rPr lang="en-US" altLang="en-US" sz="12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;</a:t>
            </a:r>
            <a:br>
              <a:rPr lang="en-US" altLang="en-US" sz="12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    </a:t>
            </a:r>
            <a:r>
              <a:rPr lang="en-US" altLang="en-US" sz="1200" b="1" dirty="0" err="1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this</a:t>
            </a:r>
            <a:r>
              <a:rPr lang="en-US" altLang="en-US" sz="12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.</a:t>
            </a:r>
            <a:r>
              <a:rPr lang="en-US" altLang="en-US" sz="1200" b="1" dirty="0" err="1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inCurrentProductLine</a:t>
            </a:r>
            <a:r>
              <a:rPr lang="en-US" altLang="en-US" sz="1200" b="1" dirty="0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 </a:t>
            </a:r>
            <a:r>
              <a:rPr lang="en-US" altLang="en-US" sz="12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= </a:t>
            </a:r>
            <a:r>
              <a:rPr lang="en-US" altLang="en-US" sz="12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inCurrentProductLine</a:t>
            </a:r>
            <a:r>
              <a:rPr lang="en-US" altLang="en-US" sz="12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;</a:t>
            </a:r>
            <a:br>
              <a:rPr lang="en-US" altLang="en-US" sz="12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}</a:t>
            </a:r>
            <a:endParaRPr lang="en-US" altLang="en-US" sz="3000" dirty="0">
              <a:latin typeface="Monaco" pitchFamily="2" charset="77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477737" y="1961388"/>
            <a:ext cx="6256510" cy="800100"/>
          </a:xfrm>
          <a:prstGeom prst="rect">
            <a:avLst/>
          </a:prstGeom>
          <a:noFill/>
          <a:ln w="444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66737" rtl="0"/>
            <a:endParaRPr lang="en-IE" sz="1688"/>
          </a:p>
        </p:txBody>
      </p:sp>
      <p:sp>
        <p:nvSpPr>
          <p:cNvPr id="7" name="Rectangle 6"/>
          <p:cNvSpPr/>
          <p:nvPr/>
        </p:nvSpPr>
        <p:spPr>
          <a:xfrm>
            <a:off x="1485901" y="2848356"/>
            <a:ext cx="6248345" cy="1561366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66737" rtl="0"/>
            <a:endParaRPr lang="en-IE" sz="1688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AF85218-656B-4CCB-AF71-567D93EFDB37}"/>
              </a:ext>
            </a:extLst>
          </p:cNvPr>
          <p:cNvCxnSpPr>
            <a:cxnSpLocks/>
          </p:cNvCxnSpPr>
          <p:nvPr/>
        </p:nvCxnSpPr>
        <p:spPr>
          <a:xfrm flipH="1">
            <a:off x="4171950" y="733778"/>
            <a:ext cx="400050" cy="1209322"/>
          </a:xfrm>
          <a:prstGeom prst="straightConnector1">
            <a:avLst/>
          </a:prstGeom>
          <a:ln w="28575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AF85218-656B-4CCB-AF71-567D93EFDB37}"/>
              </a:ext>
            </a:extLst>
          </p:cNvPr>
          <p:cNvCxnSpPr>
            <a:cxnSpLocks/>
          </p:cNvCxnSpPr>
          <p:nvPr/>
        </p:nvCxnSpPr>
        <p:spPr>
          <a:xfrm flipH="1">
            <a:off x="5486400" y="733778"/>
            <a:ext cx="749808" cy="2123722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615BD73-05A0-20B4-1F1B-538282D478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1B7A132-9BC6-0115-922E-0AD24AD4D2BE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16</a:t>
            </a:fld>
            <a:endParaRPr lang="en-IE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2D14CC35-785C-34EC-A4E5-56BB3F01F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6" y="0"/>
            <a:ext cx="7772401" cy="761815"/>
          </a:xfrm>
        </p:spPr>
        <p:txBody>
          <a:bodyPr>
            <a:normAutofit/>
          </a:bodyPr>
          <a:lstStyle/>
          <a:p>
            <a:r>
              <a:rPr lang="en-IE" dirty="0"/>
              <a:t>A </a:t>
            </a:r>
            <a:r>
              <a:rPr lang="en-IE" b="1" dirty="0">
                <a:latin typeface="Monaco" pitchFamily="2" charset="77"/>
              </a:rPr>
              <a:t>Product</a:t>
            </a:r>
            <a:r>
              <a:rPr lang="en-IE" dirty="0"/>
              <a:t> Class…</a:t>
            </a:r>
            <a:r>
              <a:rPr lang="en-IE" b="1" dirty="0"/>
              <a:t>fields</a:t>
            </a:r>
            <a:r>
              <a:rPr lang="en-IE" dirty="0"/>
              <a:t> &amp; </a:t>
            </a:r>
            <a:r>
              <a:rPr lang="en-IE" b="1" dirty="0"/>
              <a:t>constructor</a:t>
            </a:r>
          </a:p>
        </p:txBody>
      </p:sp>
    </p:spTree>
    <p:extLst>
      <p:ext uri="{BB962C8B-B14F-4D97-AF65-F5344CB8AC3E}">
        <p14:creationId xmlns:p14="http://schemas.microsoft.com/office/powerpoint/2010/main" val="94889855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EEADAD8-527B-1ACA-FD79-9A27759056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3350" y="893335"/>
            <a:ext cx="3886201" cy="389919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A </a:t>
            </a:r>
            <a:r>
              <a:rPr lang="en-IE" b="1" dirty="0">
                <a:latin typeface="Monaco" pitchFamily="2" charset="77"/>
              </a:rPr>
              <a:t>Product</a:t>
            </a:r>
            <a:r>
              <a:rPr lang="en-IE" dirty="0"/>
              <a:t> Class… </a:t>
            </a:r>
            <a:r>
              <a:rPr lang="en-IE" b="1" dirty="0"/>
              <a:t>methods</a:t>
            </a:r>
            <a:endParaRPr lang="en-IE" sz="2800" b="1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14AD3A7-B1A7-470E-B762-76D1124547C5}"/>
              </a:ext>
            </a:extLst>
          </p:cNvPr>
          <p:cNvSpPr/>
          <p:nvPr/>
        </p:nvSpPr>
        <p:spPr>
          <a:xfrm>
            <a:off x="4129931" y="1136142"/>
            <a:ext cx="3528170" cy="24003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66737" rtl="0"/>
            <a:endParaRPr lang="en-IE" sz="1688"/>
          </a:p>
        </p:txBody>
      </p:sp>
      <p:sp>
        <p:nvSpPr>
          <p:cNvPr id="18" name="TextBox 17"/>
          <p:cNvSpPr txBox="1"/>
          <p:nvPr/>
        </p:nvSpPr>
        <p:spPr>
          <a:xfrm>
            <a:off x="704089" y="2164706"/>
            <a:ext cx="2976371" cy="553998"/>
          </a:xfrm>
          <a:prstGeom prst="rect">
            <a:avLst/>
          </a:prstGeom>
          <a:solidFill>
            <a:srgbClr val="FCBAC5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500" b="1" dirty="0"/>
              <a:t>Methods</a:t>
            </a:r>
            <a:br>
              <a:rPr lang="en-IE" sz="1500"/>
            </a:br>
            <a:r>
              <a:rPr lang="en-IE" sz="1500"/>
              <a:t>i.e</a:t>
            </a:r>
            <a:r>
              <a:rPr lang="en-IE" sz="1500" dirty="0"/>
              <a:t>. the </a:t>
            </a:r>
            <a:r>
              <a:rPr lang="en-IE" sz="1500" b="1" dirty="0"/>
              <a:t>behaviours</a:t>
            </a:r>
            <a:r>
              <a:rPr lang="en-IE" sz="1500" dirty="0"/>
              <a:t> of the class</a:t>
            </a:r>
          </a:p>
        </p:txBody>
      </p:sp>
      <p:sp>
        <p:nvSpPr>
          <p:cNvPr id="19" name="Rectangle: Rounded Corners 6">
            <a:extLst>
              <a:ext uri="{FF2B5EF4-FFF2-40B4-BE49-F238E27FC236}">
                <a16:creationId xmlns:a16="http://schemas.microsoft.com/office/drawing/2014/main" id="{A14AD3A7-B1A7-470E-B762-76D1124547C5}"/>
              </a:ext>
            </a:extLst>
          </p:cNvPr>
          <p:cNvSpPr/>
          <p:nvPr/>
        </p:nvSpPr>
        <p:spPr>
          <a:xfrm>
            <a:off x="4129930" y="1136142"/>
            <a:ext cx="3528170" cy="2400300"/>
          </a:xfrm>
          <a:prstGeom prst="roundRect">
            <a:avLst/>
          </a:prstGeom>
          <a:noFill/>
          <a:ln w="38100">
            <a:solidFill>
              <a:srgbClr val="FCBA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66737" rtl="0"/>
            <a:endParaRPr lang="en-IE" sz="1688"/>
          </a:p>
        </p:txBody>
      </p:sp>
      <p:cxnSp>
        <p:nvCxnSpPr>
          <p:cNvPr id="20" name="Straight Arrow Connector 19"/>
          <p:cNvCxnSpPr>
            <a:cxnSpLocks/>
          </p:cNvCxnSpPr>
          <p:nvPr/>
        </p:nvCxnSpPr>
        <p:spPr>
          <a:xfrm>
            <a:off x="3509011" y="2635367"/>
            <a:ext cx="620918" cy="0"/>
          </a:xfrm>
          <a:prstGeom prst="straightConnector1">
            <a:avLst/>
          </a:prstGeom>
          <a:ln w="28575">
            <a:solidFill>
              <a:srgbClr val="FCBAC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EA65584-D9F8-47FD-8EF6-E2D83A0BCBAE}"/>
              </a:ext>
            </a:extLst>
          </p:cNvPr>
          <p:cNvSpPr txBox="1"/>
          <p:nvPr/>
        </p:nvSpPr>
        <p:spPr>
          <a:xfrm>
            <a:off x="691013" y="1711167"/>
            <a:ext cx="3160896" cy="323165"/>
          </a:xfrm>
          <a:prstGeom prst="rect">
            <a:avLst/>
          </a:prstGeom>
          <a:solidFill>
            <a:srgbClr val="FCBAC5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/>
            </a:lvl1pPr>
          </a:lstStyle>
          <a:p>
            <a:r>
              <a:rPr lang="en-IE" sz="1500" b="0" dirty="0"/>
              <a:t>The </a:t>
            </a:r>
            <a:r>
              <a:rPr lang="en-IE" sz="1500" dirty="0"/>
              <a:t>m</a:t>
            </a:r>
            <a:r>
              <a:rPr lang="en-IE" sz="1500" b="0" dirty="0"/>
              <a:t> icon means it is a </a:t>
            </a:r>
            <a:r>
              <a:rPr lang="en-IE" sz="1500" dirty="0"/>
              <a:t>method</a:t>
            </a:r>
            <a:r>
              <a:rPr lang="en-IE" sz="1500" b="0" dirty="0"/>
              <a:t>.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01A018E-A2FD-4EE2-BAD6-1F821407C8A1}"/>
              </a:ext>
            </a:extLst>
          </p:cNvPr>
          <p:cNvCxnSpPr>
            <a:cxnSpLocks/>
          </p:cNvCxnSpPr>
          <p:nvPr/>
        </p:nvCxnSpPr>
        <p:spPr>
          <a:xfrm>
            <a:off x="3566161" y="1951097"/>
            <a:ext cx="839602" cy="569969"/>
          </a:xfrm>
          <a:prstGeom prst="straightConnector1">
            <a:avLst/>
          </a:prstGeom>
          <a:ln w="28575">
            <a:solidFill>
              <a:srgbClr val="FCBAC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BF9D653-2734-46BB-BCC4-60D4BA49D705}"/>
              </a:ext>
            </a:extLst>
          </p:cNvPr>
          <p:cNvCxnSpPr>
            <a:cxnSpLocks/>
          </p:cNvCxnSpPr>
          <p:nvPr/>
        </p:nvCxnSpPr>
        <p:spPr>
          <a:xfrm>
            <a:off x="3509011" y="1300098"/>
            <a:ext cx="1143000" cy="949726"/>
          </a:xfrm>
          <a:prstGeom prst="straightConnector1">
            <a:avLst/>
          </a:prstGeom>
          <a:ln w="28575">
            <a:solidFill>
              <a:srgbClr val="A1D38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46BAF32D-8C63-4C63-8568-FC0B51370146}"/>
              </a:ext>
            </a:extLst>
          </p:cNvPr>
          <p:cNvSpPr txBox="1"/>
          <p:nvPr/>
        </p:nvSpPr>
        <p:spPr>
          <a:xfrm>
            <a:off x="557785" y="1257627"/>
            <a:ext cx="3425410" cy="323165"/>
          </a:xfrm>
          <a:prstGeom prst="rect">
            <a:avLst/>
          </a:prstGeom>
          <a:solidFill>
            <a:srgbClr val="A1D38E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/>
            </a:lvl1pPr>
          </a:lstStyle>
          <a:p>
            <a:r>
              <a:rPr lang="en-IE" sz="1500" b="0" dirty="0"/>
              <a:t>The </a:t>
            </a:r>
            <a:r>
              <a:rPr lang="en-IE" sz="1500" b="0" u="sng" dirty="0"/>
              <a:t>open padlock </a:t>
            </a:r>
            <a:r>
              <a:rPr lang="en-IE" sz="1500" b="0" dirty="0"/>
              <a:t>means it is </a:t>
            </a:r>
            <a:r>
              <a:rPr lang="en-IE" sz="1500" dirty="0"/>
              <a:t>public</a:t>
            </a:r>
            <a:r>
              <a:rPr lang="en-IE" sz="1500" b="0" dirty="0"/>
              <a:t>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CB6B3B-A694-059D-6A3E-0824063535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6A62AA-6A04-A5A8-6EA7-09264C44A8F7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17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420410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1" grpId="0" animBg="1"/>
      <p:bldP spid="3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44602D8-E711-D58C-A3E2-6A16A19D9F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3350" y="893335"/>
            <a:ext cx="3886201" cy="389919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73F90E8-03DD-43F1-BF10-765AA6E94505}"/>
              </a:ext>
            </a:extLst>
          </p:cNvPr>
          <p:cNvSpPr txBox="1"/>
          <p:nvPr/>
        </p:nvSpPr>
        <p:spPr>
          <a:xfrm>
            <a:off x="2249862" y="1577917"/>
            <a:ext cx="1407738" cy="323165"/>
          </a:xfrm>
          <a:prstGeom prst="rect">
            <a:avLst/>
          </a:prstGeom>
          <a:solidFill>
            <a:srgbClr val="FCBAC5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0"/>
            </a:lvl1pPr>
          </a:lstStyle>
          <a:p>
            <a:r>
              <a:rPr lang="en-IE" sz="1500"/>
              <a:t>Method </a:t>
            </a:r>
            <a:r>
              <a:rPr lang="en-IE" sz="1500" b="1"/>
              <a:t>name</a:t>
            </a:r>
            <a:endParaRPr lang="en-IE" sz="15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F2D9563-E598-49C9-8195-1E1708E6A1EF}"/>
              </a:ext>
            </a:extLst>
          </p:cNvPr>
          <p:cNvSpPr txBox="1"/>
          <p:nvPr/>
        </p:nvSpPr>
        <p:spPr>
          <a:xfrm>
            <a:off x="2243979" y="1042515"/>
            <a:ext cx="1419506" cy="323165"/>
          </a:xfrm>
          <a:prstGeom prst="rect">
            <a:avLst/>
          </a:prstGeom>
          <a:solidFill>
            <a:srgbClr val="FCBAC5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0"/>
            </a:lvl1pPr>
          </a:lstStyle>
          <a:p>
            <a:r>
              <a:rPr lang="en-IE" sz="1500" b="1" dirty="0"/>
              <a:t>Return</a:t>
            </a:r>
            <a:r>
              <a:rPr lang="en-IE" sz="1500" dirty="0"/>
              <a:t> </a:t>
            </a:r>
            <a:r>
              <a:rPr lang="en-IE" sz="1500" b="1" dirty="0"/>
              <a:t>type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B5A1961-5668-46EA-A7A0-596219B5B24D}"/>
              </a:ext>
            </a:extLst>
          </p:cNvPr>
          <p:cNvCxnSpPr>
            <a:cxnSpLocks/>
          </p:cNvCxnSpPr>
          <p:nvPr/>
        </p:nvCxnSpPr>
        <p:spPr>
          <a:xfrm flipV="1">
            <a:off x="3591206" y="1649514"/>
            <a:ext cx="1323693" cy="184015"/>
          </a:xfrm>
          <a:prstGeom prst="straightConnector1">
            <a:avLst/>
          </a:prstGeom>
          <a:ln w="28575">
            <a:solidFill>
              <a:srgbClr val="FCBAC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8F00E0F-15E2-4069-8CD2-1F0AF97BEF0E}"/>
              </a:ext>
            </a:extLst>
          </p:cNvPr>
          <p:cNvCxnSpPr>
            <a:cxnSpLocks/>
            <a:stCxn id="26" idx="3"/>
          </p:cNvCxnSpPr>
          <p:nvPr/>
        </p:nvCxnSpPr>
        <p:spPr>
          <a:xfrm>
            <a:off x="3663485" y="1204098"/>
            <a:ext cx="2636731" cy="295518"/>
          </a:xfrm>
          <a:prstGeom prst="straightConnector1">
            <a:avLst/>
          </a:prstGeom>
          <a:ln w="28575">
            <a:solidFill>
              <a:srgbClr val="FCBAC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>
            <a:off x="4914900" y="1651229"/>
            <a:ext cx="12573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6229350" y="1649513"/>
            <a:ext cx="4572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78F230-270C-A49F-3B74-A24EBBCF3F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3EF29B-A8A9-4B51-61C9-E9295F9DB41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18</a:t>
            </a:fld>
            <a:endParaRPr lang="en-IE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A6F79A1-1BEF-BD95-67BF-0736F5E7D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6" y="0"/>
            <a:ext cx="7772401" cy="761815"/>
          </a:xfrm>
        </p:spPr>
        <p:txBody>
          <a:bodyPr>
            <a:normAutofit/>
          </a:bodyPr>
          <a:lstStyle/>
          <a:p>
            <a:r>
              <a:rPr lang="en-IE" dirty="0"/>
              <a:t>A </a:t>
            </a:r>
            <a:r>
              <a:rPr lang="en-IE" b="1" dirty="0">
                <a:latin typeface="Monaco" pitchFamily="2" charset="77"/>
              </a:rPr>
              <a:t>Product</a:t>
            </a:r>
            <a:r>
              <a:rPr lang="en-IE" dirty="0"/>
              <a:t> Class… </a:t>
            </a:r>
            <a:r>
              <a:rPr lang="en-IE" b="1" dirty="0"/>
              <a:t>methods</a:t>
            </a:r>
            <a:endParaRPr lang="en-IE" sz="2800" b="1" dirty="0"/>
          </a:p>
        </p:txBody>
      </p:sp>
    </p:spTree>
    <p:extLst>
      <p:ext uri="{BB962C8B-B14F-4D97-AF65-F5344CB8AC3E}">
        <p14:creationId xmlns:p14="http://schemas.microsoft.com/office/powerpoint/2010/main" val="260728511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667A8B6-E3E2-BDF5-DC6D-C7CC2956C1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3350" y="893335"/>
            <a:ext cx="3886201" cy="389919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1371600" y="1211581"/>
            <a:ext cx="1657350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800" b="1" dirty="0"/>
              <a:t>get</a:t>
            </a:r>
            <a:r>
              <a:rPr lang="en-IE" sz="1800" dirty="0"/>
              <a:t>ters 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68E9ECC-112E-40DC-84EA-6A19D160A5D2}"/>
              </a:ext>
            </a:extLst>
          </p:cNvPr>
          <p:cNvSpPr/>
          <p:nvPr/>
        </p:nvSpPr>
        <p:spPr>
          <a:xfrm>
            <a:off x="4129931" y="1383030"/>
            <a:ext cx="3528170" cy="10858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688"/>
          </a:p>
        </p:txBody>
      </p:sp>
      <p:cxnSp>
        <p:nvCxnSpPr>
          <p:cNvPr id="11" name="Straight Arrow Connector 10"/>
          <p:cNvCxnSpPr>
            <a:cxnSpLocks/>
            <a:stCxn id="5" idx="3"/>
          </p:cNvCxnSpPr>
          <p:nvPr/>
        </p:nvCxnSpPr>
        <p:spPr>
          <a:xfrm>
            <a:off x="3028950" y="1396247"/>
            <a:ext cx="1100981" cy="329684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72AC6C-96B5-7FDE-DBDE-1225A9A860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885359-D4C9-C3EB-C0C1-0DF02950F861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19</a:t>
            </a:fld>
            <a:endParaRPr lang="en-IE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6F00B5FB-D2D0-DEA1-A1D1-C9481A755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6" y="0"/>
            <a:ext cx="7772401" cy="761815"/>
          </a:xfrm>
        </p:spPr>
        <p:txBody>
          <a:bodyPr>
            <a:normAutofit/>
          </a:bodyPr>
          <a:lstStyle/>
          <a:p>
            <a:r>
              <a:rPr lang="en-IE" dirty="0"/>
              <a:t>A </a:t>
            </a:r>
            <a:r>
              <a:rPr lang="en-IE" b="1" dirty="0">
                <a:latin typeface="Monaco" pitchFamily="2" charset="77"/>
              </a:rPr>
              <a:t>Product</a:t>
            </a:r>
            <a:r>
              <a:rPr lang="en-IE" dirty="0"/>
              <a:t> Class… </a:t>
            </a:r>
            <a:r>
              <a:rPr lang="en-IE" b="1" dirty="0"/>
              <a:t>getters</a:t>
            </a:r>
            <a:endParaRPr lang="en-IE" sz="2800" b="1" dirty="0"/>
          </a:p>
        </p:txBody>
      </p:sp>
    </p:spTree>
    <p:extLst>
      <p:ext uri="{BB962C8B-B14F-4D97-AF65-F5344CB8AC3E}">
        <p14:creationId xmlns:p14="http://schemas.microsoft.com/office/powerpoint/2010/main" val="556451123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b="1" dirty="0"/>
              <a:t>Get</a:t>
            </a:r>
            <a:r>
              <a:rPr lang="en-IE" dirty="0"/>
              <a:t>ters (Accessor Methods)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rgbClr val="00B050"/>
                </a:solidFill>
              </a:rPr>
              <a:t>Accessor</a:t>
            </a:r>
            <a:r>
              <a:rPr lang="en-US" sz="2800" dirty="0"/>
              <a:t> methods </a:t>
            </a:r>
          </a:p>
          <a:p>
            <a:pPr lvl="1"/>
            <a:r>
              <a:rPr lang="en-US" dirty="0"/>
              <a:t>return information about the </a:t>
            </a:r>
            <a:r>
              <a:rPr lang="en-US" b="1" dirty="0"/>
              <a:t>state</a:t>
            </a:r>
            <a:r>
              <a:rPr lang="en-US" dirty="0"/>
              <a:t> of an object </a:t>
            </a:r>
          </a:p>
          <a:p>
            <a:pPr lvl="2"/>
            <a:r>
              <a:rPr lang="en-US" sz="1800" dirty="0"/>
              <a:t>i.e. </a:t>
            </a:r>
            <a:r>
              <a:rPr lang="en-US" sz="1800" b="1" dirty="0"/>
              <a:t>the values stored in the fields</a:t>
            </a:r>
            <a:r>
              <a:rPr lang="en-US" sz="1800" dirty="0"/>
              <a:t>.</a:t>
            </a:r>
          </a:p>
          <a:p>
            <a:endParaRPr lang="en-US" sz="2800" dirty="0"/>
          </a:p>
          <a:p>
            <a:r>
              <a:rPr lang="en-US" sz="2800" dirty="0"/>
              <a:t>A </a:t>
            </a:r>
            <a:r>
              <a:rPr lang="en-US" sz="2800" dirty="0">
                <a:solidFill>
                  <a:srgbClr val="FF0000"/>
                </a:solidFill>
              </a:rPr>
              <a:t>‘getter’ </a:t>
            </a:r>
            <a:r>
              <a:rPr lang="en-US" sz="2800" dirty="0"/>
              <a:t>method </a:t>
            </a:r>
          </a:p>
          <a:p>
            <a:pPr lvl="1"/>
            <a:r>
              <a:rPr lang="en-US" dirty="0"/>
              <a:t>is a specific type of </a:t>
            </a:r>
            <a:r>
              <a:rPr lang="en-US" b="1" dirty="0">
                <a:solidFill>
                  <a:srgbClr val="00B050"/>
                </a:solidFill>
              </a:rPr>
              <a:t>accessor</a:t>
            </a:r>
            <a:r>
              <a:rPr lang="en-US" dirty="0"/>
              <a:t> method and typically:</a:t>
            </a:r>
          </a:p>
          <a:p>
            <a:pPr lvl="2"/>
            <a:r>
              <a:rPr lang="en-US" sz="1800" b="1" dirty="0"/>
              <a:t>contains a return statement </a:t>
            </a:r>
            <a:br>
              <a:rPr lang="en-US" sz="1800" b="1" dirty="0"/>
            </a:br>
            <a:r>
              <a:rPr lang="en-US" sz="1800" dirty="0"/>
              <a:t>(as the last executable statement in the method).</a:t>
            </a:r>
          </a:p>
          <a:p>
            <a:pPr lvl="2"/>
            <a:r>
              <a:rPr lang="en-US" sz="1800" dirty="0"/>
              <a:t>defines a </a:t>
            </a:r>
            <a:r>
              <a:rPr lang="en-US" sz="1800" b="1" dirty="0"/>
              <a:t>return</a:t>
            </a:r>
            <a:r>
              <a:rPr lang="en-US" sz="1800" dirty="0"/>
              <a:t> </a:t>
            </a:r>
            <a:r>
              <a:rPr lang="en-US" sz="1800" b="1" dirty="0"/>
              <a:t>type</a:t>
            </a:r>
            <a:r>
              <a:rPr lang="en-US" sz="1800" dirty="0"/>
              <a:t>.</a:t>
            </a:r>
          </a:p>
          <a:p>
            <a:pPr lvl="2"/>
            <a:r>
              <a:rPr lang="en-US" sz="1800" b="1" dirty="0"/>
              <a:t>does NOT change the object state</a:t>
            </a:r>
            <a:r>
              <a:rPr lang="en-US" sz="1800" dirty="0"/>
              <a:t>.</a:t>
            </a:r>
            <a:endParaRPr lang="en-US" sz="3200" dirty="0"/>
          </a:p>
          <a:p>
            <a:pPr marL="0" indent="0">
              <a:buNone/>
            </a:pPr>
            <a:endParaRPr lang="en-IE" sz="32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226996-2D91-1A54-E6CE-FCB01A8A2E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1B3BEC-C2D7-B5AC-6034-A56BC3A4174A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20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803217728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IE" b="1" dirty="0"/>
              <a:t>Get</a:t>
            </a:r>
            <a:r>
              <a:rPr lang="en-IE" dirty="0"/>
              <a:t>ters</a:t>
            </a:r>
            <a:endParaRPr lang="en-US" dirty="0"/>
          </a:p>
        </p:txBody>
      </p:sp>
      <p:sp>
        <p:nvSpPr>
          <p:cNvPr id="17412" name="Text Box 4"/>
          <p:cNvSpPr txBox="1">
            <a:spLocks noChangeArrowheads="1"/>
          </p:cNvSpPr>
          <p:nvPr/>
        </p:nvSpPr>
        <p:spPr bwMode="auto">
          <a:xfrm>
            <a:off x="2016482" y="2460967"/>
            <a:ext cx="3906839" cy="1200329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IE" sz="1800" dirty="0">
                <a:latin typeface="Monaco" pitchFamily="2" charset="77"/>
                <a:cs typeface="Times" pitchFamily="-32" charset="0"/>
              </a:rPr>
              <a:t>public double </a:t>
            </a:r>
            <a:r>
              <a:rPr lang="en-IE" sz="1800" dirty="0" err="1">
                <a:latin typeface="Monaco" pitchFamily="2" charset="77"/>
                <a:cs typeface="Times" pitchFamily="-32" charset="0"/>
              </a:rPr>
              <a:t>getUnitCost</a:t>
            </a:r>
            <a:r>
              <a:rPr lang="en-IE" sz="1800" dirty="0">
                <a:latin typeface="Monaco" pitchFamily="2" charset="77"/>
                <a:cs typeface="Times" pitchFamily="-32" charset="0"/>
              </a:rPr>
              <a:t>()</a:t>
            </a:r>
          </a:p>
          <a:p>
            <a:pPr algn="l"/>
            <a:r>
              <a:rPr lang="en-IE" sz="1800" dirty="0">
                <a:latin typeface="Monaco" pitchFamily="2" charset="77"/>
                <a:cs typeface="Times" pitchFamily="-32" charset="0"/>
              </a:rPr>
              <a:t>{</a:t>
            </a:r>
          </a:p>
          <a:p>
            <a:pPr algn="l"/>
            <a:r>
              <a:rPr lang="en-IE" sz="1800" dirty="0">
                <a:latin typeface="Monaco" pitchFamily="2" charset="77"/>
                <a:cs typeface="Times" pitchFamily="-32" charset="0"/>
              </a:rPr>
              <a:t>     return </a:t>
            </a:r>
            <a:r>
              <a:rPr lang="en-IE" sz="1800" dirty="0" err="1">
                <a:latin typeface="Monaco" pitchFamily="2" charset="77"/>
                <a:cs typeface="Times" pitchFamily="-32" charset="0"/>
              </a:rPr>
              <a:t>unitCost</a:t>
            </a:r>
            <a:r>
              <a:rPr lang="en-IE" sz="1800" dirty="0">
                <a:latin typeface="Monaco" pitchFamily="2" charset="77"/>
                <a:cs typeface="Times" pitchFamily="-32" charset="0"/>
              </a:rPr>
              <a:t>;</a:t>
            </a:r>
          </a:p>
          <a:p>
            <a:pPr algn="l"/>
            <a:r>
              <a:rPr lang="en-IE" sz="1800" dirty="0">
                <a:latin typeface="Monaco" pitchFamily="2" charset="77"/>
                <a:cs typeface="Times" pitchFamily="-32" charset="0"/>
              </a:rPr>
              <a:t>}</a:t>
            </a:r>
          </a:p>
        </p:txBody>
      </p:sp>
      <p:sp>
        <p:nvSpPr>
          <p:cNvPr id="17413" name="Text Box 5"/>
          <p:cNvSpPr txBox="1">
            <a:spLocks noChangeArrowheads="1"/>
          </p:cNvSpPr>
          <p:nvPr/>
        </p:nvSpPr>
        <p:spPr bwMode="auto">
          <a:xfrm>
            <a:off x="3252789" y="1626395"/>
            <a:ext cx="1178719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 eaLnBrk="1" hangingPunct="1"/>
            <a:r>
              <a:rPr lang="en-US" sz="1500" dirty="0">
                <a:solidFill>
                  <a:srgbClr val="A57133"/>
                </a:solidFill>
              </a:rPr>
              <a:t>return type</a:t>
            </a:r>
          </a:p>
        </p:txBody>
      </p:sp>
      <p:sp>
        <p:nvSpPr>
          <p:cNvPr id="17414" name="Text Box 6"/>
          <p:cNvSpPr txBox="1">
            <a:spLocks noChangeArrowheads="1"/>
          </p:cNvSpPr>
          <p:nvPr/>
        </p:nvSpPr>
        <p:spPr bwMode="auto">
          <a:xfrm>
            <a:off x="4814888" y="1866900"/>
            <a:ext cx="1372492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1" hangingPunct="1"/>
            <a:r>
              <a:rPr lang="en-US" sz="1500" dirty="0">
                <a:solidFill>
                  <a:srgbClr val="A57133"/>
                </a:solidFill>
              </a:rPr>
              <a:t>method name</a:t>
            </a:r>
          </a:p>
        </p:txBody>
      </p:sp>
      <p:sp>
        <p:nvSpPr>
          <p:cNvPr id="17415" name="Text Box 7"/>
          <p:cNvSpPr txBox="1">
            <a:spLocks noChangeArrowheads="1"/>
          </p:cNvSpPr>
          <p:nvPr/>
        </p:nvSpPr>
        <p:spPr bwMode="auto">
          <a:xfrm>
            <a:off x="5938837" y="2274095"/>
            <a:ext cx="1547813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 eaLnBrk="1" hangingPunct="1"/>
            <a:r>
              <a:rPr lang="en-US" sz="1500" dirty="0">
                <a:solidFill>
                  <a:srgbClr val="A57133"/>
                </a:solidFill>
              </a:rPr>
              <a:t>parameter list (empty)</a:t>
            </a:r>
          </a:p>
        </p:txBody>
      </p:sp>
      <p:sp>
        <p:nvSpPr>
          <p:cNvPr id="17416" name="Oval 8"/>
          <p:cNvSpPr>
            <a:spLocks noChangeArrowheads="1"/>
          </p:cNvSpPr>
          <p:nvPr/>
        </p:nvSpPr>
        <p:spPr bwMode="auto">
          <a:xfrm>
            <a:off x="2046700" y="2814583"/>
            <a:ext cx="273844" cy="823630"/>
          </a:xfrm>
          <a:prstGeom prst="ellipse">
            <a:avLst/>
          </a:prstGeom>
          <a:noFill/>
          <a:ln w="28575">
            <a:solidFill>
              <a:srgbClr val="A57133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E" sz="1688"/>
          </a:p>
        </p:txBody>
      </p:sp>
      <p:sp>
        <p:nvSpPr>
          <p:cNvPr id="17417" name="Text Box 9"/>
          <p:cNvSpPr txBox="1">
            <a:spLocks noChangeArrowheads="1"/>
          </p:cNvSpPr>
          <p:nvPr/>
        </p:nvSpPr>
        <p:spPr bwMode="auto">
          <a:xfrm>
            <a:off x="2338387" y="3817145"/>
            <a:ext cx="3414713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 eaLnBrk="1" hangingPunct="1"/>
            <a:r>
              <a:rPr lang="en-US" sz="1500" dirty="0">
                <a:solidFill>
                  <a:srgbClr val="A57133"/>
                </a:solidFill>
              </a:rPr>
              <a:t>start and end of method body (block)</a:t>
            </a:r>
          </a:p>
        </p:txBody>
      </p:sp>
      <p:sp>
        <p:nvSpPr>
          <p:cNvPr id="17418" name="Text Box 10"/>
          <p:cNvSpPr txBox="1">
            <a:spLocks noChangeArrowheads="1"/>
          </p:cNvSpPr>
          <p:nvPr/>
        </p:nvSpPr>
        <p:spPr bwMode="auto">
          <a:xfrm>
            <a:off x="6057247" y="3050359"/>
            <a:ext cx="1585690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1" hangingPunct="1"/>
            <a:r>
              <a:rPr lang="en-US" sz="1500" dirty="0">
                <a:solidFill>
                  <a:srgbClr val="A57133"/>
                </a:solidFill>
              </a:rPr>
              <a:t>return statement</a:t>
            </a:r>
          </a:p>
        </p:txBody>
      </p:sp>
      <p:sp>
        <p:nvSpPr>
          <p:cNvPr id="17419" name="Line 11"/>
          <p:cNvSpPr>
            <a:spLocks noChangeShapeType="1"/>
          </p:cNvSpPr>
          <p:nvPr/>
        </p:nvSpPr>
        <p:spPr bwMode="auto">
          <a:xfrm flipH="1" flipV="1">
            <a:off x="2166938" y="3657600"/>
            <a:ext cx="17145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 sz="1688"/>
          </a:p>
        </p:txBody>
      </p:sp>
      <p:sp>
        <p:nvSpPr>
          <p:cNvPr id="17420" name="Line 12"/>
          <p:cNvSpPr>
            <a:spLocks noChangeShapeType="1"/>
          </p:cNvSpPr>
          <p:nvPr/>
        </p:nvSpPr>
        <p:spPr bwMode="auto">
          <a:xfrm flipH="1">
            <a:off x="3424238" y="1931194"/>
            <a:ext cx="285750" cy="514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 sz="1688"/>
          </a:p>
        </p:txBody>
      </p:sp>
      <p:sp>
        <p:nvSpPr>
          <p:cNvPr id="17421" name="Line 13"/>
          <p:cNvSpPr>
            <a:spLocks noChangeShapeType="1"/>
          </p:cNvSpPr>
          <p:nvPr/>
        </p:nvSpPr>
        <p:spPr bwMode="auto">
          <a:xfrm flipH="1">
            <a:off x="4855368" y="2114550"/>
            <a:ext cx="359569" cy="43592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 algn="ctr" defTabSz="366737" rtl="0"/>
            <a:endParaRPr lang="en-IE" sz="1688"/>
          </a:p>
        </p:txBody>
      </p:sp>
      <p:sp>
        <p:nvSpPr>
          <p:cNvPr id="17422" name="Line 14"/>
          <p:cNvSpPr>
            <a:spLocks noChangeShapeType="1"/>
          </p:cNvSpPr>
          <p:nvPr/>
        </p:nvSpPr>
        <p:spPr bwMode="auto">
          <a:xfrm flipH="1">
            <a:off x="5641658" y="2480135"/>
            <a:ext cx="359569" cy="171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 algn="ctr" defTabSz="366737" rtl="0"/>
            <a:endParaRPr lang="en-IE" sz="1688"/>
          </a:p>
        </p:txBody>
      </p:sp>
      <p:sp>
        <p:nvSpPr>
          <p:cNvPr id="17423" name="Line 15"/>
          <p:cNvSpPr>
            <a:spLocks noChangeShapeType="1"/>
          </p:cNvSpPr>
          <p:nvPr/>
        </p:nvSpPr>
        <p:spPr bwMode="auto">
          <a:xfrm flipH="1">
            <a:off x="5024438" y="3188500"/>
            <a:ext cx="1032810" cy="11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 sz="1688"/>
          </a:p>
        </p:txBody>
      </p:sp>
      <p:sp>
        <p:nvSpPr>
          <p:cNvPr id="17424" name="Text Box 16"/>
          <p:cNvSpPr txBox="1">
            <a:spLocks noChangeArrowheads="1"/>
          </p:cNvSpPr>
          <p:nvPr/>
        </p:nvSpPr>
        <p:spPr bwMode="auto">
          <a:xfrm>
            <a:off x="1453755" y="1866900"/>
            <a:ext cx="1608133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1" hangingPunct="1"/>
            <a:r>
              <a:rPr lang="en-US" sz="1500" dirty="0">
                <a:solidFill>
                  <a:srgbClr val="A57133"/>
                </a:solidFill>
              </a:rPr>
              <a:t>visibility modifier</a:t>
            </a:r>
          </a:p>
        </p:txBody>
      </p:sp>
      <p:sp>
        <p:nvSpPr>
          <p:cNvPr id="17425" name="Line 17"/>
          <p:cNvSpPr>
            <a:spLocks noChangeShapeType="1"/>
          </p:cNvSpPr>
          <p:nvPr/>
        </p:nvSpPr>
        <p:spPr bwMode="auto">
          <a:xfrm>
            <a:off x="1938338" y="2171701"/>
            <a:ext cx="571500" cy="27384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 sz="1688"/>
          </a:p>
        </p:txBody>
      </p:sp>
      <p:sp>
        <p:nvSpPr>
          <p:cNvPr id="17" name="Oval 8"/>
          <p:cNvSpPr>
            <a:spLocks noChangeArrowheads="1"/>
          </p:cNvSpPr>
          <p:nvPr/>
        </p:nvSpPr>
        <p:spPr bwMode="auto">
          <a:xfrm>
            <a:off x="1957855" y="2441578"/>
            <a:ext cx="1066334" cy="358772"/>
          </a:xfrm>
          <a:prstGeom prst="ellipse">
            <a:avLst/>
          </a:prstGeom>
          <a:noFill/>
          <a:ln w="28575">
            <a:solidFill>
              <a:srgbClr val="A57133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E" sz="1688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FB8B10A-DE2D-C511-905E-512AB96807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E479C35-3730-B982-85D2-C928842CE8ED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21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06357937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3" grpId="0"/>
      <p:bldP spid="17414" grpId="0"/>
      <p:bldP spid="17415" grpId="0"/>
      <p:bldP spid="17416" grpId="0" animBg="1"/>
      <p:bldP spid="17417" grpId="0"/>
      <p:bldP spid="17418" grpId="0"/>
      <p:bldP spid="17419" grpId="0" animBg="1"/>
      <p:bldP spid="17420" grpId="0" animBg="1"/>
      <p:bldP spid="17421" grpId="0" animBg="1"/>
      <p:bldP spid="17422" grpId="0" animBg="1"/>
      <p:bldP spid="17423" grpId="0" animBg="1"/>
      <p:bldP spid="17424" grpId="0"/>
      <p:bldP spid="17425" grpId="0" animBg="1"/>
      <p:bldP spid="1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07C53D8-9834-42FB-A8C5-3200BC2C93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672" y="846096"/>
            <a:ext cx="5923738" cy="3965509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88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</a:t>
            </a:r>
            <a:r>
              <a:rPr lang="en-US" altLang="en-US" sz="1688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public </a:t>
            </a:r>
            <a:r>
              <a:rPr lang="en-US" altLang="en-US" sz="1688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String </a:t>
            </a:r>
            <a:r>
              <a:rPr lang="en-US" altLang="en-US" sz="1688" b="1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get</a:t>
            </a:r>
            <a:r>
              <a:rPr lang="en-US" altLang="en-US" sz="1688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ProductName</a:t>
            </a:r>
            <a:r>
              <a:rPr lang="en-US" altLang="en-US" sz="1688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(){</a:t>
            </a:r>
            <a:br>
              <a:rPr lang="en-US" altLang="en-US" sz="1688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1688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   </a:t>
            </a:r>
            <a:r>
              <a:rPr lang="en-US" altLang="en-US" sz="1688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return </a:t>
            </a:r>
            <a:r>
              <a:rPr lang="en-US" altLang="en-US" sz="1688" b="1" dirty="0" err="1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productName</a:t>
            </a:r>
            <a:r>
              <a:rPr lang="en-US" altLang="en-US" sz="1688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;</a:t>
            </a:r>
            <a:br>
              <a:rPr lang="en-US" altLang="en-US" sz="1688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1688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}</a:t>
            </a:r>
            <a:br>
              <a:rPr lang="en-US" altLang="en-US" sz="1688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1688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</a:t>
            </a:r>
            <a:br>
              <a:rPr lang="en-US" altLang="en-US" sz="1688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1688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</a:t>
            </a:r>
            <a:r>
              <a:rPr lang="en-US" altLang="en-US" sz="1688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public double </a:t>
            </a:r>
            <a:r>
              <a:rPr lang="en-US" altLang="en-US" sz="1688" b="1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get</a:t>
            </a:r>
            <a:r>
              <a:rPr lang="en-US" altLang="en-US" sz="1688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UnitCost</a:t>
            </a:r>
            <a:r>
              <a:rPr lang="en-US" altLang="en-US" sz="1688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(){</a:t>
            </a:r>
            <a:br>
              <a:rPr lang="en-US" altLang="en-US" sz="1688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1688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   </a:t>
            </a:r>
            <a:r>
              <a:rPr lang="en-US" altLang="en-US" sz="1688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return </a:t>
            </a:r>
            <a:r>
              <a:rPr lang="en-US" altLang="en-US" sz="1688" b="1" dirty="0" err="1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unitCost</a:t>
            </a:r>
            <a:r>
              <a:rPr lang="en-US" altLang="en-US" sz="1688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;</a:t>
            </a:r>
            <a:br>
              <a:rPr lang="en-US" altLang="en-US" sz="1688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1688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}</a:t>
            </a:r>
            <a:br>
              <a:rPr lang="en-US" altLang="en-US" sz="1688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1688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</a:t>
            </a:r>
            <a:br>
              <a:rPr lang="en-US" altLang="en-US" sz="1688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1688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</a:t>
            </a:r>
            <a:r>
              <a:rPr lang="en-US" altLang="en-US" sz="1688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public </a:t>
            </a:r>
            <a:r>
              <a:rPr lang="en-US" altLang="en-US" sz="1688" b="1" dirty="0" err="1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int</a:t>
            </a:r>
            <a:r>
              <a:rPr lang="en-US" altLang="en-US" sz="1688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 </a:t>
            </a:r>
            <a:r>
              <a:rPr lang="en-US" altLang="en-US" sz="1688" b="1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get</a:t>
            </a:r>
            <a:r>
              <a:rPr lang="en-US" altLang="en-US" sz="1688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ProductCode</a:t>
            </a:r>
            <a:r>
              <a:rPr lang="en-US" altLang="en-US" sz="1688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() {</a:t>
            </a:r>
            <a:br>
              <a:rPr lang="en-US" altLang="en-US" sz="1688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1688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   </a:t>
            </a:r>
            <a:r>
              <a:rPr lang="en-US" altLang="en-US" sz="1688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return </a:t>
            </a:r>
            <a:r>
              <a:rPr lang="en-US" altLang="en-US" sz="1688" b="1" dirty="0" err="1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productCode</a:t>
            </a:r>
            <a:r>
              <a:rPr lang="en-US" altLang="en-US" sz="1688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;</a:t>
            </a:r>
            <a:br>
              <a:rPr lang="en-US" altLang="en-US" sz="1688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1688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}</a:t>
            </a:r>
            <a:br>
              <a:rPr lang="en-US" altLang="en-US" sz="1688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br>
              <a:rPr lang="en-US" altLang="en-US" sz="1688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1688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</a:t>
            </a:r>
            <a:r>
              <a:rPr lang="en-US" altLang="en-US" sz="1688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public </a:t>
            </a:r>
            <a:r>
              <a:rPr lang="en-US" altLang="en-US" sz="1688" b="1" dirty="0" err="1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boolean</a:t>
            </a:r>
            <a:r>
              <a:rPr lang="en-US" altLang="en-US" sz="1688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 </a:t>
            </a:r>
            <a:r>
              <a:rPr lang="en-US" altLang="en-US" sz="1688" b="1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is</a:t>
            </a:r>
            <a:r>
              <a:rPr lang="en-US" altLang="en-US" sz="1688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InCurrentProductLine</a:t>
            </a:r>
            <a:r>
              <a:rPr lang="en-US" altLang="en-US" sz="1688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() {</a:t>
            </a:r>
            <a:br>
              <a:rPr lang="en-US" altLang="en-US" sz="1688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1688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   </a:t>
            </a:r>
            <a:r>
              <a:rPr lang="en-US" altLang="en-US" sz="1688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return </a:t>
            </a:r>
            <a:r>
              <a:rPr lang="en-US" altLang="en-US" sz="1688" b="1" dirty="0" err="1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inCurrentProductLine</a:t>
            </a:r>
            <a:r>
              <a:rPr lang="en-US" altLang="en-US" sz="1688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;</a:t>
            </a:r>
            <a:br>
              <a:rPr lang="en-US" altLang="en-US" sz="1688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1688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}</a:t>
            </a:r>
            <a:endParaRPr lang="en-US" altLang="en-US" sz="3300" dirty="0">
              <a:latin typeface="Monaco" pitchFamily="2" charset="77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4D59F0-08B6-0F78-9D91-A3FC1829F0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7F0FF9-34D7-9453-1ECB-F0FA580FAD38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22</a:t>
            </a:fld>
            <a:endParaRPr lang="en-IE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4721389-0600-1637-DA99-C7FE06535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6" y="0"/>
            <a:ext cx="7772401" cy="761815"/>
          </a:xfrm>
        </p:spPr>
        <p:txBody>
          <a:bodyPr>
            <a:normAutofit/>
          </a:bodyPr>
          <a:lstStyle/>
          <a:p>
            <a:r>
              <a:rPr lang="en-IE" dirty="0"/>
              <a:t>A </a:t>
            </a:r>
            <a:r>
              <a:rPr lang="en-IE" b="1" dirty="0">
                <a:latin typeface="Monaco" pitchFamily="2" charset="77"/>
              </a:rPr>
              <a:t>Product</a:t>
            </a:r>
            <a:r>
              <a:rPr lang="en-IE" dirty="0"/>
              <a:t> Class… </a:t>
            </a:r>
            <a:r>
              <a:rPr lang="en-IE" b="1" dirty="0"/>
              <a:t>getters</a:t>
            </a:r>
            <a:endParaRPr lang="en-IE" sz="2800" b="1" dirty="0"/>
          </a:p>
        </p:txBody>
      </p:sp>
    </p:spTree>
    <p:extLst>
      <p:ext uri="{BB962C8B-B14F-4D97-AF65-F5344CB8AC3E}">
        <p14:creationId xmlns:p14="http://schemas.microsoft.com/office/powerpoint/2010/main" val="2837842169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371600" y="2498599"/>
            <a:ext cx="1657350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800" b="1" dirty="0"/>
              <a:t>set</a:t>
            </a:r>
            <a:r>
              <a:rPr lang="en-IE" sz="1800" dirty="0"/>
              <a:t>ters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AE6AF8B-5811-487C-98AB-286B6F721A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3350" y="875047"/>
            <a:ext cx="3886201" cy="389919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68E9ECC-112E-40DC-84EA-6A19D160A5D2}"/>
              </a:ext>
            </a:extLst>
          </p:cNvPr>
          <p:cNvSpPr/>
          <p:nvPr/>
        </p:nvSpPr>
        <p:spPr>
          <a:xfrm>
            <a:off x="4244231" y="2441448"/>
            <a:ext cx="3528170" cy="10287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688"/>
          </a:p>
        </p:txBody>
      </p:sp>
      <p:cxnSp>
        <p:nvCxnSpPr>
          <p:cNvPr id="11" name="Straight Arrow Connector 10"/>
          <p:cNvCxnSpPr>
            <a:cxnSpLocks/>
            <a:stCxn id="5" idx="3"/>
          </p:cNvCxnSpPr>
          <p:nvPr/>
        </p:nvCxnSpPr>
        <p:spPr>
          <a:xfrm>
            <a:off x="3028950" y="2683265"/>
            <a:ext cx="1215281" cy="329684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DA9219-F499-37FF-8AF7-B160865ED3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9E8EF-33B7-9610-3799-F974C1C435CC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23</a:t>
            </a:fld>
            <a:endParaRPr lang="en-IE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4D32744-1B69-FE7F-659D-87F8C1273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6" y="0"/>
            <a:ext cx="7772401" cy="761815"/>
          </a:xfrm>
        </p:spPr>
        <p:txBody>
          <a:bodyPr>
            <a:normAutofit/>
          </a:bodyPr>
          <a:lstStyle/>
          <a:p>
            <a:r>
              <a:rPr lang="en-IE" dirty="0"/>
              <a:t>A </a:t>
            </a:r>
            <a:r>
              <a:rPr lang="en-IE" b="1" dirty="0">
                <a:latin typeface="Monaco" pitchFamily="2" charset="77"/>
              </a:rPr>
              <a:t>Product</a:t>
            </a:r>
            <a:r>
              <a:rPr lang="en-IE" dirty="0"/>
              <a:t> Class… </a:t>
            </a:r>
            <a:r>
              <a:rPr lang="en-IE" b="1" dirty="0"/>
              <a:t>setters</a:t>
            </a:r>
            <a:endParaRPr lang="en-IE" sz="2800" b="1" dirty="0"/>
          </a:p>
        </p:txBody>
      </p:sp>
    </p:spTree>
    <p:extLst>
      <p:ext uri="{BB962C8B-B14F-4D97-AF65-F5344CB8AC3E}">
        <p14:creationId xmlns:p14="http://schemas.microsoft.com/office/powerpoint/2010/main" val="3454362742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b="1" dirty="0"/>
              <a:t>Set</a:t>
            </a:r>
            <a:r>
              <a:rPr lang="en-IE" dirty="0"/>
              <a:t>ters (</a:t>
            </a:r>
            <a:r>
              <a:rPr lang="en-IE" dirty="0" err="1"/>
              <a:t>Mutator</a:t>
            </a:r>
            <a:r>
              <a:rPr lang="en-IE" dirty="0"/>
              <a:t> methods)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800" b="1" dirty="0" err="1">
                <a:solidFill>
                  <a:srgbClr val="00B050"/>
                </a:solidFill>
              </a:rPr>
              <a:t>Mutator</a:t>
            </a:r>
            <a:r>
              <a:rPr lang="en-US" sz="2800" dirty="0"/>
              <a:t> methods </a:t>
            </a:r>
          </a:p>
          <a:p>
            <a:pPr lvl="1"/>
            <a:r>
              <a:rPr lang="en-US" sz="2800" dirty="0"/>
              <a:t>change (i.e. mutate) an object’s state.</a:t>
            </a:r>
          </a:p>
          <a:p>
            <a:endParaRPr lang="en-US" sz="2800" dirty="0"/>
          </a:p>
          <a:p>
            <a:r>
              <a:rPr lang="en-US" sz="2800" dirty="0"/>
              <a:t>A </a:t>
            </a:r>
            <a:r>
              <a:rPr lang="en-US" sz="2800" dirty="0">
                <a:solidFill>
                  <a:srgbClr val="FF0000"/>
                </a:solidFill>
              </a:rPr>
              <a:t>‘setter’ </a:t>
            </a:r>
            <a:r>
              <a:rPr lang="en-US" sz="2800" dirty="0"/>
              <a:t>method </a:t>
            </a:r>
          </a:p>
          <a:p>
            <a:pPr lvl="1"/>
            <a:r>
              <a:rPr lang="en-US" sz="2800" dirty="0"/>
              <a:t>is a specific type of </a:t>
            </a:r>
            <a:r>
              <a:rPr lang="en-US" sz="2800" b="1" dirty="0" err="1">
                <a:solidFill>
                  <a:srgbClr val="00B050"/>
                </a:solidFill>
              </a:rPr>
              <a:t>mutator</a:t>
            </a:r>
            <a:r>
              <a:rPr lang="en-US" sz="2800" dirty="0"/>
              <a:t> method and typically:</a:t>
            </a:r>
          </a:p>
          <a:p>
            <a:pPr lvl="2"/>
            <a:r>
              <a:rPr lang="en-US" sz="2800" dirty="0"/>
              <a:t>contains an </a:t>
            </a:r>
            <a:r>
              <a:rPr lang="en-US" sz="2800" b="1" dirty="0"/>
              <a:t>assignment statement </a:t>
            </a:r>
          </a:p>
          <a:p>
            <a:pPr lvl="2"/>
            <a:r>
              <a:rPr lang="en-US" sz="2800" dirty="0"/>
              <a:t>takes in a </a:t>
            </a:r>
            <a:r>
              <a:rPr lang="en-US" sz="2800" b="1" dirty="0"/>
              <a:t>parameter</a:t>
            </a:r>
          </a:p>
          <a:p>
            <a:pPr lvl="2"/>
            <a:r>
              <a:rPr lang="en-US" sz="2800" b="1" dirty="0"/>
              <a:t>changes the object state</a:t>
            </a:r>
            <a:r>
              <a:rPr lang="en-US" sz="2800" dirty="0"/>
              <a:t>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B494D1-7756-669B-9C20-FC01E447EF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C3155B-6292-B99B-9010-712C0D807D38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24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838253201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Setters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C6F1BB-E8EA-F607-5CBE-A0C217243E8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717A1D8-1784-E57A-A570-FACB65B2E3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https://www.java.com</a:t>
            </a:r>
          </a:p>
        </p:txBody>
      </p:sp>
      <p:sp>
        <p:nvSpPr>
          <p:cNvPr id="19459" name="Text Box 3"/>
          <p:cNvSpPr txBox="1">
            <a:spLocks noChangeArrowheads="1"/>
          </p:cNvSpPr>
          <p:nvPr/>
        </p:nvSpPr>
        <p:spPr bwMode="auto">
          <a:xfrm>
            <a:off x="1943101" y="2402682"/>
            <a:ext cx="5698996" cy="1200329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1" hangingPunct="1"/>
            <a:r>
              <a:rPr lang="en-US" sz="1800" dirty="0">
                <a:latin typeface="Monaco" pitchFamily="2" charset="77"/>
                <a:cs typeface="Times" pitchFamily="-32" charset="0"/>
              </a:rPr>
              <a:t>public void </a:t>
            </a:r>
            <a:r>
              <a:rPr lang="en-US" sz="1800" dirty="0" err="1">
                <a:latin typeface="Monaco" pitchFamily="2" charset="77"/>
                <a:cs typeface="Times" pitchFamily="-32" charset="0"/>
              </a:rPr>
              <a:t>setUnitCost</a:t>
            </a:r>
            <a:r>
              <a:rPr lang="en-US" sz="1800" dirty="0">
                <a:latin typeface="Monaco" pitchFamily="2" charset="77"/>
                <a:cs typeface="Times" pitchFamily="-32" charset="0"/>
              </a:rPr>
              <a:t>(double </a:t>
            </a:r>
            <a:r>
              <a:rPr lang="en-US" sz="1800" dirty="0" err="1">
                <a:latin typeface="Monaco" pitchFamily="2" charset="77"/>
                <a:cs typeface="Times" pitchFamily="-32" charset="0"/>
              </a:rPr>
              <a:t>unitCost</a:t>
            </a:r>
            <a:r>
              <a:rPr lang="en-US" sz="1800" dirty="0">
                <a:latin typeface="Monaco" pitchFamily="2" charset="77"/>
                <a:cs typeface="Times" pitchFamily="-32" charset="0"/>
              </a:rPr>
              <a:t>)</a:t>
            </a:r>
          </a:p>
          <a:p>
            <a:pPr algn="l" eaLnBrk="1" hangingPunct="1"/>
            <a:r>
              <a:rPr lang="en-US" sz="1800" dirty="0">
                <a:latin typeface="Monaco" pitchFamily="2" charset="77"/>
                <a:cs typeface="Times" pitchFamily="-32" charset="0"/>
              </a:rPr>
              <a:t>{</a:t>
            </a:r>
          </a:p>
          <a:p>
            <a:pPr algn="l" eaLnBrk="1" hangingPunct="1"/>
            <a:r>
              <a:rPr lang="en-US" sz="1800" dirty="0">
                <a:latin typeface="Monaco" pitchFamily="2" charset="77"/>
                <a:cs typeface="Times" pitchFamily="-32" charset="0"/>
              </a:rPr>
              <a:t>    </a:t>
            </a:r>
            <a:r>
              <a:rPr lang="en-US" sz="1800" dirty="0" err="1">
                <a:latin typeface="Monaco" pitchFamily="2" charset="77"/>
                <a:cs typeface="Times" pitchFamily="-32" charset="0"/>
              </a:rPr>
              <a:t>this.unitCost</a:t>
            </a:r>
            <a:r>
              <a:rPr lang="en-US" sz="1800" dirty="0">
                <a:latin typeface="Monaco" pitchFamily="2" charset="77"/>
                <a:cs typeface="Times" pitchFamily="-32" charset="0"/>
              </a:rPr>
              <a:t> = </a:t>
            </a:r>
            <a:r>
              <a:rPr lang="en-US" sz="1800" dirty="0" err="1">
                <a:latin typeface="Monaco" pitchFamily="2" charset="77"/>
                <a:cs typeface="Times" pitchFamily="-32" charset="0"/>
              </a:rPr>
              <a:t>unitCost</a:t>
            </a:r>
            <a:r>
              <a:rPr lang="en-US" sz="1800" dirty="0">
                <a:latin typeface="Monaco" pitchFamily="2" charset="77"/>
                <a:cs typeface="Times" pitchFamily="-32" charset="0"/>
              </a:rPr>
              <a:t>;</a:t>
            </a:r>
          </a:p>
          <a:p>
            <a:pPr algn="l" eaLnBrk="1" hangingPunct="1"/>
            <a:r>
              <a:rPr lang="en-US" sz="1800" dirty="0">
                <a:latin typeface="Monaco" pitchFamily="2" charset="77"/>
                <a:cs typeface="Times" pitchFamily="-32" charset="0"/>
              </a:rPr>
              <a:t>}</a:t>
            </a:r>
            <a:r>
              <a:rPr lang="en-US" sz="1800" dirty="0">
                <a:latin typeface="Monaco" pitchFamily="2" charset="77"/>
              </a:rPr>
              <a:t> </a:t>
            </a:r>
          </a:p>
        </p:txBody>
      </p:sp>
      <p:sp>
        <p:nvSpPr>
          <p:cNvPr id="19460" name="Text Box 4"/>
          <p:cNvSpPr txBox="1">
            <a:spLocks noChangeArrowheads="1"/>
          </p:cNvSpPr>
          <p:nvPr/>
        </p:nvSpPr>
        <p:spPr bwMode="auto">
          <a:xfrm>
            <a:off x="3028951" y="1314450"/>
            <a:ext cx="1114408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1" hangingPunct="1"/>
            <a:r>
              <a:rPr lang="en-US" sz="1500" dirty="0">
                <a:solidFill>
                  <a:srgbClr val="A57133"/>
                </a:solidFill>
              </a:rPr>
              <a:t>return type</a:t>
            </a:r>
          </a:p>
        </p:txBody>
      </p:sp>
      <p:sp>
        <p:nvSpPr>
          <p:cNvPr id="19461" name="Text Box 5"/>
          <p:cNvSpPr txBox="1">
            <a:spLocks noChangeArrowheads="1"/>
          </p:cNvSpPr>
          <p:nvPr/>
        </p:nvSpPr>
        <p:spPr bwMode="auto">
          <a:xfrm>
            <a:off x="4117182" y="1714500"/>
            <a:ext cx="1372492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1" hangingPunct="1"/>
            <a:r>
              <a:rPr lang="en-US" sz="1500" dirty="0">
                <a:solidFill>
                  <a:srgbClr val="A57133"/>
                </a:solidFill>
              </a:rPr>
              <a:t>method name</a:t>
            </a:r>
          </a:p>
        </p:txBody>
      </p:sp>
      <p:sp>
        <p:nvSpPr>
          <p:cNvPr id="19462" name="Text Box 6"/>
          <p:cNvSpPr txBox="1">
            <a:spLocks noChangeArrowheads="1"/>
          </p:cNvSpPr>
          <p:nvPr/>
        </p:nvSpPr>
        <p:spPr bwMode="auto">
          <a:xfrm>
            <a:off x="6343650" y="1714500"/>
            <a:ext cx="1072730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1" hangingPunct="1"/>
            <a:r>
              <a:rPr lang="en-US" sz="1500" dirty="0">
                <a:solidFill>
                  <a:srgbClr val="A57133"/>
                </a:solidFill>
              </a:rPr>
              <a:t>parameter</a:t>
            </a:r>
          </a:p>
        </p:txBody>
      </p:sp>
      <p:sp>
        <p:nvSpPr>
          <p:cNvPr id="19463" name="Line 7"/>
          <p:cNvSpPr>
            <a:spLocks noChangeShapeType="1"/>
          </p:cNvSpPr>
          <p:nvPr/>
        </p:nvSpPr>
        <p:spPr bwMode="auto">
          <a:xfrm flipH="1">
            <a:off x="3201591" y="1600201"/>
            <a:ext cx="341710" cy="85129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 sz="1688"/>
          </a:p>
        </p:txBody>
      </p:sp>
      <p:sp>
        <p:nvSpPr>
          <p:cNvPr id="19464" name="Line 8"/>
          <p:cNvSpPr>
            <a:spLocks noChangeShapeType="1"/>
          </p:cNvSpPr>
          <p:nvPr/>
        </p:nvSpPr>
        <p:spPr bwMode="auto">
          <a:xfrm flipH="1">
            <a:off x="4457700" y="2000250"/>
            <a:ext cx="342900" cy="45124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 sz="1688"/>
          </a:p>
        </p:txBody>
      </p:sp>
      <p:sp>
        <p:nvSpPr>
          <p:cNvPr id="19465" name="Line 9"/>
          <p:cNvSpPr>
            <a:spLocks noChangeShapeType="1"/>
          </p:cNvSpPr>
          <p:nvPr/>
        </p:nvSpPr>
        <p:spPr bwMode="auto">
          <a:xfrm flipH="1">
            <a:off x="6667500" y="2015228"/>
            <a:ext cx="200025" cy="37435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 sz="1688"/>
          </a:p>
        </p:txBody>
      </p:sp>
      <p:sp>
        <p:nvSpPr>
          <p:cNvPr id="19466" name="Text Box 10"/>
          <p:cNvSpPr txBox="1">
            <a:spLocks noChangeArrowheads="1"/>
          </p:cNvSpPr>
          <p:nvPr/>
        </p:nvSpPr>
        <p:spPr bwMode="auto">
          <a:xfrm>
            <a:off x="1371601" y="1702594"/>
            <a:ext cx="1608133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1" hangingPunct="1"/>
            <a:r>
              <a:rPr lang="en-US" sz="1500" dirty="0">
                <a:solidFill>
                  <a:srgbClr val="A57133"/>
                </a:solidFill>
              </a:rPr>
              <a:t>visibility modifier</a:t>
            </a:r>
          </a:p>
        </p:txBody>
      </p:sp>
      <p:sp>
        <p:nvSpPr>
          <p:cNvPr id="19467" name="Line 11"/>
          <p:cNvSpPr>
            <a:spLocks noChangeShapeType="1"/>
          </p:cNvSpPr>
          <p:nvPr/>
        </p:nvSpPr>
        <p:spPr bwMode="auto">
          <a:xfrm>
            <a:off x="2228851" y="2000251"/>
            <a:ext cx="98822" cy="38933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 sz="1688"/>
          </a:p>
        </p:txBody>
      </p:sp>
      <p:sp>
        <p:nvSpPr>
          <p:cNvPr id="19468" name="Text Box 12"/>
          <p:cNvSpPr txBox="1">
            <a:spLocks noChangeArrowheads="1"/>
          </p:cNvSpPr>
          <p:nvPr/>
        </p:nvSpPr>
        <p:spPr bwMode="auto">
          <a:xfrm>
            <a:off x="4182121" y="3771900"/>
            <a:ext cx="1233030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1" hangingPunct="1"/>
            <a:r>
              <a:rPr lang="en-US" sz="1500" dirty="0">
                <a:solidFill>
                  <a:srgbClr val="A57133"/>
                </a:solidFill>
              </a:rPr>
              <a:t>assignment </a:t>
            </a:r>
          </a:p>
          <a:p>
            <a:pPr algn="l" eaLnBrk="1" hangingPunct="1"/>
            <a:r>
              <a:rPr lang="en-US" sz="1500" dirty="0">
                <a:solidFill>
                  <a:srgbClr val="A57133"/>
                </a:solidFill>
              </a:rPr>
              <a:t>statement</a:t>
            </a:r>
          </a:p>
        </p:txBody>
      </p:sp>
      <p:sp>
        <p:nvSpPr>
          <p:cNvPr id="19469" name="Line 13"/>
          <p:cNvSpPr>
            <a:spLocks noChangeShapeType="1"/>
          </p:cNvSpPr>
          <p:nvPr/>
        </p:nvSpPr>
        <p:spPr bwMode="auto">
          <a:xfrm flipH="1" flipV="1">
            <a:off x="4551426" y="3216452"/>
            <a:ext cx="0" cy="58011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 algn="ctr" defTabSz="366737" rtl="0"/>
            <a:endParaRPr lang="en-IE" sz="1688"/>
          </a:p>
        </p:txBody>
      </p:sp>
      <p:sp>
        <p:nvSpPr>
          <p:cNvPr id="19470" name="Text Box 14"/>
          <p:cNvSpPr txBox="1">
            <a:spLocks noChangeArrowheads="1"/>
          </p:cNvSpPr>
          <p:nvPr/>
        </p:nvSpPr>
        <p:spPr bwMode="auto">
          <a:xfrm>
            <a:off x="2243891" y="3817144"/>
            <a:ext cx="1851789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1" hangingPunct="1"/>
            <a:r>
              <a:rPr lang="en-US" sz="1500" dirty="0">
                <a:solidFill>
                  <a:srgbClr val="A57133"/>
                </a:solidFill>
              </a:rPr>
              <a:t>field being mutated</a:t>
            </a:r>
          </a:p>
        </p:txBody>
      </p:sp>
      <p:sp>
        <p:nvSpPr>
          <p:cNvPr id="19471" name="Line 15"/>
          <p:cNvSpPr>
            <a:spLocks noChangeShapeType="1"/>
          </p:cNvSpPr>
          <p:nvPr/>
        </p:nvSpPr>
        <p:spPr bwMode="auto">
          <a:xfrm flipV="1">
            <a:off x="3201589" y="3257550"/>
            <a:ext cx="284561" cy="50244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 sz="1688"/>
          </a:p>
        </p:txBody>
      </p:sp>
      <p:sp>
        <p:nvSpPr>
          <p:cNvPr id="16" name="Text Box 12"/>
          <p:cNvSpPr txBox="1">
            <a:spLocks noChangeArrowheads="1"/>
          </p:cNvSpPr>
          <p:nvPr/>
        </p:nvSpPr>
        <p:spPr bwMode="auto">
          <a:xfrm>
            <a:off x="5657851" y="3812485"/>
            <a:ext cx="1489510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1" hangingPunct="1"/>
            <a:r>
              <a:rPr lang="en-US" sz="1500" dirty="0">
                <a:solidFill>
                  <a:srgbClr val="A57133"/>
                </a:solidFill>
              </a:rPr>
              <a:t>Value passed </a:t>
            </a:r>
          </a:p>
          <a:p>
            <a:pPr algn="l" eaLnBrk="1" hangingPunct="1"/>
            <a:r>
              <a:rPr lang="en-US" sz="1500" dirty="0">
                <a:solidFill>
                  <a:srgbClr val="A57133"/>
                </a:solidFill>
              </a:rPr>
              <a:t>as a parameter</a:t>
            </a:r>
          </a:p>
        </p:txBody>
      </p:sp>
      <p:sp>
        <p:nvSpPr>
          <p:cNvPr id="17" name="Line 13"/>
          <p:cNvSpPr>
            <a:spLocks noChangeShapeType="1"/>
          </p:cNvSpPr>
          <p:nvPr/>
        </p:nvSpPr>
        <p:spPr bwMode="auto">
          <a:xfrm flipH="1" flipV="1">
            <a:off x="5257801" y="3257549"/>
            <a:ext cx="732779" cy="54303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 sz="1688"/>
          </a:p>
        </p:txBody>
      </p:sp>
    </p:spTree>
    <p:extLst>
      <p:ext uri="{BB962C8B-B14F-4D97-AF65-F5344CB8AC3E}">
        <p14:creationId xmlns:p14="http://schemas.microsoft.com/office/powerpoint/2010/main" val="102882488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0" grpId="0"/>
      <p:bldP spid="19461" grpId="0"/>
      <p:bldP spid="19462" grpId="0"/>
      <p:bldP spid="19463" grpId="0" animBg="1"/>
      <p:bldP spid="19464" grpId="0" animBg="1"/>
      <p:bldP spid="19465" grpId="0" animBg="1"/>
      <p:bldP spid="19466" grpId="0"/>
      <p:bldP spid="19467" grpId="0" animBg="1"/>
      <p:bldP spid="19468" grpId="0"/>
      <p:bldP spid="19469" grpId="0" animBg="1"/>
      <p:bldP spid="19470" grpId="0"/>
      <p:bldP spid="19471" grpId="0" animBg="1"/>
      <p:bldP spid="16" grpId="0"/>
      <p:bldP spid="1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3E5E4DE5-B8FA-423C-91A0-50537A3395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350" y="919066"/>
            <a:ext cx="8472512" cy="376256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public void </a:t>
            </a:r>
            <a:r>
              <a:rPr lang="en-US" altLang="en-US" sz="1600" b="1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set</a:t>
            </a:r>
            <a:r>
              <a:rPr lang="en-US" altLang="en-US" sz="16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ProductCode</a:t>
            </a:r>
            <a:r>
              <a:rPr lang="en-US" altLang="en-US" sz="16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(</a:t>
            </a:r>
            <a:r>
              <a:rPr lang="en-US" altLang="en-US" sz="1600" b="1" dirty="0" err="1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int</a:t>
            </a:r>
            <a:r>
              <a:rPr lang="en-US" altLang="en-US" sz="1600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 </a:t>
            </a:r>
            <a:r>
              <a:rPr lang="en-US" altLang="en-US" sz="16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productCode</a:t>
            </a:r>
            <a:r>
              <a:rPr lang="en-US" altLang="en-US" sz="16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) {</a:t>
            </a:r>
            <a:br>
              <a:rPr lang="en-US" altLang="en-US" sz="16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</a:t>
            </a:r>
            <a:r>
              <a:rPr lang="en-US" altLang="en-US" sz="1600" b="1" dirty="0" err="1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this</a:t>
            </a:r>
            <a:r>
              <a:rPr lang="en-US" altLang="en-US" sz="16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.</a:t>
            </a:r>
            <a:r>
              <a:rPr lang="en-US" altLang="en-US" sz="1600" b="1" dirty="0" err="1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productCode</a:t>
            </a:r>
            <a:r>
              <a:rPr lang="en-US" altLang="en-US" sz="1600" b="1" dirty="0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 </a:t>
            </a:r>
            <a:r>
              <a:rPr lang="en-US" altLang="en-US" sz="16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= </a:t>
            </a:r>
            <a:r>
              <a:rPr lang="en-US" altLang="en-US" sz="16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productCode</a:t>
            </a:r>
            <a:r>
              <a:rPr lang="en-US" altLang="en-US" sz="16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;</a:t>
            </a:r>
            <a:br>
              <a:rPr lang="en-US" altLang="en-US" sz="16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}</a:t>
            </a:r>
            <a:br>
              <a:rPr lang="en-US" altLang="en-US" sz="16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br>
              <a:rPr lang="en-US" altLang="en-US" sz="16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1600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public void </a:t>
            </a:r>
            <a:r>
              <a:rPr lang="en-US" altLang="en-US" sz="1600" b="1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set</a:t>
            </a:r>
            <a:r>
              <a:rPr lang="en-US" altLang="en-US" sz="16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ProductName</a:t>
            </a:r>
            <a:r>
              <a:rPr lang="en-US" altLang="en-US" sz="16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(String </a:t>
            </a:r>
            <a:r>
              <a:rPr lang="en-US" altLang="en-US" sz="16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productName</a:t>
            </a:r>
            <a:r>
              <a:rPr lang="en-US" altLang="en-US" sz="16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) {</a:t>
            </a:r>
            <a:br>
              <a:rPr lang="en-US" altLang="en-US" sz="16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</a:t>
            </a:r>
            <a:r>
              <a:rPr lang="en-US" altLang="en-US" sz="1600" b="1" dirty="0" err="1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this</a:t>
            </a:r>
            <a:r>
              <a:rPr lang="en-US" altLang="en-US" sz="16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.</a:t>
            </a:r>
            <a:r>
              <a:rPr lang="en-US" altLang="en-US" sz="1600" b="1" dirty="0" err="1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productName</a:t>
            </a:r>
            <a:r>
              <a:rPr lang="en-US" altLang="en-US" sz="1600" b="1" dirty="0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 </a:t>
            </a:r>
            <a:r>
              <a:rPr lang="en-US" altLang="en-US" sz="16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= </a:t>
            </a:r>
            <a:r>
              <a:rPr lang="en-US" altLang="en-US" sz="16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productName</a:t>
            </a:r>
            <a:r>
              <a:rPr lang="en-US" altLang="en-US" sz="16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;</a:t>
            </a:r>
            <a:br>
              <a:rPr lang="en-US" altLang="en-US" sz="16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}</a:t>
            </a:r>
            <a:br>
              <a:rPr lang="en-US" altLang="en-US" sz="16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br>
              <a:rPr lang="en-US" altLang="en-US" sz="16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1600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public void </a:t>
            </a:r>
            <a:r>
              <a:rPr lang="en-US" altLang="en-US" sz="1600" b="1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set</a:t>
            </a:r>
            <a:r>
              <a:rPr lang="en-US" altLang="en-US" sz="16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UnitCost</a:t>
            </a:r>
            <a:r>
              <a:rPr lang="en-US" altLang="en-US" sz="16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(</a:t>
            </a:r>
            <a:r>
              <a:rPr lang="en-US" altLang="en-US" sz="1600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double </a:t>
            </a:r>
            <a:r>
              <a:rPr lang="en-US" altLang="en-US" sz="16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unitCost</a:t>
            </a:r>
            <a:r>
              <a:rPr lang="en-US" altLang="en-US" sz="16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) {</a:t>
            </a:r>
            <a:br>
              <a:rPr lang="en-US" altLang="en-US" sz="16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</a:t>
            </a:r>
            <a:r>
              <a:rPr lang="en-US" altLang="en-US" sz="1600" b="1" dirty="0" err="1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this</a:t>
            </a:r>
            <a:r>
              <a:rPr lang="en-US" altLang="en-US" sz="16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.</a:t>
            </a:r>
            <a:r>
              <a:rPr lang="en-US" altLang="en-US" sz="1600" b="1" dirty="0" err="1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unitCost</a:t>
            </a:r>
            <a:r>
              <a:rPr lang="en-US" altLang="en-US" sz="1600" b="1" dirty="0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 </a:t>
            </a:r>
            <a:r>
              <a:rPr lang="en-US" altLang="en-US" sz="16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= </a:t>
            </a:r>
            <a:r>
              <a:rPr lang="en-US" altLang="en-US" sz="16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unitCost</a:t>
            </a:r>
            <a:r>
              <a:rPr lang="en-US" altLang="en-US" sz="16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;</a:t>
            </a:r>
            <a:br>
              <a:rPr lang="en-US" altLang="en-US" sz="16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}</a:t>
            </a:r>
            <a:br>
              <a:rPr lang="en-US" altLang="en-US" sz="16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br>
              <a:rPr lang="en-US" altLang="en-US" sz="16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1600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public void </a:t>
            </a:r>
            <a:r>
              <a:rPr lang="en-US" altLang="en-US" sz="1600" b="1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set</a:t>
            </a:r>
            <a:r>
              <a:rPr lang="en-US" altLang="en-US" sz="16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InCurrentProductLine</a:t>
            </a:r>
            <a:r>
              <a:rPr lang="en-US" altLang="en-US" sz="16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(</a:t>
            </a:r>
            <a:r>
              <a:rPr lang="en-US" altLang="en-US" sz="1600" b="1" dirty="0" err="1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boolean</a:t>
            </a:r>
            <a:r>
              <a:rPr lang="en-US" altLang="en-US" sz="1600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 </a:t>
            </a:r>
            <a:r>
              <a:rPr lang="en-US" altLang="en-US" sz="16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inCurrentProductLine</a:t>
            </a:r>
            <a:r>
              <a:rPr lang="en-US" altLang="en-US" sz="16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) {</a:t>
            </a:r>
            <a:br>
              <a:rPr lang="en-US" altLang="en-US" sz="16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</a:t>
            </a:r>
            <a:r>
              <a:rPr lang="en-US" altLang="en-US" sz="1600" b="1" dirty="0" err="1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this</a:t>
            </a:r>
            <a:r>
              <a:rPr lang="en-US" altLang="en-US" sz="16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.</a:t>
            </a:r>
            <a:r>
              <a:rPr lang="en-US" altLang="en-US" sz="1600" b="1" dirty="0" err="1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inCurrentProductLine</a:t>
            </a:r>
            <a:r>
              <a:rPr lang="en-US" altLang="en-US" sz="1600" b="1" dirty="0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 </a:t>
            </a:r>
            <a:r>
              <a:rPr lang="en-US" altLang="en-US" sz="16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= </a:t>
            </a:r>
            <a:r>
              <a:rPr lang="en-US" altLang="en-US" sz="1600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inCurrentProductLine</a:t>
            </a:r>
            <a:r>
              <a:rPr lang="en-US" altLang="en-US" sz="16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;</a:t>
            </a:r>
            <a:br>
              <a:rPr lang="en-US" altLang="en-US" sz="16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}</a:t>
            </a:r>
            <a:endParaRPr lang="en-US" altLang="en-US" sz="3600" dirty="0">
              <a:latin typeface="Monaco" pitchFamily="2" charset="77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6D4876A-883A-A373-974E-2055CE53B2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6A76C9-E370-AB40-40E6-603E22AEF4FD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26</a:t>
            </a:fld>
            <a:endParaRPr lang="en-IE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1E70C7E-4D3C-432A-0F35-1C7AABBE5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6" y="0"/>
            <a:ext cx="7772401" cy="761815"/>
          </a:xfrm>
        </p:spPr>
        <p:txBody>
          <a:bodyPr>
            <a:normAutofit/>
          </a:bodyPr>
          <a:lstStyle/>
          <a:p>
            <a:r>
              <a:rPr lang="en-IE" dirty="0"/>
              <a:t>A </a:t>
            </a:r>
            <a:r>
              <a:rPr lang="en-IE" b="1" dirty="0">
                <a:latin typeface="Monaco" pitchFamily="2" charset="77"/>
              </a:rPr>
              <a:t>Product</a:t>
            </a:r>
            <a:r>
              <a:rPr lang="en-IE" dirty="0"/>
              <a:t> Class… </a:t>
            </a:r>
            <a:r>
              <a:rPr lang="en-IE" b="1" dirty="0"/>
              <a:t>setters</a:t>
            </a:r>
            <a:endParaRPr lang="en-IE" sz="2800" b="1" dirty="0"/>
          </a:p>
        </p:txBody>
      </p:sp>
    </p:spTree>
    <p:extLst>
      <p:ext uri="{BB962C8B-B14F-4D97-AF65-F5344CB8AC3E}">
        <p14:creationId xmlns:p14="http://schemas.microsoft.com/office/powerpoint/2010/main" val="3514641305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Getters/Setters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E" dirty="0"/>
              <a:t>For </a:t>
            </a:r>
            <a:r>
              <a:rPr lang="en-IE" dirty="0">
                <a:solidFill>
                  <a:srgbClr val="FF0000"/>
                </a:solidFill>
              </a:rPr>
              <a:t>each instance field </a:t>
            </a:r>
            <a:r>
              <a:rPr lang="en-IE" dirty="0"/>
              <a:t>in a class, you are normally asked to write: </a:t>
            </a:r>
          </a:p>
          <a:p>
            <a:pPr marL="0" indent="0">
              <a:buNone/>
            </a:pPr>
            <a:endParaRPr lang="en-IE" dirty="0"/>
          </a:p>
          <a:p>
            <a:pPr lvl="1"/>
            <a:r>
              <a:rPr lang="en-IE" sz="2800" dirty="0"/>
              <a:t>A </a:t>
            </a:r>
            <a:r>
              <a:rPr lang="en-IE" sz="2800" b="1" dirty="0"/>
              <a:t>get</a:t>
            </a:r>
            <a:r>
              <a:rPr lang="en-IE" sz="2800" dirty="0"/>
              <a:t>ter</a:t>
            </a:r>
          </a:p>
          <a:p>
            <a:pPr lvl="2"/>
            <a:r>
              <a:rPr lang="en-IE" sz="2800" dirty="0"/>
              <a:t>Return statement</a:t>
            </a:r>
          </a:p>
          <a:p>
            <a:pPr marL="342900" lvl="1" indent="0">
              <a:buNone/>
            </a:pPr>
            <a:endParaRPr lang="en-IE" sz="2800" dirty="0"/>
          </a:p>
          <a:p>
            <a:pPr lvl="1"/>
            <a:r>
              <a:rPr lang="en-IE" sz="2800" dirty="0"/>
              <a:t>A </a:t>
            </a:r>
            <a:r>
              <a:rPr lang="en-IE" sz="2800" b="1" dirty="0"/>
              <a:t>set</a:t>
            </a:r>
            <a:r>
              <a:rPr lang="en-IE" sz="2800" dirty="0"/>
              <a:t>ter</a:t>
            </a:r>
          </a:p>
          <a:p>
            <a:pPr lvl="2"/>
            <a:r>
              <a:rPr lang="en-IE" sz="2800" dirty="0"/>
              <a:t>Assignment statement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13CC09-AC3B-D250-546F-0180D4AB3D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FA64DE-3F5F-EA15-6750-313581898E0C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27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48582413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30937" y="1775089"/>
            <a:ext cx="3083814" cy="133882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800" b="1" dirty="0"/>
              <a:t>toString</a:t>
            </a:r>
            <a:r>
              <a:rPr lang="en-IE" sz="1800" dirty="0"/>
              <a:t>():</a:t>
            </a:r>
          </a:p>
          <a:p>
            <a:endParaRPr lang="en-IE" sz="1800" dirty="0"/>
          </a:p>
          <a:p>
            <a:r>
              <a:rPr lang="en-US" altLang="en-US" sz="1500" dirty="0">
                <a:solidFill>
                  <a:schemeClr val="tx1">
                    <a:lumMod val="65000"/>
                    <a:lumOff val="35000"/>
                  </a:schemeClr>
                </a:solidFill>
                <a:cs typeface="Courier New" panose="02070309020205020404" pitchFamily="49" charset="0"/>
              </a:rPr>
              <a:t>Builds and returns a String containing a user-friendly representation of the object state.</a:t>
            </a:r>
            <a:r>
              <a:rPr lang="en-IE" sz="15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AE6AF8B-5811-487C-98AB-286B6F721A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3350" y="868681"/>
            <a:ext cx="3886201" cy="389919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68E9ECC-112E-40DC-84EA-6A19D160A5D2}"/>
              </a:ext>
            </a:extLst>
          </p:cNvPr>
          <p:cNvSpPr/>
          <p:nvPr/>
        </p:nvSpPr>
        <p:spPr>
          <a:xfrm flipV="1">
            <a:off x="4244231" y="3440430"/>
            <a:ext cx="3528170" cy="2857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688"/>
          </a:p>
        </p:txBody>
      </p:sp>
      <p:cxnSp>
        <p:nvCxnSpPr>
          <p:cNvPr id="11" name="Straight Arrow Connector 10"/>
          <p:cNvCxnSpPr>
            <a:cxnSpLocks/>
            <a:stCxn id="5" idx="3"/>
          </p:cNvCxnSpPr>
          <p:nvPr/>
        </p:nvCxnSpPr>
        <p:spPr>
          <a:xfrm>
            <a:off x="3714751" y="2444503"/>
            <a:ext cx="529480" cy="1110228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FDCA1D-AAC4-03D5-A613-66D97F910F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0D419E-BAF3-1048-3B1C-DA97160C984E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28</a:t>
            </a:fld>
            <a:endParaRPr lang="en-IE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BB1EE065-65F9-07DC-AFD7-E051E09F2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6" y="0"/>
            <a:ext cx="7772401" cy="761815"/>
          </a:xfrm>
        </p:spPr>
        <p:txBody>
          <a:bodyPr>
            <a:normAutofit/>
          </a:bodyPr>
          <a:lstStyle/>
          <a:p>
            <a:r>
              <a:rPr lang="en-IE" dirty="0"/>
              <a:t>A </a:t>
            </a:r>
            <a:r>
              <a:rPr lang="en-IE" b="1" dirty="0">
                <a:latin typeface="Monaco" pitchFamily="2" charset="77"/>
              </a:rPr>
              <a:t>Product</a:t>
            </a:r>
            <a:r>
              <a:rPr lang="en-IE" dirty="0"/>
              <a:t> Class… </a:t>
            </a:r>
            <a:r>
              <a:rPr lang="en-IE" b="1" dirty="0" err="1"/>
              <a:t>toString</a:t>
            </a:r>
            <a:r>
              <a:rPr lang="en-IE" b="1" dirty="0"/>
              <a:t>()</a:t>
            </a:r>
            <a:endParaRPr lang="en-IE" sz="2800" b="1" dirty="0"/>
          </a:p>
        </p:txBody>
      </p:sp>
    </p:spTree>
    <p:extLst>
      <p:ext uri="{BB962C8B-B14F-4D97-AF65-F5344CB8AC3E}">
        <p14:creationId xmlns:p14="http://schemas.microsoft.com/office/powerpoint/2010/main" val="2450154611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D918E08B-06D1-49BE-84AD-151CD8A42D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629" y="862354"/>
            <a:ext cx="7877791" cy="2069797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public </a:t>
            </a:r>
            <a:r>
              <a:rPr lang="en-US" altLang="en-US" sz="14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String </a:t>
            </a:r>
            <a:r>
              <a:rPr lang="en-US" altLang="en-US" sz="1400" b="1" dirty="0" err="1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toString</a:t>
            </a:r>
            <a:r>
              <a:rPr lang="en-US" altLang="en-US" sz="14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()</a:t>
            </a:r>
            <a:br>
              <a:rPr lang="en-US" altLang="en-US" sz="14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14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{</a:t>
            </a:r>
            <a:br>
              <a:rPr lang="en-US" altLang="en-US" sz="14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14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    </a:t>
            </a:r>
            <a:r>
              <a:rPr lang="en-US" altLang="en-US" sz="1400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return </a:t>
            </a:r>
            <a:r>
              <a:rPr lang="en-US" altLang="en-US" sz="1400" b="1" dirty="0">
                <a:solidFill>
                  <a:srgbClr val="008000"/>
                </a:solidFill>
                <a:latin typeface="Monaco" pitchFamily="2" charset="77"/>
                <a:cs typeface="Courier New" panose="02070309020205020404" pitchFamily="49" charset="0"/>
              </a:rPr>
              <a:t>"Product description: " </a:t>
            </a:r>
            <a:r>
              <a:rPr lang="en-US" altLang="en-US" sz="14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+ </a:t>
            </a:r>
            <a:r>
              <a:rPr lang="en-US" altLang="en-US" sz="1400" b="1" dirty="0" err="1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productName</a:t>
            </a:r>
            <a:br>
              <a:rPr lang="en-US" altLang="en-US" sz="1400" b="1" dirty="0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1400" b="1" dirty="0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         </a:t>
            </a:r>
            <a:r>
              <a:rPr lang="en-US" altLang="en-US" sz="14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+ </a:t>
            </a:r>
            <a:r>
              <a:rPr lang="en-US" altLang="en-US" sz="1400" b="1" dirty="0">
                <a:solidFill>
                  <a:srgbClr val="008000"/>
                </a:solidFill>
                <a:latin typeface="Monaco" pitchFamily="2" charset="77"/>
                <a:cs typeface="Courier New" panose="02070309020205020404" pitchFamily="49" charset="0"/>
              </a:rPr>
              <a:t>", product code: " </a:t>
            </a:r>
            <a:r>
              <a:rPr lang="en-US" altLang="en-US" sz="14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+ </a:t>
            </a:r>
            <a:r>
              <a:rPr lang="en-US" altLang="en-US" sz="1400" b="1" dirty="0" err="1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productCode</a:t>
            </a:r>
            <a:br>
              <a:rPr lang="en-US" altLang="en-US" sz="1400" b="1" dirty="0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1400" b="1" dirty="0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         </a:t>
            </a:r>
            <a:r>
              <a:rPr lang="en-US" altLang="en-US" sz="14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+ </a:t>
            </a:r>
            <a:r>
              <a:rPr lang="en-US" altLang="en-US" sz="1400" b="1" dirty="0">
                <a:solidFill>
                  <a:srgbClr val="008000"/>
                </a:solidFill>
                <a:latin typeface="Monaco" pitchFamily="2" charset="77"/>
                <a:cs typeface="Courier New" panose="02070309020205020404" pitchFamily="49" charset="0"/>
              </a:rPr>
              <a:t>", unit cost: " </a:t>
            </a:r>
            <a:r>
              <a:rPr lang="en-US" altLang="en-US" sz="14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+ </a:t>
            </a:r>
            <a:r>
              <a:rPr lang="en-US" altLang="en-US" sz="1400" b="1" dirty="0" err="1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unitCost</a:t>
            </a:r>
            <a:br>
              <a:rPr lang="en-US" altLang="en-US" sz="1400" b="1" dirty="0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1400" b="1" dirty="0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         </a:t>
            </a:r>
            <a:r>
              <a:rPr lang="en-US" altLang="en-US" sz="14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+ </a:t>
            </a:r>
            <a:r>
              <a:rPr lang="en-US" altLang="en-US" sz="1400" b="1" dirty="0">
                <a:solidFill>
                  <a:srgbClr val="008000"/>
                </a:solidFill>
                <a:latin typeface="Monaco" pitchFamily="2" charset="77"/>
                <a:cs typeface="Courier New" panose="02070309020205020404" pitchFamily="49" charset="0"/>
              </a:rPr>
              <a:t>", currently in product line: " </a:t>
            </a:r>
            <a:r>
              <a:rPr lang="en-US" altLang="en-US" sz="14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+ </a:t>
            </a:r>
            <a:r>
              <a:rPr lang="en-US" altLang="en-US" sz="1400" b="1" dirty="0" err="1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inCurrentProductLine</a:t>
            </a:r>
            <a:r>
              <a:rPr lang="en-US" altLang="en-US" sz="14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;</a:t>
            </a:r>
            <a:br>
              <a:rPr lang="en-US" altLang="en-US" sz="14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r>
              <a:rPr lang="en-US" altLang="en-US" sz="14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}</a:t>
            </a:r>
            <a:br>
              <a:rPr lang="en-US" altLang="en-US" sz="14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</a:br>
            <a:endParaRPr lang="en-US" altLang="en-US" sz="3200" dirty="0">
              <a:latin typeface="Monaco" pitchFamily="2" charset="77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6C4941-38AF-4783-A313-6DE763E77B15}"/>
              </a:ext>
            </a:extLst>
          </p:cNvPr>
          <p:cNvSpPr/>
          <p:nvPr/>
        </p:nvSpPr>
        <p:spPr>
          <a:xfrm>
            <a:off x="797578" y="3459227"/>
            <a:ext cx="7548843" cy="1131335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en-IE" sz="1688" dirty="0"/>
          </a:p>
          <a:p>
            <a:r>
              <a:rPr lang="en-IE" sz="1688" dirty="0"/>
              <a:t>Product description: 24 Inch TV, product code: 23432, unit cost: 399.99, currently in product line: true</a:t>
            </a:r>
          </a:p>
          <a:p>
            <a:endParaRPr lang="en-IE" sz="1688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B18F78A-58CB-46D0-8CC7-40579D9A69E5}"/>
              </a:ext>
            </a:extLst>
          </p:cNvPr>
          <p:cNvSpPr/>
          <p:nvPr/>
        </p:nvSpPr>
        <p:spPr>
          <a:xfrm>
            <a:off x="683514" y="2542342"/>
            <a:ext cx="4457700" cy="651509"/>
          </a:xfrm>
          <a:prstGeom prst="roundRect">
            <a:avLst>
              <a:gd name="adj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500" dirty="0"/>
              <a:t>Sample Console Output if we printed a Product Object: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EA3EF4-3253-5798-2B4E-84803BA94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D2E0E3-9F11-74AF-9805-FAD2E8EAF288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29</a:t>
            </a:fld>
            <a:endParaRPr lang="en-IE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C688E9EA-13AE-17B7-BA07-FE9674DC0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6" y="0"/>
            <a:ext cx="7772401" cy="761815"/>
          </a:xfrm>
        </p:spPr>
        <p:txBody>
          <a:bodyPr>
            <a:normAutofit/>
          </a:bodyPr>
          <a:lstStyle/>
          <a:p>
            <a:r>
              <a:rPr lang="en-IE" dirty="0"/>
              <a:t>A </a:t>
            </a:r>
            <a:r>
              <a:rPr lang="en-IE" b="1" dirty="0">
                <a:latin typeface="Monaco" pitchFamily="2" charset="77"/>
              </a:rPr>
              <a:t>Product</a:t>
            </a:r>
            <a:r>
              <a:rPr lang="en-IE" dirty="0"/>
              <a:t> Class… </a:t>
            </a:r>
            <a:r>
              <a:rPr lang="en-IE" b="1" dirty="0" err="1"/>
              <a:t>toString</a:t>
            </a:r>
            <a:r>
              <a:rPr lang="en-IE" b="1" dirty="0"/>
              <a:t>()</a:t>
            </a:r>
            <a:endParaRPr lang="en-IE" sz="2800" b="1" dirty="0"/>
          </a:p>
        </p:txBody>
      </p:sp>
    </p:spTree>
    <p:extLst>
      <p:ext uri="{BB962C8B-B14F-4D97-AF65-F5344CB8AC3E}">
        <p14:creationId xmlns:p14="http://schemas.microsoft.com/office/powerpoint/2010/main" val="408277884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b="1" dirty="0">
                <a:latin typeface="Monaco" pitchFamily="2" charset="77"/>
              </a:rPr>
              <a:t>toString()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57250"/>
            <a:ext cx="8229600" cy="2514600"/>
          </a:xfrm>
        </p:spPr>
        <p:txBody>
          <a:bodyPr>
            <a:normAutofit/>
          </a:bodyPr>
          <a:lstStyle/>
          <a:p>
            <a:r>
              <a:rPr lang="en-US" dirty="0"/>
              <a:t>This is a useful method and you will write a </a:t>
            </a:r>
            <a:r>
              <a:rPr lang="en-US" b="1" dirty="0"/>
              <a:t>toString</a:t>
            </a:r>
            <a:r>
              <a:rPr lang="en-US" dirty="0"/>
              <a:t>() method for most of your classes.</a:t>
            </a:r>
          </a:p>
          <a:p>
            <a:r>
              <a:rPr lang="en-IE" b="1" dirty="0"/>
              <a:t>When you print an object, Java automatically calls the toString() method </a:t>
            </a:r>
            <a:br>
              <a:rPr lang="en-IE" b="1" dirty="0"/>
            </a:br>
            <a:r>
              <a:rPr lang="en-IE" dirty="0"/>
              <a:t>e.g.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77375" y="2935225"/>
            <a:ext cx="6704896" cy="1442703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en-IE" sz="1800" dirty="0">
                <a:solidFill>
                  <a:schemeClr val="tx1"/>
                </a:solidFill>
                <a:latin typeface="Monaco" pitchFamily="2" charset="77"/>
              </a:rPr>
              <a:t>Product </a:t>
            </a:r>
            <a:r>
              <a:rPr lang="en-IE" sz="1800" dirty="0" err="1">
                <a:solidFill>
                  <a:schemeClr val="tx1"/>
                </a:solidFill>
                <a:latin typeface="Monaco" pitchFamily="2" charset="77"/>
              </a:rPr>
              <a:t>product</a:t>
            </a:r>
            <a:r>
              <a:rPr lang="en-IE" sz="1800" dirty="0">
                <a:solidFill>
                  <a:schemeClr val="tx1"/>
                </a:solidFill>
                <a:latin typeface="Monaco" pitchFamily="2" charset="77"/>
              </a:rPr>
              <a:t> = new Product();</a:t>
            </a:r>
          </a:p>
          <a:p>
            <a:pPr algn="l"/>
            <a:endParaRPr lang="en-IE" sz="1575" dirty="0">
              <a:solidFill>
                <a:schemeClr val="tx1"/>
              </a:solidFill>
              <a:latin typeface="Monaco" pitchFamily="2" charset="77"/>
            </a:endParaRPr>
          </a:p>
          <a:p>
            <a:pPr algn="l"/>
            <a:r>
              <a:rPr lang="en-IE" sz="1800" dirty="0">
                <a:solidFill>
                  <a:schemeClr val="bg1">
                    <a:lumMod val="50000"/>
                  </a:schemeClr>
                </a:solidFill>
                <a:latin typeface="Monaco" pitchFamily="2" charset="77"/>
              </a:rPr>
              <a:t>//both of these lines of code do the same thing</a:t>
            </a:r>
          </a:p>
          <a:p>
            <a:pPr algn="l"/>
            <a:r>
              <a:rPr lang="en-IE" sz="1800" dirty="0" err="1">
                <a:solidFill>
                  <a:schemeClr val="tx1"/>
                </a:solidFill>
                <a:latin typeface="Monaco" pitchFamily="2" charset="77"/>
              </a:rPr>
              <a:t>System.out.println</a:t>
            </a:r>
            <a:r>
              <a:rPr lang="en-IE" sz="1800" dirty="0">
                <a:solidFill>
                  <a:schemeClr val="tx1"/>
                </a:solidFill>
                <a:latin typeface="Monaco" pitchFamily="2" charset="77"/>
              </a:rPr>
              <a:t>(product);</a:t>
            </a:r>
          </a:p>
          <a:p>
            <a:pPr algn="l"/>
            <a:r>
              <a:rPr lang="en-IE" sz="1800" dirty="0" err="1">
                <a:solidFill>
                  <a:schemeClr val="tx1"/>
                </a:solidFill>
                <a:latin typeface="Monaco" pitchFamily="2" charset="77"/>
              </a:rPr>
              <a:t>System.out.println</a:t>
            </a:r>
            <a:r>
              <a:rPr lang="en-IE" sz="1800" dirty="0">
                <a:solidFill>
                  <a:schemeClr val="tx1"/>
                </a:solidFill>
                <a:latin typeface="Monaco" pitchFamily="2" charset="77"/>
              </a:rPr>
              <a:t>(</a:t>
            </a:r>
            <a:r>
              <a:rPr lang="en-IE" sz="1800" dirty="0" err="1">
                <a:solidFill>
                  <a:schemeClr val="tx1"/>
                </a:solidFill>
                <a:latin typeface="Monaco" pitchFamily="2" charset="77"/>
              </a:rPr>
              <a:t>product.toString</a:t>
            </a:r>
            <a:r>
              <a:rPr lang="en-IE" sz="1800" dirty="0">
                <a:solidFill>
                  <a:schemeClr val="tx1"/>
                </a:solidFill>
                <a:latin typeface="Monaco" pitchFamily="2" charset="77"/>
              </a:rPr>
              <a:t>());</a:t>
            </a:r>
          </a:p>
        </p:txBody>
      </p:sp>
      <p:sp>
        <p:nvSpPr>
          <p:cNvPr id="4" name="5-Point Star 3"/>
          <p:cNvSpPr/>
          <p:nvPr/>
        </p:nvSpPr>
        <p:spPr>
          <a:xfrm>
            <a:off x="3351276" y="2114550"/>
            <a:ext cx="457200" cy="4572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66737" rtl="0"/>
            <a:endParaRPr lang="en-GB" sz="1688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7DF766-9F0C-EC5B-6312-DAB21CE863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7FC055-90B1-DE3F-9D10-99D4DD884E4A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30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44478818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Encapsulation in Java </a:t>
            </a:r>
            <a:r>
              <a:rPr lang="mr-IN" dirty="0"/>
              <a:t>–</a:t>
            </a:r>
            <a:r>
              <a:rPr lang="en-IE" dirty="0"/>
              <a:t> </a:t>
            </a:r>
            <a:r>
              <a:rPr lang="en-IE" b="1" dirty="0"/>
              <a:t>steps 1-3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6815214"/>
              </p:ext>
            </p:extLst>
          </p:nvPr>
        </p:nvGraphicFramePr>
        <p:xfrm>
          <a:off x="512064" y="941764"/>
          <a:ext cx="7829550" cy="2019749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3600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2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689"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1800" dirty="0"/>
                        <a:t>Encapsulation Step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8CB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800" dirty="0"/>
                        <a:t>Approach</a:t>
                      </a:r>
                      <a:r>
                        <a:rPr lang="en-IE" sz="1800" baseline="0" dirty="0"/>
                        <a:t> in Java</a:t>
                      </a:r>
                      <a:endParaRPr lang="en-IE" sz="18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8C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77340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1800" dirty="0"/>
                        <a:t>1. </a:t>
                      </a:r>
                      <a:r>
                        <a:rPr lang="en-IE" sz="1800" b="1" dirty="0">
                          <a:solidFill>
                            <a:srgbClr val="598CBE"/>
                          </a:solidFill>
                        </a:rPr>
                        <a:t>Wrap</a:t>
                      </a:r>
                      <a:r>
                        <a:rPr lang="en-IE" sz="1800" dirty="0"/>
                        <a:t> the data (fields) and code acting on the data (methods) together as single unit.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eaLnBrk="1" hangingPunct="1"/>
                      <a:r>
                        <a:rPr lang="en-US" sz="1700" b="1" dirty="0">
                          <a:solidFill>
                            <a:schemeClr val="tx1"/>
                          </a:solidFill>
                          <a:latin typeface="Monaco" pitchFamily="2" charset="77"/>
                          <a:cs typeface="Times" pitchFamily="-32" charset="0"/>
                        </a:rPr>
                        <a:t>public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  <a:latin typeface="Monaco" pitchFamily="2" charset="77"/>
                          <a:cs typeface="Times" pitchFamily="-32" charset="0"/>
                        </a:rPr>
                        <a:t> class </a:t>
                      </a:r>
                      <a:r>
                        <a:rPr lang="en-US" sz="1700" i="1" dirty="0" err="1">
                          <a:solidFill>
                            <a:schemeClr val="tx1"/>
                          </a:solidFill>
                          <a:latin typeface="Monaco" pitchFamily="2" charset="77"/>
                          <a:cs typeface="Times" pitchFamily="-32" charset="0"/>
                        </a:rPr>
                        <a:t>ClassName</a:t>
                      </a:r>
                      <a:endParaRPr lang="en-US" sz="1700" dirty="0">
                        <a:solidFill>
                          <a:schemeClr val="tx1"/>
                        </a:solidFill>
                        <a:latin typeface="Monaco" pitchFamily="2" charset="77"/>
                        <a:cs typeface="Times" pitchFamily="-32" charset="0"/>
                      </a:endParaRPr>
                    </a:p>
                    <a:p>
                      <a:pPr algn="l" eaLnBrk="1" hangingPunct="1"/>
                      <a:r>
                        <a:rPr lang="en-US" sz="1700" dirty="0">
                          <a:solidFill>
                            <a:schemeClr val="tx1"/>
                          </a:solidFill>
                          <a:latin typeface="Monaco" pitchFamily="2" charset="77"/>
                          <a:cs typeface="Times" pitchFamily="-32" charset="0"/>
                        </a:rPr>
                        <a:t>{</a:t>
                      </a:r>
                    </a:p>
                    <a:p>
                      <a:pPr algn="l" eaLnBrk="1" hangingPunct="1"/>
                      <a:r>
                        <a:rPr lang="en-US" sz="1700" dirty="0">
                          <a:solidFill>
                            <a:schemeClr val="tx1"/>
                          </a:solidFill>
                          <a:latin typeface="Monaco" pitchFamily="2" charset="77"/>
                          <a:cs typeface="Times" pitchFamily="-32" charset="0"/>
                        </a:rPr>
                        <a:t>  </a:t>
                      </a:r>
                      <a:r>
                        <a:rPr lang="en-US" sz="1700" b="0" dirty="0">
                          <a:solidFill>
                            <a:schemeClr val="tx1"/>
                          </a:solidFill>
                          <a:latin typeface="Monaco" pitchFamily="2" charset="77"/>
                          <a:cs typeface="Times" pitchFamily="-32" charset="0"/>
                        </a:rPr>
                        <a:t>  </a:t>
                      </a:r>
                      <a:r>
                        <a:rPr lang="en-US" sz="1700" b="0" i="1" dirty="0">
                          <a:solidFill>
                            <a:schemeClr val="tx1"/>
                          </a:solidFill>
                          <a:latin typeface="Monaco" pitchFamily="2" charset="77"/>
                          <a:cs typeface="Times" pitchFamily="-32" charset="0"/>
                        </a:rPr>
                        <a:t>Fields</a:t>
                      </a:r>
                      <a:endParaRPr lang="en-US" sz="1700" b="0" dirty="0">
                        <a:solidFill>
                          <a:schemeClr val="tx1"/>
                        </a:solidFill>
                        <a:latin typeface="Monaco" pitchFamily="2" charset="77"/>
                        <a:cs typeface="Times" pitchFamily="-32" charset="0"/>
                      </a:endParaRPr>
                    </a:p>
                    <a:p>
                      <a:pPr algn="l" eaLnBrk="1" hangingPunct="1"/>
                      <a:r>
                        <a:rPr lang="en-US" sz="1700" b="0" i="1" dirty="0">
                          <a:solidFill>
                            <a:schemeClr val="tx1"/>
                          </a:solidFill>
                          <a:latin typeface="Monaco" pitchFamily="2" charset="77"/>
                          <a:cs typeface="Times" pitchFamily="-32" charset="0"/>
                        </a:rPr>
                        <a:t>  </a:t>
                      </a:r>
                      <a:r>
                        <a:rPr lang="en-US" sz="1700" i="1" dirty="0">
                          <a:solidFill>
                            <a:schemeClr val="tx1"/>
                          </a:solidFill>
                          <a:latin typeface="Monaco" pitchFamily="2" charset="77"/>
                          <a:cs typeface="Times" pitchFamily="-32" charset="0"/>
                        </a:rPr>
                        <a:t>  Constructors</a:t>
                      </a:r>
                      <a:endParaRPr lang="en-US" sz="1700" dirty="0">
                        <a:solidFill>
                          <a:schemeClr val="tx1"/>
                        </a:solidFill>
                        <a:latin typeface="Monaco" pitchFamily="2" charset="77"/>
                        <a:cs typeface="Times" pitchFamily="-32" charset="0"/>
                      </a:endParaRPr>
                    </a:p>
                    <a:p>
                      <a:pPr algn="l" eaLnBrk="1" hangingPunct="1"/>
                      <a:r>
                        <a:rPr lang="en-US" sz="1700" i="1" dirty="0">
                          <a:solidFill>
                            <a:schemeClr val="tx1"/>
                          </a:solidFill>
                          <a:latin typeface="Monaco" pitchFamily="2" charset="77"/>
                          <a:cs typeface="Times" pitchFamily="-32" charset="0"/>
                        </a:rPr>
                        <a:t>    Methods</a:t>
                      </a:r>
                      <a:endParaRPr lang="en-US" sz="1700" dirty="0">
                        <a:solidFill>
                          <a:schemeClr val="tx1"/>
                        </a:solidFill>
                        <a:latin typeface="Monaco" pitchFamily="2" charset="77"/>
                        <a:cs typeface="Times" pitchFamily="-32" charset="0"/>
                      </a:endParaRPr>
                    </a:p>
                    <a:p>
                      <a:pPr algn="l" eaLnBrk="1" hangingPunct="1"/>
                      <a:r>
                        <a:rPr lang="en-US" sz="1700" dirty="0">
                          <a:solidFill>
                            <a:schemeClr val="tx1"/>
                          </a:solidFill>
                          <a:latin typeface="Monaco" pitchFamily="2" charset="77"/>
                          <a:cs typeface="Times" pitchFamily="-32" charset="0"/>
                        </a:rPr>
                        <a:t>}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  <a:latin typeface="Monaco" pitchFamily="2" charset="77"/>
                        </a:rPr>
                        <a:t> 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9648918"/>
              </p:ext>
            </p:extLst>
          </p:nvPr>
        </p:nvGraphicFramePr>
        <p:xfrm>
          <a:off x="512064" y="2950404"/>
          <a:ext cx="7829550" cy="694205"/>
        </p:xfrm>
        <a:graphic>
          <a:graphicData uri="http://schemas.openxmlformats.org/drawingml/2006/table">
            <a:tbl>
              <a:tblPr bandRow="1">
                <a:tableStyleId>{9DCAF9ED-07DC-4A11-8D7F-57B35C25682E}</a:tableStyleId>
              </a:tblPr>
              <a:tblGrid>
                <a:gridCol w="3600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2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4205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1800" dirty="0"/>
                        <a:t>2. </a:t>
                      </a:r>
                      <a:r>
                        <a:rPr lang="en-IE" sz="1800" b="1" kern="1200" dirty="0">
                          <a:solidFill>
                            <a:srgbClr val="598CBE"/>
                          </a:solidFill>
                          <a:latin typeface="+mn-lt"/>
                          <a:ea typeface="+mn-ea"/>
                          <a:cs typeface="+mn-cs"/>
                        </a:rPr>
                        <a:t>Hide</a:t>
                      </a:r>
                      <a:r>
                        <a:rPr lang="en-IE" sz="1800" dirty="0"/>
                        <a:t> </a:t>
                      </a:r>
                      <a:r>
                        <a:rPr lang="en-IE" sz="1800" b="0" dirty="0"/>
                        <a:t>the fields from other classes</a:t>
                      </a:r>
                      <a:r>
                        <a:rPr lang="en-IE" sz="1800" dirty="0"/>
                        <a:t>.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1800" b="1" dirty="0"/>
                        <a:t>Declare the fields of a class as </a:t>
                      </a:r>
                      <a:r>
                        <a:rPr lang="en-IE" sz="1800" b="1" u="sng" dirty="0"/>
                        <a:t>private</a:t>
                      </a:r>
                      <a:r>
                        <a:rPr lang="en-IE" sz="1800" dirty="0"/>
                        <a:t>.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288127"/>
              </p:ext>
            </p:extLst>
          </p:nvPr>
        </p:nvGraphicFramePr>
        <p:xfrm>
          <a:off x="511340" y="3641997"/>
          <a:ext cx="7829550" cy="891540"/>
        </p:xfrm>
        <a:graphic>
          <a:graphicData uri="http://schemas.openxmlformats.org/drawingml/2006/table">
            <a:tbl>
              <a:tblPr bandRow="1">
                <a:tableStyleId>{9DCAF9ED-07DC-4A11-8D7F-57B35C25682E}</a:tableStyleId>
              </a:tblPr>
              <a:tblGrid>
                <a:gridCol w="3601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28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91540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1800" dirty="0"/>
                        <a:t>3. </a:t>
                      </a:r>
                      <a:r>
                        <a:rPr lang="en-IE" sz="1800" b="1" kern="1200" dirty="0">
                          <a:solidFill>
                            <a:srgbClr val="598CBE"/>
                          </a:solidFill>
                        </a:rPr>
                        <a:t>Access</a:t>
                      </a:r>
                      <a:r>
                        <a:rPr lang="en-IE" sz="1800" dirty="0">
                          <a:solidFill>
                            <a:srgbClr val="00B050"/>
                          </a:solidFill>
                        </a:rPr>
                        <a:t> </a:t>
                      </a:r>
                      <a:r>
                        <a:rPr lang="en-IE" sz="1800" dirty="0"/>
                        <a:t>the fields only through the methods of their current class.</a:t>
                      </a:r>
                      <a:endParaRPr lang="en-IE" sz="1800" b="0" dirty="0"/>
                    </a:p>
                  </a:txBody>
                  <a:tcPr marL="68580" marR="68580" marT="34290" marB="3429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1800" b="1" dirty="0"/>
                        <a:t>Provide </a:t>
                      </a:r>
                      <a:r>
                        <a:rPr lang="en-IE" sz="1800" b="1" u="sng" dirty="0"/>
                        <a:t>public</a:t>
                      </a:r>
                      <a:r>
                        <a:rPr lang="en-IE" sz="1800" b="1" dirty="0"/>
                        <a:t> set</a:t>
                      </a:r>
                      <a:r>
                        <a:rPr lang="en-IE" sz="1800" b="0" dirty="0"/>
                        <a:t>ter</a:t>
                      </a:r>
                      <a:r>
                        <a:rPr lang="en-IE" sz="1800" b="1" dirty="0"/>
                        <a:t> and get</a:t>
                      </a:r>
                      <a:r>
                        <a:rPr lang="en-IE" sz="1800" b="0" dirty="0"/>
                        <a:t>ter</a:t>
                      </a:r>
                      <a:r>
                        <a:rPr lang="en-IE" sz="1800" b="1" dirty="0"/>
                        <a:t> </a:t>
                      </a:r>
                      <a:r>
                        <a:rPr lang="en-IE" sz="1800" dirty="0"/>
                        <a:t>methods to modify and view the fields values.</a:t>
                      </a:r>
                      <a:endParaRPr lang="en-IE" sz="1800" b="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80BA836-748D-F655-D2AC-A9426539C2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BC004ED-2A49-406B-444F-41D6A944EAE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31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1260546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57938F1-0867-5A90-9177-F37C49450F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3350" y="868681"/>
            <a:ext cx="3886201" cy="3899198"/>
          </a:xfrm>
          <a:prstGeom prst="rect">
            <a:avLst/>
          </a:prstGeom>
          <a:ln>
            <a:solidFill>
              <a:schemeClr val="tx1"/>
            </a:solidFill>
          </a:ln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066B465-E755-4676-8780-BB1C885065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6936596"/>
              </p:ext>
            </p:extLst>
          </p:nvPr>
        </p:nvGraphicFramePr>
        <p:xfrm>
          <a:off x="395536" y="944118"/>
          <a:ext cx="3270230" cy="1714500"/>
        </p:xfrm>
        <a:graphic>
          <a:graphicData uri="http://schemas.openxmlformats.org/drawingml/2006/table">
            <a:tbl>
              <a:tblPr bandRow="1">
                <a:tableStyleId>{9DCAF9ED-07DC-4A11-8D7F-57B35C25682E}</a:tableStyleId>
              </a:tblPr>
              <a:tblGrid>
                <a:gridCol w="3270230">
                  <a:extLst>
                    <a:ext uri="{9D8B030D-6E8A-4147-A177-3AD203B41FA5}">
                      <a16:colId xmlns:a16="http://schemas.microsoft.com/office/drawing/2014/main" val="2565615140"/>
                    </a:ext>
                  </a:extLst>
                </a:gridCol>
              </a:tblGrid>
              <a:tr h="1714500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1800" dirty="0"/>
                        <a:t>1. Product class </a:t>
                      </a:r>
                      <a:r>
                        <a:rPr lang="en-IE" sz="1800" b="1" dirty="0">
                          <a:solidFill>
                            <a:srgbClr val="00B050"/>
                          </a:solidFill>
                        </a:rPr>
                        <a:t>wraps</a:t>
                      </a:r>
                      <a:r>
                        <a:rPr lang="en-IE" sz="1800" dirty="0"/>
                        <a:t> the data (fields) and code acting on the data (methods) together as </a:t>
                      </a:r>
                      <a:r>
                        <a:rPr lang="en-IE" sz="1800" b="1" dirty="0"/>
                        <a:t>single unit</a:t>
                      </a:r>
                      <a:r>
                        <a:rPr lang="en-IE" sz="1800" dirty="0"/>
                        <a:t>.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0573825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0"/>
            <a:ext cx="8062665" cy="761815"/>
          </a:xfrm>
        </p:spPr>
        <p:txBody>
          <a:bodyPr>
            <a:normAutofit/>
          </a:bodyPr>
          <a:lstStyle/>
          <a:p>
            <a:r>
              <a:rPr lang="en-IE" dirty="0"/>
              <a:t>A </a:t>
            </a:r>
            <a:r>
              <a:rPr lang="en-IE" dirty="0">
                <a:latin typeface="Monaco" pitchFamily="2" charset="77"/>
              </a:rPr>
              <a:t>Product</a:t>
            </a:r>
            <a:r>
              <a:rPr lang="en-IE" dirty="0"/>
              <a:t> Class… </a:t>
            </a:r>
            <a:r>
              <a:rPr lang="en-IE" b="1" dirty="0"/>
              <a:t>An Encapsulated Class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AF85218-656B-4CCB-AF71-567D93EFDB37}"/>
              </a:ext>
            </a:extLst>
          </p:cNvPr>
          <p:cNvCxnSpPr>
            <a:cxnSpLocks/>
          </p:cNvCxnSpPr>
          <p:nvPr/>
        </p:nvCxnSpPr>
        <p:spPr>
          <a:xfrm flipV="1">
            <a:off x="2400300" y="2255925"/>
            <a:ext cx="1600200" cy="2643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1F860E-5321-1B2D-E3A2-569A3E24AA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265A34-362C-AB76-D509-31563BD0E0ED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32</a:t>
            </a:fld>
            <a:endParaRPr lang="en-IE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320408B-0984-C751-268E-8A4B0E28363F}"/>
              </a:ext>
            </a:extLst>
          </p:cNvPr>
          <p:cNvSpPr/>
          <p:nvPr/>
        </p:nvSpPr>
        <p:spPr>
          <a:xfrm>
            <a:off x="3943351" y="846717"/>
            <a:ext cx="3886200" cy="3921162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66737" rtl="0"/>
            <a:endParaRPr lang="en-IE" sz="1688"/>
          </a:p>
        </p:txBody>
      </p:sp>
    </p:spTree>
    <p:extLst>
      <p:ext uri="{BB962C8B-B14F-4D97-AF65-F5344CB8AC3E}">
        <p14:creationId xmlns:p14="http://schemas.microsoft.com/office/powerpoint/2010/main" val="277116356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4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AF15CA2E-4B66-554E-ACE0-8B71DEA693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3350" y="868681"/>
            <a:ext cx="3886201" cy="3899198"/>
          </a:xfrm>
          <a:prstGeom prst="rect">
            <a:avLst/>
          </a:prstGeom>
          <a:ln>
            <a:solidFill>
              <a:schemeClr val="tx1"/>
            </a:solidFill>
          </a:ln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066B465-E755-4676-8780-BB1C885065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422890"/>
              </p:ext>
            </p:extLst>
          </p:nvPr>
        </p:nvGraphicFramePr>
        <p:xfrm>
          <a:off x="395536" y="944118"/>
          <a:ext cx="3270230" cy="1714500"/>
        </p:xfrm>
        <a:graphic>
          <a:graphicData uri="http://schemas.openxmlformats.org/drawingml/2006/table">
            <a:tbl>
              <a:tblPr bandRow="1">
                <a:tableStyleId>{9DCAF9ED-07DC-4A11-8D7F-57B35C25682E}</a:tableStyleId>
              </a:tblPr>
              <a:tblGrid>
                <a:gridCol w="3270230">
                  <a:extLst>
                    <a:ext uri="{9D8B030D-6E8A-4147-A177-3AD203B41FA5}">
                      <a16:colId xmlns:a16="http://schemas.microsoft.com/office/drawing/2014/main" val="2565615140"/>
                    </a:ext>
                  </a:extLst>
                </a:gridCol>
              </a:tblGrid>
              <a:tr h="1714500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1800" dirty="0"/>
                        <a:t>1. Product class </a:t>
                      </a:r>
                      <a:r>
                        <a:rPr lang="en-IE" sz="1800" b="1" dirty="0">
                          <a:solidFill>
                            <a:srgbClr val="00B050"/>
                          </a:solidFill>
                        </a:rPr>
                        <a:t>wraps</a:t>
                      </a:r>
                      <a:r>
                        <a:rPr lang="en-IE" sz="1800" dirty="0"/>
                        <a:t> the data (fields) and code acting on the data (methods) together as </a:t>
                      </a:r>
                      <a:r>
                        <a:rPr lang="en-IE" sz="1800" b="1" dirty="0"/>
                        <a:t>single unit</a:t>
                      </a:r>
                      <a:r>
                        <a:rPr lang="en-IE" sz="1800" dirty="0"/>
                        <a:t>.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0573825"/>
                  </a:ext>
                </a:extLst>
              </a:tr>
            </a:tbl>
          </a:graphicData>
        </a:graphic>
      </p:graphicFrame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B066B465-E755-4676-8780-BB1C885065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0347059"/>
              </p:ext>
            </p:extLst>
          </p:nvPr>
        </p:nvGraphicFramePr>
        <p:xfrm>
          <a:off x="395536" y="2612214"/>
          <a:ext cx="3270230" cy="694205"/>
        </p:xfrm>
        <a:graphic>
          <a:graphicData uri="http://schemas.openxmlformats.org/drawingml/2006/table">
            <a:tbl>
              <a:tblPr bandRow="1">
                <a:tableStyleId>{9DCAF9ED-07DC-4A11-8D7F-57B35C25682E}</a:tableStyleId>
              </a:tblPr>
              <a:tblGrid>
                <a:gridCol w="3270230">
                  <a:extLst>
                    <a:ext uri="{9D8B030D-6E8A-4147-A177-3AD203B41FA5}">
                      <a16:colId xmlns:a16="http://schemas.microsoft.com/office/drawing/2014/main" val="2565615140"/>
                    </a:ext>
                  </a:extLst>
                </a:gridCol>
              </a:tblGrid>
              <a:tr h="694205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1800" dirty="0"/>
                        <a:t>2. Fields are </a:t>
                      </a:r>
                      <a:r>
                        <a:rPr lang="en-IE" sz="18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hidden</a:t>
                      </a:r>
                      <a:r>
                        <a:rPr lang="en-IE" sz="1800" dirty="0"/>
                        <a:t> from other classes.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1464674"/>
                  </a:ext>
                </a:extLst>
              </a:tr>
            </a:tbl>
          </a:graphicData>
        </a:graphic>
      </p:graphicFrame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AF85218-656B-4CCB-AF71-567D93EFDB37}"/>
              </a:ext>
            </a:extLst>
          </p:cNvPr>
          <p:cNvCxnSpPr>
            <a:cxnSpLocks/>
          </p:cNvCxnSpPr>
          <p:nvPr/>
        </p:nvCxnSpPr>
        <p:spPr>
          <a:xfrm flipV="1">
            <a:off x="2400300" y="2255925"/>
            <a:ext cx="1600200" cy="2643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AF85218-656B-4CCB-AF71-567D93EFDB37}"/>
              </a:ext>
            </a:extLst>
          </p:cNvPr>
          <p:cNvCxnSpPr>
            <a:cxnSpLocks/>
          </p:cNvCxnSpPr>
          <p:nvPr/>
        </p:nvCxnSpPr>
        <p:spPr>
          <a:xfrm>
            <a:off x="3086101" y="2852690"/>
            <a:ext cx="1657351" cy="948929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Donut 10"/>
          <p:cNvSpPr/>
          <p:nvPr/>
        </p:nvSpPr>
        <p:spPr>
          <a:xfrm>
            <a:off x="4642867" y="3744469"/>
            <a:ext cx="228600" cy="1041698"/>
          </a:xfrm>
          <a:prstGeom prst="donut">
            <a:avLst>
              <a:gd name="adj" fmla="val 102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66737" rtl="0"/>
            <a:endParaRPr lang="en-GB" sz="1688">
              <a:solidFill>
                <a:schemeClr val="tx1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366261" y="3774365"/>
            <a:ext cx="3276545" cy="97155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66737" rtl="0"/>
            <a:endParaRPr lang="en-IE" sz="1688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3326E1-378E-1D63-DDCC-07A908B37B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9DAADF-0197-5946-ACB5-A6EE5571D077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33</a:t>
            </a:fld>
            <a:endParaRPr lang="en-IE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4D88E71E-5D16-A215-3528-610843B46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6" y="0"/>
            <a:ext cx="8062665" cy="761815"/>
          </a:xfrm>
        </p:spPr>
        <p:txBody>
          <a:bodyPr>
            <a:normAutofit/>
          </a:bodyPr>
          <a:lstStyle/>
          <a:p>
            <a:r>
              <a:rPr lang="en-IE" dirty="0"/>
              <a:t>A </a:t>
            </a:r>
            <a:r>
              <a:rPr lang="en-IE" dirty="0">
                <a:latin typeface="Monaco" pitchFamily="2" charset="77"/>
              </a:rPr>
              <a:t>Product</a:t>
            </a:r>
            <a:r>
              <a:rPr lang="en-IE" dirty="0"/>
              <a:t> Class… </a:t>
            </a:r>
            <a:r>
              <a:rPr lang="en-IE" b="1" dirty="0"/>
              <a:t>An Encapsulated Class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BEF5231-0ABE-608E-2BDC-0E6969211D66}"/>
              </a:ext>
            </a:extLst>
          </p:cNvPr>
          <p:cNvSpPr/>
          <p:nvPr/>
        </p:nvSpPr>
        <p:spPr>
          <a:xfrm>
            <a:off x="3943351" y="846717"/>
            <a:ext cx="3886200" cy="3921162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66737" rtl="0"/>
            <a:endParaRPr lang="en-IE" sz="1688"/>
          </a:p>
        </p:txBody>
      </p:sp>
    </p:spTree>
    <p:extLst>
      <p:ext uri="{BB962C8B-B14F-4D97-AF65-F5344CB8AC3E}">
        <p14:creationId xmlns:p14="http://schemas.microsoft.com/office/powerpoint/2010/main" val="136213878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4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500"/>
                            </p:stCondLst>
                            <p:childTnLst>
                              <p:par>
                                <p:cTn id="16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24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330F0DBF-EDF0-801F-A8C1-FD41079A26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3350" y="868681"/>
            <a:ext cx="3886201" cy="389919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165CEC46-FABD-A315-7208-27A82AEDD961}"/>
              </a:ext>
            </a:extLst>
          </p:cNvPr>
          <p:cNvSpPr/>
          <p:nvPr/>
        </p:nvSpPr>
        <p:spPr>
          <a:xfrm>
            <a:off x="3943351" y="846717"/>
            <a:ext cx="3886200" cy="3921162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66737" rtl="0"/>
            <a:endParaRPr lang="en-IE" sz="1688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066B465-E755-4676-8780-BB1C885065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5349905"/>
              </p:ext>
            </p:extLst>
          </p:nvPr>
        </p:nvGraphicFramePr>
        <p:xfrm>
          <a:off x="395536" y="944118"/>
          <a:ext cx="3270230" cy="1714500"/>
        </p:xfrm>
        <a:graphic>
          <a:graphicData uri="http://schemas.openxmlformats.org/drawingml/2006/table">
            <a:tbl>
              <a:tblPr bandRow="1">
                <a:tableStyleId>{9DCAF9ED-07DC-4A11-8D7F-57B35C25682E}</a:tableStyleId>
              </a:tblPr>
              <a:tblGrid>
                <a:gridCol w="3270230">
                  <a:extLst>
                    <a:ext uri="{9D8B030D-6E8A-4147-A177-3AD203B41FA5}">
                      <a16:colId xmlns:a16="http://schemas.microsoft.com/office/drawing/2014/main" val="2565615140"/>
                    </a:ext>
                  </a:extLst>
                </a:gridCol>
              </a:tblGrid>
              <a:tr h="1714500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1800" dirty="0"/>
                        <a:t>1. Product class </a:t>
                      </a:r>
                      <a:r>
                        <a:rPr lang="en-IE" sz="1800" b="1" dirty="0">
                          <a:solidFill>
                            <a:srgbClr val="598CBE"/>
                          </a:solidFill>
                        </a:rPr>
                        <a:t>wraps</a:t>
                      </a:r>
                      <a:r>
                        <a:rPr lang="en-IE" sz="1800" dirty="0"/>
                        <a:t> the data (fields) and code acting on the data (methods) together as </a:t>
                      </a:r>
                      <a:r>
                        <a:rPr lang="en-IE" sz="1800" b="1" dirty="0"/>
                        <a:t>single unit</a:t>
                      </a:r>
                      <a:r>
                        <a:rPr lang="en-IE" sz="1800" dirty="0"/>
                        <a:t>.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0573825"/>
                  </a:ext>
                </a:extLst>
              </a:tr>
            </a:tbl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B066B465-E755-4676-8780-BB1C885065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9952392"/>
              </p:ext>
            </p:extLst>
          </p:nvPr>
        </p:nvGraphicFramePr>
        <p:xfrm>
          <a:off x="395536" y="3300984"/>
          <a:ext cx="3270230" cy="1440180"/>
        </p:xfrm>
        <a:graphic>
          <a:graphicData uri="http://schemas.openxmlformats.org/drawingml/2006/table">
            <a:tbl>
              <a:tblPr bandRow="1">
                <a:tableStyleId>{9DCAF9ED-07DC-4A11-8D7F-57B35C25682E}</a:tableStyleId>
              </a:tblPr>
              <a:tblGrid>
                <a:gridCol w="3270230">
                  <a:extLst>
                    <a:ext uri="{9D8B030D-6E8A-4147-A177-3AD203B41FA5}">
                      <a16:colId xmlns:a16="http://schemas.microsoft.com/office/drawing/2014/main" val="2565615140"/>
                    </a:ext>
                  </a:extLst>
                </a:gridCol>
              </a:tblGrid>
              <a:tr h="1440180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1800" dirty="0"/>
                        <a:t>3. </a:t>
                      </a:r>
                      <a:r>
                        <a:rPr lang="en-IE" sz="1800" b="1" kern="1200" dirty="0">
                          <a:solidFill>
                            <a:srgbClr val="598CBE"/>
                          </a:solidFill>
                          <a:latin typeface="+mn-lt"/>
                          <a:ea typeface="+mn-ea"/>
                          <a:cs typeface="+mn-cs"/>
                        </a:rPr>
                        <a:t>Access</a:t>
                      </a:r>
                      <a:r>
                        <a:rPr lang="en-IE" sz="1800" dirty="0"/>
                        <a:t> the fields only through the methods of Product (e.g. </a:t>
                      </a:r>
                      <a:r>
                        <a:rPr lang="en-IE" sz="1800" b="1" dirty="0"/>
                        <a:t>get</a:t>
                      </a:r>
                      <a:r>
                        <a:rPr lang="en-IE" sz="1800" dirty="0"/>
                        <a:t>ter and </a:t>
                      </a:r>
                      <a:r>
                        <a:rPr lang="en-IE" sz="1800" b="1" dirty="0"/>
                        <a:t>set</a:t>
                      </a:r>
                      <a:r>
                        <a:rPr lang="en-IE" sz="1800" dirty="0"/>
                        <a:t>ter methods). 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6987298"/>
                  </a:ext>
                </a:extLst>
              </a:tr>
            </a:tbl>
          </a:graphicData>
        </a:graphic>
      </p:graphicFrame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B066B465-E755-4676-8780-BB1C885065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1733544"/>
              </p:ext>
            </p:extLst>
          </p:nvPr>
        </p:nvGraphicFramePr>
        <p:xfrm>
          <a:off x="395536" y="2612214"/>
          <a:ext cx="3270230" cy="694205"/>
        </p:xfrm>
        <a:graphic>
          <a:graphicData uri="http://schemas.openxmlformats.org/drawingml/2006/table">
            <a:tbl>
              <a:tblPr bandRow="1">
                <a:tableStyleId>{9DCAF9ED-07DC-4A11-8D7F-57B35C25682E}</a:tableStyleId>
              </a:tblPr>
              <a:tblGrid>
                <a:gridCol w="3270230">
                  <a:extLst>
                    <a:ext uri="{9D8B030D-6E8A-4147-A177-3AD203B41FA5}">
                      <a16:colId xmlns:a16="http://schemas.microsoft.com/office/drawing/2014/main" val="2565615140"/>
                    </a:ext>
                  </a:extLst>
                </a:gridCol>
              </a:tblGrid>
              <a:tr h="694205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1800" dirty="0"/>
                        <a:t>2. Fields are </a:t>
                      </a:r>
                      <a:r>
                        <a:rPr lang="en-IE" sz="1800" b="1" kern="1200" dirty="0">
                          <a:solidFill>
                            <a:srgbClr val="598CBE"/>
                          </a:solidFill>
                          <a:latin typeface="+mn-lt"/>
                          <a:ea typeface="+mn-ea"/>
                          <a:cs typeface="+mn-cs"/>
                        </a:rPr>
                        <a:t>hidden</a:t>
                      </a:r>
                      <a:r>
                        <a:rPr lang="en-IE" sz="1800" dirty="0"/>
                        <a:t> from other classes.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1464674"/>
                  </a:ext>
                </a:extLst>
              </a:tr>
            </a:tbl>
          </a:graphicData>
        </a:graphic>
      </p:graphicFrame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AF85218-656B-4CCB-AF71-567D93EFDB37}"/>
              </a:ext>
            </a:extLst>
          </p:cNvPr>
          <p:cNvCxnSpPr>
            <a:cxnSpLocks/>
          </p:cNvCxnSpPr>
          <p:nvPr/>
        </p:nvCxnSpPr>
        <p:spPr>
          <a:xfrm flipV="1">
            <a:off x="2400300" y="2255925"/>
            <a:ext cx="1600200" cy="2643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AF85218-656B-4CCB-AF71-567D93EFDB37}"/>
              </a:ext>
            </a:extLst>
          </p:cNvPr>
          <p:cNvCxnSpPr>
            <a:cxnSpLocks/>
          </p:cNvCxnSpPr>
          <p:nvPr/>
        </p:nvCxnSpPr>
        <p:spPr>
          <a:xfrm>
            <a:off x="3086101" y="2852690"/>
            <a:ext cx="1657351" cy="948929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Donut 10"/>
          <p:cNvSpPr/>
          <p:nvPr/>
        </p:nvSpPr>
        <p:spPr>
          <a:xfrm>
            <a:off x="4642867" y="3744469"/>
            <a:ext cx="228600" cy="1041698"/>
          </a:xfrm>
          <a:prstGeom prst="donut">
            <a:avLst>
              <a:gd name="adj" fmla="val 102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66737" rtl="0"/>
            <a:endParaRPr lang="en-GB" sz="1688">
              <a:solidFill>
                <a:schemeClr val="tx1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AF85218-656B-4CCB-AF71-567D93EFDB37}"/>
              </a:ext>
            </a:extLst>
          </p:cNvPr>
          <p:cNvCxnSpPr>
            <a:cxnSpLocks/>
          </p:cNvCxnSpPr>
          <p:nvPr/>
        </p:nvCxnSpPr>
        <p:spPr>
          <a:xfrm flipV="1">
            <a:off x="3665766" y="2290808"/>
            <a:ext cx="604482" cy="1339361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4366260" y="1401318"/>
            <a:ext cx="3276547" cy="102870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66737" rtl="0"/>
            <a:endParaRPr lang="en-IE" sz="1688"/>
          </a:p>
        </p:txBody>
      </p:sp>
      <p:sp>
        <p:nvSpPr>
          <p:cNvPr id="17" name="Rectangle 16"/>
          <p:cNvSpPr/>
          <p:nvPr/>
        </p:nvSpPr>
        <p:spPr>
          <a:xfrm>
            <a:off x="4357117" y="2487168"/>
            <a:ext cx="3276545" cy="97155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66737" rtl="0"/>
            <a:endParaRPr lang="en-IE" sz="1688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AF85218-656B-4CCB-AF71-567D93EFDB37}"/>
              </a:ext>
            </a:extLst>
          </p:cNvPr>
          <p:cNvCxnSpPr>
            <a:cxnSpLocks/>
          </p:cNvCxnSpPr>
          <p:nvPr/>
        </p:nvCxnSpPr>
        <p:spPr>
          <a:xfrm flipV="1">
            <a:off x="3665766" y="2990088"/>
            <a:ext cx="604482" cy="64008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4366261" y="3774365"/>
            <a:ext cx="3276545" cy="97155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66737" rtl="0"/>
            <a:endParaRPr lang="en-IE" sz="1688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82F2F7-83D8-4261-C1EA-D0729A1A12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969BB8-1CED-75F7-20EC-33F62E221F7D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34</a:t>
            </a:fld>
            <a:endParaRPr lang="en-IE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28408DCF-85A9-8DFA-1B5A-6CB0E63ED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6" y="0"/>
            <a:ext cx="8062665" cy="761815"/>
          </a:xfrm>
        </p:spPr>
        <p:txBody>
          <a:bodyPr>
            <a:normAutofit/>
          </a:bodyPr>
          <a:lstStyle/>
          <a:p>
            <a:r>
              <a:rPr lang="en-IE" dirty="0"/>
              <a:t>A </a:t>
            </a:r>
            <a:r>
              <a:rPr lang="en-IE" dirty="0">
                <a:latin typeface="Monaco" pitchFamily="2" charset="77"/>
              </a:rPr>
              <a:t>Product</a:t>
            </a:r>
            <a:r>
              <a:rPr lang="en-IE" dirty="0"/>
              <a:t> Class… </a:t>
            </a:r>
            <a:r>
              <a:rPr lang="en-IE" b="1" dirty="0"/>
              <a:t>An Encapsulated Class</a:t>
            </a:r>
          </a:p>
        </p:txBody>
      </p:sp>
    </p:spTree>
    <p:extLst>
      <p:ext uri="{BB962C8B-B14F-4D97-AF65-F5344CB8AC3E}">
        <p14:creationId xmlns:p14="http://schemas.microsoft.com/office/powerpoint/2010/main" val="119133436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4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500"/>
                            </p:stCondLst>
                            <p:childTnLst>
                              <p:par>
                                <p:cTn id="1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1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Using the </a:t>
            </a:r>
            <a:r>
              <a:rPr lang="en-IE" dirty="0">
                <a:latin typeface="Monaco" pitchFamily="2" charset="77"/>
              </a:rPr>
              <a:t>Product</a:t>
            </a:r>
            <a:r>
              <a:rPr lang="en-IE" dirty="0"/>
              <a:t> Class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F64D5C-75CB-4A03-B126-E4A08DBBB495}"/>
              </a:ext>
            </a:extLst>
          </p:cNvPr>
          <p:cNvSpPr txBox="1"/>
          <p:nvPr/>
        </p:nvSpPr>
        <p:spPr>
          <a:xfrm>
            <a:off x="5486400" y="1208574"/>
            <a:ext cx="1314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US" sz="1800" b="1" dirty="0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product</a:t>
            </a:r>
            <a:endParaRPr lang="en-IE" sz="18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6CE7FB0-63B1-4809-A8C1-48C339B20821}"/>
              </a:ext>
            </a:extLst>
          </p:cNvPr>
          <p:cNvSpPr/>
          <p:nvPr/>
        </p:nvSpPr>
        <p:spPr>
          <a:xfrm>
            <a:off x="5829300" y="1574992"/>
            <a:ext cx="714375" cy="4154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2100" dirty="0"/>
              <a:t>null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8E9647-F6CF-8936-F672-78575319CD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CF82AE-8566-1E63-845F-D00BE71BE87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35</a:t>
            </a:fld>
            <a:endParaRPr lang="en-IE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D95423BF-6E03-9ABA-530C-1B97AAD311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9006" y="984769"/>
            <a:ext cx="3086100" cy="300082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500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private </a:t>
            </a:r>
            <a:r>
              <a:rPr lang="en-US" altLang="en-US" sz="15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Product </a:t>
            </a:r>
            <a:r>
              <a:rPr lang="en-US" altLang="en-US" sz="1500" b="1" dirty="0" err="1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product</a:t>
            </a:r>
            <a:r>
              <a:rPr lang="en-US" altLang="en-US" sz="15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;</a:t>
            </a:r>
            <a:endParaRPr lang="en-US" altLang="en-US" sz="3600" dirty="0">
              <a:latin typeface="Monaco" pitchFamily="2" charset="7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4BE7AB-CC07-1AF9-235F-C2AC0A5A9D13}"/>
              </a:ext>
            </a:extLst>
          </p:cNvPr>
          <p:cNvSpPr txBox="1"/>
          <p:nvPr/>
        </p:nvSpPr>
        <p:spPr>
          <a:xfrm>
            <a:off x="1485900" y="1514114"/>
            <a:ext cx="2665476" cy="900246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50" dirty="0"/>
              <a:t>Declaring an object </a:t>
            </a:r>
            <a:r>
              <a:rPr lang="en-US" altLang="en-US" sz="1800" b="1" dirty="0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product</a:t>
            </a:r>
            <a:r>
              <a:rPr lang="en-IE" sz="1650" dirty="0"/>
              <a:t>, of type </a:t>
            </a:r>
            <a:r>
              <a:rPr lang="en-US" altLang="en-US" sz="18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Product</a:t>
            </a:r>
            <a:endParaRPr lang="en-IE" sz="1650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D5850A1-500D-C143-9142-63A4765ADBC3}"/>
              </a:ext>
            </a:extLst>
          </p:cNvPr>
          <p:cNvCxnSpPr>
            <a:cxnSpLocks/>
          </p:cNvCxnSpPr>
          <p:nvPr/>
        </p:nvCxnSpPr>
        <p:spPr>
          <a:xfrm flipV="1">
            <a:off x="2814066" y="1293995"/>
            <a:ext cx="187990" cy="229263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9AC5FD2D-D489-C40D-DC4A-FBF91703106B}"/>
              </a:ext>
            </a:extLst>
          </p:cNvPr>
          <p:cNvSpPr/>
          <p:nvPr/>
        </p:nvSpPr>
        <p:spPr>
          <a:xfrm>
            <a:off x="1257300" y="832342"/>
            <a:ext cx="342900" cy="30837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688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066001506"/>
      </p:ext>
    </p:extLst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E2A7BC46-DF25-38D2-F866-7E1A6C4A8B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9006" y="984769"/>
            <a:ext cx="3086100" cy="300082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500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private </a:t>
            </a:r>
            <a:r>
              <a:rPr lang="en-US" altLang="en-US" sz="15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Product </a:t>
            </a:r>
            <a:r>
              <a:rPr lang="en-US" altLang="en-US" sz="1500" b="1" dirty="0" err="1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product</a:t>
            </a:r>
            <a:r>
              <a:rPr lang="en-US" altLang="en-US" sz="15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;</a:t>
            </a:r>
            <a:endParaRPr lang="en-US" altLang="en-US" sz="3600" dirty="0">
              <a:latin typeface="Monaco" pitchFamily="2" charset="7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819971-8062-FEC2-E270-965AC840C178}"/>
              </a:ext>
            </a:extLst>
          </p:cNvPr>
          <p:cNvSpPr txBox="1"/>
          <p:nvPr/>
        </p:nvSpPr>
        <p:spPr>
          <a:xfrm>
            <a:off x="1485900" y="1514114"/>
            <a:ext cx="2665476" cy="900246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50" dirty="0"/>
              <a:t>Declaring an object </a:t>
            </a:r>
            <a:r>
              <a:rPr lang="en-US" altLang="en-US" sz="1800" b="1" dirty="0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product</a:t>
            </a:r>
            <a:r>
              <a:rPr lang="en-IE" sz="1650" dirty="0"/>
              <a:t>, of type </a:t>
            </a:r>
            <a:r>
              <a:rPr lang="en-US" altLang="en-US" sz="18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Product</a:t>
            </a:r>
            <a:endParaRPr lang="en-IE" sz="1650" dirty="0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85E50CD2-6C42-45F5-9B21-DB4B35B906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1110" y="2625246"/>
            <a:ext cx="6370976" cy="329001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88" b="1" dirty="0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product </a:t>
            </a:r>
            <a:r>
              <a:rPr lang="en-US" altLang="en-US" sz="1688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= </a:t>
            </a:r>
            <a:r>
              <a:rPr lang="en-US" altLang="en-US" sz="1688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new </a:t>
            </a:r>
            <a:r>
              <a:rPr lang="en-US" altLang="en-US" sz="1688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Product(“TV”, 1234, 149.99, true);</a:t>
            </a:r>
            <a:endParaRPr lang="en-US" altLang="en-US" sz="3300" dirty="0">
              <a:latin typeface="Monaco" pitchFamily="2" charset="7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3BAD69D-B9C8-48DB-AD0C-9320B491164B}"/>
              </a:ext>
            </a:extLst>
          </p:cNvPr>
          <p:cNvSpPr txBox="1"/>
          <p:nvPr/>
        </p:nvSpPr>
        <p:spPr>
          <a:xfrm>
            <a:off x="1485900" y="3517048"/>
            <a:ext cx="2514600" cy="1107996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50" dirty="0"/>
              <a:t>Calls the </a:t>
            </a:r>
            <a:r>
              <a:rPr lang="en-US" altLang="en-US" sz="16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Product</a:t>
            </a:r>
            <a:r>
              <a:rPr lang="en-IE" sz="1650" b="1" dirty="0">
                <a:solidFill>
                  <a:srgbClr val="FF0000"/>
                </a:solidFill>
              </a:rPr>
              <a:t> </a:t>
            </a:r>
            <a:r>
              <a:rPr lang="en-IE" sz="1650" i="1" dirty="0"/>
              <a:t>constructor</a:t>
            </a:r>
            <a:r>
              <a:rPr lang="en-IE" sz="1650" dirty="0"/>
              <a:t> to build the </a:t>
            </a:r>
            <a:r>
              <a:rPr lang="en-US" altLang="en-US" sz="1600" b="1" dirty="0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product</a:t>
            </a:r>
            <a:r>
              <a:rPr lang="en-IE" sz="1650" b="1" dirty="0">
                <a:solidFill>
                  <a:srgbClr val="FF0000"/>
                </a:solidFill>
              </a:rPr>
              <a:t> </a:t>
            </a:r>
            <a:r>
              <a:rPr lang="en-IE" sz="1650" dirty="0"/>
              <a:t>object in memory.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AE11070-294F-4CEA-B02B-49CD2F446400}"/>
              </a:ext>
            </a:extLst>
          </p:cNvPr>
          <p:cNvCxnSpPr>
            <a:cxnSpLocks/>
            <a:stCxn id="20" idx="0"/>
          </p:cNvCxnSpPr>
          <p:nvPr/>
        </p:nvCxnSpPr>
        <p:spPr>
          <a:xfrm flipH="1" flipV="1">
            <a:off x="2725153" y="2914651"/>
            <a:ext cx="18047" cy="602397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1E86991-78E0-40A7-9D7A-068BB348EFE2}"/>
              </a:ext>
            </a:extLst>
          </p:cNvPr>
          <p:cNvCxnSpPr>
            <a:cxnSpLocks/>
          </p:cNvCxnSpPr>
          <p:nvPr/>
        </p:nvCxnSpPr>
        <p:spPr>
          <a:xfrm flipV="1">
            <a:off x="2814066" y="1293995"/>
            <a:ext cx="187990" cy="229263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DC93C307-7E7D-4619-BD7C-341559638F1F}"/>
              </a:ext>
            </a:extLst>
          </p:cNvPr>
          <p:cNvSpPr/>
          <p:nvPr/>
        </p:nvSpPr>
        <p:spPr>
          <a:xfrm>
            <a:off x="1257300" y="832342"/>
            <a:ext cx="342900" cy="30837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688" dirty="0"/>
              <a:t>1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C38AAB7-C34D-4A0B-84BD-F4376439A5F2}"/>
              </a:ext>
            </a:extLst>
          </p:cNvPr>
          <p:cNvSpPr/>
          <p:nvPr/>
        </p:nvSpPr>
        <p:spPr>
          <a:xfrm>
            <a:off x="588220" y="2453222"/>
            <a:ext cx="342900" cy="30837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688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F64D5C-75CB-4A03-B126-E4A08DBBB495}"/>
              </a:ext>
            </a:extLst>
          </p:cNvPr>
          <p:cNvSpPr txBox="1"/>
          <p:nvPr/>
        </p:nvSpPr>
        <p:spPr>
          <a:xfrm>
            <a:off x="5486400" y="1208574"/>
            <a:ext cx="1314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US" sz="1800" b="1" dirty="0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product</a:t>
            </a:r>
            <a:endParaRPr lang="en-IE" sz="1800" dirty="0"/>
          </a:p>
        </p:txBody>
      </p:sp>
      <p:sp>
        <p:nvSpPr>
          <p:cNvPr id="14" name="Rounded Rectangle 11">
            <a:extLst>
              <a:ext uri="{FF2B5EF4-FFF2-40B4-BE49-F238E27FC236}">
                <a16:creationId xmlns:a16="http://schemas.microsoft.com/office/drawing/2014/main" id="{BF4AEE06-1A28-42F3-AA1F-ABA2BFC8A42D}"/>
              </a:ext>
            </a:extLst>
          </p:cNvPr>
          <p:cNvSpPr/>
          <p:nvPr/>
        </p:nvSpPr>
        <p:spPr>
          <a:xfrm>
            <a:off x="4343400" y="3044377"/>
            <a:ext cx="2752344" cy="1773302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66737" rtl="0"/>
            <a:endParaRPr lang="en-IE" sz="1688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BFC4055-1FB5-4AC5-898F-669C0FEADBF5}"/>
              </a:ext>
            </a:extLst>
          </p:cNvPr>
          <p:cNvSpPr txBox="1"/>
          <p:nvPr/>
        </p:nvSpPr>
        <p:spPr>
          <a:xfrm>
            <a:off x="4647438" y="3436506"/>
            <a:ext cx="1543050" cy="27699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200" dirty="0" err="1"/>
              <a:t>productName</a:t>
            </a:r>
            <a:endParaRPr lang="en-IE" sz="1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399FE47-808F-4E5D-AC50-11DFE1F7E60C}"/>
              </a:ext>
            </a:extLst>
          </p:cNvPr>
          <p:cNvSpPr txBox="1"/>
          <p:nvPr/>
        </p:nvSpPr>
        <p:spPr>
          <a:xfrm>
            <a:off x="4647438" y="3761118"/>
            <a:ext cx="1543050" cy="27699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200" dirty="0" err="1"/>
              <a:t>productCode</a:t>
            </a:r>
            <a:endParaRPr lang="en-IE" sz="1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DFA6BFA-24E7-4397-9ED2-BD3F46E81167}"/>
              </a:ext>
            </a:extLst>
          </p:cNvPr>
          <p:cNvSpPr txBox="1"/>
          <p:nvPr/>
        </p:nvSpPr>
        <p:spPr>
          <a:xfrm>
            <a:off x="6286500" y="3454134"/>
            <a:ext cx="646417" cy="27699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200" dirty="0"/>
              <a:t>“TV”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37AD0F0-1141-49DD-85A3-CA088F57854B}"/>
              </a:ext>
            </a:extLst>
          </p:cNvPr>
          <p:cNvSpPr txBox="1"/>
          <p:nvPr/>
        </p:nvSpPr>
        <p:spPr>
          <a:xfrm>
            <a:off x="6286500" y="3776580"/>
            <a:ext cx="646417" cy="27699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200" dirty="0"/>
              <a:t>1234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6C84EDE-3D16-43BA-AF55-CB59C749337E}"/>
              </a:ext>
            </a:extLst>
          </p:cNvPr>
          <p:cNvSpPr txBox="1"/>
          <p:nvPr/>
        </p:nvSpPr>
        <p:spPr>
          <a:xfrm>
            <a:off x="5007715" y="3068856"/>
            <a:ext cx="1236245" cy="33855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en-US" sz="1600" b="1" dirty="0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product</a:t>
            </a:r>
            <a:endParaRPr lang="en-IE" sz="15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0A757A0-DF71-4A17-9B73-20EE3D65C1B2}"/>
              </a:ext>
            </a:extLst>
          </p:cNvPr>
          <p:cNvSpPr txBox="1"/>
          <p:nvPr/>
        </p:nvSpPr>
        <p:spPr>
          <a:xfrm>
            <a:off x="4638295" y="4100889"/>
            <a:ext cx="1526248" cy="27699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200" dirty="0" err="1"/>
              <a:t>unitCost</a:t>
            </a:r>
            <a:endParaRPr lang="en-IE" sz="12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03C7009-E521-4EBF-99B9-2FC7BE1AED4C}"/>
              </a:ext>
            </a:extLst>
          </p:cNvPr>
          <p:cNvSpPr txBox="1"/>
          <p:nvPr/>
        </p:nvSpPr>
        <p:spPr>
          <a:xfrm>
            <a:off x="6233915" y="4099026"/>
            <a:ext cx="751586" cy="27699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200" dirty="0"/>
              <a:t>149.99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6CE7FB0-63B1-4809-A8C1-48C339B20821}"/>
              </a:ext>
            </a:extLst>
          </p:cNvPr>
          <p:cNvSpPr/>
          <p:nvPr/>
        </p:nvSpPr>
        <p:spPr>
          <a:xfrm>
            <a:off x="5829300" y="1574992"/>
            <a:ext cx="714375" cy="4154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endParaRPr lang="en-IE" sz="2100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CE08433-C94C-4D11-B009-3DBFAE1AE5EA}"/>
              </a:ext>
            </a:extLst>
          </p:cNvPr>
          <p:cNvCxnSpPr>
            <a:cxnSpLocks/>
          </p:cNvCxnSpPr>
          <p:nvPr/>
        </p:nvCxnSpPr>
        <p:spPr>
          <a:xfrm flipH="1">
            <a:off x="5751576" y="1761002"/>
            <a:ext cx="280114" cy="1392009"/>
          </a:xfrm>
          <a:prstGeom prst="straightConnector1">
            <a:avLst/>
          </a:prstGeom>
          <a:ln w="3810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B42487AA-B441-4E07-94D7-FEDD77B9C962}"/>
              </a:ext>
            </a:extLst>
          </p:cNvPr>
          <p:cNvSpPr txBox="1"/>
          <p:nvPr/>
        </p:nvSpPr>
        <p:spPr>
          <a:xfrm>
            <a:off x="4610862" y="4423411"/>
            <a:ext cx="1631139" cy="27699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200" dirty="0" err="1"/>
              <a:t>inCurrentProductLine</a:t>
            </a:r>
            <a:endParaRPr lang="en-IE" sz="12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47C3194-5C0C-4C08-819C-F4D8C8DBED6A}"/>
              </a:ext>
            </a:extLst>
          </p:cNvPr>
          <p:cNvSpPr txBox="1"/>
          <p:nvPr/>
        </p:nvSpPr>
        <p:spPr>
          <a:xfrm>
            <a:off x="6286500" y="4395096"/>
            <a:ext cx="653421" cy="27699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200" dirty="0"/>
              <a:t>true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D1B3FF-A9BD-65C0-C4F9-98ED0E85EE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 dirty="0"/>
              <a:t>https://</a:t>
            </a:r>
            <a:r>
              <a:rPr lang="en-IE" dirty="0" err="1"/>
              <a:t>www.java.com</a:t>
            </a:r>
            <a:endParaRPr lang="en-I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7E0690-BB33-2BCE-7674-4496FC84C5F2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36</a:t>
            </a:fld>
            <a:endParaRPr lang="en-IE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9F5C4861-7D0F-9DC6-0988-ACF5B1B44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6" y="0"/>
            <a:ext cx="7772401" cy="761815"/>
          </a:xfrm>
        </p:spPr>
        <p:txBody>
          <a:bodyPr/>
          <a:lstStyle/>
          <a:p>
            <a:r>
              <a:rPr lang="en-IE" dirty="0"/>
              <a:t>Using the </a:t>
            </a:r>
            <a:r>
              <a:rPr lang="en-IE" dirty="0">
                <a:latin typeface="Monaco" pitchFamily="2" charset="77"/>
              </a:rPr>
              <a:t>Product</a:t>
            </a:r>
            <a:r>
              <a:rPr lang="en-IE" dirty="0"/>
              <a:t> Class</a:t>
            </a:r>
          </a:p>
        </p:txBody>
      </p:sp>
    </p:spTree>
    <p:extLst>
      <p:ext uri="{BB962C8B-B14F-4D97-AF65-F5344CB8AC3E}">
        <p14:creationId xmlns:p14="http://schemas.microsoft.com/office/powerpoint/2010/main" val="1960869427"/>
      </p:ext>
    </p:extLst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>
            <a:extLst>
              <a:ext uri="{FF2B5EF4-FFF2-40B4-BE49-F238E27FC236}">
                <a16:creationId xmlns:a16="http://schemas.microsoft.com/office/drawing/2014/main" id="{85E50CD2-6C42-45F5-9B21-DB4B35B906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4123" y="933030"/>
            <a:ext cx="6088846" cy="253916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private </a:t>
            </a:r>
            <a:r>
              <a:rPr lang="en-US" altLang="en-US" sz="12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Product </a:t>
            </a:r>
            <a:r>
              <a:rPr lang="en-US" altLang="en-US" sz="1200" b="1" dirty="0" err="1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product</a:t>
            </a:r>
            <a:r>
              <a:rPr lang="en-US" altLang="en-US" sz="1200" b="1" dirty="0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 </a:t>
            </a:r>
            <a:r>
              <a:rPr lang="en-US" altLang="en-US" sz="12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= </a:t>
            </a:r>
            <a:r>
              <a:rPr lang="en-US" altLang="en-US" sz="1200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new </a:t>
            </a:r>
            <a:r>
              <a:rPr lang="en-US" altLang="en-US" sz="12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Product(“TV”, 1234, 149.99, true);</a:t>
            </a:r>
            <a:endParaRPr lang="en-US" altLang="en-US" sz="3000" dirty="0">
              <a:latin typeface="Monaco" pitchFamily="2" charset="77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66BEC1-DD97-3196-AA54-115C4F1577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4ADF9F-15E7-F7D1-8AA9-B807E866732B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37</a:t>
            </a:fld>
            <a:endParaRPr lang="en-IE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CD10414-0A75-58AD-92F1-6B2B2027D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6" y="0"/>
            <a:ext cx="7772401" cy="761815"/>
          </a:xfrm>
        </p:spPr>
        <p:txBody>
          <a:bodyPr/>
          <a:lstStyle/>
          <a:p>
            <a:r>
              <a:rPr lang="en-IE" dirty="0"/>
              <a:t>Multiple </a:t>
            </a:r>
            <a:r>
              <a:rPr lang="en-IE" dirty="0">
                <a:latin typeface="Monaco" pitchFamily="2" charset="77"/>
              </a:rPr>
              <a:t>Product</a:t>
            </a:r>
            <a:r>
              <a:rPr lang="en-IE" dirty="0"/>
              <a:t> objects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3C34D2-6AAE-50DA-C405-A09C42A90F2A}"/>
              </a:ext>
            </a:extLst>
          </p:cNvPr>
          <p:cNvSpPr txBox="1"/>
          <p:nvPr/>
        </p:nvSpPr>
        <p:spPr>
          <a:xfrm>
            <a:off x="1644964" y="1639534"/>
            <a:ext cx="11256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US" sz="1600" b="1" dirty="0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product</a:t>
            </a:r>
            <a:endParaRPr lang="en-IE" sz="1500" dirty="0"/>
          </a:p>
        </p:txBody>
      </p:sp>
      <p:sp>
        <p:nvSpPr>
          <p:cNvPr id="10" name="Rounded Rectangle 11">
            <a:extLst>
              <a:ext uri="{FF2B5EF4-FFF2-40B4-BE49-F238E27FC236}">
                <a16:creationId xmlns:a16="http://schemas.microsoft.com/office/drawing/2014/main" id="{35145E8C-D694-1D10-AB4E-8CDB3F27FB01}"/>
              </a:ext>
            </a:extLst>
          </p:cNvPr>
          <p:cNvSpPr/>
          <p:nvPr/>
        </p:nvSpPr>
        <p:spPr>
          <a:xfrm>
            <a:off x="387665" y="2774110"/>
            <a:ext cx="2800350" cy="20574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20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8F5A71F-CF61-92B3-6BFB-9EE00100D5E9}"/>
              </a:ext>
            </a:extLst>
          </p:cNvPr>
          <p:cNvCxnSpPr>
            <a:cxnSpLocks/>
          </p:cNvCxnSpPr>
          <p:nvPr/>
        </p:nvCxnSpPr>
        <p:spPr>
          <a:xfrm>
            <a:off x="616265" y="3209097"/>
            <a:ext cx="229536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B1D6259-A9AC-BD21-64C8-20984E30B63E}"/>
              </a:ext>
            </a:extLst>
          </p:cNvPr>
          <p:cNvSpPr txBox="1"/>
          <p:nvPr/>
        </p:nvSpPr>
        <p:spPr>
          <a:xfrm>
            <a:off x="559116" y="3323397"/>
            <a:ext cx="1476530" cy="27699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200" dirty="0" err="1"/>
              <a:t>productName</a:t>
            </a:r>
            <a:endParaRPr lang="en-IE" sz="12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8E97B8-A572-91D0-EB75-48613840D120}"/>
              </a:ext>
            </a:extLst>
          </p:cNvPr>
          <p:cNvSpPr txBox="1"/>
          <p:nvPr/>
        </p:nvSpPr>
        <p:spPr>
          <a:xfrm>
            <a:off x="559116" y="3666297"/>
            <a:ext cx="1476530" cy="27699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200" dirty="0" err="1"/>
              <a:t>productCode</a:t>
            </a:r>
            <a:endParaRPr lang="en-IE" sz="1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120050F-43F4-993C-A7D0-2A313756FFAB}"/>
              </a:ext>
            </a:extLst>
          </p:cNvPr>
          <p:cNvSpPr txBox="1"/>
          <p:nvPr/>
        </p:nvSpPr>
        <p:spPr>
          <a:xfrm>
            <a:off x="2184087" y="3371430"/>
            <a:ext cx="780425" cy="27699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200" dirty="0"/>
              <a:t>“TV”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883BEC0-04F8-6B74-2C94-4FC7BD46EFE5}"/>
              </a:ext>
            </a:extLst>
          </p:cNvPr>
          <p:cNvSpPr txBox="1"/>
          <p:nvPr/>
        </p:nvSpPr>
        <p:spPr>
          <a:xfrm>
            <a:off x="2184087" y="3714330"/>
            <a:ext cx="780425" cy="27699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200" dirty="0"/>
              <a:t>1234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F5E5F99-BD92-F8AA-058D-CBEDBB8E2B25}"/>
              </a:ext>
            </a:extLst>
          </p:cNvPr>
          <p:cNvSpPr txBox="1"/>
          <p:nvPr/>
        </p:nvSpPr>
        <p:spPr>
          <a:xfrm>
            <a:off x="1302066" y="2864522"/>
            <a:ext cx="993049" cy="3231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1500" dirty="0"/>
              <a:t>product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53734CD-CCE0-C35B-1C0F-65EFD1CABA7D}"/>
              </a:ext>
            </a:extLst>
          </p:cNvPr>
          <p:cNvSpPr txBox="1"/>
          <p:nvPr/>
        </p:nvSpPr>
        <p:spPr>
          <a:xfrm>
            <a:off x="559116" y="4015212"/>
            <a:ext cx="1483254" cy="27699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200" dirty="0" err="1"/>
              <a:t>unitCost</a:t>
            </a:r>
            <a:endParaRPr lang="en-IE" sz="12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DB50FB2-B833-93BF-C14E-37AEFA563FB9}"/>
              </a:ext>
            </a:extLst>
          </p:cNvPr>
          <p:cNvSpPr txBox="1"/>
          <p:nvPr/>
        </p:nvSpPr>
        <p:spPr>
          <a:xfrm>
            <a:off x="2166040" y="4063245"/>
            <a:ext cx="780425" cy="27699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200" dirty="0"/>
              <a:t>149.99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56D7BD4-09D2-2FDB-6D42-AC770484C81B}"/>
              </a:ext>
            </a:extLst>
          </p:cNvPr>
          <p:cNvSpPr/>
          <p:nvPr/>
        </p:nvSpPr>
        <p:spPr>
          <a:xfrm>
            <a:off x="1987866" y="2005953"/>
            <a:ext cx="573842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endParaRPr lang="en-IE" sz="1800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1164D2AF-B169-2BE0-C72D-56512729EE0F}"/>
              </a:ext>
            </a:extLst>
          </p:cNvPr>
          <p:cNvCxnSpPr>
            <a:cxnSpLocks/>
            <a:endCxn id="10" idx="0"/>
          </p:cNvCxnSpPr>
          <p:nvPr/>
        </p:nvCxnSpPr>
        <p:spPr>
          <a:xfrm flipH="1">
            <a:off x="1787840" y="2264984"/>
            <a:ext cx="542925" cy="509126"/>
          </a:xfrm>
          <a:prstGeom prst="straightConnector1">
            <a:avLst/>
          </a:prstGeom>
          <a:ln w="3810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1E9E7C63-94D4-120E-F904-168F77C4A3B0}"/>
              </a:ext>
            </a:extLst>
          </p:cNvPr>
          <p:cNvSpPr txBox="1"/>
          <p:nvPr/>
        </p:nvSpPr>
        <p:spPr>
          <a:xfrm>
            <a:off x="493776" y="4374311"/>
            <a:ext cx="1665540" cy="27699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200" dirty="0" err="1"/>
              <a:t>inCurrentProductLine</a:t>
            </a:r>
            <a:endParaRPr lang="en-IE" sz="12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2BBDF57-5656-14BE-9E69-1F9B29078D43}"/>
              </a:ext>
            </a:extLst>
          </p:cNvPr>
          <p:cNvSpPr txBox="1"/>
          <p:nvPr/>
        </p:nvSpPr>
        <p:spPr>
          <a:xfrm>
            <a:off x="2159316" y="4406145"/>
            <a:ext cx="788882" cy="27699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200" dirty="0"/>
              <a:t>true</a:t>
            </a:r>
          </a:p>
        </p:txBody>
      </p:sp>
    </p:spTree>
    <p:extLst>
      <p:ext uri="{BB962C8B-B14F-4D97-AF65-F5344CB8AC3E}">
        <p14:creationId xmlns:p14="http://schemas.microsoft.com/office/powerpoint/2010/main" val="49297300"/>
      </p:ext>
    </p:extLst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1">
            <a:extLst>
              <a:ext uri="{FF2B5EF4-FFF2-40B4-BE49-F238E27FC236}">
                <a16:creationId xmlns:a16="http://schemas.microsoft.com/office/drawing/2014/main" id="{BF4AEE06-1A28-42F3-AA1F-ABA2BFC8A42D}"/>
              </a:ext>
            </a:extLst>
          </p:cNvPr>
          <p:cNvSpPr/>
          <p:nvPr/>
        </p:nvSpPr>
        <p:spPr>
          <a:xfrm>
            <a:off x="387665" y="2774110"/>
            <a:ext cx="2800350" cy="20574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20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FAE63D8-2559-4001-858A-28804D1C6974}"/>
              </a:ext>
            </a:extLst>
          </p:cNvPr>
          <p:cNvCxnSpPr>
            <a:cxnSpLocks/>
          </p:cNvCxnSpPr>
          <p:nvPr/>
        </p:nvCxnSpPr>
        <p:spPr>
          <a:xfrm>
            <a:off x="616265" y="3209097"/>
            <a:ext cx="229536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BFC4055-1FB5-4AC5-898F-669C0FEADBF5}"/>
              </a:ext>
            </a:extLst>
          </p:cNvPr>
          <p:cNvSpPr txBox="1"/>
          <p:nvPr/>
        </p:nvSpPr>
        <p:spPr>
          <a:xfrm>
            <a:off x="559116" y="3323397"/>
            <a:ext cx="1476530" cy="27699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200" dirty="0" err="1"/>
              <a:t>productName</a:t>
            </a:r>
            <a:endParaRPr lang="en-IE" sz="1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399FE47-808F-4E5D-AC50-11DFE1F7E60C}"/>
              </a:ext>
            </a:extLst>
          </p:cNvPr>
          <p:cNvSpPr txBox="1"/>
          <p:nvPr/>
        </p:nvSpPr>
        <p:spPr>
          <a:xfrm>
            <a:off x="559116" y="3666297"/>
            <a:ext cx="1476530" cy="27699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200" dirty="0" err="1"/>
              <a:t>productCode</a:t>
            </a:r>
            <a:endParaRPr lang="en-IE" sz="1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DFA6BFA-24E7-4397-9ED2-BD3F46E81167}"/>
              </a:ext>
            </a:extLst>
          </p:cNvPr>
          <p:cNvSpPr txBox="1"/>
          <p:nvPr/>
        </p:nvSpPr>
        <p:spPr>
          <a:xfrm>
            <a:off x="2184087" y="3371430"/>
            <a:ext cx="780425" cy="27699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200" dirty="0"/>
              <a:t>“TV”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37AD0F0-1141-49DD-85A3-CA088F57854B}"/>
              </a:ext>
            </a:extLst>
          </p:cNvPr>
          <p:cNvSpPr txBox="1"/>
          <p:nvPr/>
        </p:nvSpPr>
        <p:spPr>
          <a:xfrm>
            <a:off x="2184087" y="3714330"/>
            <a:ext cx="780425" cy="27699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200" dirty="0"/>
              <a:t>1234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6C84EDE-3D16-43BA-AF55-CB59C749337E}"/>
              </a:ext>
            </a:extLst>
          </p:cNvPr>
          <p:cNvSpPr txBox="1"/>
          <p:nvPr/>
        </p:nvSpPr>
        <p:spPr>
          <a:xfrm>
            <a:off x="1302066" y="2864522"/>
            <a:ext cx="993049" cy="3231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1500" dirty="0"/>
              <a:t>product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0A757A0-DF71-4A17-9B73-20EE3D65C1B2}"/>
              </a:ext>
            </a:extLst>
          </p:cNvPr>
          <p:cNvSpPr txBox="1"/>
          <p:nvPr/>
        </p:nvSpPr>
        <p:spPr>
          <a:xfrm>
            <a:off x="559116" y="4015212"/>
            <a:ext cx="1483254" cy="27699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200" dirty="0" err="1"/>
              <a:t>unitCost</a:t>
            </a:r>
            <a:endParaRPr lang="en-IE" sz="12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03C7009-E521-4EBF-99B9-2FC7BE1AED4C}"/>
              </a:ext>
            </a:extLst>
          </p:cNvPr>
          <p:cNvSpPr txBox="1"/>
          <p:nvPr/>
        </p:nvSpPr>
        <p:spPr>
          <a:xfrm>
            <a:off x="2166040" y="4063245"/>
            <a:ext cx="780425" cy="27699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200" dirty="0"/>
              <a:t>149.99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6CE7FB0-63B1-4809-A8C1-48C339B20821}"/>
              </a:ext>
            </a:extLst>
          </p:cNvPr>
          <p:cNvSpPr/>
          <p:nvPr/>
        </p:nvSpPr>
        <p:spPr>
          <a:xfrm>
            <a:off x="1987866" y="2005953"/>
            <a:ext cx="573842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endParaRPr lang="en-IE" sz="1800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CE08433-C94C-4D11-B009-3DBFAE1AE5EA}"/>
              </a:ext>
            </a:extLst>
          </p:cNvPr>
          <p:cNvCxnSpPr>
            <a:cxnSpLocks/>
            <a:endCxn id="14" idx="0"/>
          </p:cNvCxnSpPr>
          <p:nvPr/>
        </p:nvCxnSpPr>
        <p:spPr>
          <a:xfrm flipH="1">
            <a:off x="1787840" y="2264984"/>
            <a:ext cx="542925" cy="509126"/>
          </a:xfrm>
          <a:prstGeom prst="straightConnector1">
            <a:avLst/>
          </a:prstGeom>
          <a:ln w="3810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047C3194-5C0C-4C08-819C-F4D8C8DBED6A}"/>
              </a:ext>
            </a:extLst>
          </p:cNvPr>
          <p:cNvSpPr txBox="1"/>
          <p:nvPr/>
        </p:nvSpPr>
        <p:spPr>
          <a:xfrm>
            <a:off x="2159316" y="4406145"/>
            <a:ext cx="788882" cy="27699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200" dirty="0"/>
              <a:t>true</a:t>
            </a:r>
          </a:p>
        </p:txBody>
      </p:sp>
      <p:sp>
        <p:nvSpPr>
          <p:cNvPr id="20" name="Rectangle 2">
            <a:extLst>
              <a:ext uri="{FF2B5EF4-FFF2-40B4-BE49-F238E27FC236}">
                <a16:creationId xmlns:a16="http://schemas.microsoft.com/office/drawing/2014/main" id="{E8EC398D-E8E6-464D-9D36-ACF9C618B5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1364" y="1303093"/>
            <a:ext cx="6460743" cy="253916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private </a:t>
            </a:r>
            <a:r>
              <a:rPr lang="en-US" altLang="en-US" sz="12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Product </a:t>
            </a:r>
            <a:r>
              <a:rPr lang="en-US" altLang="en-US" sz="1200" b="1" dirty="0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phone </a:t>
            </a:r>
            <a:r>
              <a:rPr lang="en-US" altLang="en-US" sz="12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= </a:t>
            </a:r>
            <a:r>
              <a:rPr lang="en-US" altLang="en-US" sz="1200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new </a:t>
            </a:r>
            <a:r>
              <a:rPr lang="en-US" altLang="en-US" sz="12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Product(“iPhone8”, 1001, 349.99, false);</a:t>
            </a:r>
            <a:endParaRPr lang="en-US" altLang="en-US" sz="3000" dirty="0">
              <a:latin typeface="Monaco" pitchFamily="2" charset="7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EE8BF56-7684-42D6-95BA-64A36A35348C}"/>
              </a:ext>
            </a:extLst>
          </p:cNvPr>
          <p:cNvSpPr txBox="1"/>
          <p:nvPr/>
        </p:nvSpPr>
        <p:spPr>
          <a:xfrm>
            <a:off x="5829300" y="1620774"/>
            <a:ext cx="10558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US" sz="1600" b="1" dirty="0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phone</a:t>
            </a:r>
            <a:endParaRPr lang="en-IE" sz="1500" dirty="0"/>
          </a:p>
        </p:txBody>
      </p:sp>
      <p:sp>
        <p:nvSpPr>
          <p:cNvPr id="23" name="Rounded Rectangle 11">
            <a:extLst>
              <a:ext uri="{FF2B5EF4-FFF2-40B4-BE49-F238E27FC236}">
                <a16:creationId xmlns:a16="http://schemas.microsoft.com/office/drawing/2014/main" id="{CBF5BA80-7B91-4F8B-90BF-6F1498339940}"/>
              </a:ext>
            </a:extLst>
          </p:cNvPr>
          <p:cNvSpPr/>
          <p:nvPr/>
        </p:nvSpPr>
        <p:spPr>
          <a:xfrm>
            <a:off x="4572000" y="2755351"/>
            <a:ext cx="2800350" cy="20574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20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F8F8AB0-7943-4688-91B2-0257F2FDAA7D}"/>
              </a:ext>
            </a:extLst>
          </p:cNvPr>
          <p:cNvCxnSpPr>
            <a:cxnSpLocks/>
          </p:cNvCxnSpPr>
          <p:nvPr/>
        </p:nvCxnSpPr>
        <p:spPr>
          <a:xfrm>
            <a:off x="4800600" y="3190337"/>
            <a:ext cx="229536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90D1D9E-1BBB-401A-B188-401D524664E0}"/>
              </a:ext>
            </a:extLst>
          </p:cNvPr>
          <p:cNvSpPr txBox="1"/>
          <p:nvPr/>
        </p:nvSpPr>
        <p:spPr>
          <a:xfrm>
            <a:off x="4743451" y="3304638"/>
            <a:ext cx="1476530" cy="27699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200" dirty="0" err="1"/>
              <a:t>productName</a:t>
            </a:r>
            <a:endParaRPr lang="en-IE" sz="12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5617849-E0D9-489E-B8F2-9C2CA2679DB3}"/>
              </a:ext>
            </a:extLst>
          </p:cNvPr>
          <p:cNvSpPr txBox="1"/>
          <p:nvPr/>
        </p:nvSpPr>
        <p:spPr>
          <a:xfrm>
            <a:off x="4743451" y="3647538"/>
            <a:ext cx="1476530" cy="27699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200" dirty="0" err="1"/>
              <a:t>productCode</a:t>
            </a:r>
            <a:endParaRPr lang="en-IE" sz="12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BA0DD1E-912F-438A-B0EA-48BD9B58C20A}"/>
              </a:ext>
            </a:extLst>
          </p:cNvPr>
          <p:cNvSpPr txBox="1"/>
          <p:nvPr/>
        </p:nvSpPr>
        <p:spPr>
          <a:xfrm>
            <a:off x="6368422" y="3352671"/>
            <a:ext cx="882770" cy="27699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200" dirty="0"/>
              <a:t>“iPhone8”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729C818-5771-40D0-AFA9-23E83EFBE60F}"/>
              </a:ext>
            </a:extLst>
          </p:cNvPr>
          <p:cNvSpPr txBox="1"/>
          <p:nvPr/>
        </p:nvSpPr>
        <p:spPr>
          <a:xfrm>
            <a:off x="6368422" y="3695571"/>
            <a:ext cx="780425" cy="27699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200" dirty="0"/>
              <a:t>1001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8E84EE5-C55C-4858-BD45-F2554AA9E2CA}"/>
              </a:ext>
            </a:extLst>
          </p:cNvPr>
          <p:cNvSpPr txBox="1"/>
          <p:nvPr/>
        </p:nvSpPr>
        <p:spPr>
          <a:xfrm>
            <a:off x="5486401" y="2845763"/>
            <a:ext cx="993049" cy="3231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1500" dirty="0"/>
              <a:t>phone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2C7FF33-7D80-4DEF-A004-71A314A5BDC3}"/>
              </a:ext>
            </a:extLst>
          </p:cNvPr>
          <p:cNvSpPr txBox="1"/>
          <p:nvPr/>
        </p:nvSpPr>
        <p:spPr>
          <a:xfrm>
            <a:off x="4743451" y="3996453"/>
            <a:ext cx="1483254" cy="27699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200" dirty="0" err="1"/>
              <a:t>unitCost</a:t>
            </a:r>
            <a:endParaRPr lang="en-IE" sz="12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01A0137-99C9-4108-B357-6A620D9D24CF}"/>
              </a:ext>
            </a:extLst>
          </p:cNvPr>
          <p:cNvSpPr txBox="1"/>
          <p:nvPr/>
        </p:nvSpPr>
        <p:spPr>
          <a:xfrm>
            <a:off x="6350375" y="4044486"/>
            <a:ext cx="780425" cy="27699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200" dirty="0"/>
              <a:t>349.99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DB6A91A-D3A4-4AD0-B9F5-E2DFBAF6B657}"/>
              </a:ext>
            </a:extLst>
          </p:cNvPr>
          <p:cNvSpPr/>
          <p:nvPr/>
        </p:nvSpPr>
        <p:spPr>
          <a:xfrm>
            <a:off x="6172201" y="1987194"/>
            <a:ext cx="573842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endParaRPr lang="en-IE" sz="1800" dirty="0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FD0DCBAA-3EB5-45FF-8F1C-1C0EBD814506}"/>
              </a:ext>
            </a:extLst>
          </p:cNvPr>
          <p:cNvCxnSpPr>
            <a:cxnSpLocks/>
            <a:endCxn id="23" idx="0"/>
          </p:cNvCxnSpPr>
          <p:nvPr/>
        </p:nvCxnSpPr>
        <p:spPr>
          <a:xfrm flipH="1">
            <a:off x="5972175" y="2246225"/>
            <a:ext cx="542925" cy="509126"/>
          </a:xfrm>
          <a:prstGeom prst="straightConnector1">
            <a:avLst/>
          </a:prstGeom>
          <a:ln w="3810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8F0E1B3A-BC7C-4CF5-87B4-28BE439529B1}"/>
              </a:ext>
            </a:extLst>
          </p:cNvPr>
          <p:cNvSpPr txBox="1"/>
          <p:nvPr/>
        </p:nvSpPr>
        <p:spPr>
          <a:xfrm>
            <a:off x="4613738" y="4355551"/>
            <a:ext cx="1729913" cy="27699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200" dirty="0" err="1"/>
              <a:t>inCurrentProductLine</a:t>
            </a:r>
            <a:endParaRPr lang="en-IE" sz="12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F6DF6F4-0428-4908-A7DA-4FC7B8A92112}"/>
              </a:ext>
            </a:extLst>
          </p:cNvPr>
          <p:cNvSpPr txBox="1"/>
          <p:nvPr/>
        </p:nvSpPr>
        <p:spPr>
          <a:xfrm>
            <a:off x="6343651" y="4387386"/>
            <a:ext cx="788882" cy="27699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200" dirty="0"/>
              <a:t>false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04578F-5D49-B27E-094D-F186ED67BC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D91E44-2666-AC81-C26A-7463E7238589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38</a:t>
            </a:fld>
            <a:endParaRPr lang="en-IE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1854EE6-9D47-B927-6BC4-8164116B10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4123" y="933030"/>
            <a:ext cx="6088846" cy="253916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private </a:t>
            </a:r>
            <a:r>
              <a:rPr lang="en-US" altLang="en-US" sz="12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Product </a:t>
            </a:r>
            <a:r>
              <a:rPr lang="en-US" altLang="en-US" sz="1200" b="1" dirty="0" err="1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product</a:t>
            </a:r>
            <a:r>
              <a:rPr lang="en-US" altLang="en-US" sz="1200" b="1" dirty="0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 </a:t>
            </a:r>
            <a:r>
              <a:rPr lang="en-US" altLang="en-US" sz="12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= </a:t>
            </a:r>
            <a:r>
              <a:rPr lang="en-US" altLang="en-US" sz="1200" b="1" dirty="0">
                <a:solidFill>
                  <a:srgbClr val="000080"/>
                </a:solidFill>
                <a:latin typeface="Monaco" pitchFamily="2" charset="77"/>
                <a:cs typeface="Courier New" panose="02070309020205020404" pitchFamily="49" charset="0"/>
              </a:rPr>
              <a:t>new </a:t>
            </a:r>
            <a:r>
              <a:rPr lang="en-US" altLang="en-US" sz="1200" dirty="0">
                <a:solidFill>
                  <a:srgbClr val="000000"/>
                </a:solidFill>
                <a:latin typeface="Monaco" pitchFamily="2" charset="77"/>
                <a:cs typeface="Courier New" panose="02070309020205020404" pitchFamily="49" charset="0"/>
              </a:rPr>
              <a:t>Product(“TV”, 1234, 149.99, true);</a:t>
            </a:r>
            <a:endParaRPr lang="en-US" altLang="en-US" sz="3000" dirty="0">
              <a:latin typeface="Monaco" pitchFamily="2" charset="77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2798EEA-8AC7-B104-814E-502E04E32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6" y="0"/>
            <a:ext cx="7772401" cy="761815"/>
          </a:xfrm>
        </p:spPr>
        <p:txBody>
          <a:bodyPr/>
          <a:lstStyle/>
          <a:p>
            <a:r>
              <a:rPr lang="en-IE" dirty="0"/>
              <a:t>Multiple </a:t>
            </a:r>
            <a:r>
              <a:rPr lang="en-IE" dirty="0">
                <a:latin typeface="Monaco" pitchFamily="2" charset="77"/>
              </a:rPr>
              <a:t>Product</a:t>
            </a:r>
            <a:r>
              <a:rPr lang="en-IE" dirty="0"/>
              <a:t> objects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40BBD6-BA0E-0C03-3D0C-CC155970D252}"/>
              </a:ext>
            </a:extLst>
          </p:cNvPr>
          <p:cNvSpPr txBox="1"/>
          <p:nvPr/>
        </p:nvSpPr>
        <p:spPr>
          <a:xfrm>
            <a:off x="1644964" y="1639534"/>
            <a:ext cx="11256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US" sz="1600" b="1" dirty="0">
                <a:solidFill>
                  <a:srgbClr val="660E7A"/>
                </a:solidFill>
                <a:latin typeface="Monaco" pitchFamily="2" charset="77"/>
                <a:cs typeface="Courier New" panose="02070309020205020404" pitchFamily="49" charset="0"/>
              </a:rPr>
              <a:t>product</a:t>
            </a:r>
            <a:endParaRPr lang="en-IE" sz="15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ED9797-CB5C-B6D2-9B91-08055D88331D}"/>
              </a:ext>
            </a:extLst>
          </p:cNvPr>
          <p:cNvSpPr txBox="1"/>
          <p:nvPr/>
        </p:nvSpPr>
        <p:spPr>
          <a:xfrm>
            <a:off x="493776" y="4374311"/>
            <a:ext cx="1665540" cy="27699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200" dirty="0" err="1"/>
              <a:t>inCurrentProductLine</a:t>
            </a:r>
            <a:endParaRPr lang="en-IE" sz="1200" dirty="0"/>
          </a:p>
        </p:txBody>
      </p:sp>
    </p:spTree>
    <p:extLst>
      <p:ext uri="{BB962C8B-B14F-4D97-AF65-F5344CB8AC3E}">
        <p14:creationId xmlns:p14="http://schemas.microsoft.com/office/powerpoint/2010/main" val="2800559641"/>
      </p:ext>
    </p:extLst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Questions?</a:t>
            </a:r>
          </a:p>
        </p:txBody>
      </p:sp>
      <p:pic>
        <p:nvPicPr>
          <p:cNvPr id="3074" name="Picture 2" descr="Image result for question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0" y="1543051"/>
            <a:ext cx="3257550" cy="2632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ABF721-2CD3-DD75-D63E-7BCC6F10EB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8BDD31-F005-E822-3A17-240BABB4EFA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39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109878679"/>
      </p:ext>
    </p:extLst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logo&#13;&#10;&#13;&#10;Description automatically generated">
            <a:extLst>
              <a:ext uri="{FF2B5EF4-FFF2-40B4-BE49-F238E27FC236}">
                <a16:creationId xmlns:a16="http://schemas.microsoft.com/office/drawing/2014/main" id="{64886AB6-DCB6-9645-8125-CA11F57910D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62" r="1" b="1"/>
          <a:stretch/>
        </p:blipFill>
        <p:spPr>
          <a:xfrm>
            <a:off x="1347374" y="473974"/>
            <a:ext cx="5821443" cy="4007299"/>
          </a:xfrm>
          <a:custGeom>
            <a:avLst/>
            <a:gdLst>
              <a:gd name="connsiteX0" fmla="*/ 3025687 w 7761924"/>
              <a:gd name="connsiteY0" fmla="*/ 76 h 5343065"/>
              <a:gd name="connsiteX1" fmla="*/ 3372722 w 7761924"/>
              <a:gd name="connsiteY1" fmla="*/ 16088 h 5343065"/>
              <a:gd name="connsiteX2" fmla="*/ 7761924 w 7761924"/>
              <a:gd name="connsiteY2" fmla="*/ 3316816 h 5343065"/>
              <a:gd name="connsiteX3" fmla="*/ 3701109 w 7761924"/>
              <a:gd name="connsiteY3" fmla="*/ 5320611 h 5343065"/>
              <a:gd name="connsiteX4" fmla="*/ 36290 w 7761924"/>
              <a:gd name="connsiteY4" fmla="*/ 2696959 h 5343065"/>
              <a:gd name="connsiteX5" fmla="*/ 3025687 w 7761924"/>
              <a:gd name="connsiteY5" fmla="*/ 76 h 53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61924" h="5343065">
                <a:moveTo>
                  <a:pt x="3025687" y="76"/>
                </a:moveTo>
                <a:cubicBezTo>
                  <a:pt x="3140786" y="756"/>
                  <a:pt x="3256631" y="6055"/>
                  <a:pt x="3372722" y="16088"/>
                </a:cubicBezTo>
                <a:cubicBezTo>
                  <a:pt x="5230178" y="176616"/>
                  <a:pt x="7761924" y="1424594"/>
                  <a:pt x="7761924" y="3316816"/>
                </a:cubicBezTo>
                <a:cubicBezTo>
                  <a:pt x="7646022" y="5237647"/>
                  <a:pt x="4988715" y="5423921"/>
                  <a:pt x="3701109" y="5320611"/>
                </a:cubicBezTo>
                <a:cubicBezTo>
                  <a:pt x="2413504" y="5217301"/>
                  <a:pt x="351800" y="4486992"/>
                  <a:pt x="36290" y="2696959"/>
                </a:cubicBezTo>
                <a:cubicBezTo>
                  <a:pt x="-259500" y="1018804"/>
                  <a:pt x="1299198" y="-10133"/>
                  <a:pt x="3025687" y="76"/>
                </a:cubicBezTo>
                <a:close/>
              </a:path>
            </a:pathLst>
          </a:custGeom>
          <a:solidFill>
            <a:srgbClr val="FDE111"/>
          </a:solidFill>
          <a:ln>
            <a:noFill/>
          </a:ln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CEEA231-6D6B-5147-A9A7-1A48939EB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pic>
        <p:nvPicPr>
          <p:cNvPr id="7" name="Picture 6" descr="A close up of a toy&#13;&#10;&#13;&#10;Description automatically generated">
            <a:extLst>
              <a:ext uri="{FF2B5EF4-FFF2-40B4-BE49-F238E27FC236}">
                <a16:creationId xmlns:a16="http://schemas.microsoft.com/office/drawing/2014/main" id="{2D47C071-A929-7E49-8327-BB4D84AA98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9971" y="4095032"/>
            <a:ext cx="628034" cy="77248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79B5407-EB5B-AF48-8192-C2BB3AEC3F33}"/>
              </a:ext>
            </a:extLst>
          </p:cNvPr>
          <p:cNvSpPr/>
          <p:nvPr/>
        </p:nvSpPr>
        <p:spPr>
          <a:xfrm>
            <a:off x="11" y="4902399"/>
            <a:ext cx="9143989" cy="241102"/>
          </a:xfrm>
          <a:prstGeom prst="rect">
            <a:avLst/>
          </a:prstGeom>
          <a:solidFill>
            <a:srgbClr val="598C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69025A5-5106-3945-8404-F8F73E40F972}"/>
              </a:ext>
            </a:extLst>
          </p:cNvPr>
          <p:cNvSpPr/>
          <p:nvPr/>
        </p:nvSpPr>
        <p:spPr>
          <a:xfrm>
            <a:off x="21" y="4867339"/>
            <a:ext cx="9143978" cy="35060"/>
          </a:xfrm>
          <a:prstGeom prst="rect">
            <a:avLst/>
          </a:prstGeom>
          <a:solidFill>
            <a:srgbClr val="2F48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Arc 4">
            <a:extLst>
              <a:ext uri="{FF2B5EF4-FFF2-40B4-BE49-F238E27FC236}">
                <a16:creationId xmlns:a16="http://schemas.microsoft.com/office/drawing/2014/main" id="{E905818B-C982-6824-2D72-82CAA50EB15F}"/>
              </a:ext>
            </a:extLst>
          </p:cNvPr>
          <p:cNvSpPr/>
          <p:nvPr/>
        </p:nvSpPr>
        <p:spPr>
          <a:xfrm>
            <a:off x="3119770" y="246781"/>
            <a:ext cx="4825046" cy="4363451"/>
          </a:xfrm>
          <a:custGeom>
            <a:avLst/>
            <a:gdLst>
              <a:gd name="connsiteX0" fmla="*/ 2412523 w 4825046"/>
              <a:gd name="connsiteY0" fmla="*/ 0 h 4363451"/>
              <a:gd name="connsiteX1" fmla="*/ 4825046 w 4825046"/>
              <a:gd name="connsiteY1" fmla="*/ 2181726 h 4363451"/>
              <a:gd name="connsiteX2" fmla="*/ 4294291 w 4825046"/>
              <a:gd name="connsiteY2" fmla="*/ 2181726 h 4363451"/>
              <a:gd name="connsiteX3" fmla="*/ 3835912 w 4825046"/>
              <a:gd name="connsiteY3" fmla="*/ 2181726 h 4363451"/>
              <a:gd name="connsiteX4" fmla="*/ 3401657 w 4825046"/>
              <a:gd name="connsiteY4" fmla="*/ 2181726 h 4363451"/>
              <a:gd name="connsiteX5" fmla="*/ 2895028 w 4825046"/>
              <a:gd name="connsiteY5" fmla="*/ 2181726 h 4363451"/>
              <a:gd name="connsiteX6" fmla="*/ 2412523 w 4825046"/>
              <a:gd name="connsiteY6" fmla="*/ 2181726 h 4363451"/>
              <a:gd name="connsiteX7" fmla="*/ 2412523 w 4825046"/>
              <a:gd name="connsiteY7" fmla="*/ 1592660 h 4363451"/>
              <a:gd name="connsiteX8" fmla="*/ 2412523 w 4825046"/>
              <a:gd name="connsiteY8" fmla="*/ 1003594 h 4363451"/>
              <a:gd name="connsiteX9" fmla="*/ 2412523 w 4825046"/>
              <a:gd name="connsiteY9" fmla="*/ 0 h 4363451"/>
              <a:gd name="connsiteX0" fmla="*/ 2412523 w 4825046"/>
              <a:gd name="connsiteY0" fmla="*/ 0 h 4363451"/>
              <a:gd name="connsiteX1" fmla="*/ 4825046 w 4825046"/>
              <a:gd name="connsiteY1" fmla="*/ 2181726 h 43634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825046" h="4363451" stroke="0" extrusionOk="0">
                <a:moveTo>
                  <a:pt x="2412523" y="0"/>
                </a:moveTo>
                <a:cubicBezTo>
                  <a:pt x="3628794" y="-71631"/>
                  <a:pt x="4778611" y="994220"/>
                  <a:pt x="4825046" y="2181726"/>
                </a:cubicBezTo>
                <a:cubicBezTo>
                  <a:pt x="4648381" y="2216667"/>
                  <a:pt x="4555722" y="2178687"/>
                  <a:pt x="4294291" y="2181726"/>
                </a:cubicBezTo>
                <a:cubicBezTo>
                  <a:pt x="4032860" y="2184765"/>
                  <a:pt x="3930079" y="2128263"/>
                  <a:pt x="3835912" y="2181726"/>
                </a:cubicBezTo>
                <a:cubicBezTo>
                  <a:pt x="3741745" y="2235189"/>
                  <a:pt x="3611727" y="2130904"/>
                  <a:pt x="3401657" y="2181726"/>
                </a:cubicBezTo>
                <a:cubicBezTo>
                  <a:pt x="3191588" y="2232548"/>
                  <a:pt x="3023759" y="2129332"/>
                  <a:pt x="2895028" y="2181726"/>
                </a:cubicBezTo>
                <a:cubicBezTo>
                  <a:pt x="2766297" y="2234120"/>
                  <a:pt x="2573145" y="2144605"/>
                  <a:pt x="2412523" y="2181726"/>
                </a:cubicBezTo>
                <a:cubicBezTo>
                  <a:pt x="2399089" y="2048791"/>
                  <a:pt x="2438220" y="1759814"/>
                  <a:pt x="2412523" y="1592660"/>
                </a:cubicBezTo>
                <a:cubicBezTo>
                  <a:pt x="2386826" y="1425506"/>
                  <a:pt x="2428532" y="1262217"/>
                  <a:pt x="2412523" y="1003594"/>
                </a:cubicBezTo>
                <a:cubicBezTo>
                  <a:pt x="2396514" y="744971"/>
                  <a:pt x="2425062" y="317837"/>
                  <a:pt x="2412523" y="0"/>
                </a:cubicBezTo>
                <a:close/>
              </a:path>
              <a:path w="4825046" h="4363451" fill="none" extrusionOk="0">
                <a:moveTo>
                  <a:pt x="2412523" y="0"/>
                </a:moveTo>
                <a:cubicBezTo>
                  <a:pt x="3893069" y="220530"/>
                  <a:pt x="4841856" y="1150891"/>
                  <a:pt x="4825046" y="2181726"/>
                </a:cubicBezTo>
              </a:path>
              <a:path w="4825046" h="4363451" fill="none" stroke="0" extrusionOk="0">
                <a:moveTo>
                  <a:pt x="2412523" y="0"/>
                </a:moveTo>
                <a:cubicBezTo>
                  <a:pt x="3594218" y="-24376"/>
                  <a:pt x="4991083" y="1112579"/>
                  <a:pt x="4825046" y="2181726"/>
                </a:cubicBezTo>
              </a:path>
            </a:pathLst>
          </a:custGeom>
          <a:ln w="161925">
            <a:solidFill>
              <a:srgbClr val="598CBE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arc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6" name="Arc 5">
            <a:extLst>
              <a:ext uri="{FF2B5EF4-FFF2-40B4-BE49-F238E27FC236}">
                <a16:creationId xmlns:a16="http://schemas.microsoft.com/office/drawing/2014/main" id="{0E12D8E3-B5EB-1F63-44BF-C8DFC4B7792B}"/>
              </a:ext>
            </a:extLst>
          </p:cNvPr>
          <p:cNvSpPr/>
          <p:nvPr/>
        </p:nvSpPr>
        <p:spPr>
          <a:xfrm rot="10800000">
            <a:off x="1199184" y="241101"/>
            <a:ext cx="4825046" cy="4363451"/>
          </a:xfrm>
          <a:custGeom>
            <a:avLst/>
            <a:gdLst>
              <a:gd name="connsiteX0" fmla="*/ 2412523 w 4825046"/>
              <a:gd name="connsiteY0" fmla="*/ 0 h 4363451"/>
              <a:gd name="connsiteX1" fmla="*/ 4825046 w 4825046"/>
              <a:gd name="connsiteY1" fmla="*/ 2181726 h 4363451"/>
              <a:gd name="connsiteX2" fmla="*/ 4294291 w 4825046"/>
              <a:gd name="connsiteY2" fmla="*/ 2181726 h 4363451"/>
              <a:gd name="connsiteX3" fmla="*/ 3835912 w 4825046"/>
              <a:gd name="connsiteY3" fmla="*/ 2181726 h 4363451"/>
              <a:gd name="connsiteX4" fmla="*/ 3401657 w 4825046"/>
              <a:gd name="connsiteY4" fmla="*/ 2181726 h 4363451"/>
              <a:gd name="connsiteX5" fmla="*/ 2895028 w 4825046"/>
              <a:gd name="connsiteY5" fmla="*/ 2181726 h 4363451"/>
              <a:gd name="connsiteX6" fmla="*/ 2412523 w 4825046"/>
              <a:gd name="connsiteY6" fmla="*/ 2181726 h 4363451"/>
              <a:gd name="connsiteX7" fmla="*/ 2412523 w 4825046"/>
              <a:gd name="connsiteY7" fmla="*/ 1592660 h 4363451"/>
              <a:gd name="connsiteX8" fmla="*/ 2412523 w 4825046"/>
              <a:gd name="connsiteY8" fmla="*/ 1003594 h 4363451"/>
              <a:gd name="connsiteX9" fmla="*/ 2412523 w 4825046"/>
              <a:gd name="connsiteY9" fmla="*/ 0 h 4363451"/>
              <a:gd name="connsiteX0" fmla="*/ 2412523 w 4825046"/>
              <a:gd name="connsiteY0" fmla="*/ 0 h 4363451"/>
              <a:gd name="connsiteX1" fmla="*/ 4825046 w 4825046"/>
              <a:gd name="connsiteY1" fmla="*/ 2181726 h 43634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825046" h="4363451" stroke="0" extrusionOk="0">
                <a:moveTo>
                  <a:pt x="2412523" y="0"/>
                </a:moveTo>
                <a:cubicBezTo>
                  <a:pt x="3628794" y="-71631"/>
                  <a:pt x="4778611" y="994220"/>
                  <a:pt x="4825046" y="2181726"/>
                </a:cubicBezTo>
                <a:cubicBezTo>
                  <a:pt x="4648381" y="2216667"/>
                  <a:pt x="4555722" y="2178687"/>
                  <a:pt x="4294291" y="2181726"/>
                </a:cubicBezTo>
                <a:cubicBezTo>
                  <a:pt x="4032860" y="2184765"/>
                  <a:pt x="3930079" y="2128263"/>
                  <a:pt x="3835912" y="2181726"/>
                </a:cubicBezTo>
                <a:cubicBezTo>
                  <a:pt x="3741745" y="2235189"/>
                  <a:pt x="3611727" y="2130904"/>
                  <a:pt x="3401657" y="2181726"/>
                </a:cubicBezTo>
                <a:cubicBezTo>
                  <a:pt x="3191588" y="2232548"/>
                  <a:pt x="3023759" y="2129332"/>
                  <a:pt x="2895028" y="2181726"/>
                </a:cubicBezTo>
                <a:cubicBezTo>
                  <a:pt x="2766297" y="2234120"/>
                  <a:pt x="2573145" y="2144605"/>
                  <a:pt x="2412523" y="2181726"/>
                </a:cubicBezTo>
                <a:cubicBezTo>
                  <a:pt x="2399089" y="2048791"/>
                  <a:pt x="2438220" y="1759814"/>
                  <a:pt x="2412523" y="1592660"/>
                </a:cubicBezTo>
                <a:cubicBezTo>
                  <a:pt x="2386826" y="1425506"/>
                  <a:pt x="2428532" y="1262217"/>
                  <a:pt x="2412523" y="1003594"/>
                </a:cubicBezTo>
                <a:cubicBezTo>
                  <a:pt x="2396514" y="744971"/>
                  <a:pt x="2425062" y="317837"/>
                  <a:pt x="2412523" y="0"/>
                </a:cubicBezTo>
                <a:close/>
              </a:path>
              <a:path w="4825046" h="4363451" fill="none" extrusionOk="0">
                <a:moveTo>
                  <a:pt x="2412523" y="0"/>
                </a:moveTo>
                <a:cubicBezTo>
                  <a:pt x="3893069" y="220530"/>
                  <a:pt x="4841856" y="1150891"/>
                  <a:pt x="4825046" y="2181726"/>
                </a:cubicBezTo>
              </a:path>
              <a:path w="4825046" h="4363451" fill="none" stroke="0" extrusionOk="0">
                <a:moveTo>
                  <a:pt x="2412523" y="0"/>
                </a:moveTo>
                <a:cubicBezTo>
                  <a:pt x="3594218" y="-24376"/>
                  <a:pt x="4991083" y="1112579"/>
                  <a:pt x="4825046" y="2181726"/>
                </a:cubicBezTo>
              </a:path>
            </a:pathLst>
          </a:custGeom>
          <a:ln w="161925">
            <a:solidFill>
              <a:srgbClr val="598CBE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arc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BA07139-B4B0-117B-EC27-2D34964457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468529"/>
      </p:ext>
    </p:extLst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27811</TotalTime>
  <Words>1811</Words>
  <Application>Microsoft Macintosh PowerPoint</Application>
  <PresentationFormat>On-screen Show (16:9)</PresentationFormat>
  <Paragraphs>334</Paragraphs>
  <Slides>40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51" baseType="lpstr">
      <vt:lpstr>Avenir</vt:lpstr>
      <vt:lpstr>Calibri</vt:lpstr>
      <vt:lpstr>Courier New</vt:lpstr>
      <vt:lpstr>Helvetica</vt:lpstr>
      <vt:lpstr>Helvetica Light</vt:lpstr>
      <vt:lpstr>Helvetica Neue</vt:lpstr>
      <vt:lpstr>Helvetica Neue Light</vt:lpstr>
      <vt:lpstr>Helvetica Neue UltraLight</vt:lpstr>
      <vt:lpstr>Monaco</vt:lpstr>
      <vt:lpstr>Wingdings</vt:lpstr>
      <vt:lpstr>White</vt:lpstr>
      <vt:lpstr>Programming Fundamentals 1</vt:lpstr>
      <vt:lpstr>PowerPoint Presentation</vt:lpstr>
      <vt:lpstr>RECAP Agenda</vt:lpstr>
      <vt:lpstr>Classes &amp; Objects</vt:lpstr>
      <vt:lpstr>Classes and Objects</vt:lpstr>
      <vt:lpstr>Classes and Objects</vt:lpstr>
      <vt:lpstr>Classes and Objects – Many Objects</vt:lpstr>
      <vt:lpstr>Shop  Version 1.0</vt:lpstr>
      <vt:lpstr>Shop V1.0 - Product</vt:lpstr>
      <vt:lpstr>Shop V1.0 - Product</vt:lpstr>
      <vt:lpstr>Shop V1.0 - Driver</vt:lpstr>
      <vt:lpstr>A Product Class…</vt:lpstr>
      <vt:lpstr>A Product Class…fields</vt:lpstr>
      <vt:lpstr>A Product Class…fields</vt:lpstr>
      <vt:lpstr>A Product Class…constructor</vt:lpstr>
      <vt:lpstr>A Product Class…fields &amp; constructor</vt:lpstr>
      <vt:lpstr>A Product Class… methods</vt:lpstr>
      <vt:lpstr>A Product Class… methods</vt:lpstr>
      <vt:lpstr>A Product Class… getters</vt:lpstr>
      <vt:lpstr>Getters (Accessor Methods)</vt:lpstr>
      <vt:lpstr>Getters</vt:lpstr>
      <vt:lpstr>A Product Class… getters</vt:lpstr>
      <vt:lpstr>A Product Class… setters</vt:lpstr>
      <vt:lpstr>Setters (Mutator methods)</vt:lpstr>
      <vt:lpstr>Setters</vt:lpstr>
      <vt:lpstr>A Product Class… setters</vt:lpstr>
      <vt:lpstr>Getters/Setters</vt:lpstr>
      <vt:lpstr>A Product Class… toString()</vt:lpstr>
      <vt:lpstr>A Product Class… toString()</vt:lpstr>
      <vt:lpstr>toString()</vt:lpstr>
      <vt:lpstr>Encapsulation in Java – steps 1-3</vt:lpstr>
      <vt:lpstr>A Product Class… An Encapsulated Class</vt:lpstr>
      <vt:lpstr>A Product Class… An Encapsulated Class</vt:lpstr>
      <vt:lpstr>A Product Class… An Encapsulated Class</vt:lpstr>
      <vt:lpstr>Using the Product Class</vt:lpstr>
      <vt:lpstr>Using the Product Class</vt:lpstr>
      <vt:lpstr>Multiple Product objects</vt:lpstr>
      <vt:lpstr>Multiple Product objects</vt:lpstr>
      <vt:lpstr>Questions?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Mobile Application Development</dc:title>
  <dc:creator>David Drohan</dc:creator>
  <cp:lastModifiedBy>David Drohan</cp:lastModifiedBy>
  <cp:revision>229</cp:revision>
  <dcterms:created xsi:type="dcterms:W3CDTF">2019-01-29T16:40:14Z</dcterms:created>
  <dcterms:modified xsi:type="dcterms:W3CDTF">2023-07-31T12:43:58Z</dcterms:modified>
</cp:coreProperties>
</file>