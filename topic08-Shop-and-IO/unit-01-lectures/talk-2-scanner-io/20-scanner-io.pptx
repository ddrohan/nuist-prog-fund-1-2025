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256" r:id="rId2"/>
    <p:sldId id="465" r:id="rId3"/>
    <p:sldId id="346" r:id="rId4"/>
    <p:sldId id="777" r:id="rId5"/>
    <p:sldId id="324" r:id="rId6"/>
    <p:sldId id="325" r:id="rId7"/>
    <p:sldId id="326" r:id="rId8"/>
    <p:sldId id="349" r:id="rId9"/>
    <p:sldId id="330" r:id="rId10"/>
    <p:sldId id="780" r:id="rId11"/>
    <p:sldId id="622" r:id="rId12"/>
    <p:sldId id="339" r:id="rId13"/>
    <p:sldId id="623" r:id="rId14"/>
    <p:sldId id="348" r:id="rId15"/>
    <p:sldId id="343" r:id="rId16"/>
    <p:sldId id="781" r:id="rId17"/>
    <p:sldId id="350" r:id="rId18"/>
    <p:sldId id="356" r:id="rId19"/>
    <p:sldId id="355" r:id="rId20"/>
    <p:sldId id="353" r:id="rId21"/>
    <p:sldId id="782" r:id="rId22"/>
    <p:sldId id="351" r:id="rId23"/>
    <p:sldId id="332" r:id="rId24"/>
    <p:sldId id="331" r:id="rId25"/>
    <p:sldId id="334" r:id="rId26"/>
    <p:sldId id="335" r:id="rId27"/>
    <p:sldId id="340" r:id="rId28"/>
    <p:sldId id="354" r:id="rId29"/>
    <p:sldId id="322" r:id="rId30"/>
    <p:sldId id="298" r:id="rId31"/>
  </p:sldIdLst>
  <p:sldSz cx="9144000" cy="5143500" type="screen16x9"/>
  <p:notesSz cx="6858000" cy="9144000"/>
  <p:defaultTextStyle>
    <a:lvl1pPr algn="ctr" defTabSz="366737">
      <a:defRPr sz="2250">
        <a:latin typeface="+mn-lt"/>
        <a:ea typeface="+mn-ea"/>
        <a:cs typeface="+mn-cs"/>
        <a:sym typeface="Helvetica Light"/>
      </a:defRPr>
    </a:lvl1pPr>
    <a:lvl2pPr indent="143505" algn="ctr" defTabSz="366737">
      <a:defRPr sz="2250">
        <a:latin typeface="+mn-lt"/>
        <a:ea typeface="+mn-ea"/>
        <a:cs typeface="+mn-cs"/>
        <a:sym typeface="Helvetica Light"/>
      </a:defRPr>
    </a:lvl2pPr>
    <a:lvl3pPr indent="287012" algn="ctr" defTabSz="366737">
      <a:defRPr sz="2250">
        <a:latin typeface="+mn-lt"/>
        <a:ea typeface="+mn-ea"/>
        <a:cs typeface="+mn-cs"/>
        <a:sym typeface="Helvetica Light"/>
      </a:defRPr>
    </a:lvl3pPr>
    <a:lvl4pPr indent="430517" algn="ctr" defTabSz="366737">
      <a:defRPr sz="2250">
        <a:latin typeface="+mn-lt"/>
        <a:ea typeface="+mn-ea"/>
        <a:cs typeface="+mn-cs"/>
        <a:sym typeface="Helvetica Light"/>
      </a:defRPr>
    </a:lvl4pPr>
    <a:lvl5pPr indent="574022" algn="ctr" defTabSz="366737">
      <a:defRPr sz="2250">
        <a:latin typeface="+mn-lt"/>
        <a:ea typeface="+mn-ea"/>
        <a:cs typeface="+mn-cs"/>
        <a:sym typeface="Helvetica Light"/>
      </a:defRPr>
    </a:lvl5pPr>
    <a:lvl6pPr indent="717528" algn="ctr" defTabSz="366737">
      <a:defRPr sz="2250">
        <a:latin typeface="+mn-lt"/>
        <a:ea typeface="+mn-ea"/>
        <a:cs typeface="+mn-cs"/>
        <a:sym typeface="Helvetica Light"/>
      </a:defRPr>
    </a:lvl6pPr>
    <a:lvl7pPr indent="861034" algn="ctr" defTabSz="366737">
      <a:defRPr sz="2250">
        <a:latin typeface="+mn-lt"/>
        <a:ea typeface="+mn-ea"/>
        <a:cs typeface="+mn-cs"/>
        <a:sym typeface="Helvetica Light"/>
      </a:defRPr>
    </a:lvl7pPr>
    <a:lvl8pPr indent="1004539" algn="ctr" defTabSz="366737">
      <a:defRPr sz="2250">
        <a:latin typeface="+mn-lt"/>
        <a:ea typeface="+mn-ea"/>
        <a:cs typeface="+mn-cs"/>
        <a:sym typeface="Helvetica Light"/>
      </a:defRPr>
    </a:lvl8pPr>
    <a:lvl9pPr indent="1148045" algn="ctr" defTabSz="366737">
      <a:defRPr sz="2250"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8CBE"/>
    <a:srgbClr val="0E9647"/>
    <a:srgbClr val="2F486B"/>
    <a:srgbClr val="0368FF"/>
    <a:srgbClr val="194699"/>
    <a:srgbClr val="1F33AB"/>
    <a:srgbClr val="84AEFF"/>
    <a:srgbClr val="FDE111"/>
    <a:srgbClr val="EDED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365C0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00882B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03"/>
    <p:restoredTop sz="85442"/>
  </p:normalViewPr>
  <p:slideViewPr>
    <p:cSldViewPr snapToGrid="0" snapToObjects="1">
      <p:cViewPr varScale="1">
        <p:scale>
          <a:sx n="139" d="100"/>
          <a:sy n="139" d="100"/>
        </p:scale>
        <p:origin x="192" y="1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10" d="100"/>
        <a:sy n="11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149E08-5597-3E45-8582-EEB58189C482}" type="datetimeFigureOut">
              <a:rPr lang="en-US" smtClean="0"/>
              <a:t>8/1/23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A69502-A57F-A84E-93AF-100B756C632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7028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pPr lvl="0"/>
            <a:endParaRPr dirty="0"/>
          </a:p>
        </p:txBody>
      </p:sp>
      <p:sp>
        <p:nvSpPr>
          <p:cNvPr id="73" name="Shape 7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195149390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1pPr>
    <a:lvl2pPr indent="143505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2pPr>
    <a:lvl3pPr indent="287012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3pPr>
    <a:lvl4pPr indent="430517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4pPr>
    <a:lvl5pPr indent="574022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5pPr>
    <a:lvl6pPr indent="717528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6pPr>
    <a:lvl7pPr indent="861034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7pPr>
    <a:lvl8pPr indent="1004539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8pPr>
    <a:lvl9pPr indent="1148045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defTabSz="287012" rtl="0">
              <a:lnSpc>
                <a:spcPct val="1250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140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We will use the constructor from Driver to build an object with user input stored in the instance fields.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12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775946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5" Type="http://schemas.openxmlformats.org/officeDocument/2006/relationships/hyperlink" Target="mailto:ddrohan@wit.ie" TargetMode="Externa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Lab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7" descr="A close-up of a metal structure&#10;&#10;Description automatically generated with low confidence">
            <a:extLst>
              <a:ext uri="{FF2B5EF4-FFF2-40B4-BE49-F238E27FC236}">
                <a16:creationId xmlns:a16="http://schemas.microsoft.com/office/drawing/2014/main" id="{14F6341F-72F0-BFA6-6798-9AC71A86B3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5096" t="1189" r="36524" b="51187"/>
          <a:stretch/>
        </p:blipFill>
        <p:spPr>
          <a:xfrm>
            <a:off x="-6264" y="-6182"/>
            <a:ext cx="9150263" cy="51470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</p:pic>
      <p:sp>
        <p:nvSpPr>
          <p:cNvPr id="12" name="Shape 33">
            <a:extLst>
              <a:ext uri="{FF2B5EF4-FFF2-40B4-BE49-F238E27FC236}">
                <a16:creationId xmlns:a16="http://schemas.microsoft.com/office/drawing/2014/main" id="{EAD08510-7D5A-594A-AAEC-59C7087561FC}"/>
              </a:ext>
            </a:extLst>
          </p:cNvPr>
          <p:cNvSpPr/>
          <p:nvPr userDrawn="1"/>
        </p:nvSpPr>
        <p:spPr>
          <a:xfrm>
            <a:off x="3778568" y="2059379"/>
            <a:ext cx="4846151" cy="0"/>
          </a:xfrm>
          <a:prstGeom prst="line">
            <a:avLst/>
          </a:prstGeom>
          <a:ln w="3175">
            <a:solidFill>
              <a:schemeClr val="tx1"/>
            </a:solidFill>
            <a:miter lim="400000"/>
          </a:ln>
        </p:spPr>
        <p:txBody>
          <a:bodyPr lIns="0" tIns="0" rIns="0" bIns="0" anchor="ctr"/>
          <a:lstStyle/>
          <a:p>
            <a:pPr lvl="0" algn="l" defTabSz="286973" rtl="0">
              <a:defRPr sz="1100">
                <a:latin typeface="Helvetica"/>
                <a:ea typeface="Helvetica"/>
                <a:cs typeface="Helvetica"/>
                <a:sym typeface="Helvetica"/>
              </a:defRPr>
            </a:pPr>
            <a:endParaRPr sz="825" dirty="0"/>
          </a:p>
        </p:txBody>
      </p:sp>
      <p:sp>
        <p:nvSpPr>
          <p:cNvPr id="13" name="Shape 34">
            <a:extLst>
              <a:ext uri="{FF2B5EF4-FFF2-40B4-BE49-F238E27FC236}">
                <a16:creationId xmlns:a16="http://schemas.microsoft.com/office/drawing/2014/main" id="{BB2C258E-D81B-5B4E-8B1B-562CE71165EB}"/>
              </a:ext>
            </a:extLst>
          </p:cNvPr>
          <p:cNvSpPr/>
          <p:nvPr userDrawn="1"/>
        </p:nvSpPr>
        <p:spPr>
          <a:xfrm>
            <a:off x="3613319" y="2299116"/>
            <a:ext cx="1208664" cy="5909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 lvl="0" algn="r">
              <a:lnSpc>
                <a:spcPct val="80000"/>
              </a:lnSpc>
              <a:defRPr sz="1800"/>
            </a:pPr>
            <a:r>
              <a:rPr sz="2400" b="1" i="0" baseline="0" dirty="0">
                <a:solidFill>
                  <a:schemeClr val="bg1">
                    <a:lumMod val="85000"/>
                  </a:schemeClr>
                </a:solidFill>
                <a:latin typeface="Helvetica Neue UltraLight"/>
                <a:ea typeface="Helvetica Neue UltraLight"/>
                <a:cs typeface="Helvetica Neue UltraLight"/>
                <a:sym typeface="Helvetica Neue UltraLight"/>
              </a:rPr>
              <a:t>Produced</a:t>
            </a:r>
          </a:p>
          <a:p>
            <a:pPr lvl="0" algn="r">
              <a:lnSpc>
                <a:spcPct val="80000"/>
              </a:lnSpc>
              <a:defRPr sz="1800"/>
            </a:pPr>
            <a:r>
              <a:rPr sz="2400" b="1" i="0" baseline="0" dirty="0">
                <a:solidFill>
                  <a:schemeClr val="bg1">
                    <a:lumMod val="85000"/>
                  </a:schemeClr>
                </a:solidFill>
                <a:latin typeface="Helvetica Neue UltraLight"/>
                <a:ea typeface="Helvetica Neue UltraLight"/>
                <a:cs typeface="Helvetica Neue UltraLight"/>
                <a:sym typeface="Helvetica Neue UltraLight"/>
              </a:rPr>
              <a:t>by</a:t>
            </a:r>
          </a:p>
        </p:txBody>
      </p:sp>
      <p:sp>
        <p:nvSpPr>
          <p:cNvPr id="15" name="Shape 35">
            <a:extLst>
              <a:ext uri="{FF2B5EF4-FFF2-40B4-BE49-F238E27FC236}">
                <a16:creationId xmlns:a16="http://schemas.microsoft.com/office/drawing/2014/main" id="{885F7572-8BDA-2441-A5EC-7D945A8A5010}"/>
              </a:ext>
            </a:extLst>
          </p:cNvPr>
          <p:cNvSpPr/>
          <p:nvPr/>
        </p:nvSpPr>
        <p:spPr>
          <a:xfrm>
            <a:off x="4970252" y="3114062"/>
            <a:ext cx="3241478" cy="5453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numCol="1" anchor="ctr">
            <a:noAutofit/>
          </a:bodyPr>
          <a:lstStyle/>
          <a:p>
            <a:pPr lvl="0" algn="l">
              <a:lnSpc>
                <a:spcPct val="120000"/>
              </a:lnSpc>
              <a:defRPr sz="1800"/>
            </a:pPr>
            <a:r>
              <a:rPr sz="975" b="1" i="0" baseline="0" dirty="0">
                <a:solidFill>
                  <a:srgbClr val="1334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Department of Computing &amp; Mathematics</a:t>
            </a:r>
          </a:p>
          <a:p>
            <a:pPr lvl="0" algn="l">
              <a:lnSpc>
                <a:spcPct val="120000"/>
              </a:lnSpc>
              <a:defRPr sz="1800"/>
            </a:pPr>
            <a:r>
              <a:rPr lang="en-IE" sz="975" b="1" i="0" baseline="0" dirty="0">
                <a:solidFill>
                  <a:srgbClr val="1334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South East Technological University</a:t>
            </a:r>
            <a:br>
              <a:rPr lang="en-IE" sz="975" b="1" i="0" baseline="0" dirty="0">
                <a:solidFill>
                  <a:srgbClr val="133455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IE" sz="975" b="1" i="0" baseline="0" dirty="0">
                <a:solidFill>
                  <a:srgbClr val="1334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Waterford, Ireland</a:t>
            </a:r>
          </a:p>
        </p:txBody>
      </p:sp>
      <p:pic>
        <p:nvPicPr>
          <p:cNvPr id="18" name="Picture 3">
            <a:extLst>
              <a:ext uri="{FF2B5EF4-FFF2-40B4-BE49-F238E27FC236}">
                <a16:creationId xmlns:a16="http://schemas.microsoft.com/office/drawing/2014/main" id="{F323B0CE-A19A-E748-98EC-D40F56CC332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187903" y="4360424"/>
            <a:ext cx="730559" cy="7305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65E7D44-1D07-9340-B610-CE9A2D7BB0E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58289" y="188773"/>
            <a:ext cx="560173" cy="63879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0A583B1-550B-C14A-A9E9-8D176BDC6F6E}"/>
              </a:ext>
            </a:extLst>
          </p:cNvPr>
          <p:cNvSpPr txBox="1"/>
          <p:nvPr userDrawn="1"/>
        </p:nvSpPr>
        <p:spPr>
          <a:xfrm>
            <a:off x="4721847" y="4551298"/>
            <a:ext cx="3425984" cy="34881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r" fontAlgn="auto"/>
            <a:r>
              <a:rPr lang="en-IE" sz="1600" b="1" i="0" u="none" strike="noStrike" baseline="0" dirty="0" err="1">
                <a:solidFill>
                  <a:schemeClr val="bg1">
                    <a:lumMod val="85000"/>
                  </a:schemeClr>
                </a:solidFill>
                <a:effectLst/>
                <a:latin typeface="+mn-lt"/>
                <a:ea typeface="+mn-ea"/>
                <a:cs typeface="+mn-cs"/>
                <a:sym typeface="Helvetica Light"/>
              </a:rPr>
              <a:t>setu.ie</a:t>
            </a:r>
            <a:endParaRPr lang="en-IE" sz="1600" b="1" i="0" u="none" strike="noStrike" baseline="0" dirty="0">
              <a:solidFill>
                <a:schemeClr val="bg1">
                  <a:lumMod val="85000"/>
                </a:schemeClr>
              </a:solidFill>
              <a:effectLst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21" name="Shape 35">
            <a:extLst>
              <a:ext uri="{FF2B5EF4-FFF2-40B4-BE49-F238E27FC236}">
                <a16:creationId xmlns:a16="http://schemas.microsoft.com/office/drawing/2014/main" id="{1EC3B031-7C7C-5846-BACC-8C65A8064D86}"/>
              </a:ext>
            </a:extLst>
          </p:cNvPr>
          <p:cNvSpPr/>
          <p:nvPr userDrawn="1"/>
        </p:nvSpPr>
        <p:spPr>
          <a:xfrm>
            <a:off x="4963941" y="2144699"/>
            <a:ext cx="3954521" cy="104681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numCol="1" anchor="ctr">
            <a:noAutofit/>
          </a:bodyPr>
          <a:lstStyle/>
          <a:p>
            <a:pPr algn="l"/>
            <a:r>
              <a:rPr lang="en-IE" sz="1800" b="1" i="0" baseline="0" dirty="0"/>
              <a:t>Mr. Dave Drohan </a:t>
            </a:r>
            <a:r>
              <a:rPr lang="en-IE" sz="1600" b="1" i="0" baseline="0" dirty="0"/>
              <a:t>(</a:t>
            </a:r>
            <a:r>
              <a:rPr lang="en-IE" sz="1600" b="1" i="0" baseline="0" dirty="0">
                <a:solidFill>
                  <a:srgbClr val="006699"/>
                </a:solidFill>
                <a:uFill>
                  <a:solidFill>
                    <a:srgbClr val="006699"/>
                  </a:solidFill>
                </a:uFill>
                <a:hlinkClick r:id="rId5"/>
              </a:rPr>
              <a:t>david.drohan@setu.ie</a:t>
            </a:r>
            <a:r>
              <a:rPr lang="en-IE" sz="1600" b="1" i="0" baseline="0" dirty="0"/>
              <a:t>)</a:t>
            </a:r>
            <a:br>
              <a:rPr lang="en-IE" sz="1600" b="1" i="0" baseline="0" dirty="0"/>
            </a:br>
            <a:r>
              <a:rPr lang="en-IE" sz="1800" dirty="0" err="1">
                <a:solidFill>
                  <a:schemeClr val="tx1"/>
                </a:solidFill>
              </a:rPr>
              <a:t>Dr.</a:t>
            </a:r>
            <a:r>
              <a:rPr lang="en-IE" sz="1800" dirty="0">
                <a:solidFill>
                  <a:schemeClr val="tx1"/>
                </a:solidFill>
              </a:rPr>
              <a:t> </a:t>
            </a:r>
            <a:r>
              <a:rPr lang="en-IE" sz="1800" dirty="0" err="1">
                <a:solidFill>
                  <a:schemeClr val="tx1"/>
                </a:solidFill>
              </a:rPr>
              <a:t>Siobhán</a:t>
            </a:r>
            <a:r>
              <a:rPr lang="en-IE" sz="1800" dirty="0">
                <a:solidFill>
                  <a:schemeClr val="tx1"/>
                </a:solidFill>
              </a:rPr>
              <a:t> </a:t>
            </a:r>
            <a:r>
              <a:rPr lang="en-IE" sz="1800" dirty="0" err="1">
                <a:solidFill>
                  <a:schemeClr val="tx1"/>
                </a:solidFill>
              </a:rPr>
              <a:t>Drohan</a:t>
            </a:r>
            <a:endParaRPr lang="en-IE" sz="1800" dirty="0">
              <a:solidFill>
                <a:schemeClr val="tx1"/>
              </a:solidFill>
            </a:endParaRPr>
          </a:p>
          <a:p>
            <a:pPr algn="l"/>
            <a:r>
              <a:rPr lang="en-IE" sz="1800" dirty="0">
                <a:solidFill>
                  <a:schemeClr val="tx1"/>
                </a:solidFill>
              </a:rPr>
              <a:t>Ms. Mairead Meagher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BBD13589-119E-31F3-037B-F798E38525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9399" y="1324611"/>
            <a:ext cx="7893844" cy="542479"/>
          </a:xfrm>
        </p:spPr>
        <p:txBody>
          <a:bodyPr/>
          <a:lstStyle>
            <a:lvl1pPr>
              <a:defRPr sz="2800" b="1"/>
            </a:lvl1pPr>
          </a:lstStyle>
          <a:p>
            <a:pPr algn="r" defTabSz="366688" rtl="0"/>
            <a:r>
              <a:rPr lang="en-US" dirty="0"/>
              <a:t>Programming Fundamentals 1</a:t>
            </a:r>
          </a:p>
        </p:txBody>
      </p:sp>
    </p:spTree>
    <p:extLst>
      <p:ext uri="{BB962C8B-B14F-4D97-AF65-F5344CB8AC3E}">
        <p14:creationId xmlns:p14="http://schemas.microsoft.com/office/powerpoint/2010/main" val="3124422196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3200" baseline="0"/>
            </a:lvl1pPr>
          </a:lstStyle>
          <a:p>
            <a:pPr lvl="0">
              <a:defRPr sz="1800"/>
            </a:pPr>
            <a:r>
              <a:rPr sz="2775" dirty="0"/>
              <a:t>Title Text</a:t>
            </a:r>
          </a:p>
        </p:txBody>
      </p:sp>
      <p:sp>
        <p:nvSpPr>
          <p:cNvPr id="49" name="Shape 49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buClr>
                <a:srgbClr val="194699"/>
              </a:buClr>
              <a:defRPr/>
            </a:lvl1pPr>
            <a:lvl2pPr>
              <a:buClr>
                <a:srgbClr val="194699"/>
              </a:buClr>
              <a:defRPr/>
            </a:lvl2pPr>
            <a:lvl3pPr>
              <a:buClr>
                <a:srgbClr val="194699"/>
              </a:buClr>
              <a:defRPr/>
            </a:lvl3pPr>
            <a:lvl4pPr>
              <a:buClr>
                <a:srgbClr val="194699"/>
              </a:buClr>
              <a:defRPr/>
            </a:lvl4pPr>
            <a:lvl5pPr>
              <a:buClr>
                <a:srgbClr val="194699"/>
              </a:buClr>
              <a:defRPr/>
            </a:lvl5pPr>
          </a:lstStyle>
          <a:p>
            <a:pPr lvl="0">
              <a:defRPr sz="1800"/>
            </a:pPr>
            <a:r>
              <a:rPr sz="2400" dirty="0"/>
              <a:t>Body Level One</a:t>
            </a:r>
          </a:p>
          <a:p>
            <a:pPr lvl="1">
              <a:defRPr sz="1800"/>
            </a:pPr>
            <a:r>
              <a:rPr sz="2400" dirty="0"/>
              <a:t>Body Level Two</a:t>
            </a:r>
          </a:p>
          <a:p>
            <a:pPr lvl="2">
              <a:defRPr sz="1800"/>
            </a:pPr>
            <a:r>
              <a:rPr sz="2400" dirty="0"/>
              <a:t>Body Level Three</a:t>
            </a:r>
          </a:p>
          <a:p>
            <a:pPr lvl="3">
              <a:defRPr sz="1800"/>
            </a:pPr>
            <a:r>
              <a:rPr sz="2400" dirty="0"/>
              <a:t>Body Level Four</a:t>
            </a:r>
          </a:p>
          <a:p>
            <a:pPr lvl="4">
              <a:defRPr sz="1800"/>
            </a:pPr>
            <a:r>
              <a:rPr sz="2400" dirty="0"/>
              <a:t>Body Level Five</a:t>
            </a:r>
          </a:p>
        </p:txBody>
      </p:sp>
      <p:sp>
        <p:nvSpPr>
          <p:cNvPr id="50" name="Shape 50"/>
          <p:cNvSpPr>
            <a:spLocks noGrp="1"/>
          </p:cNvSpPr>
          <p:nvPr>
            <p:ph type="sldNum" sz="quarter" idx="2"/>
          </p:nvPr>
        </p:nvSpPr>
        <p:spPr>
          <a:xfrm>
            <a:off x="6553201" y="4875912"/>
            <a:ext cx="1905000" cy="283023"/>
          </a:xfrm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rPr/>
              <a:t>‹#›</a:t>
            </a:fld>
            <a:endParaRPr dirty="0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14688" y="4895886"/>
            <a:ext cx="2430270" cy="241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76526" tIns="38263" rIns="76526" bIns="38263" numCol="1" anchor="b" anchorCtr="0" compatLnSpc="1">
            <a:prstTxWarp prst="textNoShape">
              <a:avLst/>
            </a:prstTxWarp>
          </a:bodyPr>
          <a:lstStyle>
            <a:lvl1pPr algn="ctr">
              <a:defRPr sz="1125" b="0" i="0">
                <a:latin typeface="Helvetica Neue Light"/>
                <a:cs typeface="Helvetica Neue Light"/>
              </a:defRPr>
            </a:lvl1pPr>
          </a:lstStyle>
          <a:p>
            <a:r>
              <a:rPr lang="en-IE"/>
              <a:t>https://www.java.com</a:t>
            </a:r>
            <a:endParaRPr lang="en-IE" dirty="0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FE51DA-9AF5-F835-204E-B5376FB7A7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946552-8ABC-2684-8EA3-A12C826FB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AC3EAD-3ACD-68D9-A159-986D3E0E55D6}"/>
              </a:ext>
            </a:extLst>
          </p:cNvPr>
          <p:cNvSpPr/>
          <p:nvPr userDrawn="1"/>
        </p:nvSpPr>
        <p:spPr>
          <a:xfrm>
            <a:off x="375385" y="683393"/>
            <a:ext cx="7324826" cy="327259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641451682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https://www.java.com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827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https://www.java.com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457200" y="1085850"/>
            <a:ext cx="8305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4182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https://www.java.com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700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11" y="4902399"/>
            <a:ext cx="9143989" cy="241102"/>
          </a:xfrm>
          <a:prstGeom prst="rect">
            <a:avLst/>
          </a:prstGeom>
          <a:solidFill>
            <a:srgbClr val="598C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 defTabSz="366737" rtl="0"/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21" y="4867339"/>
            <a:ext cx="9143978" cy="35060"/>
          </a:xfrm>
          <a:prstGeom prst="rect">
            <a:avLst/>
          </a:prstGeom>
          <a:solidFill>
            <a:srgbClr val="2F48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395536" y="0"/>
            <a:ext cx="7772401" cy="761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4418" tIns="54418" rIns="54418" bIns="54418" anchor="b"/>
          <a:lstStyle/>
          <a:p>
            <a:pPr lvl="0">
              <a:defRPr sz="1800"/>
            </a:pPr>
            <a:r>
              <a:rPr sz="2775" dirty="0"/>
              <a:t>Title Text</a:t>
            </a: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395536" y="843558"/>
            <a:ext cx="7772401" cy="42999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4418" tIns="54418" rIns="54418" bIns="54418"/>
          <a:lstStyle/>
          <a:p>
            <a:pPr lvl="0">
              <a:defRPr sz="1800"/>
            </a:pPr>
            <a:r>
              <a:rPr sz="2400" dirty="0"/>
              <a:t>Body Level One</a:t>
            </a:r>
          </a:p>
          <a:p>
            <a:pPr lvl="1">
              <a:defRPr sz="1800"/>
            </a:pPr>
            <a:r>
              <a:rPr sz="2400" dirty="0"/>
              <a:t>Body Level Two</a:t>
            </a:r>
          </a:p>
          <a:p>
            <a:pPr lvl="2">
              <a:defRPr sz="1800"/>
            </a:pPr>
            <a:r>
              <a:rPr sz="2400" dirty="0"/>
              <a:t>Body Level Three</a:t>
            </a:r>
          </a:p>
          <a:p>
            <a:pPr lvl="3">
              <a:defRPr sz="1800"/>
            </a:pPr>
            <a:r>
              <a:rPr sz="2400" dirty="0"/>
              <a:t>Body Level Four</a:t>
            </a:r>
          </a:p>
          <a:p>
            <a:pPr lvl="4">
              <a:defRPr sz="1800"/>
            </a:pPr>
            <a:r>
              <a:rPr sz="2400" dirty="0"/>
              <a:t>Body Level Five</a:t>
            </a:r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6553201" y="4847061"/>
            <a:ext cx="1905000" cy="283023"/>
          </a:xfrm>
          <a:prstGeom prst="rect">
            <a:avLst/>
          </a:prstGeom>
          <a:ln w="12700">
            <a:miter lim="400000"/>
          </a:ln>
        </p:spPr>
        <p:txBody>
          <a:bodyPr lIns="54418" tIns="54418" rIns="54418" bIns="54418" anchor="b">
            <a:spAutoFit/>
          </a:bodyPr>
          <a:lstStyle>
            <a:lvl1pPr algn="r" defTabSz="573946">
              <a:defRPr sz="1125">
                <a:solidFill>
                  <a:srgbClr val="FFFFFF"/>
                </a:solidFill>
                <a:latin typeface="+mn-lt"/>
                <a:ea typeface="Tahoma"/>
                <a:cs typeface="Tahoma"/>
                <a:sym typeface="Tahoma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Shape 5"/>
          <p:cNvSpPr/>
          <p:nvPr/>
        </p:nvSpPr>
        <p:spPr>
          <a:xfrm>
            <a:off x="467545" y="789552"/>
            <a:ext cx="7128792" cy="1"/>
          </a:xfrm>
          <a:prstGeom prst="line">
            <a:avLst/>
          </a:prstGeom>
          <a:ln w="12700">
            <a:solidFill>
              <a:srgbClr val="94BBE7"/>
            </a:solidFill>
          </a:ln>
          <a:effectLst>
            <a:outerShdw blurRad="101600" dist="12700" dir="2700000" rotWithShape="0">
              <a:srgbClr val="003D62">
                <a:alpha val="20000"/>
              </a:srgbClr>
            </a:outerShdw>
          </a:effectLst>
        </p:spPr>
        <p:txBody>
          <a:bodyPr lIns="40814" tIns="40814" rIns="40814" bIns="40814"/>
          <a:lstStyle/>
          <a:p>
            <a:pPr lvl="0" algn="l" defTabSz="286973">
              <a:defRPr sz="1600">
                <a:latin typeface="Helvetica"/>
                <a:ea typeface="Helvetica"/>
                <a:cs typeface="Helvetica"/>
                <a:sym typeface="Helvetica"/>
              </a:defRPr>
            </a:pPr>
            <a:endParaRPr sz="1200" dirty="0"/>
          </a:p>
        </p:txBody>
      </p:sp>
      <p:sp>
        <p:nvSpPr>
          <p:cNvPr id="10" name="Rectangle 6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14688" y="4888982"/>
            <a:ext cx="2430270" cy="241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76526" tIns="38263" rIns="76526" bIns="38263" numCol="1" anchor="b" anchorCtr="0" compatLnSpc="1">
            <a:prstTxWarp prst="textNoShape">
              <a:avLst/>
            </a:prstTxWarp>
          </a:bodyPr>
          <a:lstStyle>
            <a:lvl1pPr algn="ctr">
              <a:defRPr sz="1125" b="0" i="0">
                <a:solidFill>
                  <a:schemeClr val="bg1"/>
                </a:solidFill>
                <a:latin typeface="Helvetica Neue Light"/>
                <a:cs typeface="Helvetica Neue Light"/>
              </a:defRPr>
            </a:lvl1pPr>
          </a:lstStyle>
          <a:p>
            <a:r>
              <a:rPr lang="en-IE"/>
              <a:t>https://www.java.com</a:t>
            </a:r>
            <a:endParaRPr lang="en-IE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43B9B00-B977-E94D-8CAA-76ABE98D04EE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47621" y="5935"/>
            <a:ext cx="741809" cy="68672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3" r:id="rId2"/>
    <p:sldLayoutId id="2147483668" r:id="rId3"/>
    <p:sldLayoutId id="2147483669" r:id="rId4"/>
    <p:sldLayoutId id="2147483671" r:id="rId5"/>
    <p:sldLayoutId id="2147483672" r:id="rId6"/>
  </p:sldLayoutIdLst>
  <p:transition spd="med"/>
  <p:hf hdr="0" dt="0"/>
  <p:txStyles>
    <p:titleStyle>
      <a:lvl1pPr>
        <a:defRPr sz="2800">
          <a:latin typeface="Helvetica Neue Light"/>
          <a:ea typeface="Helvetica Neue Light"/>
          <a:cs typeface="Helvetica Neue Light"/>
          <a:sym typeface="Helvetica Neue Light"/>
        </a:defRPr>
      </a:lvl1pPr>
      <a:lvl2pPr>
        <a:defRPr sz="2775">
          <a:latin typeface="Helvetica Neue Light"/>
          <a:ea typeface="Helvetica Neue Light"/>
          <a:cs typeface="Helvetica Neue Light"/>
          <a:sym typeface="Helvetica Neue Light"/>
        </a:defRPr>
      </a:lvl2pPr>
      <a:lvl3pPr>
        <a:defRPr sz="2775">
          <a:latin typeface="Helvetica Neue Light"/>
          <a:ea typeface="Helvetica Neue Light"/>
          <a:cs typeface="Helvetica Neue Light"/>
          <a:sym typeface="Helvetica Neue Light"/>
        </a:defRPr>
      </a:lvl3pPr>
      <a:lvl4pPr>
        <a:defRPr sz="2775">
          <a:latin typeface="Helvetica Neue Light"/>
          <a:ea typeface="Helvetica Neue Light"/>
          <a:cs typeface="Helvetica Neue Light"/>
          <a:sym typeface="Helvetica Neue Light"/>
        </a:defRPr>
      </a:lvl4pPr>
      <a:lvl5pPr>
        <a:defRPr sz="2775">
          <a:latin typeface="Helvetica Neue Light"/>
          <a:ea typeface="Helvetica Neue Light"/>
          <a:cs typeface="Helvetica Neue Light"/>
          <a:sym typeface="Helvetica Neue Light"/>
        </a:defRPr>
      </a:lvl5pPr>
      <a:lvl6pPr indent="286973">
        <a:defRPr sz="2775">
          <a:latin typeface="Helvetica Neue Light"/>
          <a:ea typeface="Helvetica Neue Light"/>
          <a:cs typeface="Helvetica Neue Light"/>
          <a:sym typeface="Helvetica Neue Light"/>
        </a:defRPr>
      </a:lvl6pPr>
      <a:lvl7pPr indent="573946">
        <a:defRPr sz="2775">
          <a:latin typeface="Helvetica Neue Light"/>
          <a:ea typeface="Helvetica Neue Light"/>
          <a:cs typeface="Helvetica Neue Light"/>
          <a:sym typeface="Helvetica Neue Light"/>
        </a:defRPr>
      </a:lvl7pPr>
      <a:lvl8pPr indent="860919">
        <a:defRPr sz="2775">
          <a:latin typeface="Helvetica Neue Light"/>
          <a:ea typeface="Helvetica Neue Light"/>
          <a:cs typeface="Helvetica Neue Light"/>
          <a:sym typeface="Helvetica Neue Light"/>
        </a:defRPr>
      </a:lvl8pPr>
      <a:lvl9pPr indent="1147892">
        <a:defRPr sz="2775">
          <a:latin typeface="Helvetica Neue Light"/>
          <a:ea typeface="Helvetica Neue Light"/>
          <a:cs typeface="Helvetica Neue Light"/>
          <a:sym typeface="Helvetica Neue Light"/>
        </a:defRPr>
      </a:lvl9pPr>
    </p:titleStyle>
    <p:bodyStyle>
      <a:lvl1pPr marL="292097" indent="-292097">
        <a:spcBef>
          <a:spcPts val="377"/>
        </a:spcBef>
        <a:buClr>
          <a:srgbClr val="008000"/>
        </a:buClr>
        <a:buSzPct val="100000"/>
        <a:buFont typeface="Wingdings"/>
        <a:buChar char="❑"/>
        <a:defRPr sz="2400">
          <a:latin typeface="Helvetica Neue Light"/>
          <a:ea typeface="Helvetica Neue Light"/>
          <a:cs typeface="Helvetica Neue Light"/>
          <a:sym typeface="Helvetica Neue Light"/>
        </a:defRPr>
      </a:lvl1pPr>
      <a:lvl2pPr marL="570956" indent="-283984">
        <a:spcBef>
          <a:spcPts val="377"/>
        </a:spcBef>
        <a:buClr>
          <a:srgbClr val="008000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2pPr>
      <a:lvl3pPr marL="846570" indent="-272624">
        <a:spcBef>
          <a:spcPts val="377"/>
        </a:spcBef>
        <a:buClr>
          <a:srgbClr val="008000"/>
        </a:buClr>
        <a:buSzPct val="95000"/>
        <a:buFont typeface="Wingdings"/>
        <a:buChar char="⬥"/>
        <a:defRPr sz="2400">
          <a:latin typeface="Helvetica Neue Light"/>
          <a:ea typeface="Helvetica Neue Light"/>
          <a:cs typeface="Helvetica Neue Light"/>
          <a:sym typeface="Helvetica Neue Light"/>
        </a:defRPr>
      </a:lvl3pPr>
      <a:lvl4pPr marL="1163835" indent="-302916">
        <a:spcBef>
          <a:spcPts val="377"/>
        </a:spcBef>
        <a:buClr>
          <a:srgbClr val="008000"/>
        </a:buClr>
        <a:buSzPct val="65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4pPr>
      <a:lvl5pPr marL="1450808" indent="-302916">
        <a:spcBef>
          <a:spcPts val="377"/>
        </a:spcBef>
        <a:buClr>
          <a:srgbClr val="008000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5pPr>
      <a:lvl6pPr marL="1737781" indent="-302916">
        <a:spcBef>
          <a:spcPts val="377"/>
        </a:spcBef>
        <a:buClr>
          <a:srgbClr val="006699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6pPr>
      <a:lvl7pPr marL="2024754" indent="-302916">
        <a:spcBef>
          <a:spcPts val="377"/>
        </a:spcBef>
        <a:buClr>
          <a:srgbClr val="006699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7pPr>
      <a:lvl8pPr marL="2311727" indent="-302916">
        <a:spcBef>
          <a:spcPts val="377"/>
        </a:spcBef>
        <a:buClr>
          <a:srgbClr val="006699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8pPr>
      <a:lvl9pPr marL="2598700" indent="-302916">
        <a:spcBef>
          <a:spcPts val="377"/>
        </a:spcBef>
        <a:buClr>
          <a:srgbClr val="006699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9pPr>
    </p:bodyStyle>
    <p:otherStyle>
      <a:lvl1pPr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1pPr>
      <a:lvl2pPr indent="286973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2pPr>
      <a:lvl3pPr indent="573946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3pPr>
      <a:lvl4pPr indent="860919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4pPr>
      <a:lvl5pPr indent="1147892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5pPr>
      <a:lvl6pPr indent="1434865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6pPr>
      <a:lvl7pPr indent="1721838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7pPr>
      <a:lvl8pPr indent="2008811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8pPr>
      <a:lvl9pPr indent="2295784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66A5DAE-8FD5-49CE-E28B-6EDA2BB14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747" y="1010648"/>
            <a:ext cx="7893844" cy="1077818"/>
          </a:xfrm>
        </p:spPr>
        <p:txBody>
          <a:bodyPr/>
          <a:lstStyle/>
          <a:p>
            <a:pPr algn="r" defTabSz="366688" rtl="0"/>
            <a:r>
              <a:rPr lang="en-US" sz="3200" dirty="0"/>
              <a:t>Programming Fundamentals 1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5F8875-BE14-6F78-797D-7623587C6E38}"/>
              </a:ext>
            </a:extLst>
          </p:cNvPr>
          <p:cNvCxnSpPr/>
          <p:nvPr/>
        </p:nvCxnSpPr>
        <p:spPr>
          <a:xfrm>
            <a:off x="192024" y="2240280"/>
            <a:ext cx="8705088" cy="0"/>
          </a:xfrm>
          <a:prstGeom prst="line">
            <a:avLst/>
          </a:prstGeom>
          <a:noFill/>
          <a:ln w="15875" cap="flat">
            <a:solidFill>
              <a:srgbClr val="84AEFF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" name="Title 2">
            <a:extLst>
              <a:ext uri="{FF2B5EF4-FFF2-40B4-BE49-F238E27FC236}">
                <a16:creationId xmlns:a16="http://schemas.microsoft.com/office/drawing/2014/main" id="{F3D22CC2-63B9-5CB6-174A-205E5A7B9B8B}"/>
              </a:ext>
            </a:extLst>
          </p:cNvPr>
          <p:cNvSpPr txBox="1">
            <a:spLocks/>
          </p:cNvSpPr>
          <p:nvPr/>
        </p:nvSpPr>
        <p:spPr>
          <a:xfrm>
            <a:off x="192024" y="1269402"/>
            <a:ext cx="7772401" cy="106302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286973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573946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860919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1147892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algn="l" defTabSz="914400"/>
            <a:endParaRPr lang="en-IE" sz="2800" dirty="0">
              <a:solidFill>
                <a:schemeClr val="tx1"/>
              </a:solidFill>
            </a:endParaRPr>
          </a:p>
          <a:p>
            <a:pPr algn="l" defTabSz="914400"/>
            <a:r>
              <a:rPr lang="en-IE" sz="2800" dirty="0">
                <a:solidFill>
                  <a:schemeClr val="tx1"/>
                </a:solidFill>
              </a:rPr>
              <a:t>Input / Output</a:t>
            </a:r>
            <a:endParaRPr lang="en-US" sz="28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8C56AC-B899-2568-9517-5FD54D9A74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56793" y="292383"/>
            <a:ext cx="2791808" cy="4357410"/>
          </a:xfrm>
          <a:prstGeom prst="rect">
            <a:avLst/>
          </a:prstGeom>
        </p:spPr>
      </p:pic>
      <p:sp>
        <p:nvSpPr>
          <p:cNvPr id="9" name="Title 2">
            <a:extLst>
              <a:ext uri="{FF2B5EF4-FFF2-40B4-BE49-F238E27FC236}">
                <a16:creationId xmlns:a16="http://schemas.microsoft.com/office/drawing/2014/main" id="{92B49638-F999-2A91-FA44-4A9EC7335E24}"/>
              </a:ext>
            </a:extLst>
          </p:cNvPr>
          <p:cNvSpPr txBox="1">
            <a:spLocks/>
          </p:cNvSpPr>
          <p:nvPr/>
        </p:nvSpPr>
        <p:spPr>
          <a:xfrm>
            <a:off x="192024" y="2262468"/>
            <a:ext cx="7772401" cy="161162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286973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573946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860919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1147892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algn="l" defTabSz="914400"/>
            <a:r>
              <a:rPr lang="en-IE" sz="2400" dirty="0">
                <a:solidFill>
                  <a:schemeClr val="bg1">
                    <a:lumMod val="75000"/>
                  </a:schemeClr>
                </a:solidFill>
              </a:rPr>
              <a:t>The Scanner class</a:t>
            </a:r>
          </a:p>
          <a:p>
            <a:pPr algn="l" defTabSz="914400"/>
            <a:endParaRPr lang="en-IE" sz="2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794E400-A0C7-BE1B-44A0-8F17F3B22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BDE2ED-9613-EC3D-7D95-0004F92FA4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553201" y="4884769"/>
            <a:ext cx="1905000" cy="283023"/>
          </a:xfrm>
        </p:spPr>
        <p:txBody>
          <a:bodyPr/>
          <a:lstStyle/>
          <a:p>
            <a:fld id="{86CB4B4D-7CA3-9044-876B-883B54F8677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49061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F8B8A-BE9E-4D04-2451-E715F6A97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0"/>
            <a:ext cx="7772401" cy="761815"/>
          </a:xfrm>
        </p:spPr>
        <p:txBody>
          <a:bodyPr/>
          <a:lstStyle/>
          <a:p>
            <a:r>
              <a:rPr lang="en-US" sz="3200" dirty="0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2BD6FB-AF6E-8217-F9F7-1F14B2F623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5536" y="806982"/>
            <a:ext cx="8382703" cy="3911321"/>
          </a:xfrm>
        </p:spPr>
        <p:txBody>
          <a:bodyPr/>
          <a:lstStyle/>
          <a:p>
            <a:pPr algn="l" rtl="0">
              <a:buClr>
                <a:srgbClr val="194699"/>
              </a:buClr>
            </a:pPr>
            <a:r>
              <a:rPr lang="en-US" sz="2800" dirty="0"/>
              <a:t>The </a:t>
            </a:r>
            <a:r>
              <a:rPr lang="en-US" sz="2800" dirty="0">
                <a:latin typeface="Monaco" pitchFamily="2" charset="77"/>
              </a:rPr>
              <a:t>Scanner</a:t>
            </a:r>
            <a:r>
              <a:rPr lang="en-US" sz="2800" dirty="0"/>
              <a:t> class</a:t>
            </a:r>
          </a:p>
          <a:p>
            <a:pPr algn="l" rtl="0">
              <a:buClr>
                <a:srgbClr val="194699"/>
              </a:buClr>
            </a:pPr>
            <a:endParaRPr lang="en-US" sz="2800" dirty="0"/>
          </a:p>
          <a:p>
            <a:pPr algn="l" rtl="0">
              <a:buClr>
                <a:srgbClr val="194699"/>
              </a:buClr>
            </a:pPr>
            <a:r>
              <a:rPr lang="en-US" sz="2800" b="1" dirty="0"/>
              <a:t>RECAP : </a:t>
            </a:r>
          </a:p>
          <a:p>
            <a:pPr lvl="1" algn="l" rtl="0"/>
            <a:r>
              <a:rPr lang="en-US" sz="2800" b="1" dirty="0"/>
              <a:t>SHOP</a:t>
            </a:r>
            <a:r>
              <a:rPr lang="en-US" sz="2800" dirty="0"/>
              <a:t> Version 1.0</a:t>
            </a:r>
          </a:p>
          <a:p>
            <a:pPr lvl="1" algn="l" rtl="0"/>
            <a:r>
              <a:rPr lang="en-US" sz="2800" dirty="0">
                <a:latin typeface="Monaco" pitchFamily="2" charset="77"/>
              </a:rPr>
              <a:t>Product</a:t>
            </a:r>
            <a:r>
              <a:rPr lang="en-US" sz="2800" dirty="0"/>
              <a:t> Class</a:t>
            </a:r>
          </a:p>
          <a:p>
            <a:pPr lvl="1" algn="l" rtl="0"/>
            <a:r>
              <a:rPr lang="en-US" sz="2800" dirty="0">
                <a:latin typeface="Monaco" pitchFamily="2" charset="77"/>
              </a:rPr>
              <a:t>Driver</a:t>
            </a:r>
            <a:r>
              <a:rPr lang="en-US" sz="2800" dirty="0"/>
              <a:t> Class</a:t>
            </a:r>
          </a:p>
          <a:p>
            <a:pPr algn="l" rtl="0">
              <a:buClr>
                <a:srgbClr val="194699"/>
              </a:buClr>
            </a:pPr>
            <a:endParaRPr lang="en-US" sz="2800" dirty="0"/>
          </a:p>
          <a:p>
            <a:pPr algn="l" rtl="0">
              <a:buClr>
                <a:srgbClr val="194699"/>
              </a:buClr>
            </a:pPr>
            <a:r>
              <a:rPr lang="en-US" sz="2800" dirty="0"/>
              <a:t>Input / Output in SHOP</a:t>
            </a:r>
          </a:p>
          <a:p>
            <a:pPr marL="0" indent="0" algn="l" rtl="0">
              <a:buClr>
                <a:srgbClr val="194699"/>
              </a:buClr>
              <a:buNone/>
            </a:pPr>
            <a:endParaRPr lang="en-US" sz="2800" dirty="0"/>
          </a:p>
          <a:p>
            <a:pPr algn="l" rtl="0">
              <a:buClr>
                <a:srgbClr val="194699"/>
              </a:buClr>
            </a:pPr>
            <a:endParaRPr lang="en-US" sz="2800" dirty="0"/>
          </a:p>
          <a:p>
            <a:pPr algn="l" rtl="0">
              <a:buClr>
                <a:srgbClr val="194699"/>
              </a:buClr>
            </a:pPr>
            <a:endParaRPr lang="en-US" sz="3200" dirty="0"/>
          </a:p>
          <a:p>
            <a:pPr marL="292097" indent="-292097" algn="l" rtl="0">
              <a:spcBef>
                <a:spcPts val="377"/>
              </a:spcBef>
              <a:buClr>
                <a:srgbClr val="194699"/>
              </a:buClr>
              <a:buSzPct val="100000"/>
              <a:buFont typeface="Wingdings"/>
              <a:buChar char="❑"/>
            </a:pPr>
            <a:endParaRPr lang="en-US" sz="3200" dirty="0"/>
          </a:p>
          <a:p>
            <a:pPr marL="292097" indent="-292097" algn="l" rtl="0">
              <a:spcBef>
                <a:spcPts val="377"/>
              </a:spcBef>
              <a:buClr>
                <a:srgbClr val="194699"/>
              </a:buClr>
              <a:buSzPct val="100000"/>
              <a:buFont typeface="Wingdings"/>
              <a:buChar char="❑"/>
            </a:pPr>
            <a:endParaRPr lang="en-US" sz="3200" dirty="0"/>
          </a:p>
          <a:p>
            <a:pPr marL="292097" indent="-292097" algn="l" rtl="0">
              <a:spcBef>
                <a:spcPts val="377"/>
              </a:spcBef>
              <a:buClr>
                <a:srgbClr val="194699"/>
              </a:buClr>
              <a:buSzPct val="100000"/>
              <a:buFont typeface="Wingdings"/>
              <a:buChar char="❑"/>
            </a:pPr>
            <a:endParaRPr lang="en-US" sz="3200" dirty="0"/>
          </a:p>
          <a:p>
            <a:pPr marL="292097" indent="-292097" algn="l" rtl="0">
              <a:spcBef>
                <a:spcPts val="377"/>
              </a:spcBef>
              <a:buClr>
                <a:srgbClr val="194699"/>
              </a:buClr>
              <a:buSzPct val="100000"/>
              <a:buFont typeface="Wingdings"/>
              <a:buChar char="❑"/>
            </a:pPr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D2201E-8983-5C5E-8827-2194B58BEE0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3</a:t>
            </a:fld>
            <a:endParaRPr lang="en-I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A30C4F-E4E1-59F1-E8DB-B1C6155ED3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18623203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3F2B9-CA77-41E2-BFCC-DD2CEF5266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05396" y="382050"/>
            <a:ext cx="3848851" cy="1102519"/>
          </a:xfrm>
        </p:spPr>
        <p:txBody>
          <a:bodyPr/>
          <a:lstStyle/>
          <a:p>
            <a:pPr>
              <a:spcBef>
                <a:spcPts val="633"/>
              </a:spcBef>
            </a:pPr>
            <a:r>
              <a:rPr lang="en-IE" sz="3600" dirty="0">
                <a:solidFill>
                  <a:schemeClr val="tx1"/>
                </a:solidFill>
              </a:rPr>
              <a:t>The Scanner Class</a:t>
            </a:r>
            <a:endParaRPr lang="en-IE" sz="3600" b="1" dirty="0">
              <a:solidFill>
                <a:srgbClr val="0368FF"/>
              </a:solidFill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0B48627-70FE-4B45-9414-DD660DBF28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114532" y="1660137"/>
            <a:ext cx="2630581" cy="2630581"/>
          </a:xfrm>
          <a:prstGeom prst="rect">
            <a:avLst/>
          </a:prstGeom>
          <a:noFill/>
          <a:ln w="38100">
            <a:noFill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4EBBC8-D8C4-AD98-5A2D-86C001100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1" y="4865349"/>
            <a:ext cx="1905000" cy="283023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E5978C-2993-225B-79D6-A53E710FF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www.java.com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7302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Input in Java: the </a:t>
            </a:r>
            <a:r>
              <a:rPr lang="en-GB" altLang="en-US" b="1" dirty="0"/>
              <a:t>Scanner</a:t>
            </a:r>
            <a:r>
              <a:rPr lang="en-GB" altLang="en-US" i="1" dirty="0"/>
              <a:t> </a:t>
            </a:r>
            <a:r>
              <a:rPr lang="en-GB" altLang="en-US" dirty="0"/>
              <a:t>Class</a:t>
            </a:r>
            <a:endParaRPr lang="en-IE" altLang="en-US" dirty="0"/>
          </a:p>
        </p:txBody>
      </p:sp>
      <p:sp>
        <p:nvSpPr>
          <p:cNvPr id="63491" name="Content Placeholder 6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IE" altLang="en-US" dirty="0"/>
              <a:t>The </a:t>
            </a:r>
            <a:r>
              <a:rPr lang="en-IE" altLang="en-US" b="1" dirty="0"/>
              <a:t>Scanner</a:t>
            </a:r>
            <a:r>
              <a:rPr lang="en-IE" altLang="en-US" dirty="0"/>
              <a:t> class is part of Java</a:t>
            </a:r>
            <a:br>
              <a:rPr lang="en-IE" altLang="en-US" dirty="0"/>
            </a:br>
            <a:endParaRPr lang="en-IE" altLang="en-US" dirty="0"/>
          </a:p>
          <a:p>
            <a:pPr eaLnBrk="1" hangingPunct="1"/>
            <a:r>
              <a:rPr lang="en-IE" altLang="en-US" dirty="0"/>
              <a:t>It allows us to </a:t>
            </a:r>
            <a:r>
              <a:rPr lang="en-IE" altLang="en-US" b="1" dirty="0"/>
              <a:t>take in data from the console </a:t>
            </a:r>
            <a:r>
              <a:rPr lang="en-IE" altLang="en-US" dirty="0"/>
              <a:t>/ terminal window</a:t>
            </a:r>
            <a:br>
              <a:rPr lang="en-IE" altLang="en-US" dirty="0"/>
            </a:br>
            <a:endParaRPr lang="en-IE" altLang="en-US" dirty="0"/>
          </a:p>
          <a:p>
            <a:pPr eaLnBrk="1" hangingPunct="1"/>
            <a:r>
              <a:rPr lang="en-IE" altLang="en-US" dirty="0"/>
              <a:t>It is part of the </a:t>
            </a:r>
            <a:r>
              <a:rPr lang="en-IE" altLang="en-US" b="1" dirty="0" err="1">
                <a:solidFill>
                  <a:srgbClr val="FF0000"/>
                </a:solidFill>
                <a:latin typeface="Monaco" pitchFamily="2" charset="77"/>
              </a:rPr>
              <a:t>java.util</a:t>
            </a:r>
            <a:r>
              <a:rPr lang="en-IE" altLang="en-US" dirty="0">
                <a:solidFill>
                  <a:srgbClr val="FF0000"/>
                </a:solidFill>
                <a:latin typeface="Monaco" pitchFamily="2" charset="77"/>
              </a:rPr>
              <a:t> </a:t>
            </a:r>
            <a:r>
              <a:rPr lang="en-IE" altLang="en-US" dirty="0"/>
              <a:t>package in the Java Application Programming Interfaces (APIs)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A9F47FF-1151-E063-300E-312B03CA66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F4EA62-A836-4446-7B19-F5B5BFE4F50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5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6245293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Input in Java: the </a:t>
            </a:r>
            <a:r>
              <a:rPr lang="en-GB" altLang="en-US" b="1" dirty="0"/>
              <a:t>Scanner</a:t>
            </a:r>
            <a:r>
              <a:rPr lang="en-GB" altLang="en-US" i="1" dirty="0"/>
              <a:t> </a:t>
            </a:r>
            <a:r>
              <a:rPr lang="en-GB" altLang="en-US" dirty="0"/>
              <a:t>Class</a:t>
            </a:r>
            <a:endParaRPr lang="en-IE" altLang="en-US" dirty="0"/>
          </a:p>
        </p:txBody>
      </p:sp>
      <p:sp>
        <p:nvSpPr>
          <p:cNvPr id="64515" name="Content Placeholder 2"/>
          <p:cNvSpPr>
            <a:spLocks noGrp="1"/>
          </p:cNvSpPr>
          <p:nvPr>
            <p:ph idx="1"/>
          </p:nvPr>
        </p:nvSpPr>
        <p:spPr>
          <a:xfrm>
            <a:off x="1067562" y="1030986"/>
            <a:ext cx="6172200" cy="1485900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 eaLnBrk="1" hangingPunct="1"/>
            <a:r>
              <a:rPr lang="en-GB" altLang="en-US" sz="1800" dirty="0"/>
              <a:t>In order to use the Scanner class, place the following line as the </a:t>
            </a:r>
            <a:r>
              <a:rPr lang="en-GB" altLang="en-US" sz="1800" b="1" dirty="0"/>
              <a:t>first line of code in your file </a:t>
            </a:r>
            <a:r>
              <a:rPr lang="en-GB" altLang="en-US" sz="1800" dirty="0"/>
              <a:t>(i.e. before class declaration):</a:t>
            </a:r>
            <a:endParaRPr lang="en-IE" altLang="en-US" sz="1800" dirty="0"/>
          </a:p>
          <a:p>
            <a:pPr marL="642938" lvl="3" indent="0">
              <a:lnSpc>
                <a:spcPct val="150000"/>
              </a:lnSpc>
              <a:buNone/>
            </a:pPr>
            <a:r>
              <a:rPr lang="en-IE" altLang="en-US" b="1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IE" altLang="en-US" sz="1800" b="1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import </a:t>
            </a:r>
            <a:r>
              <a:rPr lang="en-IE" altLang="en-US" sz="1800" b="1" dirty="0" err="1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java.util.Scanner</a:t>
            </a:r>
            <a:r>
              <a:rPr lang="en-IE" altLang="en-US" sz="1800" b="1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;</a:t>
            </a:r>
            <a:endParaRPr lang="en-IE" altLang="en-US" sz="2700" b="1" dirty="0">
              <a:solidFill>
                <a:srgbClr val="FF0000"/>
              </a:solidFill>
              <a:latin typeface="Courier New" charset="0"/>
              <a:ea typeface="Courier New" charset="0"/>
              <a:cs typeface="Courier New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GB" altLang="en-US" sz="1800" dirty="0"/>
          </a:p>
          <a:p>
            <a:pPr marL="0" indent="0">
              <a:lnSpc>
                <a:spcPct val="150000"/>
              </a:lnSpc>
              <a:buNone/>
            </a:pPr>
            <a:endParaRPr lang="en-IE" altLang="en-US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301581-C424-4C47-B677-9B7D7C02103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50" b="58920"/>
          <a:stretch/>
        </p:blipFill>
        <p:spPr>
          <a:xfrm>
            <a:off x="1067562" y="2768109"/>
            <a:ext cx="6164148" cy="179736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Donut 4"/>
          <p:cNvSpPr/>
          <p:nvPr/>
        </p:nvSpPr>
        <p:spPr>
          <a:xfrm flipV="1">
            <a:off x="1410463" y="3031235"/>
            <a:ext cx="2914651" cy="285750"/>
          </a:xfrm>
          <a:prstGeom prst="donut">
            <a:avLst>
              <a:gd name="adj" fmla="val 102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8">
              <a:solidFill>
                <a:schemeClr val="tx1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08A98B4-9FF8-27BF-61EC-99E7233964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F9FAD7-0D34-8DAA-12DD-A3A911BC74C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6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99050774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Input in Java: the </a:t>
            </a:r>
            <a:r>
              <a:rPr lang="en-GB" altLang="en-US" b="1" dirty="0"/>
              <a:t>Scanner</a:t>
            </a:r>
            <a:r>
              <a:rPr lang="en-GB" altLang="en-US" i="1" dirty="0"/>
              <a:t> </a:t>
            </a:r>
            <a:r>
              <a:rPr lang="en-GB" altLang="en-US" dirty="0"/>
              <a:t>Class</a:t>
            </a:r>
            <a:endParaRPr lang="en-IE" altLang="en-US" dirty="0"/>
          </a:p>
        </p:txBody>
      </p:sp>
      <p:sp>
        <p:nvSpPr>
          <p:cNvPr id="65539" name="Content Placeholder 2"/>
          <p:cNvSpPr>
            <a:spLocks noGrp="1"/>
          </p:cNvSpPr>
          <p:nvPr>
            <p:ph idx="1"/>
          </p:nvPr>
        </p:nvSpPr>
        <p:spPr>
          <a:xfrm>
            <a:off x="818388" y="934975"/>
            <a:ext cx="6368796" cy="1485900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eaLnBrk="1" hangingPunct="1"/>
            <a:r>
              <a:rPr lang="en-GB" altLang="en-US" sz="1950" dirty="0"/>
              <a:t>Having imported the </a:t>
            </a:r>
            <a:r>
              <a:rPr lang="en-GB" altLang="en-US" sz="1950" b="1" dirty="0" err="1"/>
              <a:t>util</a:t>
            </a:r>
            <a:r>
              <a:rPr lang="en-GB" altLang="en-US" sz="1950" dirty="0"/>
              <a:t> package, you will need to write the following instruction in your program. </a:t>
            </a:r>
            <a:endParaRPr lang="en-IE" altLang="en-US" sz="1950" dirty="0"/>
          </a:p>
          <a:p>
            <a:pPr eaLnBrk="1" hangingPunct="1">
              <a:buFont typeface="Wingdings" pitchFamily="2" charset="2"/>
              <a:buNone/>
            </a:pPr>
            <a:r>
              <a:rPr lang="en-IE" altLang="en-US" sz="1950" dirty="0"/>
              <a:t>		</a:t>
            </a:r>
            <a:r>
              <a:rPr lang="en-IE" altLang="en-US" sz="1800" b="1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Scanner </a:t>
            </a:r>
            <a:r>
              <a:rPr lang="en-IE" altLang="en-US" sz="1800" b="1" dirty="0">
                <a:solidFill>
                  <a:srgbClr val="7030A0"/>
                </a:solidFill>
                <a:latin typeface="Courier New" charset="0"/>
                <a:ea typeface="Courier New" charset="0"/>
                <a:cs typeface="Courier New" charset="0"/>
              </a:rPr>
              <a:t>input</a:t>
            </a:r>
            <a:r>
              <a:rPr lang="en-IE" altLang="en-US" sz="1800" b="1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 = new Scanner(System.in);</a:t>
            </a:r>
          </a:p>
          <a:p>
            <a:pPr eaLnBrk="1" hangingPunct="1">
              <a:buFont typeface="Wingdings" pitchFamily="2" charset="2"/>
              <a:buNone/>
            </a:pPr>
            <a:endParaRPr lang="en-IE" altLang="en-US" sz="195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5C4220-7230-40BB-8C08-637AF55243E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1" b="41157"/>
          <a:stretch/>
        </p:blipFill>
        <p:spPr>
          <a:xfrm>
            <a:off x="1072134" y="2632832"/>
            <a:ext cx="6000750" cy="200025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Donut 4"/>
          <p:cNvSpPr/>
          <p:nvPr/>
        </p:nvSpPr>
        <p:spPr>
          <a:xfrm flipV="1">
            <a:off x="1643634" y="4361688"/>
            <a:ext cx="4686300" cy="285750"/>
          </a:xfrm>
          <a:prstGeom prst="donut">
            <a:avLst>
              <a:gd name="adj" fmla="val 102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8">
              <a:solidFill>
                <a:schemeClr val="tx1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8E14764-9889-5D8A-E106-AD7CA2AD9B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E5A000-9F3B-3B5B-D488-331BA32D5D96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7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35798771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Input in Java: the </a:t>
            </a:r>
            <a:r>
              <a:rPr lang="en-GB" altLang="en-US" b="1" dirty="0"/>
              <a:t>Scanner</a:t>
            </a:r>
            <a:r>
              <a:rPr lang="en-GB" altLang="en-US" i="1" dirty="0"/>
              <a:t> </a:t>
            </a:r>
            <a:r>
              <a:rPr lang="en-GB" altLang="en-US" dirty="0"/>
              <a:t>Class</a:t>
            </a:r>
            <a:endParaRPr lang="en-IE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5C4220-7230-40BB-8C08-637AF55243E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1" b="41157"/>
          <a:stretch/>
        </p:blipFill>
        <p:spPr>
          <a:xfrm>
            <a:off x="1282446" y="2632832"/>
            <a:ext cx="6000750" cy="200025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Donut 4"/>
          <p:cNvSpPr/>
          <p:nvPr/>
        </p:nvSpPr>
        <p:spPr>
          <a:xfrm flipV="1">
            <a:off x="1853946" y="4361688"/>
            <a:ext cx="4686300" cy="285750"/>
          </a:xfrm>
          <a:prstGeom prst="donut">
            <a:avLst>
              <a:gd name="adj" fmla="val 102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8">
              <a:solidFill>
                <a:schemeClr val="tx1"/>
              </a:solidFill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1110996" y="1046988"/>
            <a:ext cx="6172200" cy="1371600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pPr>
              <a:spcBef>
                <a:spcPts val="0"/>
              </a:spcBef>
            </a:pPr>
            <a:r>
              <a:rPr lang="en-GB" altLang="en-US" sz="1950" dirty="0"/>
              <a:t>This declares a Scanner </a:t>
            </a:r>
            <a:r>
              <a:rPr lang="en-GB" altLang="en-US" sz="1950" b="1" dirty="0"/>
              <a:t>object</a:t>
            </a:r>
            <a:r>
              <a:rPr lang="en-GB" altLang="en-US" sz="1950" dirty="0"/>
              <a:t> called </a:t>
            </a:r>
            <a:r>
              <a:rPr lang="en-GB" altLang="en-US" sz="1950" b="1" dirty="0">
                <a:solidFill>
                  <a:srgbClr val="FF0000"/>
                </a:solidFill>
              </a:rPr>
              <a:t>input</a:t>
            </a:r>
            <a:r>
              <a:rPr lang="en-GB" altLang="en-US" sz="1950" dirty="0"/>
              <a:t> </a:t>
            </a:r>
            <a:br>
              <a:rPr lang="en-GB" altLang="en-US" sz="1950" dirty="0"/>
            </a:br>
            <a:r>
              <a:rPr lang="en-GB" altLang="en-US" sz="1950" dirty="0"/>
              <a:t>(you can name this object anything you wish).</a:t>
            </a:r>
            <a:br>
              <a:rPr lang="en-GB" altLang="en-US" sz="1950" dirty="0"/>
            </a:br>
            <a:endParaRPr lang="en-US" altLang="en-US" sz="1950" dirty="0"/>
          </a:p>
          <a:p>
            <a:pPr>
              <a:spcBef>
                <a:spcPts val="0"/>
              </a:spcBef>
            </a:pPr>
            <a:r>
              <a:rPr lang="en-IE" altLang="en-US" sz="1950" dirty="0"/>
              <a:t>You must have this instruction to be able to call the methods in the Scanner class.</a:t>
            </a:r>
          </a:p>
          <a:p>
            <a:pPr eaLnBrk="1" hangingPunct="1">
              <a:buFont typeface="Wingdings" pitchFamily="2" charset="2"/>
              <a:buNone/>
            </a:pPr>
            <a:endParaRPr lang="en-IE" alt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AD8B336-3CE2-4759-7EF8-3E7F8CA6B3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DF4A86-777A-50F4-745D-7776E3E9B34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8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865230813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Input in Java: the </a:t>
            </a:r>
            <a:r>
              <a:rPr lang="en-GB" altLang="en-US" b="1" dirty="0"/>
              <a:t>Scanner</a:t>
            </a:r>
            <a:r>
              <a:rPr lang="en-GB" altLang="en-US" i="1" dirty="0"/>
              <a:t> </a:t>
            </a:r>
            <a:r>
              <a:rPr lang="en-GB" altLang="en-US" dirty="0"/>
              <a:t>Class</a:t>
            </a:r>
            <a:endParaRPr lang="en-IE" altLang="en-US" dirty="0"/>
          </a:p>
        </p:txBody>
      </p:sp>
      <p:sp>
        <p:nvSpPr>
          <p:cNvPr id="64515" name="Conten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GB" altLang="en-US" sz="2000" dirty="0"/>
              <a:t>Now that a Scanner object is set up, we can use all the </a:t>
            </a:r>
            <a:r>
              <a:rPr lang="en-GB" altLang="en-US" sz="2000" b="1" dirty="0"/>
              <a:t>input method</a:t>
            </a:r>
            <a:r>
              <a:rPr lang="en-GB" altLang="en-US" sz="2000" dirty="0"/>
              <a:t>s </a:t>
            </a:r>
            <a:br>
              <a:rPr lang="en-GB" altLang="en-US" sz="2000" dirty="0"/>
            </a:br>
            <a:r>
              <a:rPr lang="en-GB" altLang="en-US" sz="2000" dirty="0"/>
              <a:t>that have been defined in the Scanner class. </a:t>
            </a:r>
            <a:br>
              <a:rPr lang="en-GB" altLang="en-US" sz="2000" dirty="0"/>
            </a:br>
            <a:endParaRPr lang="en-GB" altLang="en-US" sz="2000" dirty="0"/>
          </a:p>
          <a:p>
            <a:pPr eaLnBrk="1" hangingPunct="1"/>
            <a:r>
              <a:rPr lang="en-IE" altLang="en-US" sz="2000" dirty="0"/>
              <a:t>There are </a:t>
            </a:r>
            <a:r>
              <a:rPr lang="en-IE" altLang="en-US" sz="2000" b="1" dirty="0"/>
              <a:t>methods</a:t>
            </a:r>
            <a:r>
              <a:rPr lang="en-IE" altLang="en-US" sz="2000" dirty="0"/>
              <a:t> to take in:</a:t>
            </a:r>
          </a:p>
          <a:p>
            <a:pPr eaLnBrk="1" hangingPunct="1"/>
            <a:endParaRPr lang="en-IE" altLang="en-US" sz="2000" dirty="0"/>
          </a:p>
          <a:p>
            <a:pPr eaLnBrk="1" hangingPunct="1"/>
            <a:endParaRPr lang="en-IE" alt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4FD512-8409-27DE-01D4-B55D84CC4A75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9</a:t>
            </a:fld>
            <a:endParaRPr lang="en-IE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73E354C-97AB-2B87-31A3-F4E461A206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B99776E3-1E74-4435-A606-23D2A5092C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0988281"/>
              </p:ext>
            </p:extLst>
          </p:nvPr>
        </p:nvGraphicFramePr>
        <p:xfrm>
          <a:off x="1462414" y="2686050"/>
          <a:ext cx="5462152" cy="17455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17657">
                  <a:extLst>
                    <a:ext uri="{9D8B030D-6E8A-4147-A177-3AD203B41FA5}">
                      <a16:colId xmlns:a16="http://schemas.microsoft.com/office/drawing/2014/main" val="4229874743"/>
                    </a:ext>
                  </a:extLst>
                </a:gridCol>
                <a:gridCol w="3244495">
                  <a:extLst>
                    <a:ext uri="{9D8B030D-6E8A-4147-A177-3AD203B41FA5}">
                      <a16:colId xmlns:a16="http://schemas.microsoft.com/office/drawing/2014/main" val="1553790355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altLang="en-US" sz="1800" dirty="0" err="1"/>
                        <a:t>ints</a:t>
                      </a:r>
                      <a:endParaRPr lang="en-IE" altLang="en-US" sz="1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dirty="0">
                          <a:solidFill>
                            <a:srgbClr val="0070C0"/>
                          </a:solidFill>
                        </a:rPr>
                        <a:t>.</a:t>
                      </a:r>
                      <a:r>
                        <a:rPr lang="en-GB" sz="1800" b="1" dirty="0" err="1">
                          <a:solidFill>
                            <a:srgbClr val="0070C0"/>
                          </a:solidFill>
                        </a:rPr>
                        <a:t>nextInt</a:t>
                      </a:r>
                      <a:r>
                        <a:rPr lang="en-GB" sz="1800" b="1" dirty="0">
                          <a:solidFill>
                            <a:srgbClr val="0070C0"/>
                          </a:solidFill>
                        </a:rPr>
                        <a:t>()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21898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r"/>
                      <a:r>
                        <a:rPr lang="en-IE" altLang="en-US" sz="1800" dirty="0"/>
                        <a:t>doubles</a:t>
                      </a:r>
                      <a:endParaRPr lang="en-VI" sz="1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dirty="0">
                          <a:solidFill>
                            <a:srgbClr val="0070C0"/>
                          </a:solidFill>
                        </a:rPr>
                        <a:t>.</a:t>
                      </a:r>
                      <a:r>
                        <a:rPr lang="en-GB" sz="1800" b="1" dirty="0" err="1">
                          <a:solidFill>
                            <a:srgbClr val="0070C0"/>
                          </a:solidFill>
                        </a:rPr>
                        <a:t>nextDouble</a:t>
                      </a:r>
                      <a:r>
                        <a:rPr lang="en-GB" sz="1800" b="1" dirty="0">
                          <a:solidFill>
                            <a:srgbClr val="0070C0"/>
                          </a:solidFill>
                        </a:rPr>
                        <a:t>()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065783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r"/>
                      <a:r>
                        <a:rPr lang="en-GB" sz="1800" dirty="0"/>
                        <a:t>Strings</a:t>
                      </a:r>
                      <a:endParaRPr lang="en-VI" sz="1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dirty="0">
                          <a:solidFill>
                            <a:srgbClr val="0070C0"/>
                          </a:solidFill>
                        </a:rPr>
                        <a:t>.</a:t>
                      </a:r>
                      <a:r>
                        <a:rPr lang="en-GB" sz="1800" b="1" dirty="0" err="1">
                          <a:solidFill>
                            <a:srgbClr val="0070C0"/>
                          </a:solidFill>
                        </a:rPr>
                        <a:t>nextLine</a:t>
                      </a:r>
                      <a:r>
                        <a:rPr lang="en-GB" sz="1800" b="1" dirty="0">
                          <a:solidFill>
                            <a:srgbClr val="0070C0"/>
                          </a:solidFill>
                        </a:rPr>
                        <a:t>()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3852803"/>
                  </a:ext>
                </a:extLst>
              </a:tr>
              <a:tr h="373954">
                <a:tc>
                  <a:txBody>
                    <a:bodyPr/>
                    <a:lstStyle/>
                    <a:p>
                      <a:pPr algn="r"/>
                      <a:r>
                        <a:rPr lang="en-GB" sz="1800" dirty="0"/>
                        <a:t>chars</a:t>
                      </a:r>
                      <a:endParaRPr lang="en-VI" sz="1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dirty="0">
                          <a:solidFill>
                            <a:srgbClr val="0070C0"/>
                          </a:solidFill>
                        </a:rPr>
                        <a:t>.next().</a:t>
                      </a:r>
                      <a:r>
                        <a:rPr lang="en-GB" sz="1800" b="1" dirty="0" err="1">
                          <a:solidFill>
                            <a:srgbClr val="0070C0"/>
                          </a:solidFill>
                        </a:rPr>
                        <a:t>charAt</a:t>
                      </a:r>
                      <a:r>
                        <a:rPr lang="en-GB" sz="1800" b="1" dirty="0">
                          <a:solidFill>
                            <a:srgbClr val="0070C0"/>
                          </a:solidFill>
                        </a:rPr>
                        <a:t>(0)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26004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r"/>
                      <a:r>
                        <a:rPr lang="en-GB" sz="1800" dirty="0"/>
                        <a:t>etc…</a:t>
                      </a:r>
                      <a:endParaRPr lang="en-VI" sz="1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See API docs for more</a:t>
                      </a:r>
                      <a:endParaRPr lang="en-VI" sz="1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64221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690710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5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3F2B9-CA77-41E2-BFCC-DD2CEF5266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71808" y="391194"/>
            <a:ext cx="4316028" cy="1102519"/>
          </a:xfrm>
        </p:spPr>
        <p:txBody>
          <a:bodyPr/>
          <a:lstStyle/>
          <a:p>
            <a:pPr>
              <a:spcBef>
                <a:spcPts val="633"/>
              </a:spcBef>
            </a:pPr>
            <a:r>
              <a:rPr lang="en-IE" sz="3600" dirty="0">
                <a:solidFill>
                  <a:schemeClr val="tx1"/>
                </a:solidFill>
              </a:rPr>
              <a:t>RECAP : SHOP V1.0</a:t>
            </a:r>
            <a:endParaRPr lang="en-IE" sz="3600" b="1" dirty="0">
              <a:solidFill>
                <a:srgbClr val="0368FF"/>
              </a:solidFill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0B48627-70FE-4B45-9414-DD660DBF28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114532" y="1660137"/>
            <a:ext cx="2630581" cy="2630581"/>
          </a:xfrm>
          <a:prstGeom prst="rect">
            <a:avLst/>
          </a:prstGeom>
          <a:noFill/>
          <a:ln w="38100">
            <a:noFill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4EBBC8-D8C4-AD98-5A2D-86C001100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1" y="4865349"/>
            <a:ext cx="1905000" cy="283023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E5978C-2993-225B-79D6-A53E710FF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www.java.com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77155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7C54F-25E0-4FBC-AA95-B1EADD8A2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Shop V1.0 - </a:t>
            </a:r>
            <a:r>
              <a:rPr lang="en-IE" b="1" dirty="0">
                <a:solidFill>
                  <a:srgbClr val="598CBE"/>
                </a:solidFill>
                <a:latin typeface="Monaco" pitchFamily="2" charset="77"/>
              </a:rPr>
              <a:t>Product</a:t>
            </a:r>
            <a:endParaRPr lang="en-IE" dirty="0">
              <a:solidFill>
                <a:srgbClr val="598CBE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78F51-A6C3-4DFC-8DDB-3489B717A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5" y="809244"/>
            <a:ext cx="7772401" cy="3394472"/>
          </a:xfrm>
        </p:spPr>
        <p:txBody>
          <a:bodyPr/>
          <a:lstStyle/>
          <a:p>
            <a:r>
              <a:rPr lang="en-IE" dirty="0"/>
              <a:t>The </a:t>
            </a:r>
            <a:r>
              <a:rPr lang="en-IE" b="1" dirty="0">
                <a:solidFill>
                  <a:srgbClr val="598CBE"/>
                </a:solidFill>
                <a:latin typeface="Monaco" pitchFamily="2" charset="77"/>
              </a:rPr>
              <a:t>Product</a:t>
            </a:r>
            <a:r>
              <a:rPr lang="en-IE" dirty="0"/>
              <a:t> class stores </a:t>
            </a:r>
            <a:r>
              <a:rPr lang="en-IE" b="1" dirty="0"/>
              <a:t>details</a:t>
            </a:r>
            <a:r>
              <a:rPr lang="en-IE" dirty="0"/>
              <a:t> about a product, e.g. </a:t>
            </a:r>
            <a:r>
              <a:rPr lang="en-IE" dirty="0">
                <a:latin typeface="Monaco" pitchFamily="2" charset="77"/>
              </a:rPr>
              <a:t>name</a:t>
            </a:r>
            <a:r>
              <a:rPr lang="en-IE" dirty="0"/>
              <a:t>, </a:t>
            </a:r>
            <a:r>
              <a:rPr lang="en-IE" dirty="0">
                <a:latin typeface="Monaco" pitchFamily="2" charset="77"/>
              </a:rPr>
              <a:t>code</a:t>
            </a:r>
            <a:r>
              <a:rPr lang="en-IE" dirty="0"/>
              <a:t>, </a:t>
            </a:r>
            <a:r>
              <a:rPr lang="en-IE" dirty="0">
                <a:latin typeface="Monaco" pitchFamily="2" charset="77"/>
              </a:rPr>
              <a:t>unit cost</a:t>
            </a:r>
            <a:r>
              <a:rPr lang="en-IE" dirty="0"/>
              <a:t>, in the </a:t>
            </a:r>
            <a:r>
              <a:rPr lang="en-IE" dirty="0">
                <a:latin typeface="Monaco" pitchFamily="2" charset="77"/>
              </a:rPr>
              <a:t>current product line </a:t>
            </a:r>
            <a:r>
              <a:rPr lang="en-IE" dirty="0"/>
              <a:t>or not?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2E16D95-83A0-6011-F1B4-6F02212A21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0060D38-144C-A586-DC1E-8AAA89EE5786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11</a:t>
            </a:fld>
            <a:endParaRPr lang="en-IE" dirty="0"/>
          </a:p>
        </p:txBody>
      </p:sp>
      <p:sp>
        <p:nvSpPr>
          <p:cNvPr id="11" name="Rectangle: Rounded Corners 3">
            <a:extLst>
              <a:ext uri="{FF2B5EF4-FFF2-40B4-BE49-F238E27FC236}">
                <a16:creationId xmlns:a16="http://schemas.microsoft.com/office/drawing/2014/main" id="{FDDA9D37-5551-B8F2-B02E-952FFC4D7622}"/>
              </a:ext>
            </a:extLst>
          </p:cNvPr>
          <p:cNvSpPr/>
          <p:nvPr/>
        </p:nvSpPr>
        <p:spPr>
          <a:xfrm>
            <a:off x="848135" y="2309034"/>
            <a:ext cx="1543050" cy="800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3000" dirty="0"/>
              <a:t>Driver</a:t>
            </a:r>
          </a:p>
        </p:txBody>
      </p:sp>
      <p:sp>
        <p:nvSpPr>
          <p:cNvPr id="12" name="Rectangle: Rounded Corners 4">
            <a:extLst>
              <a:ext uri="{FF2B5EF4-FFF2-40B4-BE49-F238E27FC236}">
                <a16:creationId xmlns:a16="http://schemas.microsoft.com/office/drawing/2014/main" id="{83D255C9-AAFB-22C1-4D96-BF8CB855F2CF}"/>
              </a:ext>
            </a:extLst>
          </p:cNvPr>
          <p:cNvSpPr/>
          <p:nvPr/>
        </p:nvSpPr>
        <p:spPr>
          <a:xfrm>
            <a:off x="3457506" y="3623484"/>
            <a:ext cx="1734029" cy="800100"/>
          </a:xfrm>
          <a:prstGeom prst="roundRect">
            <a:avLst/>
          </a:prstGeom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3000" b="1" dirty="0"/>
              <a:t>Product</a:t>
            </a:r>
          </a:p>
        </p:txBody>
      </p:sp>
      <p:cxnSp>
        <p:nvCxnSpPr>
          <p:cNvPr id="13" name="Connector: Elbow 5">
            <a:extLst>
              <a:ext uri="{FF2B5EF4-FFF2-40B4-BE49-F238E27FC236}">
                <a16:creationId xmlns:a16="http://schemas.microsoft.com/office/drawing/2014/main" id="{43805EF2-3A0B-949F-D972-7862E2DC0ACE}"/>
              </a:ext>
            </a:extLst>
          </p:cNvPr>
          <p:cNvCxnSpPr>
            <a:cxnSpLocks/>
            <a:stCxn id="11" idx="3"/>
            <a:endCxn id="12" idx="0"/>
          </p:cNvCxnSpPr>
          <p:nvPr/>
        </p:nvCxnSpPr>
        <p:spPr>
          <a:xfrm>
            <a:off x="2391185" y="2709084"/>
            <a:ext cx="1933336" cy="914400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FAA8C8D1-AEA5-7E74-409F-10B6835A64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80760" y="1871009"/>
            <a:ext cx="2172745" cy="2163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751956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94F0F14-42AE-486E-8972-EE8D5E1609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6050" y="964693"/>
            <a:ext cx="3620004" cy="3584572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F79139-BDA4-498E-82CA-735FBFE064C4}"/>
              </a:ext>
            </a:extLst>
          </p:cNvPr>
          <p:cNvSpPr/>
          <p:nvPr/>
        </p:nvSpPr>
        <p:spPr>
          <a:xfrm>
            <a:off x="3028950" y="1136142"/>
            <a:ext cx="3143250" cy="28575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BE5A788-11DA-45E2-877E-1BF51BC4F361}"/>
              </a:ext>
            </a:extLst>
          </p:cNvPr>
          <p:cNvSpPr/>
          <p:nvPr/>
        </p:nvSpPr>
        <p:spPr>
          <a:xfrm>
            <a:off x="3028950" y="3536442"/>
            <a:ext cx="3143250" cy="97155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sp>
        <p:nvSpPr>
          <p:cNvPr id="6" name="TextBox 5"/>
          <p:cNvSpPr txBox="1"/>
          <p:nvPr/>
        </p:nvSpPr>
        <p:spPr>
          <a:xfrm>
            <a:off x="1294896" y="1147405"/>
            <a:ext cx="1257300" cy="3231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500" b="1" dirty="0"/>
              <a:t>constructor</a:t>
            </a:r>
            <a:r>
              <a:rPr lang="en-IE" sz="1500" dirty="0"/>
              <a:t> </a:t>
            </a:r>
          </a:p>
        </p:txBody>
      </p:sp>
      <p:cxnSp>
        <p:nvCxnSpPr>
          <p:cNvPr id="8" name="Straight Arrow Connector 7"/>
          <p:cNvCxnSpPr>
            <a:cxnSpLocks/>
          </p:cNvCxnSpPr>
          <p:nvPr/>
        </p:nvCxnSpPr>
        <p:spPr>
          <a:xfrm>
            <a:off x="2552196" y="1279017"/>
            <a:ext cx="476754" cy="0"/>
          </a:xfrm>
          <a:prstGeom prst="straightConnector1">
            <a:avLst/>
          </a:prstGeom>
          <a:ln w="28575">
            <a:solidFill>
              <a:schemeClr val="bg1">
                <a:lumMod val="8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294896" y="3772444"/>
            <a:ext cx="1257300" cy="323165"/>
          </a:xfrm>
          <a:prstGeom prst="rect">
            <a:avLst/>
          </a:prstGeom>
          <a:solidFill>
            <a:srgbClr val="F9CF8B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500" b="1" dirty="0"/>
              <a:t>fields</a:t>
            </a:r>
            <a:r>
              <a:rPr lang="en-IE" sz="1500" dirty="0"/>
              <a:t> </a:t>
            </a:r>
          </a:p>
        </p:txBody>
      </p:sp>
      <p:cxnSp>
        <p:nvCxnSpPr>
          <p:cNvPr id="11" name="Straight Arrow Connector 10"/>
          <p:cNvCxnSpPr>
            <a:cxnSpLocks/>
            <a:stCxn id="10" idx="3"/>
          </p:cNvCxnSpPr>
          <p:nvPr/>
        </p:nvCxnSpPr>
        <p:spPr>
          <a:xfrm flipV="1">
            <a:off x="2552196" y="3922487"/>
            <a:ext cx="514350" cy="11540"/>
          </a:xfrm>
          <a:prstGeom prst="straightConnector1">
            <a:avLst/>
          </a:prstGeom>
          <a:ln w="28575">
            <a:solidFill>
              <a:srgbClr val="F9CF8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294896" y="1764678"/>
            <a:ext cx="1257300" cy="323165"/>
          </a:xfrm>
          <a:prstGeom prst="rect">
            <a:avLst/>
          </a:prstGeom>
          <a:solidFill>
            <a:srgbClr val="FCBAC5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500" b="1"/>
              <a:t>getters</a:t>
            </a:r>
            <a:endParaRPr lang="en-IE" sz="1500" dirty="0"/>
          </a:p>
        </p:txBody>
      </p:sp>
      <p:cxnSp>
        <p:nvCxnSpPr>
          <p:cNvPr id="21" name="Straight Arrow Connector 20"/>
          <p:cNvCxnSpPr>
            <a:cxnSpLocks/>
            <a:stCxn id="19" idx="3"/>
            <a:endCxn id="28" idx="1"/>
          </p:cNvCxnSpPr>
          <p:nvPr/>
        </p:nvCxnSpPr>
        <p:spPr>
          <a:xfrm flipV="1">
            <a:off x="2552196" y="1912298"/>
            <a:ext cx="498023" cy="13963"/>
          </a:xfrm>
          <a:prstGeom prst="straightConnector1">
            <a:avLst/>
          </a:prstGeom>
          <a:ln w="28575">
            <a:solidFill>
              <a:srgbClr val="FCBAC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294896" y="2698041"/>
            <a:ext cx="1257300" cy="323165"/>
          </a:xfrm>
          <a:prstGeom prst="rect">
            <a:avLst/>
          </a:prstGeom>
          <a:solidFill>
            <a:srgbClr val="FCBAC5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500" b="1"/>
              <a:t>setters</a:t>
            </a:r>
            <a:endParaRPr lang="en-IE" sz="1500" dirty="0"/>
          </a:p>
        </p:txBody>
      </p:sp>
      <p:cxnSp>
        <p:nvCxnSpPr>
          <p:cNvPr id="23" name="Straight Arrow Connector 22"/>
          <p:cNvCxnSpPr>
            <a:cxnSpLocks/>
            <a:stCxn id="22" idx="3"/>
          </p:cNvCxnSpPr>
          <p:nvPr/>
        </p:nvCxnSpPr>
        <p:spPr>
          <a:xfrm flipV="1">
            <a:off x="2552196" y="2839198"/>
            <a:ext cx="514350" cy="20426"/>
          </a:xfrm>
          <a:prstGeom prst="straightConnector1">
            <a:avLst/>
          </a:prstGeom>
          <a:ln w="28575">
            <a:solidFill>
              <a:srgbClr val="FCBAC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294896" y="3275640"/>
            <a:ext cx="1257300" cy="323165"/>
          </a:xfrm>
          <a:prstGeom prst="rect">
            <a:avLst/>
          </a:prstGeom>
          <a:solidFill>
            <a:srgbClr val="FCBAC5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500" b="1"/>
              <a:t>toString</a:t>
            </a:r>
            <a:endParaRPr lang="en-IE" sz="1500" dirty="0"/>
          </a:p>
        </p:txBody>
      </p:sp>
      <p:cxnSp>
        <p:nvCxnSpPr>
          <p:cNvPr id="25" name="Straight Arrow Connector 24"/>
          <p:cNvCxnSpPr>
            <a:cxnSpLocks/>
            <a:endCxn id="30" idx="1"/>
          </p:cNvCxnSpPr>
          <p:nvPr/>
        </p:nvCxnSpPr>
        <p:spPr>
          <a:xfrm flipV="1">
            <a:off x="2552197" y="3424705"/>
            <a:ext cx="498022" cy="977"/>
          </a:xfrm>
          <a:prstGeom prst="straightConnector1">
            <a:avLst/>
          </a:prstGeom>
          <a:ln w="28575">
            <a:solidFill>
              <a:srgbClr val="FCBAC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: Rounded Corners 20">
            <a:extLst>
              <a:ext uri="{FF2B5EF4-FFF2-40B4-BE49-F238E27FC236}">
                <a16:creationId xmlns:a16="http://schemas.microsoft.com/office/drawing/2014/main" id="{568E9ECC-112E-40DC-84EA-6A19D160A5D2}"/>
              </a:ext>
            </a:extLst>
          </p:cNvPr>
          <p:cNvSpPr/>
          <p:nvPr/>
        </p:nvSpPr>
        <p:spPr>
          <a:xfrm>
            <a:off x="3050219" y="1455652"/>
            <a:ext cx="3121982" cy="91329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sp>
        <p:nvSpPr>
          <p:cNvPr id="29" name="Rectangle: Rounded Corners 20">
            <a:extLst>
              <a:ext uri="{FF2B5EF4-FFF2-40B4-BE49-F238E27FC236}">
                <a16:creationId xmlns:a16="http://schemas.microsoft.com/office/drawing/2014/main" id="{568E9ECC-112E-40DC-84EA-6A19D160A5D2}"/>
              </a:ext>
            </a:extLst>
          </p:cNvPr>
          <p:cNvSpPr/>
          <p:nvPr/>
        </p:nvSpPr>
        <p:spPr>
          <a:xfrm>
            <a:off x="3050219" y="2410216"/>
            <a:ext cx="3121982" cy="90470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sp>
        <p:nvSpPr>
          <p:cNvPr id="30" name="Rectangle: Rounded Corners 20">
            <a:extLst>
              <a:ext uri="{FF2B5EF4-FFF2-40B4-BE49-F238E27FC236}">
                <a16:creationId xmlns:a16="http://schemas.microsoft.com/office/drawing/2014/main" id="{568E9ECC-112E-40DC-84EA-6A19D160A5D2}"/>
              </a:ext>
            </a:extLst>
          </p:cNvPr>
          <p:cNvSpPr/>
          <p:nvPr/>
        </p:nvSpPr>
        <p:spPr>
          <a:xfrm>
            <a:off x="3050219" y="3336980"/>
            <a:ext cx="3121982" cy="17544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27AC2EB-E43A-01C3-7077-EDD162DF1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0"/>
            <a:ext cx="7772401" cy="761815"/>
          </a:xfrm>
        </p:spPr>
        <p:txBody>
          <a:bodyPr/>
          <a:lstStyle/>
          <a:p>
            <a:r>
              <a:rPr lang="en-IE" dirty="0"/>
              <a:t>RECAP : Shop V1.0 - </a:t>
            </a:r>
            <a:r>
              <a:rPr lang="en-IE" b="1" dirty="0">
                <a:solidFill>
                  <a:srgbClr val="598CBE"/>
                </a:solidFill>
                <a:latin typeface="Monaco" pitchFamily="2" charset="77"/>
              </a:rPr>
              <a:t>Product</a:t>
            </a:r>
            <a:endParaRPr lang="en-IE" dirty="0">
              <a:solidFill>
                <a:srgbClr val="598CBE"/>
              </a:solidFill>
            </a:endParaRP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4A6BC5DD-EF06-781D-6AEF-9E63143805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C2360DBF-67E8-AFEC-2B8C-4FED2A0835F9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12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68979860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2" grpId="0" animBg="1"/>
      <p:bldP spid="24" grpId="0" animBg="1"/>
      <p:bldP spid="28" grpId="0" animBg="1"/>
      <p:bldP spid="29" grpId="0" animBg="1"/>
      <p:bldP spid="3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7C54F-25E0-4FBC-AA95-B1EADD8A2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Shop V1.0 - </a:t>
            </a:r>
            <a:r>
              <a:rPr lang="en-IE" b="1" dirty="0">
                <a:solidFill>
                  <a:srgbClr val="00B050"/>
                </a:solidFill>
                <a:latin typeface="Monaco" pitchFamily="2" charset="77"/>
              </a:rPr>
              <a:t>Driver</a:t>
            </a:r>
            <a:endParaRPr lang="en-IE" dirty="0">
              <a:solidFill>
                <a:srgbClr val="00B050"/>
              </a:solidFill>
              <a:latin typeface="Monaco" pitchFamily="2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78F51-A6C3-4DFC-8DDB-3489B717A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816679"/>
            <a:ext cx="7148264" cy="3829050"/>
          </a:xfrm>
        </p:spPr>
        <p:txBody>
          <a:bodyPr>
            <a:noAutofit/>
          </a:bodyPr>
          <a:lstStyle/>
          <a:p>
            <a:r>
              <a:rPr lang="en-IE" dirty="0"/>
              <a:t>The </a:t>
            </a:r>
            <a:r>
              <a:rPr lang="en-IE" b="1" dirty="0">
                <a:solidFill>
                  <a:srgbClr val="00B050"/>
                </a:solidFill>
                <a:latin typeface="Monaco" pitchFamily="2" charset="77"/>
              </a:rPr>
              <a:t>Driver</a:t>
            </a:r>
            <a:r>
              <a:rPr lang="en-IE" dirty="0">
                <a:solidFill>
                  <a:schemeClr val="accent6"/>
                </a:solidFill>
              </a:rPr>
              <a:t> </a:t>
            </a:r>
            <a:r>
              <a:rPr lang="en-IE" dirty="0"/>
              <a:t>class </a:t>
            </a:r>
          </a:p>
          <a:p>
            <a:pPr lvl="1"/>
            <a:r>
              <a:rPr lang="en-IE" sz="2800" dirty="0"/>
              <a:t>has the </a:t>
            </a:r>
            <a:r>
              <a:rPr lang="en-IE" sz="2800" b="1" dirty="0">
                <a:solidFill>
                  <a:srgbClr val="FF0000"/>
                </a:solidFill>
                <a:latin typeface="Monaco" pitchFamily="2" charset="77"/>
              </a:rPr>
              <a:t>main()</a:t>
            </a:r>
            <a:r>
              <a:rPr lang="en-IE" sz="2800" dirty="0">
                <a:solidFill>
                  <a:srgbClr val="FF0000"/>
                </a:solidFill>
              </a:rPr>
              <a:t> </a:t>
            </a:r>
            <a:r>
              <a:rPr lang="en-IE" sz="2800" dirty="0"/>
              <a:t>method.  </a:t>
            </a:r>
          </a:p>
          <a:p>
            <a:pPr lvl="1"/>
            <a:r>
              <a:rPr lang="en-IE" sz="2800" b="1" dirty="0"/>
              <a:t>reads</a:t>
            </a:r>
            <a:r>
              <a:rPr lang="en-IE" sz="2800" dirty="0"/>
              <a:t> the product details from the user (via the console)</a:t>
            </a:r>
          </a:p>
          <a:p>
            <a:pPr lvl="1"/>
            <a:r>
              <a:rPr lang="en-IE" sz="2800" b="1" dirty="0"/>
              <a:t>creates</a:t>
            </a:r>
            <a:r>
              <a:rPr lang="en-IE" sz="2800" dirty="0"/>
              <a:t> a new Product object  </a:t>
            </a:r>
          </a:p>
          <a:p>
            <a:pPr lvl="1"/>
            <a:r>
              <a:rPr lang="en-IE" sz="2800" b="1" dirty="0"/>
              <a:t>prints</a:t>
            </a:r>
            <a:r>
              <a:rPr lang="en-IE" sz="2800" dirty="0"/>
              <a:t> the product object</a:t>
            </a:r>
            <a:br>
              <a:rPr lang="en-IE" sz="2800" dirty="0"/>
            </a:br>
            <a:r>
              <a:rPr lang="en-IE" sz="2800" dirty="0"/>
              <a:t>(to the console)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F48EAA3-F50D-4307-B4CB-4A28736D5065}"/>
              </a:ext>
            </a:extLst>
          </p:cNvPr>
          <p:cNvSpPr/>
          <p:nvPr/>
        </p:nvSpPr>
        <p:spPr>
          <a:xfrm>
            <a:off x="6227064" y="150876"/>
            <a:ext cx="1543050" cy="800100"/>
          </a:xfrm>
          <a:prstGeom prst="roundRect">
            <a:avLst/>
          </a:prstGeom>
          <a:ln w="635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3000" b="1" dirty="0"/>
              <a:t>Driver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492F55B-1604-4D99-A22D-1190EB809A71}"/>
              </a:ext>
            </a:extLst>
          </p:cNvPr>
          <p:cNvSpPr/>
          <p:nvPr/>
        </p:nvSpPr>
        <p:spPr>
          <a:xfrm>
            <a:off x="7424928" y="2648212"/>
            <a:ext cx="1659636" cy="800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3000" dirty="0"/>
              <a:t>Product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911C9948-2B5E-4D2E-9333-9172083D4EDA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>
          <a:xfrm>
            <a:off x="7770114" y="550926"/>
            <a:ext cx="484632" cy="2097286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BEDDEA-06DA-1D3F-7419-566DCD723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0DAFA7-F802-767F-3B3D-F03ACA1612F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13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355722987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682F9366-9109-1E0A-EEB6-2C20A0854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Shop V1.0 - </a:t>
            </a:r>
            <a:r>
              <a:rPr lang="en-IE" b="1" dirty="0">
                <a:solidFill>
                  <a:srgbClr val="00B050"/>
                </a:solidFill>
                <a:latin typeface="Monaco" pitchFamily="2" charset="77"/>
              </a:rPr>
              <a:t>Driver</a:t>
            </a:r>
            <a:endParaRPr lang="en-IE" dirty="0">
              <a:solidFill>
                <a:srgbClr val="00B050"/>
              </a:solidFill>
              <a:latin typeface="Monaco" pitchFamily="2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78F51-A6C3-4DFC-8DDB-3489B717AD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E" sz="2800" dirty="0"/>
              <a:t>We want to use </a:t>
            </a:r>
            <a:r>
              <a:rPr lang="en-IE" sz="2800" b="1" dirty="0">
                <a:latin typeface="Monaco" pitchFamily="2" charset="77"/>
              </a:rPr>
              <a:t>Scanner</a:t>
            </a:r>
            <a:r>
              <a:rPr lang="en-IE" sz="2800" b="1" dirty="0"/>
              <a:t> </a:t>
            </a:r>
            <a:r>
              <a:rPr lang="en-IE" sz="2800" dirty="0"/>
              <a:t>to</a:t>
            </a:r>
            <a:br>
              <a:rPr lang="en-IE" sz="2800" dirty="0"/>
            </a:br>
            <a:r>
              <a:rPr lang="en-IE" sz="2800" b="1" dirty="0">
                <a:solidFill>
                  <a:srgbClr val="FF0000"/>
                </a:solidFill>
              </a:rPr>
              <a:t>read in </a:t>
            </a:r>
            <a:r>
              <a:rPr lang="en-IE" sz="2800" dirty="0"/>
              <a:t>product details from the console</a:t>
            </a:r>
            <a:br>
              <a:rPr lang="en-IE" sz="2800" dirty="0"/>
            </a:br>
            <a:endParaRPr lang="en-IE" sz="2800" dirty="0"/>
          </a:p>
          <a:p>
            <a:r>
              <a:rPr lang="en-IE" sz="2800" dirty="0"/>
              <a:t>We will then </a:t>
            </a:r>
            <a:r>
              <a:rPr lang="en-IE" sz="2800" b="1" dirty="0"/>
              <a:t>store</a:t>
            </a:r>
            <a:r>
              <a:rPr lang="en-IE" sz="2800" dirty="0"/>
              <a:t> these details in a</a:t>
            </a:r>
            <a:br>
              <a:rPr lang="en-IE" sz="2800" dirty="0"/>
            </a:br>
            <a:r>
              <a:rPr lang="en-IE" sz="2800" b="1" dirty="0">
                <a:solidFill>
                  <a:srgbClr val="598CBE"/>
                </a:solidFill>
                <a:latin typeface="Monaco" pitchFamily="2" charset="77"/>
              </a:rPr>
              <a:t>Product</a:t>
            </a:r>
            <a:r>
              <a:rPr lang="en-IE" sz="2800" b="1" dirty="0"/>
              <a:t> object</a:t>
            </a:r>
          </a:p>
          <a:p>
            <a:endParaRPr lang="en-IE" sz="2800" b="1" dirty="0"/>
          </a:p>
          <a:p>
            <a:r>
              <a:rPr lang="en-IE" sz="2800" b="1" dirty="0"/>
              <a:t>And then print</a:t>
            </a:r>
            <a:r>
              <a:rPr lang="en-IE" sz="2800" dirty="0"/>
              <a:t> these details back to the</a:t>
            </a:r>
            <a:br>
              <a:rPr lang="en-IE" sz="2800" dirty="0"/>
            </a:br>
            <a:r>
              <a:rPr lang="en-IE" sz="2800" dirty="0"/>
              <a:t>console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2816343-0232-31A9-B53D-F7A766F268E3}"/>
              </a:ext>
            </a:extLst>
          </p:cNvPr>
          <p:cNvSpPr/>
          <p:nvPr/>
        </p:nvSpPr>
        <p:spPr>
          <a:xfrm>
            <a:off x="6227064" y="150876"/>
            <a:ext cx="1543050" cy="800100"/>
          </a:xfrm>
          <a:prstGeom prst="roundRect">
            <a:avLst/>
          </a:prstGeom>
          <a:ln w="635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3000" b="1" dirty="0"/>
              <a:t>Driver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D925924-FDD6-DA46-0CA5-3707BA0F43C6}"/>
              </a:ext>
            </a:extLst>
          </p:cNvPr>
          <p:cNvSpPr/>
          <p:nvPr/>
        </p:nvSpPr>
        <p:spPr>
          <a:xfrm>
            <a:off x="7424928" y="2648212"/>
            <a:ext cx="1659636" cy="800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3000" dirty="0"/>
              <a:t>Product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2B5F77D2-4E33-9E31-F19E-B0C8AB05D4D3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>
          <a:xfrm>
            <a:off x="7770114" y="550926"/>
            <a:ext cx="484632" cy="2097286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A7BCA93-4E69-7A89-0614-7411F452BE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0691008-AA48-A121-5BCA-F48421CA2E6E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14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742660976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A64E97D-C583-438C-85E3-D85660AE0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4650" y="1357885"/>
            <a:ext cx="3643313" cy="187880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1314450" y="2672334"/>
            <a:ext cx="1257300" cy="323165"/>
          </a:xfrm>
          <a:prstGeom prst="rect">
            <a:avLst/>
          </a:prstGeom>
          <a:solidFill>
            <a:srgbClr val="F9CF8B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500" b="1" dirty="0"/>
              <a:t>fields</a:t>
            </a:r>
            <a:r>
              <a:rPr lang="en-IE" sz="1500" dirty="0"/>
              <a:t> </a:t>
            </a:r>
          </a:p>
        </p:txBody>
      </p:sp>
      <p:cxnSp>
        <p:nvCxnSpPr>
          <p:cNvPr id="6" name="Straight Arrow Connector 5"/>
          <p:cNvCxnSpPr>
            <a:cxnSpLocks/>
          </p:cNvCxnSpPr>
          <p:nvPr/>
        </p:nvCxnSpPr>
        <p:spPr>
          <a:xfrm>
            <a:off x="2571750" y="2822376"/>
            <a:ext cx="514350" cy="1"/>
          </a:xfrm>
          <a:prstGeom prst="straightConnector1">
            <a:avLst/>
          </a:prstGeom>
          <a:ln w="28575">
            <a:solidFill>
              <a:srgbClr val="F9CF8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rame 2"/>
          <p:cNvSpPr/>
          <p:nvPr/>
        </p:nvSpPr>
        <p:spPr>
          <a:xfrm>
            <a:off x="3086100" y="2558034"/>
            <a:ext cx="3471863" cy="628650"/>
          </a:xfrm>
          <a:prstGeom prst="frame">
            <a:avLst>
              <a:gd name="adj1" fmla="val 2514"/>
            </a:avLst>
          </a:prstGeom>
          <a:solidFill>
            <a:srgbClr val="F79646"/>
          </a:solidFill>
          <a:ln>
            <a:solidFill>
              <a:srgbClr val="FACF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8">
              <a:solidFill>
                <a:schemeClr val="tx1"/>
              </a:solidFill>
            </a:endParaRPr>
          </a:p>
        </p:txBody>
      </p:sp>
      <p:sp>
        <p:nvSpPr>
          <p:cNvPr id="8" name="Frame 7"/>
          <p:cNvSpPr/>
          <p:nvPr/>
        </p:nvSpPr>
        <p:spPr>
          <a:xfrm>
            <a:off x="3086100" y="1952785"/>
            <a:ext cx="3471863" cy="558382"/>
          </a:xfrm>
          <a:prstGeom prst="frame">
            <a:avLst>
              <a:gd name="adj1" fmla="val 2514"/>
            </a:avLst>
          </a:prstGeom>
          <a:solidFill>
            <a:srgbClr val="F79646"/>
          </a:solidFill>
          <a:ln>
            <a:solidFill>
              <a:srgbClr val="FCBA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8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22614" y="2090040"/>
            <a:ext cx="1257300" cy="323165"/>
          </a:xfrm>
          <a:prstGeom prst="rect">
            <a:avLst/>
          </a:prstGeom>
          <a:solidFill>
            <a:srgbClr val="FCBAC5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500" b="1" dirty="0"/>
              <a:t>methods</a:t>
            </a:r>
            <a:endParaRPr lang="en-IE" sz="1500" dirty="0"/>
          </a:p>
        </p:txBody>
      </p:sp>
      <p:cxnSp>
        <p:nvCxnSpPr>
          <p:cNvPr id="10" name="Straight Arrow Connector 9"/>
          <p:cNvCxnSpPr>
            <a:cxnSpLocks/>
          </p:cNvCxnSpPr>
          <p:nvPr/>
        </p:nvCxnSpPr>
        <p:spPr>
          <a:xfrm flipV="1">
            <a:off x="2579915" y="2239105"/>
            <a:ext cx="498022" cy="977"/>
          </a:xfrm>
          <a:prstGeom prst="straightConnector1">
            <a:avLst/>
          </a:prstGeom>
          <a:ln w="28575">
            <a:solidFill>
              <a:srgbClr val="FCBAC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322614" y="1640007"/>
            <a:ext cx="1257300" cy="323165"/>
          </a:xfrm>
          <a:prstGeom prst="rect">
            <a:avLst/>
          </a:prstGeom>
          <a:solidFill>
            <a:srgbClr val="FCBAC5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500" b="1" dirty="0"/>
              <a:t>main()</a:t>
            </a:r>
            <a:endParaRPr lang="en-IE" sz="1500" dirty="0"/>
          </a:p>
        </p:txBody>
      </p:sp>
      <p:sp>
        <p:nvSpPr>
          <p:cNvPr id="12" name="Frame 11"/>
          <p:cNvSpPr/>
          <p:nvPr/>
        </p:nvSpPr>
        <p:spPr>
          <a:xfrm>
            <a:off x="3094264" y="1700784"/>
            <a:ext cx="3471863" cy="213145"/>
          </a:xfrm>
          <a:prstGeom prst="frame">
            <a:avLst>
              <a:gd name="adj1" fmla="val 2514"/>
            </a:avLst>
          </a:prstGeom>
          <a:solidFill>
            <a:srgbClr val="F79646"/>
          </a:solidFill>
          <a:ln>
            <a:solidFill>
              <a:srgbClr val="FCBA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8">
              <a:solidFill>
                <a:schemeClr val="tx1"/>
              </a:solidFill>
            </a:endParaRPr>
          </a:p>
        </p:txBody>
      </p:sp>
      <p:cxnSp>
        <p:nvCxnSpPr>
          <p:cNvPr id="13" name="Straight Arrow Connector 12"/>
          <p:cNvCxnSpPr>
            <a:cxnSpLocks/>
          </p:cNvCxnSpPr>
          <p:nvPr/>
        </p:nvCxnSpPr>
        <p:spPr>
          <a:xfrm flipV="1">
            <a:off x="2588079" y="1801626"/>
            <a:ext cx="498022" cy="977"/>
          </a:xfrm>
          <a:prstGeom prst="straightConnector1">
            <a:avLst/>
          </a:prstGeom>
          <a:ln w="28575">
            <a:solidFill>
              <a:srgbClr val="FCBAC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5-Point Star 15"/>
          <p:cNvSpPr/>
          <p:nvPr/>
        </p:nvSpPr>
        <p:spPr>
          <a:xfrm>
            <a:off x="6354878" y="1734898"/>
            <a:ext cx="144916" cy="144916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8"/>
          </a:p>
        </p:txBody>
      </p:sp>
      <p:cxnSp>
        <p:nvCxnSpPr>
          <p:cNvPr id="14" name="Straight Connector 13"/>
          <p:cNvCxnSpPr/>
          <p:nvPr/>
        </p:nvCxnSpPr>
        <p:spPr>
          <a:xfrm>
            <a:off x="3771900" y="2822375"/>
            <a:ext cx="400050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3813392" y="3072384"/>
            <a:ext cx="571500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itle 1">
            <a:extLst>
              <a:ext uri="{FF2B5EF4-FFF2-40B4-BE49-F238E27FC236}">
                <a16:creationId xmlns:a16="http://schemas.microsoft.com/office/drawing/2014/main" id="{C62547FC-EC6D-8D9D-799B-FB0926BB3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0"/>
            <a:ext cx="7772401" cy="761815"/>
          </a:xfrm>
        </p:spPr>
        <p:txBody>
          <a:bodyPr/>
          <a:lstStyle/>
          <a:p>
            <a:r>
              <a:rPr lang="en-IE" dirty="0"/>
              <a:t>Shop V1.0 - </a:t>
            </a:r>
            <a:r>
              <a:rPr lang="en-IE" b="1" dirty="0">
                <a:solidFill>
                  <a:srgbClr val="00B050"/>
                </a:solidFill>
                <a:latin typeface="Monaco" pitchFamily="2" charset="77"/>
              </a:rPr>
              <a:t>Driver</a:t>
            </a:r>
            <a:endParaRPr lang="en-IE" dirty="0">
              <a:solidFill>
                <a:srgbClr val="00B050"/>
              </a:solidFill>
              <a:latin typeface="Monaco" pitchFamily="2" charset="77"/>
            </a:endParaRP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DB5F8938-4D82-9CAB-A8E8-22482B8A9C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1117F1A3-8538-5F89-9331-FC4A4726532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15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99885234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  <p:bldP spid="12" grpId="0" animBg="1"/>
      <p:bldP spid="1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3F2B9-CA77-41E2-BFCC-DD2CEF5266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71066" y="391194"/>
            <a:ext cx="3717512" cy="1102519"/>
          </a:xfrm>
        </p:spPr>
        <p:txBody>
          <a:bodyPr/>
          <a:lstStyle/>
          <a:p>
            <a:pPr>
              <a:spcBef>
                <a:spcPts val="633"/>
              </a:spcBef>
            </a:pPr>
            <a:r>
              <a:rPr lang="en-IE" sz="3600" dirty="0">
                <a:solidFill>
                  <a:schemeClr val="tx1"/>
                </a:solidFill>
              </a:rPr>
              <a:t>I/O in SHOP V1.0</a:t>
            </a:r>
            <a:endParaRPr lang="en-IE" sz="3600" b="1" dirty="0">
              <a:solidFill>
                <a:srgbClr val="0368FF"/>
              </a:solidFill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0B48627-70FE-4B45-9414-DD660DBF28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114532" y="1660137"/>
            <a:ext cx="2630581" cy="2630581"/>
          </a:xfrm>
          <a:prstGeom prst="rect">
            <a:avLst/>
          </a:prstGeom>
          <a:noFill/>
          <a:ln w="38100">
            <a:noFill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4EBBC8-D8C4-AD98-5A2D-86C001100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1" y="4865349"/>
            <a:ext cx="1905000" cy="283023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E5978C-2993-225B-79D6-A53E710FF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www.java.com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74592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What the program will look like…</a:t>
            </a:r>
            <a:endParaRPr lang="en-GB" b="1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7295E94-BA96-64F0-D8E3-F91EB1EF767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17</a:t>
            </a:fld>
            <a:endParaRPr lang="en-I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FB975-AF39-FE29-600E-757D8F40D1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169675-A808-40BF-842B-C26C1D7AD79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" b="16662"/>
          <a:stretch/>
        </p:blipFill>
        <p:spPr>
          <a:xfrm>
            <a:off x="1579626" y="1497330"/>
            <a:ext cx="6798749" cy="12001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Rectangle: Rounded Corners 9">
            <a:extLst>
              <a:ext uri="{FF2B5EF4-FFF2-40B4-BE49-F238E27FC236}">
                <a16:creationId xmlns:a16="http://schemas.microsoft.com/office/drawing/2014/main" id="{04784C68-CC6E-4541-8F3F-A5DCB63FCB81}"/>
              </a:ext>
            </a:extLst>
          </p:cNvPr>
          <p:cNvSpPr/>
          <p:nvPr/>
        </p:nvSpPr>
        <p:spPr>
          <a:xfrm>
            <a:off x="6608826" y="1033272"/>
            <a:ext cx="1545815" cy="5752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500" dirty="0"/>
              <a:t>Console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0975" y="1419615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0" dirty="0">
                <a:solidFill>
                  <a:srgbClr val="FF0000"/>
                </a:solidFill>
                <a:latin typeface="Monaco" pitchFamily="2" charset="77"/>
              </a:rPr>
              <a:t>String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127" y="1712268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0" dirty="0">
                <a:solidFill>
                  <a:srgbClr val="FF0000"/>
                </a:solidFill>
                <a:latin typeface="Monaco" pitchFamily="2" charset="77"/>
              </a:rPr>
              <a:t>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87" y="1989158"/>
            <a:ext cx="1026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800" dirty="0">
                <a:solidFill>
                  <a:srgbClr val="FF0000"/>
                </a:solidFill>
                <a:latin typeface="Monaco" pitchFamily="2" charset="77"/>
              </a:rPr>
              <a:t>double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503" y="2300880"/>
            <a:ext cx="1149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0" dirty="0" err="1">
                <a:solidFill>
                  <a:srgbClr val="FF0000"/>
                </a:solidFill>
                <a:latin typeface="Monaco" pitchFamily="2" charset="77"/>
              </a:rPr>
              <a:t>boolean</a:t>
            </a:r>
            <a:endParaRPr lang="en-GB" sz="1800" dirty="0">
              <a:solidFill>
                <a:srgbClr val="FF0000"/>
              </a:solidFill>
              <a:latin typeface="Monac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62856037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8" grpId="0"/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F43ED432-8A18-4308-9353-5D92CAE5E9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9316" y="-10983"/>
            <a:ext cx="6135334" cy="5239896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9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public class 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Driver{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</a:t>
            </a:r>
            <a:r>
              <a:rPr lang="en-US" altLang="en-US" sz="9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private 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Scanner </a:t>
            </a:r>
            <a:r>
              <a:rPr lang="en-US" altLang="en-US" sz="900" b="1" dirty="0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input 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= </a:t>
            </a:r>
            <a:r>
              <a:rPr lang="en-US" altLang="en-US" sz="9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new 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Scanner(System.</a:t>
            </a:r>
            <a:r>
              <a:rPr lang="en-US" altLang="en-US" sz="900" b="1" i="1" dirty="0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in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);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</a:t>
            </a:r>
            <a:r>
              <a:rPr lang="en-US" altLang="en-US" sz="9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private 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Product </a:t>
            </a:r>
            <a:r>
              <a:rPr lang="en-US" altLang="en-US" sz="900" b="1" dirty="0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product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;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</a:t>
            </a:r>
            <a:r>
              <a:rPr lang="en-US" altLang="en-US" sz="9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public static void 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main(String[]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args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) {</a:t>
            </a:r>
          </a:p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Driver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driver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= </a:t>
            </a:r>
            <a:r>
              <a:rPr lang="en-US" altLang="en-US" sz="9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new 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Driver();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</a:t>
            </a:r>
            <a:r>
              <a:rPr lang="en-US" altLang="en-US" sz="900" b="1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driver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.addProduct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();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</a:t>
            </a:r>
            <a:r>
              <a:rPr lang="en-US" altLang="en-US" sz="900" b="1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driver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.printProduct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();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}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</a:t>
            </a:r>
            <a:r>
              <a:rPr lang="en-US" altLang="en-US" sz="900" i="1" dirty="0">
                <a:solidFill>
                  <a:srgbClr val="808080"/>
                </a:solidFill>
                <a:latin typeface="Monaco" pitchFamily="2" charset="77"/>
                <a:cs typeface="Courier New" panose="02070309020205020404" pitchFamily="49" charset="0"/>
              </a:rPr>
              <a:t>//gather the product data from the user and create a new product.</a:t>
            </a:r>
            <a:br>
              <a:rPr lang="en-US" altLang="en-US" sz="900" i="1" dirty="0">
                <a:solidFill>
                  <a:srgbClr val="80808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i="1" dirty="0">
                <a:solidFill>
                  <a:srgbClr val="808080"/>
                </a:solidFill>
                <a:latin typeface="Monaco" pitchFamily="2" charset="77"/>
                <a:cs typeface="Courier New" panose="02070309020205020404" pitchFamily="49" charset="0"/>
              </a:rPr>
              <a:t>    </a:t>
            </a:r>
            <a:r>
              <a:rPr lang="en-US" altLang="en-US" sz="9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private void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addProduct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(){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System.</a:t>
            </a:r>
            <a:r>
              <a:rPr lang="en-US" altLang="en-US" sz="900" b="1" i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out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.print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</a:t>
            </a:r>
            <a:r>
              <a:rPr lang="en-US" altLang="en-US" sz="900" b="1" dirty="0">
                <a:solidFill>
                  <a:srgbClr val="008000"/>
                </a:solidFill>
                <a:latin typeface="Monaco" pitchFamily="2" charset="77"/>
                <a:cs typeface="Courier New" panose="02070309020205020404" pitchFamily="49" charset="0"/>
              </a:rPr>
              <a:t>"Enter the Product Name:  "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);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 String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productName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= </a:t>
            </a:r>
            <a:r>
              <a:rPr lang="en-US" altLang="en-US" sz="900" b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input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.nextLine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();</a:t>
            </a:r>
          </a:p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System.</a:t>
            </a:r>
            <a:r>
              <a:rPr lang="en-US" altLang="en-US" sz="900" b="1" i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out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.print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</a:t>
            </a:r>
            <a:r>
              <a:rPr lang="en-US" altLang="en-US" sz="900" b="1" dirty="0">
                <a:solidFill>
                  <a:srgbClr val="008000"/>
                </a:solidFill>
                <a:latin typeface="Monaco" pitchFamily="2" charset="77"/>
                <a:cs typeface="Courier New" panose="02070309020205020404" pitchFamily="49" charset="0"/>
              </a:rPr>
              <a:t>"Enter the Product Code:  "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);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 </a:t>
            </a:r>
            <a:r>
              <a:rPr lang="en-US" altLang="en-US" sz="900" b="1" dirty="0" err="1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int</a:t>
            </a:r>
            <a:r>
              <a:rPr lang="en-US" altLang="en-US" sz="9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productCode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= </a:t>
            </a:r>
            <a:r>
              <a:rPr lang="en-US" altLang="en-US" sz="900" b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input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.nextInt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();</a:t>
            </a:r>
          </a:p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System.</a:t>
            </a:r>
            <a:r>
              <a:rPr lang="en-US" altLang="en-US" sz="900" b="1" i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out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.print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</a:t>
            </a:r>
            <a:r>
              <a:rPr lang="en-US" altLang="en-US" sz="900" b="1" dirty="0">
                <a:solidFill>
                  <a:srgbClr val="008000"/>
                </a:solidFill>
                <a:latin typeface="Monaco" pitchFamily="2" charset="77"/>
                <a:cs typeface="Courier New" panose="02070309020205020404" pitchFamily="49" charset="0"/>
              </a:rPr>
              <a:t>"Enter the Unit Cost:  "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);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 </a:t>
            </a:r>
            <a:r>
              <a:rPr lang="en-US" altLang="en-US" sz="9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double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unitCost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= </a:t>
            </a:r>
            <a:r>
              <a:rPr lang="en-US" altLang="en-US" sz="900" b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input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.nextDouble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();</a:t>
            </a:r>
          </a:p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System.</a:t>
            </a:r>
            <a:r>
              <a:rPr lang="en-US" altLang="en-US" sz="900" b="1" i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out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.print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</a:t>
            </a:r>
            <a:r>
              <a:rPr lang="en-US" altLang="en-US" sz="900" b="1" dirty="0">
                <a:solidFill>
                  <a:srgbClr val="008000"/>
                </a:solidFill>
                <a:latin typeface="Monaco" pitchFamily="2" charset="77"/>
                <a:cs typeface="Courier New" panose="02070309020205020404" pitchFamily="49" charset="0"/>
              </a:rPr>
              <a:t>"Is this product in your current line (y/n): "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);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 </a:t>
            </a:r>
            <a:r>
              <a:rPr lang="en-US" altLang="en-US" sz="9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char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currentProduct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= </a:t>
            </a:r>
            <a:r>
              <a:rPr lang="en-US" altLang="en-US" sz="900" b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input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.next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().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charAt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</a:t>
            </a:r>
            <a:r>
              <a:rPr lang="en-US" altLang="en-US" sz="900" dirty="0">
                <a:solidFill>
                  <a:srgbClr val="0000FF"/>
                </a:solidFill>
                <a:latin typeface="Monaco" pitchFamily="2" charset="77"/>
                <a:cs typeface="Courier New" panose="02070309020205020404" pitchFamily="49" charset="0"/>
              </a:rPr>
              <a:t>0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);</a:t>
            </a:r>
          </a:p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 </a:t>
            </a:r>
            <a:r>
              <a:rPr lang="en-US" altLang="en-US" sz="900" b="1" dirty="0" err="1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boolean</a:t>
            </a:r>
            <a:r>
              <a:rPr lang="en-US" altLang="en-US" sz="9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inCurrentProductLine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= </a:t>
            </a:r>
            <a:r>
              <a:rPr lang="en-US" altLang="en-US" sz="9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false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;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 </a:t>
            </a:r>
            <a:r>
              <a:rPr lang="en-US" altLang="en-US" sz="9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if 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((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currentProduct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== </a:t>
            </a:r>
            <a:r>
              <a:rPr lang="en-US" altLang="en-US" sz="900" b="1" dirty="0">
                <a:solidFill>
                  <a:srgbClr val="008000"/>
                </a:solidFill>
                <a:latin typeface="Monaco" pitchFamily="2" charset="77"/>
                <a:cs typeface="Courier New" panose="02070309020205020404" pitchFamily="49" charset="0"/>
              </a:rPr>
              <a:t>'y'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) || (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currentProduct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== </a:t>
            </a:r>
            <a:r>
              <a:rPr lang="en-US" altLang="en-US" sz="900" b="1" dirty="0">
                <a:solidFill>
                  <a:srgbClr val="008000"/>
                </a:solidFill>
                <a:latin typeface="Monaco" pitchFamily="2" charset="77"/>
                <a:cs typeface="Courier New" panose="02070309020205020404" pitchFamily="49" charset="0"/>
              </a:rPr>
              <a:t>'Y'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))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   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inCurrentProductLine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= </a:t>
            </a:r>
            <a:r>
              <a:rPr lang="en-US" altLang="en-US" sz="9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true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;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 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 </a:t>
            </a:r>
            <a:r>
              <a:rPr lang="en-US" altLang="en-US" sz="900" b="1" dirty="0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product 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= </a:t>
            </a:r>
            <a:r>
              <a:rPr lang="en-US" altLang="en-US" sz="9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new 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Product(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productName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,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productCode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,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unitCost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,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inCurrentProductLine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);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}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</a:t>
            </a:r>
            <a:r>
              <a:rPr lang="en-US" altLang="en-US" sz="900" i="1" dirty="0">
                <a:solidFill>
                  <a:srgbClr val="808080"/>
                </a:solidFill>
                <a:latin typeface="Monaco" pitchFamily="2" charset="77"/>
                <a:cs typeface="Courier New" panose="02070309020205020404" pitchFamily="49" charset="0"/>
              </a:rPr>
              <a:t>//print the product (the toString method is automatically called).</a:t>
            </a:r>
            <a:br>
              <a:rPr lang="en-US" altLang="en-US" sz="900" i="1" dirty="0">
                <a:solidFill>
                  <a:srgbClr val="80808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i="1" dirty="0">
                <a:solidFill>
                  <a:srgbClr val="808080"/>
                </a:solidFill>
                <a:latin typeface="Monaco" pitchFamily="2" charset="77"/>
                <a:cs typeface="Courier New" panose="02070309020205020404" pitchFamily="49" charset="0"/>
              </a:rPr>
              <a:t>    </a:t>
            </a:r>
            <a:r>
              <a:rPr lang="en-US" altLang="en-US" sz="9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private void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printProduct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(){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System.</a:t>
            </a:r>
            <a:r>
              <a:rPr lang="en-US" altLang="en-US" sz="900" b="1" i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out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.println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</a:t>
            </a:r>
            <a:r>
              <a:rPr lang="en-US" altLang="en-US" sz="900" b="1" dirty="0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product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);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6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}</a:t>
            </a:r>
            <a:br>
              <a:rPr lang="en-US" altLang="en-US" sz="6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6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}</a:t>
            </a:r>
            <a:endParaRPr lang="en-US" altLang="en-US" sz="600" dirty="0">
              <a:latin typeface="Monaco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366EA4-8D50-471F-9254-F92B354C1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2100" y="97021"/>
            <a:ext cx="2557463" cy="131884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22" name="Straight Arrow Connector 21"/>
          <p:cNvCxnSpPr>
            <a:cxnSpLocks/>
          </p:cNvCxnSpPr>
          <p:nvPr/>
        </p:nvCxnSpPr>
        <p:spPr>
          <a:xfrm flipH="1" flipV="1">
            <a:off x="3829050" y="472987"/>
            <a:ext cx="1828800" cy="539414"/>
          </a:xfrm>
          <a:prstGeom prst="straightConnector1">
            <a:avLst/>
          </a:prstGeom>
          <a:ln w="28575">
            <a:solidFill>
              <a:srgbClr val="FACF8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cxnSpLocks/>
          </p:cNvCxnSpPr>
          <p:nvPr/>
        </p:nvCxnSpPr>
        <p:spPr>
          <a:xfrm flipH="1" flipV="1">
            <a:off x="3339463" y="563162"/>
            <a:ext cx="2318387" cy="631384"/>
          </a:xfrm>
          <a:prstGeom prst="straightConnector1">
            <a:avLst/>
          </a:prstGeom>
          <a:ln w="28575">
            <a:solidFill>
              <a:srgbClr val="FACF8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Frame 25"/>
          <p:cNvSpPr/>
          <p:nvPr/>
        </p:nvSpPr>
        <p:spPr>
          <a:xfrm>
            <a:off x="1535427" y="290842"/>
            <a:ext cx="3639180" cy="342899"/>
          </a:xfrm>
          <a:prstGeom prst="frame">
            <a:avLst>
              <a:gd name="adj1" fmla="val 6681"/>
            </a:avLst>
          </a:prstGeom>
          <a:solidFill>
            <a:srgbClr val="FACF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8">
              <a:solidFill>
                <a:schemeClr val="tx1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1AEAB0D-5D2A-F911-8989-412D4C5D6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https://www.java.com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45758B-B3C0-C46B-765D-352E6A96F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308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F43ED432-8A18-4308-9353-5D92CAE5E9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9316" y="-10983"/>
            <a:ext cx="6135334" cy="5239896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9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public class 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Driver{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</a:t>
            </a:r>
            <a:r>
              <a:rPr lang="en-US" altLang="en-US" sz="9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private 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Scanner </a:t>
            </a:r>
            <a:r>
              <a:rPr lang="en-US" altLang="en-US" sz="900" b="1" dirty="0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input 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= </a:t>
            </a:r>
            <a:r>
              <a:rPr lang="en-US" altLang="en-US" sz="9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new 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Scanner(System.</a:t>
            </a:r>
            <a:r>
              <a:rPr lang="en-US" altLang="en-US" sz="900" b="1" i="1" dirty="0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in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);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</a:t>
            </a:r>
            <a:r>
              <a:rPr lang="en-US" altLang="en-US" sz="9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private 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Product </a:t>
            </a:r>
            <a:r>
              <a:rPr lang="en-US" altLang="en-US" sz="900" b="1" dirty="0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product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;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</a:t>
            </a:r>
            <a:r>
              <a:rPr lang="en-US" altLang="en-US" sz="9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public static void 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main(String[]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args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) {</a:t>
            </a:r>
          </a:p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Driver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driver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= </a:t>
            </a:r>
            <a:r>
              <a:rPr lang="en-US" altLang="en-US" sz="9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new 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Driver();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</a:t>
            </a:r>
            <a:r>
              <a:rPr lang="en-US" altLang="en-US" sz="900" b="1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driver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.addProduct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();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</a:t>
            </a:r>
            <a:r>
              <a:rPr lang="en-US" altLang="en-US" sz="900" b="1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driver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.printProduct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();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}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</a:t>
            </a:r>
            <a:r>
              <a:rPr lang="en-US" altLang="en-US" sz="900" i="1" dirty="0">
                <a:solidFill>
                  <a:srgbClr val="808080"/>
                </a:solidFill>
                <a:latin typeface="Monaco" pitchFamily="2" charset="77"/>
                <a:cs typeface="Courier New" panose="02070309020205020404" pitchFamily="49" charset="0"/>
              </a:rPr>
              <a:t>//gather the product data from the user and create a new product.</a:t>
            </a:r>
            <a:br>
              <a:rPr lang="en-US" altLang="en-US" sz="900" i="1" dirty="0">
                <a:solidFill>
                  <a:srgbClr val="80808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i="1" dirty="0">
                <a:solidFill>
                  <a:srgbClr val="808080"/>
                </a:solidFill>
                <a:latin typeface="Monaco" pitchFamily="2" charset="77"/>
                <a:cs typeface="Courier New" panose="02070309020205020404" pitchFamily="49" charset="0"/>
              </a:rPr>
              <a:t>    </a:t>
            </a:r>
            <a:r>
              <a:rPr lang="en-US" altLang="en-US" sz="9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private void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addProduct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(){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System.</a:t>
            </a:r>
            <a:r>
              <a:rPr lang="en-US" altLang="en-US" sz="900" b="1" i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out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.print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</a:t>
            </a:r>
            <a:r>
              <a:rPr lang="en-US" altLang="en-US" sz="900" b="1" dirty="0">
                <a:solidFill>
                  <a:srgbClr val="008000"/>
                </a:solidFill>
                <a:latin typeface="Monaco" pitchFamily="2" charset="77"/>
                <a:cs typeface="Courier New" panose="02070309020205020404" pitchFamily="49" charset="0"/>
              </a:rPr>
              <a:t>"Enter the Product Name:  "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);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 String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productName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= </a:t>
            </a:r>
            <a:r>
              <a:rPr lang="en-US" altLang="en-US" sz="900" b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input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.nextLine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();</a:t>
            </a:r>
          </a:p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System.</a:t>
            </a:r>
            <a:r>
              <a:rPr lang="en-US" altLang="en-US" sz="900" b="1" i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out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.print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</a:t>
            </a:r>
            <a:r>
              <a:rPr lang="en-US" altLang="en-US" sz="900" b="1" dirty="0">
                <a:solidFill>
                  <a:srgbClr val="008000"/>
                </a:solidFill>
                <a:latin typeface="Monaco" pitchFamily="2" charset="77"/>
                <a:cs typeface="Courier New" panose="02070309020205020404" pitchFamily="49" charset="0"/>
              </a:rPr>
              <a:t>"Enter the Product Code:  "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);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 </a:t>
            </a:r>
            <a:r>
              <a:rPr lang="en-US" altLang="en-US" sz="900" b="1" dirty="0" err="1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int</a:t>
            </a:r>
            <a:r>
              <a:rPr lang="en-US" altLang="en-US" sz="9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productCode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= </a:t>
            </a:r>
            <a:r>
              <a:rPr lang="en-US" altLang="en-US" sz="900" b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input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.nextInt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();</a:t>
            </a:r>
          </a:p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System.</a:t>
            </a:r>
            <a:r>
              <a:rPr lang="en-US" altLang="en-US" sz="900" b="1" i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out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.print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</a:t>
            </a:r>
            <a:r>
              <a:rPr lang="en-US" altLang="en-US" sz="900" b="1" dirty="0">
                <a:solidFill>
                  <a:srgbClr val="008000"/>
                </a:solidFill>
                <a:latin typeface="Monaco" pitchFamily="2" charset="77"/>
                <a:cs typeface="Courier New" panose="02070309020205020404" pitchFamily="49" charset="0"/>
              </a:rPr>
              <a:t>"Enter the Unit Cost:  "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);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 </a:t>
            </a:r>
            <a:r>
              <a:rPr lang="en-US" altLang="en-US" sz="9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double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unitCost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= </a:t>
            </a:r>
            <a:r>
              <a:rPr lang="en-US" altLang="en-US" sz="900" b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input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.nextDouble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();</a:t>
            </a:r>
          </a:p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System.</a:t>
            </a:r>
            <a:r>
              <a:rPr lang="en-US" altLang="en-US" sz="900" b="1" i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out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.print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</a:t>
            </a:r>
            <a:r>
              <a:rPr lang="en-US" altLang="en-US" sz="900" b="1" dirty="0">
                <a:solidFill>
                  <a:srgbClr val="008000"/>
                </a:solidFill>
                <a:latin typeface="Monaco" pitchFamily="2" charset="77"/>
                <a:cs typeface="Courier New" panose="02070309020205020404" pitchFamily="49" charset="0"/>
              </a:rPr>
              <a:t>"Is this product in your current line (y/n): "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);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 </a:t>
            </a:r>
            <a:r>
              <a:rPr lang="en-US" altLang="en-US" sz="9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char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currentProduct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= </a:t>
            </a:r>
            <a:r>
              <a:rPr lang="en-US" altLang="en-US" sz="900" b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input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.next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().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charAt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</a:t>
            </a:r>
            <a:r>
              <a:rPr lang="en-US" altLang="en-US" sz="900" dirty="0">
                <a:solidFill>
                  <a:srgbClr val="0000FF"/>
                </a:solidFill>
                <a:latin typeface="Monaco" pitchFamily="2" charset="77"/>
                <a:cs typeface="Courier New" panose="02070309020205020404" pitchFamily="49" charset="0"/>
              </a:rPr>
              <a:t>0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);</a:t>
            </a:r>
          </a:p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 </a:t>
            </a:r>
            <a:r>
              <a:rPr lang="en-US" altLang="en-US" sz="900" b="1" dirty="0" err="1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boolean</a:t>
            </a:r>
            <a:r>
              <a:rPr lang="en-US" altLang="en-US" sz="9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inCurrentProductLine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= </a:t>
            </a:r>
            <a:r>
              <a:rPr lang="en-US" altLang="en-US" sz="9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false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;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 </a:t>
            </a:r>
            <a:r>
              <a:rPr lang="en-US" altLang="en-US" sz="9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if 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((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currentProduct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== </a:t>
            </a:r>
            <a:r>
              <a:rPr lang="en-US" altLang="en-US" sz="900" b="1" dirty="0">
                <a:solidFill>
                  <a:srgbClr val="008000"/>
                </a:solidFill>
                <a:latin typeface="Monaco" pitchFamily="2" charset="77"/>
                <a:cs typeface="Courier New" panose="02070309020205020404" pitchFamily="49" charset="0"/>
              </a:rPr>
              <a:t>'y'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) || (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currentProduct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== </a:t>
            </a:r>
            <a:r>
              <a:rPr lang="en-US" altLang="en-US" sz="900" b="1" dirty="0">
                <a:solidFill>
                  <a:srgbClr val="008000"/>
                </a:solidFill>
                <a:latin typeface="Monaco" pitchFamily="2" charset="77"/>
                <a:cs typeface="Courier New" panose="02070309020205020404" pitchFamily="49" charset="0"/>
              </a:rPr>
              <a:t>'Y'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))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   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inCurrentProductLine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= </a:t>
            </a:r>
            <a:r>
              <a:rPr lang="en-US" altLang="en-US" sz="9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true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;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 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 </a:t>
            </a:r>
            <a:r>
              <a:rPr lang="en-US" altLang="en-US" sz="900" b="1" dirty="0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product 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= </a:t>
            </a:r>
            <a:r>
              <a:rPr lang="en-US" altLang="en-US" sz="9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new 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Product(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productName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,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productCode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,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unitCost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,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inCurrentProductLine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);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}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</a:t>
            </a:r>
            <a:r>
              <a:rPr lang="en-US" altLang="en-US" sz="900" i="1" dirty="0">
                <a:solidFill>
                  <a:srgbClr val="808080"/>
                </a:solidFill>
                <a:latin typeface="Monaco" pitchFamily="2" charset="77"/>
                <a:cs typeface="Courier New" panose="02070309020205020404" pitchFamily="49" charset="0"/>
              </a:rPr>
              <a:t>//print the product (the toString method is automatically called).</a:t>
            </a:r>
            <a:br>
              <a:rPr lang="en-US" altLang="en-US" sz="900" i="1" dirty="0">
                <a:solidFill>
                  <a:srgbClr val="80808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i="1" dirty="0">
                <a:solidFill>
                  <a:srgbClr val="808080"/>
                </a:solidFill>
                <a:latin typeface="Monaco" pitchFamily="2" charset="77"/>
                <a:cs typeface="Courier New" panose="02070309020205020404" pitchFamily="49" charset="0"/>
              </a:rPr>
              <a:t>    </a:t>
            </a:r>
            <a:r>
              <a:rPr lang="en-US" altLang="en-US" sz="9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private void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printProduct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(){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System.</a:t>
            </a:r>
            <a:r>
              <a:rPr lang="en-US" altLang="en-US" sz="900" b="1" i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out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.println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</a:t>
            </a:r>
            <a:r>
              <a:rPr lang="en-US" altLang="en-US" sz="900" b="1" dirty="0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product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);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6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}</a:t>
            </a:r>
            <a:br>
              <a:rPr lang="en-US" altLang="en-US" sz="6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6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}</a:t>
            </a:r>
            <a:endParaRPr lang="en-US" altLang="en-US" sz="600" dirty="0">
              <a:latin typeface="Monaco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366EA4-8D50-471F-9254-F92B354C1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2100" y="97021"/>
            <a:ext cx="2557463" cy="131884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Frame 5"/>
          <p:cNvSpPr/>
          <p:nvPr/>
        </p:nvSpPr>
        <p:spPr>
          <a:xfrm>
            <a:off x="1535427" y="697643"/>
            <a:ext cx="3639180" cy="827776"/>
          </a:xfrm>
          <a:prstGeom prst="frame">
            <a:avLst>
              <a:gd name="adj1" fmla="val 2514"/>
            </a:avLst>
          </a:prstGeom>
          <a:solidFill>
            <a:srgbClr val="FCBAC5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8">
              <a:solidFill>
                <a:schemeClr val="tx1"/>
              </a:solidFill>
            </a:endParaRPr>
          </a:p>
        </p:txBody>
      </p:sp>
      <p:cxnSp>
        <p:nvCxnSpPr>
          <p:cNvPr id="7" name="Straight Arrow Connector 6"/>
          <p:cNvCxnSpPr>
            <a:cxnSpLocks/>
          </p:cNvCxnSpPr>
          <p:nvPr/>
        </p:nvCxnSpPr>
        <p:spPr>
          <a:xfrm flipH="1">
            <a:off x="5181525" y="383749"/>
            <a:ext cx="476326" cy="313893"/>
          </a:xfrm>
          <a:prstGeom prst="straightConnector1">
            <a:avLst/>
          </a:prstGeom>
          <a:ln w="28575">
            <a:solidFill>
              <a:srgbClr val="FCBAC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7109F8E-5DEF-D188-9AF5-00426CCD3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https://www.java.com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AD81170-CE4A-89CC-63E0-AB28102EF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299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F43ED432-8A18-4308-9353-5D92CAE5E9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9316" y="-10983"/>
            <a:ext cx="6135334" cy="5239896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9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public class 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Driver{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</a:t>
            </a:r>
            <a:r>
              <a:rPr lang="en-US" altLang="en-US" sz="9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private 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Scanner </a:t>
            </a:r>
            <a:r>
              <a:rPr lang="en-US" altLang="en-US" sz="900" b="1" dirty="0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input 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= </a:t>
            </a:r>
            <a:r>
              <a:rPr lang="en-US" altLang="en-US" sz="9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new 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Scanner(System.</a:t>
            </a:r>
            <a:r>
              <a:rPr lang="en-US" altLang="en-US" sz="900" b="1" i="1" dirty="0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in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);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</a:t>
            </a:r>
            <a:r>
              <a:rPr lang="en-US" altLang="en-US" sz="9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private 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Product </a:t>
            </a:r>
            <a:r>
              <a:rPr lang="en-US" altLang="en-US" sz="900" b="1" dirty="0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product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;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</a:t>
            </a:r>
            <a:r>
              <a:rPr lang="en-US" altLang="en-US" sz="9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public static void 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main(String[]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args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) {</a:t>
            </a:r>
          </a:p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Driver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driver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= </a:t>
            </a:r>
            <a:r>
              <a:rPr lang="en-US" altLang="en-US" sz="9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new 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Driver();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</a:t>
            </a:r>
            <a:r>
              <a:rPr lang="en-US" altLang="en-US" sz="900" b="1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driver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.addProduct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();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</a:t>
            </a:r>
            <a:r>
              <a:rPr lang="en-US" altLang="en-US" sz="900" b="1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driver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.printProduct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();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}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</a:t>
            </a:r>
            <a:r>
              <a:rPr lang="en-US" altLang="en-US" sz="900" i="1" dirty="0">
                <a:solidFill>
                  <a:srgbClr val="808080"/>
                </a:solidFill>
                <a:latin typeface="Monaco" pitchFamily="2" charset="77"/>
                <a:cs typeface="Courier New" panose="02070309020205020404" pitchFamily="49" charset="0"/>
              </a:rPr>
              <a:t>//gather the product data from the user and create a new product.</a:t>
            </a:r>
            <a:br>
              <a:rPr lang="en-US" altLang="en-US" sz="900" i="1" dirty="0">
                <a:solidFill>
                  <a:srgbClr val="80808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i="1" dirty="0">
                <a:solidFill>
                  <a:srgbClr val="808080"/>
                </a:solidFill>
                <a:latin typeface="Monaco" pitchFamily="2" charset="77"/>
                <a:cs typeface="Courier New" panose="02070309020205020404" pitchFamily="49" charset="0"/>
              </a:rPr>
              <a:t>    </a:t>
            </a:r>
            <a:r>
              <a:rPr lang="en-US" altLang="en-US" sz="9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private void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addProduct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(){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System.</a:t>
            </a:r>
            <a:r>
              <a:rPr lang="en-US" altLang="en-US" sz="900" b="1" i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out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.print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</a:t>
            </a:r>
            <a:r>
              <a:rPr lang="en-US" altLang="en-US" sz="900" b="1" dirty="0">
                <a:solidFill>
                  <a:srgbClr val="008000"/>
                </a:solidFill>
                <a:latin typeface="Monaco" pitchFamily="2" charset="77"/>
                <a:cs typeface="Courier New" panose="02070309020205020404" pitchFamily="49" charset="0"/>
              </a:rPr>
              <a:t>"Enter the Product Name:  "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);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 String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productName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= </a:t>
            </a:r>
            <a:r>
              <a:rPr lang="en-US" altLang="en-US" sz="900" b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input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.nextLine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();</a:t>
            </a:r>
          </a:p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System.</a:t>
            </a:r>
            <a:r>
              <a:rPr lang="en-US" altLang="en-US" sz="900" b="1" i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out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.print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</a:t>
            </a:r>
            <a:r>
              <a:rPr lang="en-US" altLang="en-US" sz="900" b="1" dirty="0">
                <a:solidFill>
                  <a:srgbClr val="008000"/>
                </a:solidFill>
                <a:latin typeface="Monaco" pitchFamily="2" charset="77"/>
                <a:cs typeface="Courier New" panose="02070309020205020404" pitchFamily="49" charset="0"/>
              </a:rPr>
              <a:t>"Enter the Product Code:  "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);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 </a:t>
            </a:r>
            <a:r>
              <a:rPr lang="en-US" altLang="en-US" sz="900" b="1" dirty="0" err="1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int</a:t>
            </a:r>
            <a:r>
              <a:rPr lang="en-US" altLang="en-US" sz="9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productCode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= </a:t>
            </a:r>
            <a:r>
              <a:rPr lang="en-US" altLang="en-US" sz="900" b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input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.nextInt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();</a:t>
            </a:r>
          </a:p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System.</a:t>
            </a:r>
            <a:r>
              <a:rPr lang="en-US" altLang="en-US" sz="900" b="1" i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out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.print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</a:t>
            </a:r>
            <a:r>
              <a:rPr lang="en-US" altLang="en-US" sz="900" b="1" dirty="0">
                <a:solidFill>
                  <a:srgbClr val="008000"/>
                </a:solidFill>
                <a:latin typeface="Monaco" pitchFamily="2" charset="77"/>
                <a:cs typeface="Courier New" panose="02070309020205020404" pitchFamily="49" charset="0"/>
              </a:rPr>
              <a:t>"Enter the Unit Cost:  "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);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 </a:t>
            </a:r>
            <a:r>
              <a:rPr lang="en-US" altLang="en-US" sz="9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double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unitCost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= </a:t>
            </a:r>
            <a:r>
              <a:rPr lang="en-US" altLang="en-US" sz="900" b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input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.nextDouble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();</a:t>
            </a:r>
          </a:p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System.</a:t>
            </a:r>
            <a:r>
              <a:rPr lang="en-US" altLang="en-US" sz="900" b="1" i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out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.print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</a:t>
            </a:r>
            <a:r>
              <a:rPr lang="en-US" altLang="en-US" sz="900" b="1" dirty="0">
                <a:solidFill>
                  <a:srgbClr val="008000"/>
                </a:solidFill>
                <a:latin typeface="Monaco" pitchFamily="2" charset="77"/>
                <a:cs typeface="Courier New" panose="02070309020205020404" pitchFamily="49" charset="0"/>
              </a:rPr>
              <a:t>"Is this product in your current line (y/n): "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);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 </a:t>
            </a:r>
            <a:r>
              <a:rPr lang="en-US" altLang="en-US" sz="9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char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currentProduct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= </a:t>
            </a:r>
            <a:r>
              <a:rPr lang="en-US" altLang="en-US" sz="900" b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input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.next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().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charAt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</a:t>
            </a:r>
            <a:r>
              <a:rPr lang="en-US" altLang="en-US" sz="900" dirty="0">
                <a:solidFill>
                  <a:srgbClr val="0000FF"/>
                </a:solidFill>
                <a:latin typeface="Monaco" pitchFamily="2" charset="77"/>
                <a:cs typeface="Courier New" panose="02070309020205020404" pitchFamily="49" charset="0"/>
              </a:rPr>
              <a:t>0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);</a:t>
            </a:r>
          </a:p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 </a:t>
            </a:r>
            <a:r>
              <a:rPr lang="en-US" altLang="en-US" sz="900" b="1" dirty="0" err="1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boolean</a:t>
            </a:r>
            <a:r>
              <a:rPr lang="en-US" altLang="en-US" sz="9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inCurrentProductLine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= </a:t>
            </a:r>
            <a:r>
              <a:rPr lang="en-US" altLang="en-US" sz="9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false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;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 </a:t>
            </a:r>
            <a:r>
              <a:rPr lang="en-US" altLang="en-US" sz="9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if 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((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currentProduct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== </a:t>
            </a:r>
            <a:r>
              <a:rPr lang="en-US" altLang="en-US" sz="900" b="1" dirty="0">
                <a:solidFill>
                  <a:srgbClr val="008000"/>
                </a:solidFill>
                <a:latin typeface="Monaco" pitchFamily="2" charset="77"/>
                <a:cs typeface="Courier New" panose="02070309020205020404" pitchFamily="49" charset="0"/>
              </a:rPr>
              <a:t>'y'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) || (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currentProduct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== </a:t>
            </a:r>
            <a:r>
              <a:rPr lang="en-US" altLang="en-US" sz="900" b="1" dirty="0">
                <a:solidFill>
                  <a:srgbClr val="008000"/>
                </a:solidFill>
                <a:latin typeface="Monaco" pitchFamily="2" charset="77"/>
                <a:cs typeface="Courier New" panose="02070309020205020404" pitchFamily="49" charset="0"/>
              </a:rPr>
              <a:t>'Y'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))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   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inCurrentProductLine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= </a:t>
            </a:r>
            <a:r>
              <a:rPr lang="en-US" altLang="en-US" sz="9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true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;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 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 </a:t>
            </a:r>
            <a:r>
              <a:rPr lang="en-US" altLang="en-US" sz="900" b="1" dirty="0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product 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= </a:t>
            </a:r>
            <a:r>
              <a:rPr lang="en-US" altLang="en-US" sz="9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new 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Product(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productName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,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productCode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,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unitCost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,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inCurrentProductLine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);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}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</a:t>
            </a:r>
            <a:r>
              <a:rPr lang="en-US" altLang="en-US" sz="900" i="1" dirty="0">
                <a:solidFill>
                  <a:srgbClr val="808080"/>
                </a:solidFill>
                <a:latin typeface="Monaco" pitchFamily="2" charset="77"/>
                <a:cs typeface="Courier New" panose="02070309020205020404" pitchFamily="49" charset="0"/>
              </a:rPr>
              <a:t>//print the product (the toString method is automatically called).</a:t>
            </a:r>
            <a:br>
              <a:rPr lang="en-US" altLang="en-US" sz="900" i="1" dirty="0">
                <a:solidFill>
                  <a:srgbClr val="80808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i="1" dirty="0">
                <a:solidFill>
                  <a:srgbClr val="808080"/>
                </a:solidFill>
                <a:latin typeface="Monaco" pitchFamily="2" charset="77"/>
                <a:cs typeface="Courier New" panose="02070309020205020404" pitchFamily="49" charset="0"/>
              </a:rPr>
              <a:t>    </a:t>
            </a:r>
            <a:r>
              <a:rPr lang="en-US" altLang="en-US" sz="9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private void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printProduct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(){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System.</a:t>
            </a:r>
            <a:r>
              <a:rPr lang="en-US" altLang="en-US" sz="900" b="1" i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out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.println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</a:t>
            </a:r>
            <a:r>
              <a:rPr lang="en-US" altLang="en-US" sz="900" b="1" dirty="0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product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);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6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}</a:t>
            </a:r>
            <a:br>
              <a:rPr lang="en-US" altLang="en-US" sz="6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6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}</a:t>
            </a:r>
            <a:endParaRPr lang="en-US" altLang="en-US" sz="600" dirty="0">
              <a:latin typeface="Monaco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366EA4-8D50-471F-9254-F92B354C1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2100" y="97021"/>
            <a:ext cx="2557463" cy="131884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Frame 7"/>
          <p:cNvSpPr/>
          <p:nvPr/>
        </p:nvSpPr>
        <p:spPr>
          <a:xfrm>
            <a:off x="1535427" y="1564951"/>
            <a:ext cx="5951223" cy="2846591"/>
          </a:xfrm>
          <a:prstGeom prst="frame">
            <a:avLst>
              <a:gd name="adj1" fmla="val 707"/>
            </a:avLst>
          </a:prstGeom>
          <a:solidFill>
            <a:srgbClr val="FCBA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6737" rtl="0"/>
            <a:endParaRPr lang="en-GB" sz="1688">
              <a:solidFill>
                <a:schemeClr val="tx1"/>
              </a:solidFill>
            </a:endParaRPr>
          </a:p>
        </p:txBody>
      </p:sp>
      <p:cxnSp>
        <p:nvCxnSpPr>
          <p:cNvPr id="9" name="Straight Arrow Connector 8"/>
          <p:cNvCxnSpPr>
            <a:cxnSpLocks/>
          </p:cNvCxnSpPr>
          <p:nvPr/>
        </p:nvCxnSpPr>
        <p:spPr>
          <a:xfrm flipH="1">
            <a:off x="3360896" y="633741"/>
            <a:ext cx="2296955" cy="1200674"/>
          </a:xfrm>
          <a:prstGeom prst="straightConnector1">
            <a:avLst/>
          </a:prstGeom>
          <a:ln w="28575">
            <a:solidFill>
              <a:srgbClr val="FCBAC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F571157-7054-06B5-D086-CFB343F7C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https://www.java.com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DEC9FE-9187-6236-BDEF-57DB3864C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015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F43ED432-8A18-4308-9353-5D92CAE5E9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9316" y="-10983"/>
            <a:ext cx="6135334" cy="5239896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9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public class 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Driver{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</a:t>
            </a:r>
            <a:r>
              <a:rPr lang="en-US" altLang="en-US" sz="9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private 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Scanner </a:t>
            </a:r>
            <a:r>
              <a:rPr lang="en-US" altLang="en-US" sz="900" b="1" dirty="0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input 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= </a:t>
            </a:r>
            <a:r>
              <a:rPr lang="en-US" altLang="en-US" sz="9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new 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Scanner(System.</a:t>
            </a:r>
            <a:r>
              <a:rPr lang="en-US" altLang="en-US" sz="900" b="1" i="1" dirty="0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in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);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</a:t>
            </a:r>
            <a:r>
              <a:rPr lang="en-US" altLang="en-US" sz="9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private 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Product </a:t>
            </a:r>
            <a:r>
              <a:rPr lang="en-US" altLang="en-US" sz="900" b="1" dirty="0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product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;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</a:t>
            </a:r>
            <a:r>
              <a:rPr lang="en-US" altLang="en-US" sz="9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public static void 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main(String[]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args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) {</a:t>
            </a:r>
          </a:p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Driver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driver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= </a:t>
            </a:r>
            <a:r>
              <a:rPr lang="en-US" altLang="en-US" sz="9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new 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Driver();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</a:t>
            </a:r>
            <a:r>
              <a:rPr lang="en-US" altLang="en-US" sz="900" b="1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driver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.addProduct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();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</a:t>
            </a:r>
            <a:r>
              <a:rPr lang="en-US" altLang="en-US" sz="900" b="1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driver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.printProduct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();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}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</a:t>
            </a:r>
            <a:r>
              <a:rPr lang="en-US" altLang="en-US" sz="900" i="1" dirty="0">
                <a:solidFill>
                  <a:srgbClr val="808080"/>
                </a:solidFill>
                <a:latin typeface="Monaco" pitchFamily="2" charset="77"/>
                <a:cs typeface="Courier New" panose="02070309020205020404" pitchFamily="49" charset="0"/>
              </a:rPr>
              <a:t>//gather the product data from the user and create a new product.</a:t>
            </a:r>
            <a:br>
              <a:rPr lang="en-US" altLang="en-US" sz="900" i="1" dirty="0">
                <a:solidFill>
                  <a:srgbClr val="80808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i="1" dirty="0">
                <a:solidFill>
                  <a:srgbClr val="808080"/>
                </a:solidFill>
                <a:latin typeface="Monaco" pitchFamily="2" charset="77"/>
                <a:cs typeface="Courier New" panose="02070309020205020404" pitchFamily="49" charset="0"/>
              </a:rPr>
              <a:t>    </a:t>
            </a:r>
            <a:r>
              <a:rPr lang="en-US" altLang="en-US" sz="9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private void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addProduct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(){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System.</a:t>
            </a:r>
            <a:r>
              <a:rPr lang="en-US" altLang="en-US" sz="900" b="1" i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out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.print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</a:t>
            </a:r>
            <a:r>
              <a:rPr lang="en-US" altLang="en-US" sz="900" b="1" dirty="0">
                <a:solidFill>
                  <a:srgbClr val="008000"/>
                </a:solidFill>
                <a:latin typeface="Monaco" pitchFamily="2" charset="77"/>
                <a:cs typeface="Courier New" panose="02070309020205020404" pitchFamily="49" charset="0"/>
              </a:rPr>
              <a:t>"Enter the Product Name:  "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);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 String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productName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= </a:t>
            </a:r>
            <a:r>
              <a:rPr lang="en-US" altLang="en-US" sz="900" b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input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.nextLine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();</a:t>
            </a:r>
          </a:p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System.</a:t>
            </a:r>
            <a:r>
              <a:rPr lang="en-US" altLang="en-US" sz="900" b="1" i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out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.print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</a:t>
            </a:r>
            <a:r>
              <a:rPr lang="en-US" altLang="en-US" sz="900" b="1" dirty="0">
                <a:solidFill>
                  <a:srgbClr val="008000"/>
                </a:solidFill>
                <a:latin typeface="Monaco" pitchFamily="2" charset="77"/>
                <a:cs typeface="Courier New" panose="02070309020205020404" pitchFamily="49" charset="0"/>
              </a:rPr>
              <a:t>"Enter the Product Code:  "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);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 </a:t>
            </a:r>
            <a:r>
              <a:rPr lang="en-US" altLang="en-US" sz="900" b="1" dirty="0" err="1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int</a:t>
            </a:r>
            <a:r>
              <a:rPr lang="en-US" altLang="en-US" sz="9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productCode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= </a:t>
            </a:r>
            <a:r>
              <a:rPr lang="en-US" altLang="en-US" sz="900" b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input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.nextInt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();</a:t>
            </a:r>
          </a:p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System.</a:t>
            </a:r>
            <a:r>
              <a:rPr lang="en-US" altLang="en-US" sz="900" b="1" i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out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.print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</a:t>
            </a:r>
            <a:r>
              <a:rPr lang="en-US" altLang="en-US" sz="900" b="1" dirty="0">
                <a:solidFill>
                  <a:srgbClr val="008000"/>
                </a:solidFill>
                <a:latin typeface="Monaco" pitchFamily="2" charset="77"/>
                <a:cs typeface="Courier New" panose="02070309020205020404" pitchFamily="49" charset="0"/>
              </a:rPr>
              <a:t>"Enter the Unit Cost:  "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);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 </a:t>
            </a:r>
            <a:r>
              <a:rPr lang="en-US" altLang="en-US" sz="9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double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unitCost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= </a:t>
            </a:r>
            <a:r>
              <a:rPr lang="en-US" altLang="en-US" sz="900" b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input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.nextDouble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();</a:t>
            </a:r>
          </a:p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System.</a:t>
            </a:r>
            <a:r>
              <a:rPr lang="en-US" altLang="en-US" sz="900" b="1" i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out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.print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</a:t>
            </a:r>
            <a:r>
              <a:rPr lang="en-US" altLang="en-US" sz="900" b="1" dirty="0">
                <a:solidFill>
                  <a:srgbClr val="008000"/>
                </a:solidFill>
                <a:latin typeface="Monaco" pitchFamily="2" charset="77"/>
                <a:cs typeface="Courier New" panose="02070309020205020404" pitchFamily="49" charset="0"/>
              </a:rPr>
              <a:t>"Is this product in your current line (y/n): "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);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 </a:t>
            </a:r>
            <a:r>
              <a:rPr lang="en-US" altLang="en-US" sz="9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char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currentProduct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= </a:t>
            </a:r>
            <a:r>
              <a:rPr lang="en-US" altLang="en-US" sz="900" b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input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.next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().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charAt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</a:t>
            </a:r>
            <a:r>
              <a:rPr lang="en-US" altLang="en-US" sz="900" dirty="0">
                <a:solidFill>
                  <a:srgbClr val="0000FF"/>
                </a:solidFill>
                <a:latin typeface="Monaco" pitchFamily="2" charset="77"/>
                <a:cs typeface="Courier New" panose="02070309020205020404" pitchFamily="49" charset="0"/>
              </a:rPr>
              <a:t>0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);</a:t>
            </a:r>
          </a:p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 </a:t>
            </a:r>
            <a:r>
              <a:rPr lang="en-US" altLang="en-US" sz="900" b="1" dirty="0" err="1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boolean</a:t>
            </a:r>
            <a:r>
              <a:rPr lang="en-US" altLang="en-US" sz="9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inCurrentProductLine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= </a:t>
            </a:r>
            <a:r>
              <a:rPr lang="en-US" altLang="en-US" sz="9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false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;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 </a:t>
            </a:r>
            <a:r>
              <a:rPr lang="en-US" altLang="en-US" sz="9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if 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((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currentProduct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== </a:t>
            </a:r>
            <a:r>
              <a:rPr lang="en-US" altLang="en-US" sz="900" b="1" dirty="0">
                <a:solidFill>
                  <a:srgbClr val="008000"/>
                </a:solidFill>
                <a:latin typeface="Monaco" pitchFamily="2" charset="77"/>
                <a:cs typeface="Courier New" panose="02070309020205020404" pitchFamily="49" charset="0"/>
              </a:rPr>
              <a:t>'y'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) || (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currentProduct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== </a:t>
            </a:r>
            <a:r>
              <a:rPr lang="en-US" altLang="en-US" sz="900" b="1" dirty="0">
                <a:solidFill>
                  <a:srgbClr val="008000"/>
                </a:solidFill>
                <a:latin typeface="Monaco" pitchFamily="2" charset="77"/>
                <a:cs typeface="Courier New" panose="02070309020205020404" pitchFamily="49" charset="0"/>
              </a:rPr>
              <a:t>'Y'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))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   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inCurrentProductLine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= </a:t>
            </a:r>
            <a:r>
              <a:rPr lang="en-US" altLang="en-US" sz="9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true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;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 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 </a:t>
            </a:r>
            <a:r>
              <a:rPr lang="en-US" altLang="en-US" sz="900" b="1" dirty="0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product 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= </a:t>
            </a:r>
            <a:r>
              <a:rPr lang="en-US" altLang="en-US" sz="9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new 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Product(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productName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,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productCode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,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unitCost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,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inCurrentProductLine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);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}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</a:t>
            </a:r>
            <a:r>
              <a:rPr lang="en-US" altLang="en-US" sz="900" i="1" dirty="0">
                <a:solidFill>
                  <a:srgbClr val="808080"/>
                </a:solidFill>
                <a:latin typeface="Monaco" pitchFamily="2" charset="77"/>
                <a:cs typeface="Courier New" panose="02070309020205020404" pitchFamily="49" charset="0"/>
              </a:rPr>
              <a:t>//print the product (the toString method is automatically called).</a:t>
            </a:r>
            <a:br>
              <a:rPr lang="en-US" altLang="en-US" sz="900" i="1" dirty="0">
                <a:solidFill>
                  <a:srgbClr val="80808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i="1" dirty="0">
                <a:solidFill>
                  <a:srgbClr val="808080"/>
                </a:solidFill>
                <a:latin typeface="Monaco" pitchFamily="2" charset="77"/>
                <a:cs typeface="Courier New" panose="02070309020205020404" pitchFamily="49" charset="0"/>
              </a:rPr>
              <a:t>    </a:t>
            </a:r>
            <a:r>
              <a:rPr lang="en-US" altLang="en-US" sz="9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private void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printProduct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(){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System.</a:t>
            </a:r>
            <a:r>
              <a:rPr lang="en-US" altLang="en-US" sz="900" b="1" i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out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.println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</a:t>
            </a:r>
            <a:r>
              <a:rPr lang="en-US" altLang="en-US" sz="900" b="1" dirty="0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product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);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6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}</a:t>
            </a:r>
            <a:br>
              <a:rPr lang="en-US" altLang="en-US" sz="6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6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}</a:t>
            </a:r>
            <a:endParaRPr lang="en-US" altLang="en-US" sz="600" dirty="0">
              <a:latin typeface="Monaco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366EA4-8D50-471F-9254-F92B354C1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2100" y="97021"/>
            <a:ext cx="2557463" cy="131884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9" name="Straight Arrow Connector 8"/>
          <p:cNvCxnSpPr>
            <a:cxnSpLocks/>
          </p:cNvCxnSpPr>
          <p:nvPr/>
        </p:nvCxnSpPr>
        <p:spPr>
          <a:xfrm flipH="1">
            <a:off x="4715838" y="859536"/>
            <a:ext cx="929120" cy="3661093"/>
          </a:xfrm>
          <a:prstGeom prst="straightConnector1">
            <a:avLst/>
          </a:prstGeom>
          <a:ln w="28575">
            <a:solidFill>
              <a:srgbClr val="FCBAC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F571157-7054-06B5-D086-CFB343F7C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https://www.java.com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DEC9FE-9187-6236-BDEF-57DB3864C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183F5C-1768-8C7A-1D2E-BA00CB3B4AA7}"/>
              </a:ext>
            </a:extLst>
          </p:cNvPr>
          <p:cNvSpPr/>
          <p:nvPr/>
        </p:nvSpPr>
        <p:spPr>
          <a:xfrm>
            <a:off x="1577158" y="4500081"/>
            <a:ext cx="4893851" cy="630003"/>
          </a:xfrm>
          <a:prstGeom prst="rect">
            <a:avLst/>
          </a:prstGeom>
          <a:noFill/>
          <a:ln w="25400" cap="flat">
            <a:solidFill>
              <a:srgbClr val="FCBAC5"/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3383734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</a:t>
            </a:r>
            <a:r>
              <a:rPr lang="en-GB" b="1" dirty="0" err="1"/>
              <a:t>addProduct</a:t>
            </a:r>
            <a:r>
              <a:rPr lang="en-GB" b="1" dirty="0"/>
              <a:t>() </a:t>
            </a:r>
            <a:r>
              <a:rPr lang="en-GB" dirty="0"/>
              <a:t>console output…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226CD6-F32F-C67A-7DFB-71EA5677FD45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22</a:t>
            </a:fld>
            <a:endParaRPr lang="en-I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F9CA2D-48B9-AD8B-AF84-45F8C28E38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3" name="TextBox 2"/>
          <p:cNvSpPr txBox="1"/>
          <p:nvPr/>
        </p:nvSpPr>
        <p:spPr>
          <a:xfrm>
            <a:off x="1613219" y="3380995"/>
            <a:ext cx="5974713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700" dirty="0"/>
              <a:t>Now, Let’s Look at how this is done</a:t>
            </a:r>
            <a:r>
              <a:rPr lang="mr-IN" sz="2700" dirty="0"/>
              <a:t>…</a:t>
            </a:r>
            <a:endParaRPr lang="en-GB" sz="27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F99C47F-F469-CB96-9942-A82142C629D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" b="16662"/>
          <a:stretch/>
        </p:blipFill>
        <p:spPr>
          <a:xfrm>
            <a:off x="1579626" y="1497330"/>
            <a:ext cx="6798749" cy="12001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Rectangle: Rounded Corners 9">
            <a:extLst>
              <a:ext uri="{FF2B5EF4-FFF2-40B4-BE49-F238E27FC236}">
                <a16:creationId xmlns:a16="http://schemas.microsoft.com/office/drawing/2014/main" id="{7F1A3904-4D6C-2D70-2AE4-B408F2933C14}"/>
              </a:ext>
            </a:extLst>
          </p:cNvPr>
          <p:cNvSpPr/>
          <p:nvPr/>
        </p:nvSpPr>
        <p:spPr>
          <a:xfrm>
            <a:off x="6608826" y="1033272"/>
            <a:ext cx="1545815" cy="5752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500" dirty="0"/>
              <a:t>Console Output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33AA4A-2266-F594-2E0E-BF7A3496F806}"/>
              </a:ext>
            </a:extLst>
          </p:cNvPr>
          <p:cNvSpPr txBox="1"/>
          <p:nvPr/>
        </p:nvSpPr>
        <p:spPr>
          <a:xfrm>
            <a:off x="630975" y="1419615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0" dirty="0">
                <a:solidFill>
                  <a:srgbClr val="FF0000"/>
                </a:solidFill>
                <a:latin typeface="Monaco" pitchFamily="2" charset="77"/>
              </a:rPr>
              <a:t>String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F4EA5C2-B1DD-39FE-A044-ACB607DD4FEC}"/>
              </a:ext>
            </a:extLst>
          </p:cNvPr>
          <p:cNvSpPr txBox="1"/>
          <p:nvPr/>
        </p:nvSpPr>
        <p:spPr>
          <a:xfrm>
            <a:off x="1050127" y="1712268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0" dirty="0">
                <a:solidFill>
                  <a:srgbClr val="FF0000"/>
                </a:solidFill>
                <a:latin typeface="Monaco" pitchFamily="2" charset="77"/>
              </a:rPr>
              <a:t>int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B19A76-8CBE-D3B6-51FA-03BA9D9FD135}"/>
              </a:ext>
            </a:extLst>
          </p:cNvPr>
          <p:cNvSpPr txBox="1"/>
          <p:nvPr/>
        </p:nvSpPr>
        <p:spPr>
          <a:xfrm>
            <a:off x="608087" y="1989158"/>
            <a:ext cx="1026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800" dirty="0">
                <a:solidFill>
                  <a:srgbClr val="FF0000"/>
                </a:solidFill>
                <a:latin typeface="Monaco" pitchFamily="2" charset="77"/>
              </a:rPr>
              <a:t>double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D2CD0B-6966-77D5-A6EB-306F201098D2}"/>
              </a:ext>
            </a:extLst>
          </p:cNvPr>
          <p:cNvSpPr txBox="1"/>
          <p:nvPr/>
        </p:nvSpPr>
        <p:spPr>
          <a:xfrm>
            <a:off x="507503" y="2300880"/>
            <a:ext cx="1149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0" dirty="0" err="1">
                <a:solidFill>
                  <a:srgbClr val="FF0000"/>
                </a:solidFill>
                <a:latin typeface="Monaco" pitchFamily="2" charset="77"/>
              </a:rPr>
              <a:t>boolean</a:t>
            </a:r>
            <a:endParaRPr lang="en-GB" sz="1800" dirty="0">
              <a:solidFill>
                <a:srgbClr val="FF0000"/>
              </a:solidFill>
              <a:latin typeface="Monac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59725810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5" grpId="0"/>
      <p:bldP spid="16" grpId="0"/>
      <p:bldP spid="17" grpId="0"/>
      <p:bldP spid="1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03D59D8-1427-463F-B004-CBC2B2E6D3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27533" b="81090"/>
          <a:stretch/>
        </p:blipFill>
        <p:spPr>
          <a:xfrm>
            <a:off x="1634305" y="1333518"/>
            <a:ext cx="5591036" cy="5715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B8CDEAC-FDB3-478D-8843-9A66C1C66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E" dirty="0"/>
              <a:t>ShopV1.0 – read </a:t>
            </a:r>
            <a:r>
              <a:rPr lang="en-IE" dirty="0">
                <a:solidFill>
                  <a:srgbClr val="FF0000"/>
                </a:solidFill>
              </a:rPr>
              <a:t>Product Name (</a:t>
            </a:r>
            <a:r>
              <a:rPr lang="en-IE" b="1" dirty="0">
                <a:solidFill>
                  <a:srgbClr val="FF0000"/>
                </a:solidFill>
              </a:rPr>
              <a:t>String</a:t>
            </a:r>
            <a:r>
              <a:rPr lang="en-IE" dirty="0">
                <a:solidFill>
                  <a:srgbClr val="FF0000"/>
                </a:solidFill>
              </a:rPr>
              <a:t>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BA18FB-A6E0-4C74-AA3C-525C3BFBCC3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030" t="49295" b="1"/>
          <a:stretch/>
        </p:blipFill>
        <p:spPr>
          <a:xfrm>
            <a:off x="1739715" y="3886200"/>
            <a:ext cx="5850731" cy="5143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Arrow: Down 4">
            <a:extLst>
              <a:ext uri="{FF2B5EF4-FFF2-40B4-BE49-F238E27FC236}">
                <a16:creationId xmlns:a16="http://schemas.microsoft.com/office/drawing/2014/main" id="{6555CA2B-E47F-4397-922A-50DB7F2DE3F6}"/>
              </a:ext>
            </a:extLst>
          </p:cNvPr>
          <p:cNvSpPr/>
          <p:nvPr/>
        </p:nvSpPr>
        <p:spPr>
          <a:xfrm>
            <a:off x="4286250" y="2286000"/>
            <a:ext cx="628650" cy="7429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sp>
        <p:nvSpPr>
          <p:cNvPr id="7" name="Donut 6"/>
          <p:cNvSpPr/>
          <p:nvPr/>
        </p:nvSpPr>
        <p:spPr>
          <a:xfrm flipV="1">
            <a:off x="3943350" y="1634728"/>
            <a:ext cx="2457450" cy="308372"/>
          </a:xfrm>
          <a:prstGeom prst="donut">
            <a:avLst>
              <a:gd name="adj" fmla="val 102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8">
              <a:solidFill>
                <a:schemeClr val="tx1"/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BEBE35-8BF2-6A6B-138D-96C0297A14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FD7E51-0052-970D-CBB4-11043FB2BD6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23</a:t>
            </a:fld>
            <a:endParaRPr lang="en-IE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9A59BC9-CCAF-3BB4-2C99-980B6C0AEDA1}"/>
              </a:ext>
            </a:extLst>
          </p:cNvPr>
          <p:cNvSpPr/>
          <p:nvPr/>
        </p:nvSpPr>
        <p:spPr>
          <a:xfrm>
            <a:off x="6307074" y="3436222"/>
            <a:ext cx="1545815" cy="5752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500" dirty="0"/>
              <a:t>Console Output</a:t>
            </a:r>
          </a:p>
        </p:txBody>
      </p:sp>
    </p:spTree>
    <p:extLst>
      <p:ext uri="{BB962C8B-B14F-4D97-AF65-F5344CB8AC3E}">
        <p14:creationId xmlns:p14="http://schemas.microsoft.com/office/powerpoint/2010/main" val="316394782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CDEAC-FDB3-478D-8843-9A66C1C66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ShopV1.0 – read </a:t>
            </a:r>
            <a:r>
              <a:rPr lang="en-IE" dirty="0">
                <a:solidFill>
                  <a:srgbClr val="FF0000"/>
                </a:solidFill>
              </a:rPr>
              <a:t>Product Code (</a:t>
            </a:r>
            <a:r>
              <a:rPr lang="en-IE" b="1" dirty="0" err="1">
                <a:solidFill>
                  <a:srgbClr val="FF0000"/>
                </a:solidFill>
              </a:rPr>
              <a:t>int</a:t>
            </a:r>
            <a:r>
              <a:rPr lang="en-IE" dirty="0">
                <a:solidFill>
                  <a:srgbClr val="FF0000"/>
                </a:solidFill>
              </a:rPr>
              <a:t>)</a:t>
            </a:r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91F51221-4C43-4F47-A4D7-9C5AEB44394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910" r="27533" b="64071"/>
          <a:stretch/>
        </p:blipFill>
        <p:spPr>
          <a:xfrm>
            <a:off x="1714500" y="1943100"/>
            <a:ext cx="5591036" cy="51435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Arrow: Down 7">
            <a:extLst>
              <a:ext uri="{FF2B5EF4-FFF2-40B4-BE49-F238E27FC236}">
                <a16:creationId xmlns:a16="http://schemas.microsoft.com/office/drawing/2014/main" id="{500BEB3B-E9CC-4815-869D-F1A0941E0FCA}"/>
              </a:ext>
            </a:extLst>
          </p:cNvPr>
          <p:cNvSpPr/>
          <p:nvPr/>
        </p:nvSpPr>
        <p:spPr>
          <a:xfrm>
            <a:off x="4286250" y="2743200"/>
            <a:ext cx="628650" cy="7429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98E67A4-656B-44E2-BD89-7EEE193491F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0760"/>
          <a:stretch/>
        </p:blipFill>
        <p:spPr>
          <a:xfrm>
            <a:off x="1657350" y="3943350"/>
            <a:ext cx="6000750" cy="44291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Donut 10"/>
          <p:cNvSpPr/>
          <p:nvPr/>
        </p:nvSpPr>
        <p:spPr>
          <a:xfrm flipV="1">
            <a:off x="3543300" y="2171863"/>
            <a:ext cx="2457450" cy="308372"/>
          </a:xfrm>
          <a:prstGeom prst="donut">
            <a:avLst>
              <a:gd name="adj" fmla="val 102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8">
              <a:solidFill>
                <a:schemeClr val="tx1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46B66A-063F-5512-E244-F83230B6A0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999D67-EFD2-A2E7-0AC9-9C6843367E97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24</a:t>
            </a:fld>
            <a:endParaRPr lang="en-IE" dirty="0"/>
          </a:p>
        </p:txBody>
      </p:sp>
      <p:sp>
        <p:nvSpPr>
          <p:cNvPr id="5" name="Rectangle: Rounded Corners 9">
            <a:extLst>
              <a:ext uri="{FF2B5EF4-FFF2-40B4-BE49-F238E27FC236}">
                <a16:creationId xmlns:a16="http://schemas.microsoft.com/office/drawing/2014/main" id="{35649F01-695C-FCD5-A56F-93BBF9ACBE45}"/>
              </a:ext>
            </a:extLst>
          </p:cNvPr>
          <p:cNvSpPr/>
          <p:nvPr/>
        </p:nvSpPr>
        <p:spPr>
          <a:xfrm>
            <a:off x="6307074" y="3436222"/>
            <a:ext cx="1545815" cy="5752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500" dirty="0"/>
              <a:t>Console Output</a:t>
            </a:r>
          </a:p>
        </p:txBody>
      </p:sp>
    </p:spTree>
    <p:extLst>
      <p:ext uri="{BB962C8B-B14F-4D97-AF65-F5344CB8AC3E}">
        <p14:creationId xmlns:p14="http://schemas.microsoft.com/office/powerpoint/2010/main" val="168835797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CDEAC-FDB3-478D-8843-9A66C1C66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ShopV1.0 – read </a:t>
            </a:r>
            <a:r>
              <a:rPr lang="en-IE" dirty="0">
                <a:solidFill>
                  <a:srgbClr val="FF0000"/>
                </a:solidFill>
              </a:rPr>
              <a:t>Unit Cost (</a:t>
            </a:r>
            <a:r>
              <a:rPr lang="en-IE" b="1" dirty="0">
                <a:solidFill>
                  <a:srgbClr val="FF0000"/>
                </a:solidFill>
              </a:rPr>
              <a:t>double</a:t>
            </a:r>
            <a:r>
              <a:rPr lang="en-IE" dirty="0">
                <a:solidFill>
                  <a:srgbClr val="FF0000"/>
                </a:solidFill>
              </a:rPr>
              <a:t>)</a:t>
            </a:r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9EF82E51-5D60-45C1-B6B4-F9C1A5EE22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5930" r="28149" b="47051"/>
          <a:stretch/>
        </p:blipFill>
        <p:spPr>
          <a:xfrm>
            <a:off x="1714500" y="2457450"/>
            <a:ext cx="5543550" cy="51435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Arrow: Down 7">
            <a:extLst>
              <a:ext uri="{FF2B5EF4-FFF2-40B4-BE49-F238E27FC236}">
                <a16:creationId xmlns:a16="http://schemas.microsoft.com/office/drawing/2014/main" id="{3C5055C4-734F-4A25-A495-AA5651845A16}"/>
              </a:ext>
            </a:extLst>
          </p:cNvPr>
          <p:cNvSpPr/>
          <p:nvPr/>
        </p:nvSpPr>
        <p:spPr>
          <a:xfrm>
            <a:off x="4229100" y="3028950"/>
            <a:ext cx="628650" cy="7429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82C82C1-7AFD-48A6-9F2F-33666B06C1B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2500"/>
          <a:stretch/>
        </p:blipFill>
        <p:spPr>
          <a:xfrm>
            <a:off x="2067703" y="3829050"/>
            <a:ext cx="5041757" cy="35012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Donut 10"/>
          <p:cNvSpPr/>
          <p:nvPr/>
        </p:nvSpPr>
        <p:spPr>
          <a:xfrm flipV="1">
            <a:off x="3514725" y="2714625"/>
            <a:ext cx="2828925" cy="314325"/>
          </a:xfrm>
          <a:prstGeom prst="donut">
            <a:avLst>
              <a:gd name="adj" fmla="val 102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8">
              <a:solidFill>
                <a:schemeClr val="tx1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DBF394-D712-4DB2-9683-E6850DD448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8DEFEF-91ED-31B4-5F06-F9E4D1A1396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25</a:t>
            </a:fld>
            <a:endParaRPr lang="en-IE" dirty="0"/>
          </a:p>
        </p:txBody>
      </p:sp>
      <p:sp>
        <p:nvSpPr>
          <p:cNvPr id="5" name="Rectangle: Rounded Corners 9">
            <a:extLst>
              <a:ext uri="{FF2B5EF4-FFF2-40B4-BE49-F238E27FC236}">
                <a16:creationId xmlns:a16="http://schemas.microsoft.com/office/drawing/2014/main" id="{4BBB880A-C79A-3084-85B0-896AD4EE8101}"/>
              </a:ext>
            </a:extLst>
          </p:cNvPr>
          <p:cNvSpPr/>
          <p:nvPr/>
        </p:nvSpPr>
        <p:spPr>
          <a:xfrm>
            <a:off x="6307074" y="3436222"/>
            <a:ext cx="1545815" cy="5752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500" dirty="0"/>
              <a:t>Console Output</a:t>
            </a:r>
          </a:p>
        </p:txBody>
      </p:sp>
    </p:spTree>
    <p:extLst>
      <p:ext uri="{BB962C8B-B14F-4D97-AF65-F5344CB8AC3E}">
        <p14:creationId xmlns:p14="http://schemas.microsoft.com/office/powerpoint/2010/main" val="400001925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CDEAC-FDB3-478D-8843-9A66C1C66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0"/>
            <a:ext cx="8272976" cy="761815"/>
          </a:xfrm>
        </p:spPr>
        <p:txBody>
          <a:bodyPr>
            <a:normAutofit fontScale="90000"/>
          </a:bodyPr>
          <a:lstStyle/>
          <a:p>
            <a:r>
              <a:rPr lang="en-IE" sz="3600" dirty="0"/>
              <a:t>ShopV1.0 –</a:t>
            </a:r>
            <a:r>
              <a:rPr lang="en-IE" dirty="0"/>
              <a:t> </a:t>
            </a:r>
            <a:r>
              <a:rPr lang="en-IE" dirty="0">
                <a:solidFill>
                  <a:srgbClr val="FF0000"/>
                </a:solidFill>
              </a:rPr>
              <a:t>In Current Product Line? (</a:t>
            </a:r>
            <a:r>
              <a:rPr lang="en-IE" b="1" dirty="0" err="1">
                <a:solidFill>
                  <a:srgbClr val="FF0000"/>
                </a:solidFill>
              </a:rPr>
              <a:t>boolean</a:t>
            </a:r>
            <a:r>
              <a:rPr lang="en-IE" dirty="0">
                <a:solidFill>
                  <a:srgbClr val="FF0000"/>
                </a:solidFill>
              </a:rPr>
              <a:t>)</a:t>
            </a:r>
            <a:endParaRPr lang="en-IE" sz="4000" dirty="0">
              <a:solidFill>
                <a:srgbClr val="FF0000"/>
              </a:solidFill>
            </a:endParaRPr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40FF9B93-72C8-48D4-BFA6-44D3081FD4A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3602" r="742" b="-223"/>
          <a:stretch/>
        </p:blipFill>
        <p:spPr>
          <a:xfrm>
            <a:off x="1657350" y="2457450"/>
            <a:ext cx="5943600" cy="109352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Arrow: Down 7">
            <a:extLst>
              <a:ext uri="{FF2B5EF4-FFF2-40B4-BE49-F238E27FC236}">
                <a16:creationId xmlns:a16="http://schemas.microsoft.com/office/drawing/2014/main" id="{16A9B25D-EEE1-4CF4-9B6A-538AE5B09D4A}"/>
              </a:ext>
            </a:extLst>
          </p:cNvPr>
          <p:cNvSpPr/>
          <p:nvPr/>
        </p:nvSpPr>
        <p:spPr>
          <a:xfrm>
            <a:off x="4629150" y="3371850"/>
            <a:ext cx="628650" cy="7429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169675-A808-40BF-842B-C26C1D7AD79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8726" b="16664"/>
          <a:stretch/>
        </p:blipFill>
        <p:spPr>
          <a:xfrm>
            <a:off x="1828800" y="4229100"/>
            <a:ext cx="4532499" cy="23627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Donut 10"/>
          <p:cNvSpPr/>
          <p:nvPr/>
        </p:nvSpPr>
        <p:spPr>
          <a:xfrm flipV="1">
            <a:off x="3400425" y="2625266"/>
            <a:ext cx="2457450" cy="308372"/>
          </a:xfrm>
          <a:prstGeom prst="donut">
            <a:avLst>
              <a:gd name="adj" fmla="val 102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8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66767" y="1305562"/>
            <a:ext cx="6118984" cy="415498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sz="2100" dirty="0"/>
              <a:t>For </a:t>
            </a:r>
            <a:r>
              <a:rPr lang="en-GB" sz="2100" b="1" dirty="0" err="1"/>
              <a:t>booleans</a:t>
            </a:r>
            <a:r>
              <a:rPr lang="en-GB" sz="2100" dirty="0"/>
              <a:t>, take in a </a:t>
            </a:r>
            <a:r>
              <a:rPr lang="en-GB" sz="2100" b="1" dirty="0"/>
              <a:t>char</a:t>
            </a:r>
            <a:r>
              <a:rPr lang="en-GB" sz="2100" dirty="0"/>
              <a:t>acter first, then test it</a:t>
            </a:r>
            <a:endParaRPr lang="en-GB" sz="2100" b="1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688E96-80DB-4AFB-B135-DCF4F9DEA5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46CB58-E7F6-B609-8D06-FB0A61F3EFBC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26</a:t>
            </a:fld>
            <a:endParaRPr lang="en-IE" dirty="0"/>
          </a:p>
        </p:txBody>
      </p:sp>
      <p:sp>
        <p:nvSpPr>
          <p:cNvPr id="5" name="Rectangle: Rounded Corners 9">
            <a:extLst>
              <a:ext uri="{FF2B5EF4-FFF2-40B4-BE49-F238E27FC236}">
                <a16:creationId xmlns:a16="http://schemas.microsoft.com/office/drawing/2014/main" id="{764D5402-DA06-CC19-75B2-F59AD1A44E33}"/>
              </a:ext>
            </a:extLst>
          </p:cNvPr>
          <p:cNvSpPr/>
          <p:nvPr/>
        </p:nvSpPr>
        <p:spPr>
          <a:xfrm>
            <a:off x="6169914" y="3743325"/>
            <a:ext cx="1545815" cy="5752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500" dirty="0"/>
              <a:t>Console Output</a:t>
            </a:r>
          </a:p>
        </p:txBody>
      </p:sp>
    </p:spTree>
    <p:extLst>
      <p:ext uri="{BB962C8B-B14F-4D97-AF65-F5344CB8AC3E}">
        <p14:creationId xmlns:p14="http://schemas.microsoft.com/office/powerpoint/2010/main" val="168935744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CDEAC-FDB3-478D-8843-9A66C1C66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ShopV1.0 – </a:t>
            </a:r>
            <a:r>
              <a:rPr lang="en-IE" dirty="0">
                <a:solidFill>
                  <a:srgbClr val="FF0000"/>
                </a:solidFill>
              </a:rPr>
              <a:t>Create Product Object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844D3C-3447-46F0-9E4E-FCDC1C2B07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2709" y="836677"/>
            <a:ext cx="6057900" cy="23626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9174428-7870-4183-AE2B-64B3C59C25C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6953"/>
          <a:stretch/>
        </p:blipFill>
        <p:spPr>
          <a:xfrm>
            <a:off x="4743450" y="3393383"/>
            <a:ext cx="3219954" cy="1372526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E9855B6-7C80-456A-B3CB-14E301F41D1E}"/>
              </a:ext>
            </a:extLst>
          </p:cNvPr>
          <p:cNvSpPr/>
          <p:nvPr/>
        </p:nvSpPr>
        <p:spPr>
          <a:xfrm>
            <a:off x="5033664" y="3579877"/>
            <a:ext cx="2795887" cy="2540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DBE9732-44D1-432D-8360-4FF23DA0F43E}"/>
              </a:ext>
            </a:extLst>
          </p:cNvPr>
          <p:cNvSpPr/>
          <p:nvPr/>
        </p:nvSpPr>
        <p:spPr>
          <a:xfrm flipV="1">
            <a:off x="1428750" y="2896297"/>
            <a:ext cx="6286500" cy="303014"/>
          </a:xfrm>
          <a:prstGeom prst="round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sp>
        <p:nvSpPr>
          <p:cNvPr id="4" name="TextBox 3"/>
          <p:cNvSpPr txBox="1"/>
          <p:nvPr/>
        </p:nvSpPr>
        <p:spPr>
          <a:xfrm>
            <a:off x="1252862" y="3731733"/>
            <a:ext cx="3435556" cy="553998"/>
          </a:xfrm>
          <a:prstGeom prst="rect">
            <a:avLst/>
          </a:prstGeom>
          <a:gradFill>
            <a:gsLst>
              <a:gs pos="0">
                <a:schemeClr val="accent2">
                  <a:tint val="50000"/>
                  <a:satMod val="300000"/>
                </a:schemeClr>
              </a:gs>
              <a:gs pos="35000">
                <a:schemeClr val="accent2">
                  <a:tint val="37000"/>
                  <a:satMod val="300000"/>
                </a:schemeClr>
              </a:gs>
              <a:gs pos="100000">
                <a:schemeClr val="accent2">
                  <a:tint val="15000"/>
                  <a:satMod val="350000"/>
                </a:schemeClr>
              </a:gs>
            </a:gsLst>
            <a:lin ang="16200000" scaled="1"/>
          </a:gradFill>
          <a:ln>
            <a:solidFill>
              <a:schemeClr val="accent1">
                <a:shade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sz="1500" dirty="0"/>
              <a:t>Using the </a:t>
            </a:r>
            <a:r>
              <a:rPr lang="en-GB" sz="1500"/>
              <a:t>values taken in</a:t>
            </a:r>
            <a:br>
              <a:rPr lang="en-GB" sz="1500" dirty="0"/>
            </a:br>
            <a:r>
              <a:rPr lang="en-GB" sz="1500" dirty="0"/>
              <a:t>pass them to the </a:t>
            </a:r>
            <a:r>
              <a:rPr lang="en-GB" sz="1500" b="1" dirty="0"/>
              <a:t>Product constructor</a:t>
            </a:r>
          </a:p>
        </p:txBody>
      </p:sp>
      <p:cxnSp>
        <p:nvCxnSpPr>
          <p:cNvPr id="8" name="Straight Arrow Connector 7"/>
          <p:cNvCxnSpPr>
            <a:cxnSpLocks/>
          </p:cNvCxnSpPr>
          <p:nvPr/>
        </p:nvCxnSpPr>
        <p:spPr>
          <a:xfrm>
            <a:off x="2971800" y="3199311"/>
            <a:ext cx="2061863" cy="494866"/>
          </a:xfrm>
          <a:prstGeom prst="straightConnector1">
            <a:avLst/>
          </a:prstGeom>
          <a:ln w="349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68FD7-032B-5727-616D-790D3CCAC2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49BE37-DBEE-2DB1-8372-56A29A75791E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27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271658406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F43ED432-8A18-4308-9353-5D92CAE5E9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9316" y="-10983"/>
            <a:ext cx="6135334" cy="5239896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9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public class 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Driver{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</a:t>
            </a:r>
            <a:r>
              <a:rPr lang="en-US" altLang="en-US" sz="9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private 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Scanner </a:t>
            </a:r>
            <a:r>
              <a:rPr lang="en-US" altLang="en-US" sz="900" b="1" dirty="0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input 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= </a:t>
            </a:r>
            <a:r>
              <a:rPr lang="en-US" altLang="en-US" sz="9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new 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Scanner(System.</a:t>
            </a:r>
            <a:r>
              <a:rPr lang="en-US" altLang="en-US" sz="900" b="1" i="1" dirty="0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in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);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</a:t>
            </a:r>
            <a:r>
              <a:rPr lang="en-US" altLang="en-US" sz="9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private 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Product </a:t>
            </a:r>
            <a:r>
              <a:rPr lang="en-US" altLang="en-US" sz="900" b="1" dirty="0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product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;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</a:t>
            </a:r>
            <a:r>
              <a:rPr lang="en-US" altLang="en-US" sz="9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public static void 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main(String[]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args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) {</a:t>
            </a:r>
          </a:p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Driver </a:t>
            </a:r>
            <a:r>
              <a:rPr lang="en-US" altLang="en-US" sz="900" b="1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c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= </a:t>
            </a:r>
            <a:r>
              <a:rPr lang="en-US" altLang="en-US" sz="9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new 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Driver();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</a:t>
            </a:r>
            <a:r>
              <a:rPr lang="en-US" altLang="en-US" sz="900" b="1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c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.addProduct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();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</a:t>
            </a:r>
            <a:r>
              <a:rPr lang="en-US" altLang="en-US" sz="900" b="1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c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.printProduct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();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}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</a:t>
            </a:r>
            <a:r>
              <a:rPr lang="en-US" altLang="en-US" sz="900" i="1" dirty="0">
                <a:solidFill>
                  <a:srgbClr val="808080"/>
                </a:solidFill>
                <a:latin typeface="Monaco" pitchFamily="2" charset="77"/>
                <a:cs typeface="Courier New" panose="02070309020205020404" pitchFamily="49" charset="0"/>
              </a:rPr>
              <a:t>//gather the product data from the user and create a new product.</a:t>
            </a:r>
            <a:br>
              <a:rPr lang="en-US" altLang="en-US" sz="900" i="1" dirty="0">
                <a:solidFill>
                  <a:srgbClr val="80808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i="1" dirty="0">
                <a:solidFill>
                  <a:srgbClr val="808080"/>
                </a:solidFill>
                <a:latin typeface="Monaco" pitchFamily="2" charset="77"/>
                <a:cs typeface="Courier New" panose="02070309020205020404" pitchFamily="49" charset="0"/>
              </a:rPr>
              <a:t>    </a:t>
            </a:r>
            <a:r>
              <a:rPr lang="en-US" altLang="en-US" sz="9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private void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addProduct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(){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System.</a:t>
            </a:r>
            <a:r>
              <a:rPr lang="en-US" altLang="en-US" sz="900" b="1" i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out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.print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</a:t>
            </a:r>
            <a:r>
              <a:rPr lang="en-US" altLang="en-US" sz="900" b="1" dirty="0">
                <a:solidFill>
                  <a:srgbClr val="008000"/>
                </a:solidFill>
                <a:latin typeface="Monaco" pitchFamily="2" charset="77"/>
                <a:cs typeface="Courier New" panose="02070309020205020404" pitchFamily="49" charset="0"/>
              </a:rPr>
              <a:t>"Enter the Product Name:  "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);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 String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productName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= </a:t>
            </a:r>
            <a:r>
              <a:rPr lang="en-US" altLang="en-US" sz="900" b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input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.nextLine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();</a:t>
            </a:r>
          </a:p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System.</a:t>
            </a:r>
            <a:r>
              <a:rPr lang="en-US" altLang="en-US" sz="900" b="1" i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out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.print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</a:t>
            </a:r>
            <a:r>
              <a:rPr lang="en-US" altLang="en-US" sz="900" b="1" dirty="0">
                <a:solidFill>
                  <a:srgbClr val="008000"/>
                </a:solidFill>
                <a:latin typeface="Monaco" pitchFamily="2" charset="77"/>
                <a:cs typeface="Courier New" panose="02070309020205020404" pitchFamily="49" charset="0"/>
              </a:rPr>
              <a:t>"Enter the Product Code:  "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);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 </a:t>
            </a:r>
            <a:r>
              <a:rPr lang="en-US" altLang="en-US" sz="900" b="1" dirty="0" err="1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int</a:t>
            </a:r>
            <a:r>
              <a:rPr lang="en-US" altLang="en-US" sz="9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productCode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= </a:t>
            </a:r>
            <a:r>
              <a:rPr lang="en-US" altLang="en-US" sz="900" b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input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.nextInt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();</a:t>
            </a:r>
          </a:p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System.</a:t>
            </a:r>
            <a:r>
              <a:rPr lang="en-US" altLang="en-US" sz="900" b="1" i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out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.print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</a:t>
            </a:r>
            <a:r>
              <a:rPr lang="en-US" altLang="en-US" sz="900" b="1" dirty="0">
                <a:solidFill>
                  <a:srgbClr val="008000"/>
                </a:solidFill>
                <a:latin typeface="Monaco" pitchFamily="2" charset="77"/>
                <a:cs typeface="Courier New" panose="02070309020205020404" pitchFamily="49" charset="0"/>
              </a:rPr>
              <a:t>"Enter the Unit Cost:  "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);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 </a:t>
            </a:r>
            <a:r>
              <a:rPr lang="en-US" altLang="en-US" sz="9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double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unitCost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= </a:t>
            </a:r>
            <a:r>
              <a:rPr lang="en-US" altLang="en-US" sz="900" b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input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.nextDouble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();</a:t>
            </a:r>
          </a:p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System.</a:t>
            </a:r>
            <a:r>
              <a:rPr lang="en-US" altLang="en-US" sz="900" b="1" i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out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.print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</a:t>
            </a:r>
            <a:r>
              <a:rPr lang="en-US" altLang="en-US" sz="900" b="1" dirty="0">
                <a:solidFill>
                  <a:srgbClr val="008000"/>
                </a:solidFill>
                <a:latin typeface="Monaco" pitchFamily="2" charset="77"/>
                <a:cs typeface="Courier New" panose="02070309020205020404" pitchFamily="49" charset="0"/>
              </a:rPr>
              <a:t>"Is this product in your current line (y/n): "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);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 </a:t>
            </a:r>
            <a:r>
              <a:rPr lang="en-US" altLang="en-US" sz="9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char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currentProduct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= </a:t>
            </a:r>
            <a:r>
              <a:rPr lang="en-US" altLang="en-US" sz="900" b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input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.next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().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charAt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</a:t>
            </a:r>
            <a:r>
              <a:rPr lang="en-US" altLang="en-US" sz="900" dirty="0">
                <a:solidFill>
                  <a:srgbClr val="0000FF"/>
                </a:solidFill>
                <a:latin typeface="Monaco" pitchFamily="2" charset="77"/>
                <a:cs typeface="Courier New" panose="02070309020205020404" pitchFamily="49" charset="0"/>
              </a:rPr>
              <a:t>0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);</a:t>
            </a:r>
          </a:p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 </a:t>
            </a:r>
            <a:r>
              <a:rPr lang="en-US" altLang="en-US" sz="900" b="1" dirty="0" err="1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boolean</a:t>
            </a:r>
            <a:r>
              <a:rPr lang="en-US" altLang="en-US" sz="9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inCurrentProductLine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= </a:t>
            </a:r>
            <a:r>
              <a:rPr lang="en-US" altLang="en-US" sz="9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false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;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 </a:t>
            </a:r>
            <a:r>
              <a:rPr lang="en-US" altLang="en-US" sz="9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if 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((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currentProduct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== </a:t>
            </a:r>
            <a:r>
              <a:rPr lang="en-US" altLang="en-US" sz="900" b="1" dirty="0">
                <a:solidFill>
                  <a:srgbClr val="008000"/>
                </a:solidFill>
                <a:latin typeface="Monaco" pitchFamily="2" charset="77"/>
                <a:cs typeface="Courier New" panose="02070309020205020404" pitchFamily="49" charset="0"/>
              </a:rPr>
              <a:t>'y'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) || (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currentProduct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== </a:t>
            </a:r>
            <a:r>
              <a:rPr lang="en-US" altLang="en-US" sz="900" b="1" dirty="0">
                <a:solidFill>
                  <a:srgbClr val="008000"/>
                </a:solidFill>
                <a:latin typeface="Monaco" pitchFamily="2" charset="77"/>
                <a:cs typeface="Courier New" panose="02070309020205020404" pitchFamily="49" charset="0"/>
              </a:rPr>
              <a:t>'Y'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))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   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inCurrentProductLine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= </a:t>
            </a:r>
            <a:r>
              <a:rPr lang="en-US" altLang="en-US" sz="9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true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;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 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 </a:t>
            </a:r>
            <a:r>
              <a:rPr lang="en-US" altLang="en-US" sz="900" b="1" dirty="0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product 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= </a:t>
            </a:r>
            <a:r>
              <a:rPr lang="en-US" altLang="en-US" sz="9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new 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Product(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productName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,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productCode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,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unitCost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,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inCurrentProductLine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);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}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</a:t>
            </a:r>
            <a:r>
              <a:rPr lang="en-US" altLang="en-US" sz="900" i="1" dirty="0">
                <a:solidFill>
                  <a:srgbClr val="808080"/>
                </a:solidFill>
                <a:latin typeface="Monaco" pitchFamily="2" charset="77"/>
                <a:cs typeface="Courier New" panose="02070309020205020404" pitchFamily="49" charset="0"/>
              </a:rPr>
              <a:t>//print the product (the toString method is automatically called).</a:t>
            </a:r>
            <a:br>
              <a:rPr lang="en-US" altLang="en-US" sz="900" i="1" dirty="0">
                <a:solidFill>
                  <a:srgbClr val="80808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i="1" dirty="0">
                <a:solidFill>
                  <a:srgbClr val="808080"/>
                </a:solidFill>
                <a:latin typeface="Monaco" pitchFamily="2" charset="77"/>
                <a:cs typeface="Courier New" panose="02070309020205020404" pitchFamily="49" charset="0"/>
              </a:rPr>
              <a:t>    </a:t>
            </a:r>
            <a:r>
              <a:rPr lang="en-US" altLang="en-US" sz="9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private void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printProduct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(){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 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System.</a:t>
            </a:r>
            <a:r>
              <a:rPr lang="en-US" altLang="en-US" sz="900" b="1" i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out</a:t>
            </a:r>
            <a:r>
              <a:rPr lang="en-US" altLang="en-US" sz="9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.println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</a:t>
            </a:r>
            <a:r>
              <a:rPr lang="en-US" altLang="en-US" sz="900" b="1" dirty="0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product</a:t>
            </a:r>
            <a: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);</a:t>
            </a:r>
            <a:br>
              <a:rPr lang="en-US" altLang="en-US" sz="9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6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}</a:t>
            </a:r>
            <a:br>
              <a:rPr lang="en-US" altLang="en-US" sz="6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6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}</a:t>
            </a:r>
            <a:endParaRPr lang="en-US" altLang="en-US" sz="600" dirty="0">
              <a:latin typeface="Monaco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366EA4-8D50-471F-9254-F92B354C1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2100" y="97021"/>
            <a:ext cx="2557463" cy="131884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1" name="Frame 10"/>
          <p:cNvSpPr/>
          <p:nvPr/>
        </p:nvSpPr>
        <p:spPr>
          <a:xfrm>
            <a:off x="1535427" y="4497571"/>
            <a:ext cx="5951223" cy="628650"/>
          </a:xfrm>
          <a:prstGeom prst="frame">
            <a:avLst>
              <a:gd name="adj1" fmla="val 2798"/>
            </a:avLst>
          </a:prstGeom>
          <a:solidFill>
            <a:srgbClr val="FCBA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8">
              <a:solidFill>
                <a:schemeClr val="tx1"/>
              </a:solidFill>
            </a:endParaRPr>
          </a:p>
        </p:txBody>
      </p:sp>
      <p:cxnSp>
        <p:nvCxnSpPr>
          <p:cNvPr id="13" name="Straight Arrow Connector 12"/>
          <p:cNvCxnSpPr>
            <a:cxnSpLocks/>
          </p:cNvCxnSpPr>
          <p:nvPr/>
        </p:nvCxnSpPr>
        <p:spPr>
          <a:xfrm flipH="1">
            <a:off x="3657600" y="782822"/>
            <a:ext cx="2000250" cy="4017779"/>
          </a:xfrm>
          <a:prstGeom prst="straightConnector1">
            <a:avLst/>
          </a:prstGeom>
          <a:ln w="28575">
            <a:solidFill>
              <a:srgbClr val="FCBAC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A0AA156-469F-AE9E-7D80-503C0251D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https://www.java.com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7DDE13-97F9-C099-EB6A-73D7F14B9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397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Questions?</a:t>
            </a:r>
          </a:p>
        </p:txBody>
      </p:sp>
      <p:pic>
        <p:nvPicPr>
          <p:cNvPr id="3074" name="Picture 2" descr="Image result for questi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0" y="1543051"/>
            <a:ext cx="3257550" cy="2632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FEF256-1F60-5001-044F-0E8A8655FD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4E75E7-4000-2641-6F01-2A7358D055D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29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580414692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logo&#13;&#10;&#13;&#10;Description automatically generated">
            <a:extLst>
              <a:ext uri="{FF2B5EF4-FFF2-40B4-BE49-F238E27FC236}">
                <a16:creationId xmlns:a16="http://schemas.microsoft.com/office/drawing/2014/main" id="{64886AB6-DCB6-9645-8125-CA11F57910D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2" r="1" b="1"/>
          <a:stretch/>
        </p:blipFill>
        <p:spPr>
          <a:xfrm>
            <a:off x="1347374" y="473974"/>
            <a:ext cx="5821443" cy="4007299"/>
          </a:xfrm>
          <a:custGeom>
            <a:avLst/>
            <a:gdLst>
              <a:gd name="connsiteX0" fmla="*/ 3025687 w 7761924"/>
              <a:gd name="connsiteY0" fmla="*/ 76 h 5343065"/>
              <a:gd name="connsiteX1" fmla="*/ 3372722 w 7761924"/>
              <a:gd name="connsiteY1" fmla="*/ 16088 h 5343065"/>
              <a:gd name="connsiteX2" fmla="*/ 7761924 w 7761924"/>
              <a:gd name="connsiteY2" fmla="*/ 3316816 h 5343065"/>
              <a:gd name="connsiteX3" fmla="*/ 3701109 w 7761924"/>
              <a:gd name="connsiteY3" fmla="*/ 5320611 h 5343065"/>
              <a:gd name="connsiteX4" fmla="*/ 36290 w 7761924"/>
              <a:gd name="connsiteY4" fmla="*/ 2696959 h 5343065"/>
              <a:gd name="connsiteX5" fmla="*/ 3025687 w 7761924"/>
              <a:gd name="connsiteY5" fmla="*/ 76 h 53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61924" h="5343065">
                <a:moveTo>
                  <a:pt x="3025687" y="76"/>
                </a:moveTo>
                <a:cubicBezTo>
                  <a:pt x="3140786" y="756"/>
                  <a:pt x="3256631" y="6055"/>
                  <a:pt x="3372722" y="16088"/>
                </a:cubicBezTo>
                <a:cubicBezTo>
                  <a:pt x="5230178" y="176616"/>
                  <a:pt x="7761924" y="1424594"/>
                  <a:pt x="7761924" y="3316816"/>
                </a:cubicBezTo>
                <a:cubicBezTo>
                  <a:pt x="7646022" y="5237647"/>
                  <a:pt x="4988715" y="5423921"/>
                  <a:pt x="3701109" y="5320611"/>
                </a:cubicBezTo>
                <a:cubicBezTo>
                  <a:pt x="2413504" y="5217301"/>
                  <a:pt x="351800" y="4486992"/>
                  <a:pt x="36290" y="2696959"/>
                </a:cubicBezTo>
                <a:cubicBezTo>
                  <a:pt x="-259500" y="1018804"/>
                  <a:pt x="1299198" y="-10133"/>
                  <a:pt x="3025687" y="76"/>
                </a:cubicBezTo>
                <a:close/>
              </a:path>
            </a:pathLst>
          </a:custGeom>
          <a:solidFill>
            <a:srgbClr val="FDE111"/>
          </a:solidFill>
          <a:ln>
            <a:noFill/>
          </a:ln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CEEA231-6D6B-5147-A9A7-1A48939EB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pic>
        <p:nvPicPr>
          <p:cNvPr id="7" name="Picture 6" descr="A close up of a toy&#13;&#10;&#13;&#10;Description automatically generated">
            <a:extLst>
              <a:ext uri="{FF2B5EF4-FFF2-40B4-BE49-F238E27FC236}">
                <a16:creationId xmlns:a16="http://schemas.microsoft.com/office/drawing/2014/main" id="{2D47C071-A929-7E49-8327-BB4D84AA98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9971" y="4095032"/>
            <a:ext cx="628034" cy="77248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79B5407-EB5B-AF48-8192-C2BB3AEC3F33}"/>
              </a:ext>
            </a:extLst>
          </p:cNvPr>
          <p:cNvSpPr/>
          <p:nvPr/>
        </p:nvSpPr>
        <p:spPr>
          <a:xfrm>
            <a:off x="11" y="4902399"/>
            <a:ext cx="9143989" cy="241102"/>
          </a:xfrm>
          <a:prstGeom prst="rect">
            <a:avLst/>
          </a:prstGeom>
          <a:solidFill>
            <a:srgbClr val="598C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9025A5-5106-3945-8404-F8F73E40F972}"/>
              </a:ext>
            </a:extLst>
          </p:cNvPr>
          <p:cNvSpPr/>
          <p:nvPr/>
        </p:nvSpPr>
        <p:spPr>
          <a:xfrm>
            <a:off x="21" y="4867339"/>
            <a:ext cx="9143978" cy="35060"/>
          </a:xfrm>
          <a:prstGeom prst="rect">
            <a:avLst/>
          </a:prstGeom>
          <a:solidFill>
            <a:srgbClr val="2F48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Arc 4">
            <a:extLst>
              <a:ext uri="{FF2B5EF4-FFF2-40B4-BE49-F238E27FC236}">
                <a16:creationId xmlns:a16="http://schemas.microsoft.com/office/drawing/2014/main" id="{E905818B-C982-6824-2D72-82CAA50EB15F}"/>
              </a:ext>
            </a:extLst>
          </p:cNvPr>
          <p:cNvSpPr/>
          <p:nvPr/>
        </p:nvSpPr>
        <p:spPr>
          <a:xfrm>
            <a:off x="3119770" y="246781"/>
            <a:ext cx="4825046" cy="4363451"/>
          </a:xfrm>
          <a:custGeom>
            <a:avLst/>
            <a:gdLst>
              <a:gd name="connsiteX0" fmla="*/ 2412523 w 4825046"/>
              <a:gd name="connsiteY0" fmla="*/ 0 h 4363451"/>
              <a:gd name="connsiteX1" fmla="*/ 4825046 w 4825046"/>
              <a:gd name="connsiteY1" fmla="*/ 2181726 h 4363451"/>
              <a:gd name="connsiteX2" fmla="*/ 4294291 w 4825046"/>
              <a:gd name="connsiteY2" fmla="*/ 2181726 h 4363451"/>
              <a:gd name="connsiteX3" fmla="*/ 3835912 w 4825046"/>
              <a:gd name="connsiteY3" fmla="*/ 2181726 h 4363451"/>
              <a:gd name="connsiteX4" fmla="*/ 3401657 w 4825046"/>
              <a:gd name="connsiteY4" fmla="*/ 2181726 h 4363451"/>
              <a:gd name="connsiteX5" fmla="*/ 2895028 w 4825046"/>
              <a:gd name="connsiteY5" fmla="*/ 2181726 h 4363451"/>
              <a:gd name="connsiteX6" fmla="*/ 2412523 w 4825046"/>
              <a:gd name="connsiteY6" fmla="*/ 2181726 h 4363451"/>
              <a:gd name="connsiteX7" fmla="*/ 2412523 w 4825046"/>
              <a:gd name="connsiteY7" fmla="*/ 1592660 h 4363451"/>
              <a:gd name="connsiteX8" fmla="*/ 2412523 w 4825046"/>
              <a:gd name="connsiteY8" fmla="*/ 1003594 h 4363451"/>
              <a:gd name="connsiteX9" fmla="*/ 2412523 w 4825046"/>
              <a:gd name="connsiteY9" fmla="*/ 0 h 4363451"/>
              <a:gd name="connsiteX0" fmla="*/ 2412523 w 4825046"/>
              <a:gd name="connsiteY0" fmla="*/ 0 h 4363451"/>
              <a:gd name="connsiteX1" fmla="*/ 4825046 w 4825046"/>
              <a:gd name="connsiteY1" fmla="*/ 2181726 h 4363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825046" h="4363451" stroke="0" extrusionOk="0">
                <a:moveTo>
                  <a:pt x="2412523" y="0"/>
                </a:moveTo>
                <a:cubicBezTo>
                  <a:pt x="3628794" y="-71631"/>
                  <a:pt x="4778611" y="994220"/>
                  <a:pt x="4825046" y="2181726"/>
                </a:cubicBezTo>
                <a:cubicBezTo>
                  <a:pt x="4648381" y="2216667"/>
                  <a:pt x="4555722" y="2178687"/>
                  <a:pt x="4294291" y="2181726"/>
                </a:cubicBezTo>
                <a:cubicBezTo>
                  <a:pt x="4032860" y="2184765"/>
                  <a:pt x="3930079" y="2128263"/>
                  <a:pt x="3835912" y="2181726"/>
                </a:cubicBezTo>
                <a:cubicBezTo>
                  <a:pt x="3741745" y="2235189"/>
                  <a:pt x="3611727" y="2130904"/>
                  <a:pt x="3401657" y="2181726"/>
                </a:cubicBezTo>
                <a:cubicBezTo>
                  <a:pt x="3191588" y="2232548"/>
                  <a:pt x="3023759" y="2129332"/>
                  <a:pt x="2895028" y="2181726"/>
                </a:cubicBezTo>
                <a:cubicBezTo>
                  <a:pt x="2766297" y="2234120"/>
                  <a:pt x="2573145" y="2144605"/>
                  <a:pt x="2412523" y="2181726"/>
                </a:cubicBezTo>
                <a:cubicBezTo>
                  <a:pt x="2399089" y="2048791"/>
                  <a:pt x="2438220" y="1759814"/>
                  <a:pt x="2412523" y="1592660"/>
                </a:cubicBezTo>
                <a:cubicBezTo>
                  <a:pt x="2386826" y="1425506"/>
                  <a:pt x="2428532" y="1262217"/>
                  <a:pt x="2412523" y="1003594"/>
                </a:cubicBezTo>
                <a:cubicBezTo>
                  <a:pt x="2396514" y="744971"/>
                  <a:pt x="2425062" y="317837"/>
                  <a:pt x="2412523" y="0"/>
                </a:cubicBezTo>
                <a:close/>
              </a:path>
              <a:path w="4825046" h="4363451" fill="none" extrusionOk="0">
                <a:moveTo>
                  <a:pt x="2412523" y="0"/>
                </a:moveTo>
                <a:cubicBezTo>
                  <a:pt x="3893069" y="220530"/>
                  <a:pt x="4841856" y="1150891"/>
                  <a:pt x="4825046" y="2181726"/>
                </a:cubicBezTo>
              </a:path>
              <a:path w="4825046" h="4363451" fill="none" stroke="0" extrusionOk="0">
                <a:moveTo>
                  <a:pt x="2412523" y="0"/>
                </a:moveTo>
                <a:cubicBezTo>
                  <a:pt x="3594218" y="-24376"/>
                  <a:pt x="4991083" y="1112579"/>
                  <a:pt x="4825046" y="2181726"/>
                </a:cubicBezTo>
              </a:path>
            </a:pathLst>
          </a:custGeom>
          <a:ln w="161925">
            <a:solidFill>
              <a:srgbClr val="598CBE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arc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0E12D8E3-B5EB-1F63-44BF-C8DFC4B7792B}"/>
              </a:ext>
            </a:extLst>
          </p:cNvPr>
          <p:cNvSpPr/>
          <p:nvPr/>
        </p:nvSpPr>
        <p:spPr>
          <a:xfrm rot="10800000">
            <a:off x="1199184" y="241101"/>
            <a:ext cx="4825046" cy="4363451"/>
          </a:xfrm>
          <a:custGeom>
            <a:avLst/>
            <a:gdLst>
              <a:gd name="connsiteX0" fmla="*/ 2412523 w 4825046"/>
              <a:gd name="connsiteY0" fmla="*/ 0 h 4363451"/>
              <a:gd name="connsiteX1" fmla="*/ 4825046 w 4825046"/>
              <a:gd name="connsiteY1" fmla="*/ 2181726 h 4363451"/>
              <a:gd name="connsiteX2" fmla="*/ 4294291 w 4825046"/>
              <a:gd name="connsiteY2" fmla="*/ 2181726 h 4363451"/>
              <a:gd name="connsiteX3" fmla="*/ 3835912 w 4825046"/>
              <a:gd name="connsiteY3" fmla="*/ 2181726 h 4363451"/>
              <a:gd name="connsiteX4" fmla="*/ 3401657 w 4825046"/>
              <a:gd name="connsiteY4" fmla="*/ 2181726 h 4363451"/>
              <a:gd name="connsiteX5" fmla="*/ 2895028 w 4825046"/>
              <a:gd name="connsiteY5" fmla="*/ 2181726 h 4363451"/>
              <a:gd name="connsiteX6" fmla="*/ 2412523 w 4825046"/>
              <a:gd name="connsiteY6" fmla="*/ 2181726 h 4363451"/>
              <a:gd name="connsiteX7" fmla="*/ 2412523 w 4825046"/>
              <a:gd name="connsiteY7" fmla="*/ 1592660 h 4363451"/>
              <a:gd name="connsiteX8" fmla="*/ 2412523 w 4825046"/>
              <a:gd name="connsiteY8" fmla="*/ 1003594 h 4363451"/>
              <a:gd name="connsiteX9" fmla="*/ 2412523 w 4825046"/>
              <a:gd name="connsiteY9" fmla="*/ 0 h 4363451"/>
              <a:gd name="connsiteX0" fmla="*/ 2412523 w 4825046"/>
              <a:gd name="connsiteY0" fmla="*/ 0 h 4363451"/>
              <a:gd name="connsiteX1" fmla="*/ 4825046 w 4825046"/>
              <a:gd name="connsiteY1" fmla="*/ 2181726 h 4363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825046" h="4363451" stroke="0" extrusionOk="0">
                <a:moveTo>
                  <a:pt x="2412523" y="0"/>
                </a:moveTo>
                <a:cubicBezTo>
                  <a:pt x="3628794" y="-71631"/>
                  <a:pt x="4778611" y="994220"/>
                  <a:pt x="4825046" y="2181726"/>
                </a:cubicBezTo>
                <a:cubicBezTo>
                  <a:pt x="4648381" y="2216667"/>
                  <a:pt x="4555722" y="2178687"/>
                  <a:pt x="4294291" y="2181726"/>
                </a:cubicBezTo>
                <a:cubicBezTo>
                  <a:pt x="4032860" y="2184765"/>
                  <a:pt x="3930079" y="2128263"/>
                  <a:pt x="3835912" y="2181726"/>
                </a:cubicBezTo>
                <a:cubicBezTo>
                  <a:pt x="3741745" y="2235189"/>
                  <a:pt x="3611727" y="2130904"/>
                  <a:pt x="3401657" y="2181726"/>
                </a:cubicBezTo>
                <a:cubicBezTo>
                  <a:pt x="3191588" y="2232548"/>
                  <a:pt x="3023759" y="2129332"/>
                  <a:pt x="2895028" y="2181726"/>
                </a:cubicBezTo>
                <a:cubicBezTo>
                  <a:pt x="2766297" y="2234120"/>
                  <a:pt x="2573145" y="2144605"/>
                  <a:pt x="2412523" y="2181726"/>
                </a:cubicBezTo>
                <a:cubicBezTo>
                  <a:pt x="2399089" y="2048791"/>
                  <a:pt x="2438220" y="1759814"/>
                  <a:pt x="2412523" y="1592660"/>
                </a:cubicBezTo>
                <a:cubicBezTo>
                  <a:pt x="2386826" y="1425506"/>
                  <a:pt x="2428532" y="1262217"/>
                  <a:pt x="2412523" y="1003594"/>
                </a:cubicBezTo>
                <a:cubicBezTo>
                  <a:pt x="2396514" y="744971"/>
                  <a:pt x="2425062" y="317837"/>
                  <a:pt x="2412523" y="0"/>
                </a:cubicBezTo>
                <a:close/>
              </a:path>
              <a:path w="4825046" h="4363451" fill="none" extrusionOk="0">
                <a:moveTo>
                  <a:pt x="2412523" y="0"/>
                </a:moveTo>
                <a:cubicBezTo>
                  <a:pt x="3893069" y="220530"/>
                  <a:pt x="4841856" y="1150891"/>
                  <a:pt x="4825046" y="2181726"/>
                </a:cubicBezTo>
              </a:path>
              <a:path w="4825046" h="4363451" fill="none" stroke="0" extrusionOk="0">
                <a:moveTo>
                  <a:pt x="2412523" y="0"/>
                </a:moveTo>
                <a:cubicBezTo>
                  <a:pt x="3594218" y="-24376"/>
                  <a:pt x="4991083" y="1112579"/>
                  <a:pt x="4825046" y="2181726"/>
                </a:cubicBezTo>
              </a:path>
            </a:pathLst>
          </a:custGeom>
          <a:ln w="161925">
            <a:solidFill>
              <a:srgbClr val="598CBE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arc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BA07139-B4B0-117B-EC27-2D34964457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68529"/>
      </p:ext>
    </p:extLst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27987</TotalTime>
  <Words>2128</Words>
  <Application>Microsoft Macintosh PowerPoint</Application>
  <PresentationFormat>On-screen Show (16:9)</PresentationFormat>
  <Paragraphs>191</Paragraphs>
  <Slides>30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1" baseType="lpstr">
      <vt:lpstr>Avenir</vt:lpstr>
      <vt:lpstr>Calibri</vt:lpstr>
      <vt:lpstr>Courier New</vt:lpstr>
      <vt:lpstr>Helvetica</vt:lpstr>
      <vt:lpstr>Helvetica Light</vt:lpstr>
      <vt:lpstr>Helvetica Neue</vt:lpstr>
      <vt:lpstr>Helvetica Neue Light</vt:lpstr>
      <vt:lpstr>Helvetica Neue UltraLight</vt:lpstr>
      <vt:lpstr>Monaco</vt:lpstr>
      <vt:lpstr>Wingdings</vt:lpstr>
      <vt:lpstr>White</vt:lpstr>
      <vt:lpstr>Programming Fundamentals 1</vt:lpstr>
      <vt:lpstr>PowerPoint Presentation</vt:lpstr>
      <vt:lpstr>Agenda</vt:lpstr>
      <vt:lpstr>The Scanner Class</vt:lpstr>
      <vt:lpstr>Input in Java: the Scanner Class</vt:lpstr>
      <vt:lpstr>Input in Java: the Scanner Class</vt:lpstr>
      <vt:lpstr>Input in Java: the Scanner Class</vt:lpstr>
      <vt:lpstr>Input in Java: the Scanner Class</vt:lpstr>
      <vt:lpstr>Input in Java: the Scanner Class</vt:lpstr>
      <vt:lpstr>RECAP : SHOP V1.0</vt:lpstr>
      <vt:lpstr>Shop V1.0 - Product</vt:lpstr>
      <vt:lpstr>RECAP : Shop V1.0 - Product</vt:lpstr>
      <vt:lpstr>Shop V1.0 - Driver</vt:lpstr>
      <vt:lpstr>Shop V1.0 - Driver</vt:lpstr>
      <vt:lpstr>Shop V1.0 - Driver</vt:lpstr>
      <vt:lpstr>I/O in SHOP V1.0</vt:lpstr>
      <vt:lpstr>What the program will look like…</vt:lpstr>
      <vt:lpstr>PowerPoint Presentation</vt:lpstr>
      <vt:lpstr>PowerPoint Presentation</vt:lpstr>
      <vt:lpstr>PowerPoint Presentation</vt:lpstr>
      <vt:lpstr>PowerPoint Presentation</vt:lpstr>
      <vt:lpstr>The addProduct() console output…</vt:lpstr>
      <vt:lpstr>ShopV1.0 – read Product Name (String)</vt:lpstr>
      <vt:lpstr>ShopV1.0 – read Product Code (int)</vt:lpstr>
      <vt:lpstr>ShopV1.0 – read Unit Cost (double)</vt:lpstr>
      <vt:lpstr>ShopV1.0 – In Current Product Line? (boolean)</vt:lpstr>
      <vt:lpstr>ShopV1.0 – Create Product Object</vt:lpstr>
      <vt:lpstr>PowerPoint Presentation</vt:lpstr>
      <vt:lpstr>Questions?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Application Development</dc:title>
  <dc:creator>David Drohan</dc:creator>
  <cp:lastModifiedBy>David Drohan</cp:lastModifiedBy>
  <cp:revision>234</cp:revision>
  <dcterms:created xsi:type="dcterms:W3CDTF">2019-01-29T16:40:14Z</dcterms:created>
  <dcterms:modified xsi:type="dcterms:W3CDTF">2023-08-01T11:04:22Z</dcterms:modified>
</cp:coreProperties>
</file>