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633" r:id="rId3"/>
    <p:sldId id="585" r:id="rId4"/>
    <p:sldId id="641" r:id="rId5"/>
    <p:sldId id="673" r:id="rId6"/>
    <p:sldId id="640" r:id="rId7"/>
    <p:sldId id="662" r:id="rId8"/>
    <p:sldId id="588" r:id="rId9"/>
    <p:sldId id="675" r:id="rId10"/>
    <p:sldId id="646" r:id="rId11"/>
    <p:sldId id="676" r:id="rId12"/>
    <p:sldId id="649" r:id="rId13"/>
    <p:sldId id="650" r:id="rId14"/>
    <p:sldId id="651" r:id="rId15"/>
    <p:sldId id="652" r:id="rId16"/>
    <p:sldId id="624" r:id="rId17"/>
    <p:sldId id="625" r:id="rId18"/>
    <p:sldId id="653" r:id="rId19"/>
    <p:sldId id="654" r:id="rId20"/>
    <p:sldId id="626" r:id="rId21"/>
    <p:sldId id="627" r:id="rId22"/>
    <p:sldId id="655" r:id="rId23"/>
    <p:sldId id="656" r:id="rId24"/>
    <p:sldId id="657" r:id="rId25"/>
    <p:sldId id="658" r:id="rId26"/>
    <p:sldId id="628" r:id="rId27"/>
    <p:sldId id="659" r:id="rId28"/>
    <p:sldId id="660" r:id="rId29"/>
    <p:sldId id="614" r:id="rId30"/>
    <p:sldId id="677" r:id="rId31"/>
    <p:sldId id="617" r:id="rId32"/>
    <p:sldId id="667" r:id="rId33"/>
    <p:sldId id="668" r:id="rId34"/>
    <p:sldId id="669" r:id="rId35"/>
    <p:sldId id="670" r:id="rId36"/>
    <p:sldId id="671" r:id="rId37"/>
    <p:sldId id="672" r:id="rId38"/>
    <p:sldId id="305" r:id="rId39"/>
    <p:sldId id="298" r:id="rId40"/>
  </p:sldIdLst>
  <p:sldSz cx="9144000" cy="5143500" type="screen16x9"/>
  <p:notesSz cx="6858000" cy="9144000"/>
  <p:defaultTextStyle>
    <a:lvl1pPr algn="ctr" defTabSz="366737">
      <a:defRPr sz="2250">
        <a:latin typeface="+mn-lt"/>
        <a:ea typeface="+mn-ea"/>
        <a:cs typeface="+mn-cs"/>
        <a:sym typeface="Helvetica Light"/>
      </a:defRPr>
    </a:lvl1pPr>
    <a:lvl2pPr indent="143505" algn="ctr" defTabSz="366737">
      <a:defRPr sz="2250">
        <a:latin typeface="+mn-lt"/>
        <a:ea typeface="+mn-ea"/>
        <a:cs typeface="+mn-cs"/>
        <a:sym typeface="Helvetica Light"/>
      </a:defRPr>
    </a:lvl2pPr>
    <a:lvl3pPr indent="287012" algn="ctr" defTabSz="366737">
      <a:defRPr sz="2250">
        <a:latin typeface="+mn-lt"/>
        <a:ea typeface="+mn-ea"/>
        <a:cs typeface="+mn-cs"/>
        <a:sym typeface="Helvetica Light"/>
      </a:defRPr>
    </a:lvl3pPr>
    <a:lvl4pPr indent="430517" algn="ctr" defTabSz="366737">
      <a:defRPr sz="2250">
        <a:latin typeface="+mn-lt"/>
        <a:ea typeface="+mn-ea"/>
        <a:cs typeface="+mn-cs"/>
        <a:sym typeface="Helvetica Light"/>
      </a:defRPr>
    </a:lvl4pPr>
    <a:lvl5pPr indent="574022" algn="ctr" defTabSz="366737">
      <a:defRPr sz="2250">
        <a:latin typeface="+mn-lt"/>
        <a:ea typeface="+mn-ea"/>
        <a:cs typeface="+mn-cs"/>
        <a:sym typeface="Helvetica Light"/>
      </a:defRPr>
    </a:lvl5pPr>
    <a:lvl6pPr indent="717528" algn="ctr" defTabSz="366737">
      <a:defRPr sz="2250">
        <a:latin typeface="+mn-lt"/>
        <a:ea typeface="+mn-ea"/>
        <a:cs typeface="+mn-cs"/>
        <a:sym typeface="Helvetica Light"/>
      </a:defRPr>
    </a:lvl6pPr>
    <a:lvl7pPr indent="861034" algn="ctr" defTabSz="366737">
      <a:defRPr sz="2250">
        <a:latin typeface="+mn-lt"/>
        <a:ea typeface="+mn-ea"/>
        <a:cs typeface="+mn-cs"/>
        <a:sym typeface="Helvetica Light"/>
      </a:defRPr>
    </a:lvl7pPr>
    <a:lvl8pPr indent="1004539" algn="ctr" defTabSz="366737">
      <a:defRPr sz="2250">
        <a:latin typeface="+mn-lt"/>
        <a:ea typeface="+mn-ea"/>
        <a:cs typeface="+mn-cs"/>
        <a:sym typeface="Helvetica Light"/>
      </a:defRPr>
    </a:lvl8pPr>
    <a:lvl9pPr indent="1148045" algn="ctr" defTabSz="366737">
      <a:defRPr sz="2250"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81F3"/>
    <a:srgbClr val="0368FF"/>
    <a:srgbClr val="598CBE"/>
    <a:srgbClr val="0E9647"/>
    <a:srgbClr val="2F486B"/>
    <a:srgbClr val="194699"/>
    <a:srgbClr val="1F33AB"/>
    <a:srgbClr val="84AEFF"/>
    <a:srgbClr val="FDE111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06"/>
    <p:restoredTop sz="85442"/>
  </p:normalViewPr>
  <p:slideViewPr>
    <p:cSldViewPr snapToGrid="0" snapToObjects="1">
      <p:cViewPr>
        <p:scale>
          <a:sx n="143" d="100"/>
          <a:sy n="143" d="100"/>
        </p:scale>
        <p:origin x="864" y="14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49E08-5597-3E45-8582-EEB58189C482}" type="datetimeFigureOut">
              <a:rPr lang="en-US" smtClean="0"/>
              <a:t>7/31/23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69502-A57F-A84E-93AF-100B756C63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7028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  <a:endParaRPr dirty="0"/>
          </a:p>
        </p:txBody>
      </p:sp>
      <p:sp>
        <p:nvSpPr>
          <p:cNvPr id="73" name="Shape 7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951493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1pPr>
    <a:lvl2pPr indent="14350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2pPr>
    <a:lvl3pPr indent="28701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3pPr>
    <a:lvl4pPr indent="430517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4pPr>
    <a:lvl5pPr indent="57402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5pPr>
    <a:lvl6pPr indent="717528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6pPr>
    <a:lvl7pPr indent="861034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7pPr>
    <a:lvl8pPr indent="1004539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8pPr>
    <a:lvl9pPr indent="114804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7012" rtl="0">
              <a:lnSpc>
                <a:spcPct val="125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40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E85BA6-CFDF-430E-8374-ADA2BF6C5E53}" type="slidenum">
              <a:rPr lang="en-GB"/>
              <a:pPr/>
              <a:t>17</a:t>
            </a:fld>
            <a:endParaRPr lang="en-GB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44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17B96C-5BE9-455B-93AF-B6A38B95CFEB}" type="slidenum">
              <a:rPr lang="en-GB"/>
              <a:pPr/>
              <a:t>21</a:t>
            </a:fld>
            <a:endParaRPr lang="en-GB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33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17B96C-5BE9-455B-93AF-B6A38B95CFEB}" type="slidenum">
              <a:rPr lang="en-GB"/>
              <a:pPr/>
              <a:t>22</a:t>
            </a:fld>
            <a:endParaRPr lang="en-GB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008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hyperlink" Target="mailto:ddrohan@wit.ie" TargetMode="Externa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 close-up of a metal structure&#10;&#10;Description automatically generated with low confidence">
            <a:extLst>
              <a:ext uri="{FF2B5EF4-FFF2-40B4-BE49-F238E27FC236}">
                <a16:creationId xmlns:a16="http://schemas.microsoft.com/office/drawing/2014/main" id="{14F6341F-72F0-BFA6-6798-9AC71A86B3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5096" t="1189" r="36524" b="51187"/>
          <a:stretch/>
        </p:blipFill>
        <p:spPr>
          <a:xfrm>
            <a:off x="-6264" y="-6182"/>
            <a:ext cx="9150263" cy="5147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</p:pic>
      <p:sp>
        <p:nvSpPr>
          <p:cNvPr id="12" name="Shape 33">
            <a:extLst>
              <a:ext uri="{FF2B5EF4-FFF2-40B4-BE49-F238E27FC236}">
                <a16:creationId xmlns:a16="http://schemas.microsoft.com/office/drawing/2014/main" id="{EAD08510-7D5A-594A-AAEC-59C7087561FC}"/>
              </a:ext>
            </a:extLst>
          </p:cNvPr>
          <p:cNvSpPr/>
          <p:nvPr userDrawn="1"/>
        </p:nvSpPr>
        <p:spPr>
          <a:xfrm>
            <a:off x="3778568" y="2059379"/>
            <a:ext cx="4846151" cy="0"/>
          </a:xfrm>
          <a:prstGeom prst="line">
            <a:avLst/>
          </a:prstGeom>
          <a:ln w="3175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 lvl="0" algn="l" defTabSz="286973" rtl="0">
              <a:defRPr sz="1100">
                <a:latin typeface="Helvetica"/>
                <a:ea typeface="Helvetica"/>
                <a:cs typeface="Helvetica"/>
                <a:sym typeface="Helvetica"/>
              </a:defRPr>
            </a:pPr>
            <a:endParaRPr sz="825" dirty="0"/>
          </a:p>
        </p:txBody>
      </p:sp>
      <p:sp>
        <p:nvSpPr>
          <p:cNvPr id="13" name="Shape 34">
            <a:extLst>
              <a:ext uri="{FF2B5EF4-FFF2-40B4-BE49-F238E27FC236}">
                <a16:creationId xmlns:a16="http://schemas.microsoft.com/office/drawing/2014/main" id="{BB2C258E-D81B-5B4E-8B1B-562CE71165EB}"/>
              </a:ext>
            </a:extLst>
          </p:cNvPr>
          <p:cNvSpPr/>
          <p:nvPr userDrawn="1"/>
        </p:nvSpPr>
        <p:spPr>
          <a:xfrm>
            <a:off x="3613319" y="2299116"/>
            <a:ext cx="1208664" cy="5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Produced</a:t>
            </a:r>
          </a:p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by</a:t>
            </a: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885F7572-8BDA-2441-A5EC-7D945A8A5010}"/>
              </a:ext>
            </a:extLst>
          </p:cNvPr>
          <p:cNvSpPr/>
          <p:nvPr/>
        </p:nvSpPr>
        <p:spPr>
          <a:xfrm>
            <a:off x="4970252" y="3114062"/>
            <a:ext cx="3241478" cy="545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lvl="0" algn="l">
              <a:lnSpc>
                <a:spcPct val="120000"/>
              </a:lnSpc>
              <a:defRPr sz="1800"/>
            </a:pPr>
            <a:r>
              <a:rPr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Department of Computing &amp; Mathematics</a:t>
            </a:r>
          </a:p>
          <a:p>
            <a:pPr lvl="0" algn="l">
              <a:lnSpc>
                <a:spcPct val="120000"/>
              </a:lnSpc>
              <a:defRPr sz="1800"/>
            </a:pP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South East Technological University</a:t>
            </a:r>
            <a:b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Waterford, Ireland</a:t>
            </a: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F323B0CE-A19A-E748-98EC-D40F56CC33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187903" y="4360424"/>
            <a:ext cx="730559" cy="730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5E7D44-1D07-9340-B610-CE9A2D7BB0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8289" y="188773"/>
            <a:ext cx="560173" cy="63879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0A583B1-550B-C14A-A9E9-8D176BDC6F6E}"/>
              </a:ext>
            </a:extLst>
          </p:cNvPr>
          <p:cNvSpPr txBox="1"/>
          <p:nvPr userDrawn="1"/>
        </p:nvSpPr>
        <p:spPr>
          <a:xfrm>
            <a:off x="4721847" y="4551298"/>
            <a:ext cx="3425984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r" fontAlgn="auto"/>
            <a:r>
              <a:rPr lang="en-IE" sz="1600" b="1" i="0" u="none" strike="noStrike" baseline="0" dirty="0" err="1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  <a:sym typeface="Helvetica Light"/>
              </a:rPr>
              <a:t>setu.ie</a:t>
            </a:r>
            <a:endParaRPr lang="en-IE" sz="1600" b="1" i="0" u="none" strike="noStrike" baseline="0" dirty="0">
              <a:solidFill>
                <a:schemeClr val="bg1">
                  <a:lumMod val="85000"/>
                </a:schemeClr>
              </a:solidFill>
              <a:effectLst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1" name="Shape 35">
            <a:extLst>
              <a:ext uri="{FF2B5EF4-FFF2-40B4-BE49-F238E27FC236}">
                <a16:creationId xmlns:a16="http://schemas.microsoft.com/office/drawing/2014/main" id="{1EC3B031-7C7C-5846-BACC-8C65A8064D86}"/>
              </a:ext>
            </a:extLst>
          </p:cNvPr>
          <p:cNvSpPr/>
          <p:nvPr userDrawn="1"/>
        </p:nvSpPr>
        <p:spPr>
          <a:xfrm>
            <a:off x="4963941" y="2144699"/>
            <a:ext cx="4072483" cy="10468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algn="l"/>
            <a:r>
              <a:rPr lang="en-IE" sz="1800" b="1" i="0" baseline="0" dirty="0"/>
              <a:t>Mr. Dave Drohan </a:t>
            </a:r>
            <a:r>
              <a:rPr lang="en-IE" sz="1600" b="1" i="0" baseline="0" dirty="0"/>
              <a:t>(</a:t>
            </a:r>
            <a:r>
              <a:rPr lang="en-IE" sz="1600" b="1" i="0" baseline="0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hlinkClick r:id="rId5"/>
              </a:rPr>
              <a:t>david.drohan@setu.ie</a:t>
            </a:r>
            <a:r>
              <a:rPr lang="en-IE" sz="1600" b="1" i="0" baseline="0" dirty="0"/>
              <a:t>)</a:t>
            </a:r>
            <a:br>
              <a:rPr lang="en-IE" sz="1600" b="1" i="0" baseline="0" dirty="0"/>
            </a:br>
            <a:r>
              <a:rPr lang="en-IE" sz="1800" dirty="0" err="1">
                <a:solidFill>
                  <a:schemeClr val="tx1"/>
                </a:solidFill>
              </a:rPr>
              <a:t>Dr.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Siobhán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Drohan</a:t>
            </a:r>
            <a:endParaRPr lang="en-IE" sz="1800" dirty="0">
              <a:solidFill>
                <a:schemeClr val="tx1"/>
              </a:solidFill>
            </a:endParaRPr>
          </a:p>
          <a:p>
            <a:pPr algn="l"/>
            <a:r>
              <a:rPr lang="en-IE" sz="1800" dirty="0">
                <a:solidFill>
                  <a:schemeClr val="tx1"/>
                </a:solidFill>
              </a:rPr>
              <a:t>Ms. Mairead Meagher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BBD13589-119E-31F3-037B-F798E38525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9399" y="1324611"/>
            <a:ext cx="7893844" cy="542479"/>
          </a:xfrm>
        </p:spPr>
        <p:txBody>
          <a:bodyPr/>
          <a:lstStyle>
            <a:lvl1pPr>
              <a:defRPr sz="2800" b="1"/>
            </a:lvl1pPr>
          </a:lstStyle>
          <a:p>
            <a:pPr algn="r" defTabSz="366688" rtl="0"/>
            <a:r>
              <a:rPr lang="en-US" dirty="0"/>
              <a:t>Programming Fundamentals 1</a:t>
            </a:r>
          </a:p>
        </p:txBody>
      </p:sp>
    </p:spTree>
    <p:extLst>
      <p:ext uri="{BB962C8B-B14F-4D97-AF65-F5344CB8AC3E}">
        <p14:creationId xmlns:p14="http://schemas.microsoft.com/office/powerpoint/2010/main" val="312442219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 baseline="0"/>
            </a:lvl1pPr>
          </a:lstStyle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rgbClr val="194699"/>
              </a:buClr>
              <a:defRPr/>
            </a:lvl1pPr>
            <a:lvl2pPr>
              <a:buClr>
                <a:srgbClr val="194699"/>
              </a:buClr>
              <a:defRPr/>
            </a:lvl2pPr>
            <a:lvl3pPr>
              <a:buClr>
                <a:srgbClr val="194699"/>
              </a:buClr>
              <a:defRPr/>
            </a:lvl3pPr>
            <a:lvl4pPr>
              <a:buClr>
                <a:srgbClr val="194699"/>
              </a:buClr>
              <a:defRPr/>
            </a:lvl4pPr>
            <a:lvl5pPr>
              <a:buClr>
                <a:srgbClr val="194699"/>
              </a:buClr>
              <a:defRPr/>
            </a:lvl5pPr>
          </a:lstStyle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50" name="Shape 50"/>
          <p:cNvSpPr>
            <a:spLocks noGrp="1"/>
          </p:cNvSpPr>
          <p:nvPr>
            <p:ph type="sldNum" sz="quarter" idx="2"/>
          </p:nvPr>
        </p:nvSpPr>
        <p:spPr>
          <a:xfrm>
            <a:off x="6553201" y="4875912"/>
            <a:ext cx="1905000" cy="283023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95886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FE51DA-9AF5-F835-204E-B5376FB7A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6552-8ABC-2684-8EA3-A12C826F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AC3EAD-3ACD-68D9-A159-986D3E0E55D6}"/>
              </a:ext>
            </a:extLst>
          </p:cNvPr>
          <p:cNvSpPr/>
          <p:nvPr userDrawn="1"/>
        </p:nvSpPr>
        <p:spPr>
          <a:xfrm>
            <a:off x="375385" y="683393"/>
            <a:ext cx="7324826" cy="327259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4145168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7200" y="108585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18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00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73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defTabSz="366737" rtl="0"/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4418" tIns="54418" rIns="54418" bIns="54418" anchor="b"/>
          <a:lstStyle/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395536" y="843558"/>
            <a:ext cx="7772401" cy="4299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4418" tIns="54418" rIns="54418" bIns="54418"/>
          <a:lstStyle/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553201" y="4847061"/>
            <a:ext cx="1905000" cy="283023"/>
          </a:xfrm>
          <a:prstGeom prst="rect">
            <a:avLst/>
          </a:prstGeom>
          <a:ln w="12700">
            <a:miter lim="400000"/>
          </a:ln>
        </p:spPr>
        <p:txBody>
          <a:bodyPr lIns="54418" tIns="54418" rIns="54418" bIns="54418" anchor="b">
            <a:spAutoFit/>
          </a:bodyPr>
          <a:lstStyle>
            <a:lvl1pPr algn="r" defTabSz="573946">
              <a:defRPr sz="1125">
                <a:solidFill>
                  <a:srgbClr val="FFFFFF"/>
                </a:solidFill>
                <a:latin typeface="+mn-lt"/>
                <a:ea typeface="Tahoma"/>
                <a:cs typeface="Tahoma"/>
                <a:sym typeface="Tahoma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467545" y="789552"/>
            <a:ext cx="7128792" cy="1"/>
          </a:xfrm>
          <a:prstGeom prst="line">
            <a:avLst/>
          </a:prstGeom>
          <a:ln w="12700">
            <a:solidFill>
              <a:srgbClr val="94BBE7"/>
            </a:solidFill>
          </a:ln>
          <a:effectLst>
            <a:outerShdw blurRad="101600" dist="12700" dir="2700000" rotWithShape="0">
              <a:srgbClr val="003D62">
                <a:alpha val="20000"/>
              </a:srgbClr>
            </a:outerShdw>
          </a:effectLst>
        </p:spPr>
        <p:txBody>
          <a:bodyPr lIns="40814" tIns="40814" rIns="40814" bIns="40814"/>
          <a:lstStyle/>
          <a:p>
            <a:pPr lvl="0" algn="l" defTabSz="286973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1200" dirty="0"/>
          </a:p>
        </p:txBody>
      </p:sp>
      <p:sp>
        <p:nvSpPr>
          <p:cNvPr id="10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88982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solidFill>
                  <a:schemeClr val="bg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3B9B00-B977-E94D-8CAA-76ABE98D04E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7621" y="5935"/>
            <a:ext cx="741809" cy="68672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3" r:id="rId2"/>
    <p:sldLayoutId id="2147483668" r:id="rId3"/>
    <p:sldLayoutId id="2147483671" r:id="rId4"/>
    <p:sldLayoutId id="2147483672" r:id="rId5"/>
    <p:sldLayoutId id="2147483673" r:id="rId6"/>
  </p:sldLayoutIdLst>
  <p:transition spd="med"/>
  <p:hf hdr="0" dt="0"/>
  <p:txStyles>
    <p:titleStyle>
      <a:lvl1pPr>
        <a:defRPr sz="2800">
          <a:latin typeface="Helvetica Neue Light"/>
          <a:ea typeface="Helvetica Neue Light"/>
          <a:cs typeface="Helvetica Neue Light"/>
          <a:sym typeface="Helvetica Neue Light"/>
        </a:defRPr>
      </a:lvl1pPr>
      <a:lvl2pPr>
        <a:defRPr sz="2775">
          <a:latin typeface="Helvetica Neue Light"/>
          <a:ea typeface="Helvetica Neue Light"/>
          <a:cs typeface="Helvetica Neue Light"/>
          <a:sym typeface="Helvetica Neue Light"/>
        </a:defRPr>
      </a:lvl2pPr>
      <a:lvl3pPr>
        <a:defRPr sz="2775">
          <a:latin typeface="Helvetica Neue Light"/>
          <a:ea typeface="Helvetica Neue Light"/>
          <a:cs typeface="Helvetica Neue Light"/>
          <a:sym typeface="Helvetica Neue Light"/>
        </a:defRPr>
      </a:lvl3pPr>
      <a:lvl4pPr>
        <a:defRPr sz="2775">
          <a:latin typeface="Helvetica Neue Light"/>
          <a:ea typeface="Helvetica Neue Light"/>
          <a:cs typeface="Helvetica Neue Light"/>
          <a:sym typeface="Helvetica Neue Light"/>
        </a:defRPr>
      </a:lvl4pPr>
      <a:lvl5pPr>
        <a:defRPr sz="2775">
          <a:latin typeface="Helvetica Neue Light"/>
          <a:ea typeface="Helvetica Neue Light"/>
          <a:cs typeface="Helvetica Neue Light"/>
          <a:sym typeface="Helvetica Neue Light"/>
        </a:defRPr>
      </a:lvl5pPr>
      <a:lvl6pPr indent="286973">
        <a:defRPr sz="2775">
          <a:latin typeface="Helvetica Neue Light"/>
          <a:ea typeface="Helvetica Neue Light"/>
          <a:cs typeface="Helvetica Neue Light"/>
          <a:sym typeface="Helvetica Neue Light"/>
        </a:defRPr>
      </a:lvl6pPr>
      <a:lvl7pPr indent="573946">
        <a:defRPr sz="2775">
          <a:latin typeface="Helvetica Neue Light"/>
          <a:ea typeface="Helvetica Neue Light"/>
          <a:cs typeface="Helvetica Neue Light"/>
          <a:sym typeface="Helvetica Neue Light"/>
        </a:defRPr>
      </a:lvl7pPr>
      <a:lvl8pPr indent="860919">
        <a:defRPr sz="2775">
          <a:latin typeface="Helvetica Neue Light"/>
          <a:ea typeface="Helvetica Neue Light"/>
          <a:cs typeface="Helvetica Neue Light"/>
          <a:sym typeface="Helvetica Neue Light"/>
        </a:defRPr>
      </a:lvl8pPr>
      <a:lvl9pPr indent="1147892">
        <a:defRPr sz="2775">
          <a:latin typeface="Helvetica Neue Light"/>
          <a:ea typeface="Helvetica Neue Light"/>
          <a:cs typeface="Helvetica Neue Light"/>
          <a:sym typeface="Helvetica Neue Light"/>
        </a:defRPr>
      </a:lvl9pPr>
    </p:titleStyle>
    <p:bodyStyle>
      <a:lvl1pPr marL="292097" indent="-292097">
        <a:spcBef>
          <a:spcPts val="377"/>
        </a:spcBef>
        <a:buClr>
          <a:srgbClr val="008000"/>
        </a:buClr>
        <a:buSzPct val="100000"/>
        <a:buFont typeface="Wingdings"/>
        <a:buChar char="❑"/>
        <a:defRPr sz="2400">
          <a:latin typeface="Helvetica Neue Light"/>
          <a:ea typeface="Helvetica Neue Light"/>
          <a:cs typeface="Helvetica Neue Light"/>
          <a:sym typeface="Helvetica Neue Light"/>
        </a:defRPr>
      </a:lvl1pPr>
      <a:lvl2pPr marL="570956" indent="-283984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2pPr>
      <a:lvl3pPr marL="846570" indent="-272624">
        <a:spcBef>
          <a:spcPts val="377"/>
        </a:spcBef>
        <a:buClr>
          <a:srgbClr val="008000"/>
        </a:buClr>
        <a:buSzPct val="95000"/>
        <a:buFont typeface="Wingdings"/>
        <a:buChar char="⬥"/>
        <a:defRPr sz="2400">
          <a:latin typeface="Helvetica Neue Light"/>
          <a:ea typeface="Helvetica Neue Light"/>
          <a:cs typeface="Helvetica Neue Light"/>
          <a:sym typeface="Helvetica Neue Light"/>
        </a:defRPr>
      </a:lvl3pPr>
      <a:lvl4pPr marL="1163835" indent="-302916">
        <a:spcBef>
          <a:spcPts val="377"/>
        </a:spcBef>
        <a:buClr>
          <a:srgbClr val="008000"/>
        </a:buClr>
        <a:buSzPct val="65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4pPr>
      <a:lvl5pPr marL="1450808" indent="-302916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5pPr>
      <a:lvl6pPr marL="1737781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6pPr>
      <a:lvl7pPr marL="2024754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7pPr>
      <a:lvl8pPr marL="2311727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8pPr>
      <a:lvl9pPr marL="2598700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9pPr>
    </p:bodyStyle>
    <p:otherStyle>
      <a:lvl1pPr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1pPr>
      <a:lvl2pPr indent="286973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2pPr>
      <a:lvl3pPr indent="573946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3pPr>
      <a:lvl4pPr indent="860919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4pPr>
      <a:lvl5pPr indent="1147892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5pPr>
      <a:lvl6pPr indent="1434865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6pPr>
      <a:lvl7pPr indent="1721838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7pPr>
      <a:lvl8pPr indent="2008811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8pPr>
      <a:lvl9pPr indent="2295784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6A5DAE-8FD5-49CE-E28B-6EDA2BB14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defTabSz="366688" rtl="0"/>
            <a:r>
              <a:rPr lang="en-US" sz="3200" dirty="0"/>
              <a:t>Programming Fundamentals 1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E9BEFF54-2517-4D20-3E48-49EBACA8B7BB}"/>
              </a:ext>
            </a:extLst>
          </p:cNvPr>
          <p:cNvSpPr/>
          <p:nvPr/>
        </p:nvSpPr>
        <p:spPr>
          <a:xfrm>
            <a:off x="0" y="-10274"/>
            <a:ext cx="6082301" cy="4859676"/>
          </a:xfrm>
          <a:custGeom>
            <a:avLst/>
            <a:gdLst>
              <a:gd name="connsiteX0" fmla="*/ 0 w 6082301"/>
              <a:gd name="connsiteY0" fmla="*/ 0 h 4859676"/>
              <a:gd name="connsiteX1" fmla="*/ 10274 w 6082301"/>
              <a:gd name="connsiteY1" fmla="*/ 4859676 h 4859676"/>
              <a:gd name="connsiteX2" fmla="*/ 4325420 w 6082301"/>
              <a:gd name="connsiteY2" fmla="*/ 4859676 h 4859676"/>
              <a:gd name="connsiteX3" fmla="*/ 6082301 w 6082301"/>
              <a:gd name="connsiteY3" fmla="*/ 10274 h 4859676"/>
              <a:gd name="connsiteX4" fmla="*/ 0 w 6082301"/>
              <a:gd name="connsiteY4" fmla="*/ 0 h 4859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2301" h="4859676">
                <a:moveTo>
                  <a:pt x="0" y="0"/>
                </a:moveTo>
                <a:cubicBezTo>
                  <a:pt x="3425" y="1619892"/>
                  <a:pt x="6849" y="3239784"/>
                  <a:pt x="10274" y="4859676"/>
                </a:cubicBezTo>
                <a:lnTo>
                  <a:pt x="4325420" y="4859676"/>
                </a:lnTo>
                <a:lnTo>
                  <a:pt x="6082301" y="10274"/>
                </a:lnTo>
                <a:lnTo>
                  <a:pt x="0" y="0"/>
                </a:lnTo>
                <a:close/>
              </a:path>
            </a:pathLst>
          </a:custGeom>
          <a:solidFill>
            <a:srgbClr val="1181F3"/>
          </a:solidFill>
          <a:ln w="12700" cap="flat">
            <a:solidFill>
              <a:schemeClr val="tx1"/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875860" y="433845"/>
            <a:ext cx="3065480" cy="2166836"/>
          </a:xfrm>
        </p:spPr>
        <p:txBody>
          <a:bodyPr vert="horz" lIns="68580" tIns="34290" rIns="68580" bIns="3429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50" dirty="0"/>
              <a:t>Gym App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875859" y="2659046"/>
            <a:ext cx="3065479" cy="860897"/>
          </a:xfrm>
        </p:spPr>
        <p:txBody>
          <a:bodyPr vert="horz" lIns="68580" tIns="34290" rIns="68580" bIns="3429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</a:pPr>
            <a:r>
              <a:rPr lang="en-US" sz="2400" dirty="0">
                <a:solidFill>
                  <a:schemeClr val="tx1"/>
                </a:solidFill>
              </a:rPr>
              <a:t>Version 1.0</a:t>
            </a:r>
          </a:p>
        </p:txBody>
      </p:sp>
      <p:pic>
        <p:nvPicPr>
          <p:cNvPr id="6" name="Picture 5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219A5EB9-AAF4-2B7B-858B-4D8FA96A96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0" y="30822"/>
            <a:ext cx="4804453" cy="4804453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BCE9119-F1EC-7824-3F11-9BE4FE16B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3D6AE9-AF8F-34A0-CC6E-E6F8DBEB1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798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GYM App V1.0</a:t>
            </a:r>
            <a:endParaRPr lang="en-IE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1600200" y="1359272"/>
            <a:ext cx="1543050" cy="800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4400549" y="2673722"/>
            <a:ext cx="2600885" cy="80010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GymMember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3143250" y="1759322"/>
            <a:ext cx="2557742" cy="91440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BB72695A-D291-0C7B-6908-BAB87717EB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00D3C8D-22EB-52E7-35CE-A336DA65ED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C74D16D-EB46-2C1D-5C98-6FBAA4E9DD0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20618220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CED72EB-78AE-D75A-D9DE-576512471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36" y="843558"/>
            <a:ext cx="4848817" cy="4299943"/>
          </a:xfrm>
        </p:spPr>
        <p:txBody>
          <a:bodyPr/>
          <a:lstStyle/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r>
              <a:rPr lang="en-US" dirty="0"/>
              <a:t>The </a:t>
            </a:r>
            <a:r>
              <a:rPr lang="en-US" dirty="0">
                <a:latin typeface="Monaco" pitchFamily="2" charset="77"/>
              </a:rPr>
              <a:t>Driver</a:t>
            </a:r>
            <a:r>
              <a:rPr lang="en-US" dirty="0"/>
              <a:t> class:</a:t>
            </a:r>
          </a:p>
          <a:p>
            <a:pPr lvl="1" indent="-292097" algn="l" rtl="0">
              <a:buSzPct val="100000"/>
              <a:buFont typeface="Wingdings"/>
              <a:buChar char="❑"/>
            </a:pPr>
            <a:r>
              <a:rPr lang="en-US" dirty="0"/>
              <a:t>has the </a:t>
            </a:r>
            <a:r>
              <a:rPr lang="en-US" dirty="0">
                <a:latin typeface="Monaco" pitchFamily="2" charset="77"/>
              </a:rPr>
              <a:t>main()</a:t>
            </a:r>
            <a:r>
              <a:rPr lang="en-US" dirty="0"/>
              <a:t> method.  </a:t>
            </a:r>
          </a:p>
          <a:p>
            <a:pPr lvl="1" indent="-292097" algn="l" rtl="0">
              <a:buSzPct val="100000"/>
              <a:buFont typeface="Wingdings"/>
              <a:buChar char="❑"/>
            </a:pPr>
            <a:r>
              <a:rPr lang="en-US" dirty="0"/>
              <a:t>reads the gym member details from the user (via the console)</a:t>
            </a:r>
          </a:p>
          <a:p>
            <a:pPr lvl="1" indent="-292097" algn="l" rtl="0">
              <a:buSzPct val="100000"/>
              <a:buFont typeface="Wingdings"/>
              <a:buChar char="❑"/>
            </a:pPr>
            <a:r>
              <a:rPr lang="en-US" dirty="0"/>
              <a:t>creates a new </a:t>
            </a:r>
            <a:r>
              <a:rPr lang="en-US" dirty="0">
                <a:latin typeface="Monaco" pitchFamily="2" charset="77"/>
              </a:rPr>
              <a:t>GymMember</a:t>
            </a:r>
            <a:r>
              <a:rPr lang="en-US" dirty="0"/>
              <a:t> object.  </a:t>
            </a:r>
          </a:p>
          <a:p>
            <a:pPr lvl="1" indent="-292097" algn="l" rtl="0">
              <a:buSzPct val="100000"/>
              <a:buFont typeface="Wingdings"/>
              <a:buChar char="❑"/>
            </a:pPr>
            <a:r>
              <a:rPr lang="en-US" dirty="0"/>
              <a:t>prints the gym member details from the object (to the console)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GYM App V1.0</a:t>
            </a:r>
            <a:endParaRPr lang="en-IE" b="1" dirty="0"/>
          </a:p>
        </p:txBody>
      </p:sp>
      <p:pic>
        <p:nvPicPr>
          <p:cNvPr id="9" name="Picture 8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3E930AE8-007B-872F-730F-D4A8ED2EA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14" name="Rectangle: Rounded Corners 3">
            <a:extLst>
              <a:ext uri="{FF2B5EF4-FFF2-40B4-BE49-F238E27FC236}">
                <a16:creationId xmlns:a16="http://schemas.microsoft.com/office/drawing/2014/main" id="{B871389F-0DBA-0B0D-33E3-446D06A3A256}"/>
              </a:ext>
            </a:extLst>
          </p:cNvPr>
          <p:cNvSpPr/>
          <p:nvPr/>
        </p:nvSpPr>
        <p:spPr>
          <a:xfrm>
            <a:off x="5809132" y="541243"/>
            <a:ext cx="1543050" cy="800100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sz="3000" b="1" dirty="0"/>
              <a:t>Driver</a:t>
            </a:r>
          </a:p>
        </p:txBody>
      </p:sp>
      <p:sp>
        <p:nvSpPr>
          <p:cNvPr id="15" name="Rectangle: Rounded Corners 4">
            <a:extLst>
              <a:ext uri="{FF2B5EF4-FFF2-40B4-BE49-F238E27FC236}">
                <a16:creationId xmlns:a16="http://schemas.microsoft.com/office/drawing/2014/main" id="{6697C1AF-D0ED-6834-5B77-1B96CA1FE615}"/>
              </a:ext>
            </a:extLst>
          </p:cNvPr>
          <p:cNvSpPr/>
          <p:nvPr/>
        </p:nvSpPr>
        <p:spPr>
          <a:xfrm>
            <a:off x="6320121" y="2911208"/>
            <a:ext cx="2568388" cy="800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sz="3000" dirty="0"/>
              <a:t>GymMember</a:t>
            </a:r>
          </a:p>
        </p:txBody>
      </p:sp>
      <p:cxnSp>
        <p:nvCxnSpPr>
          <p:cNvPr id="16" name="Connector: Elbow 5">
            <a:extLst>
              <a:ext uri="{FF2B5EF4-FFF2-40B4-BE49-F238E27FC236}">
                <a16:creationId xmlns:a16="http://schemas.microsoft.com/office/drawing/2014/main" id="{C1EA4CE2-D0A8-5018-1C20-262C198E8225}"/>
              </a:ext>
            </a:extLst>
          </p:cNvPr>
          <p:cNvCxnSpPr>
            <a:cxnSpLocks/>
            <a:stCxn id="14" idx="3"/>
            <a:endCxn id="15" idx="0"/>
          </p:cNvCxnSpPr>
          <p:nvPr/>
        </p:nvCxnSpPr>
        <p:spPr>
          <a:xfrm>
            <a:off x="7352182" y="941293"/>
            <a:ext cx="252133" cy="1969915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EDE0FB9F-3CE1-430B-B180-74E4A69F88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8534AC-8E58-BED1-4CD6-489C2A7D1C6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4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95263358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C44295-D8EB-64EE-266D-FE80006D6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37" y="843558"/>
            <a:ext cx="5413596" cy="4299943"/>
          </a:xfrm>
        </p:spPr>
        <p:txBody>
          <a:bodyPr/>
          <a:lstStyle/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r>
              <a:rPr lang="en-US" dirty="0"/>
              <a:t>The </a:t>
            </a:r>
            <a:r>
              <a:rPr lang="en-US" dirty="0">
                <a:latin typeface="Monaco" pitchFamily="2" charset="77"/>
              </a:rPr>
              <a:t>GymMember</a:t>
            </a:r>
            <a:r>
              <a:rPr lang="en-US" dirty="0"/>
              <a:t> class stores details </a:t>
            </a:r>
            <a:br>
              <a:rPr lang="en-US" dirty="0"/>
            </a:br>
            <a:r>
              <a:rPr lang="en-US" dirty="0"/>
              <a:t>about a single member of a gym i.e.:</a:t>
            </a:r>
          </a:p>
          <a:p>
            <a:pPr lvl="1" indent="-292097" algn="l" rtl="0">
              <a:buSzPct val="100000"/>
              <a:buFont typeface="Wingdings"/>
              <a:buChar char="❑"/>
            </a:pPr>
            <a:r>
              <a:rPr lang="en-US" dirty="0">
                <a:latin typeface="Monaco" pitchFamily="2" charset="77"/>
              </a:rPr>
              <a:t>name </a:t>
            </a:r>
          </a:p>
          <a:p>
            <a:pPr lvl="1" indent="-292097" algn="l" rtl="0">
              <a:buSzPct val="100000"/>
              <a:buFont typeface="Wingdings"/>
              <a:buChar char="❑"/>
            </a:pPr>
            <a:r>
              <a:rPr lang="en-US" dirty="0">
                <a:latin typeface="Monaco" pitchFamily="2" charset="77"/>
              </a:rPr>
              <a:t>height</a:t>
            </a:r>
          </a:p>
          <a:p>
            <a:pPr lvl="1" indent="-292097" algn="l" rtl="0">
              <a:buSzPct val="100000"/>
              <a:buFont typeface="Wingdings"/>
              <a:buChar char="❑"/>
            </a:pPr>
            <a:r>
              <a:rPr lang="en-US" dirty="0">
                <a:latin typeface="Monaco" pitchFamily="2" charset="77"/>
              </a:rPr>
              <a:t>weight</a:t>
            </a:r>
          </a:p>
          <a:p>
            <a:pPr lvl="1" indent="-292097" algn="l" rtl="0">
              <a:buSzPct val="100000"/>
              <a:buFont typeface="Wingdings"/>
              <a:buChar char="❑"/>
            </a:pPr>
            <a:r>
              <a:rPr lang="en-US" dirty="0" err="1">
                <a:latin typeface="Monaco" pitchFamily="2" charset="77"/>
              </a:rPr>
              <a:t>membershipNumber</a:t>
            </a:r>
            <a:r>
              <a:rPr lang="en-US" dirty="0"/>
              <a:t> </a:t>
            </a:r>
          </a:p>
          <a:p>
            <a:pPr lvl="1" indent="-292097" algn="l" rtl="0">
              <a:buSzPct val="100000"/>
              <a:buFont typeface="Wingdings"/>
              <a:buChar char="❑"/>
            </a:pPr>
            <a:r>
              <a:rPr lang="en-US" dirty="0"/>
              <a:t>if they are </a:t>
            </a:r>
            <a:r>
              <a:rPr lang="en-US" dirty="0">
                <a:latin typeface="Monaco" pitchFamily="2" charset="77"/>
              </a:rPr>
              <a:t>current members </a:t>
            </a:r>
            <a:r>
              <a:rPr lang="en-US" dirty="0"/>
              <a:t>or not? </a:t>
            </a:r>
            <a:br>
              <a:rPr lang="en-US" dirty="0"/>
            </a:br>
            <a:r>
              <a:rPr lang="en-US" dirty="0"/>
              <a:t>(</a:t>
            </a:r>
            <a:r>
              <a:rPr lang="en-US" sz="2000" dirty="0"/>
              <a:t>i.e. have they paid their membership fee</a:t>
            </a:r>
            <a:r>
              <a:rPr lang="en-US" dirty="0"/>
              <a:t>)</a:t>
            </a:r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GYM App V1.0</a:t>
            </a:r>
            <a:endParaRPr lang="en-IE" b="1" dirty="0"/>
          </a:p>
        </p:txBody>
      </p:sp>
      <p:pic>
        <p:nvPicPr>
          <p:cNvPr id="9" name="Picture 8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AEC1F1B8-5037-56F6-F17E-D2134248A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3" name="Rectangle: Rounded Corners 3">
            <a:extLst>
              <a:ext uri="{FF2B5EF4-FFF2-40B4-BE49-F238E27FC236}">
                <a16:creationId xmlns:a16="http://schemas.microsoft.com/office/drawing/2014/main" id="{F7FC245C-F2CF-46C5-AE3F-BBBA67C1EA9A}"/>
              </a:ext>
            </a:extLst>
          </p:cNvPr>
          <p:cNvSpPr/>
          <p:nvPr/>
        </p:nvSpPr>
        <p:spPr>
          <a:xfrm>
            <a:off x="5809132" y="541243"/>
            <a:ext cx="1543050" cy="800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dirty="0"/>
              <a:t>Driver</a:t>
            </a:r>
          </a:p>
        </p:txBody>
      </p:sp>
      <p:sp>
        <p:nvSpPr>
          <p:cNvPr id="8" name="Rectangle: Rounded Corners 4">
            <a:extLst>
              <a:ext uri="{FF2B5EF4-FFF2-40B4-BE49-F238E27FC236}">
                <a16:creationId xmlns:a16="http://schemas.microsoft.com/office/drawing/2014/main" id="{0907C4F2-099A-4E43-694F-E2ED6D28F912}"/>
              </a:ext>
            </a:extLst>
          </p:cNvPr>
          <p:cNvSpPr/>
          <p:nvPr/>
        </p:nvSpPr>
        <p:spPr>
          <a:xfrm>
            <a:off x="6320121" y="2911208"/>
            <a:ext cx="2568388" cy="800100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GymMember</a:t>
            </a:r>
          </a:p>
        </p:txBody>
      </p:sp>
      <p:cxnSp>
        <p:nvCxnSpPr>
          <p:cNvPr id="10" name="Connector: Elbow 5">
            <a:extLst>
              <a:ext uri="{FF2B5EF4-FFF2-40B4-BE49-F238E27FC236}">
                <a16:creationId xmlns:a16="http://schemas.microsoft.com/office/drawing/2014/main" id="{FE89522C-DE71-03AB-9B9D-197782AD4088}"/>
              </a:ext>
            </a:extLst>
          </p:cNvPr>
          <p:cNvCxnSpPr>
            <a:cxnSpLocks/>
            <a:stCxn id="3" idx="3"/>
            <a:endCxn id="8" idx="0"/>
          </p:cNvCxnSpPr>
          <p:nvPr/>
        </p:nvCxnSpPr>
        <p:spPr>
          <a:xfrm>
            <a:off x="7352182" y="941293"/>
            <a:ext cx="252133" cy="1969915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24700E0-8118-20FC-7484-408CA36734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FEEB9C2-4DB1-EDC8-E95F-07AE1C4BBD6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5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99609729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4C336-986E-C25B-9667-2885E0F71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GYM App V1.0 – Sample I/O</a:t>
            </a:r>
            <a:endParaRPr lang="en-US" dirty="0"/>
          </a:p>
        </p:txBody>
      </p:sp>
      <p:pic>
        <p:nvPicPr>
          <p:cNvPr id="5" name="Content Placeholder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169B014-BBF9-382C-624F-84B0740CFF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865" y="934922"/>
            <a:ext cx="5776059" cy="36444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432A1E33-00D7-B669-B245-34CEDDF88B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8835EE-2B49-E3CC-A0C3-470706BD9B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EDD68-851F-FD41-9A77-AA269E30019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6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57164215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598460" y="1337969"/>
            <a:ext cx="3426668" cy="2166836"/>
          </a:xfrm>
        </p:spPr>
        <p:txBody>
          <a:bodyPr vert="horz" lIns="68580" tIns="34290" rIns="68580" bIns="3429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dirty="0"/>
              <a:t>Encapsulated Class: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598459" y="3563170"/>
            <a:ext cx="3065479" cy="860897"/>
          </a:xfrm>
        </p:spPr>
        <p:txBody>
          <a:bodyPr vert="horz" lIns="68580" tIns="34290" rIns="68580" bIns="3429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</a:pPr>
            <a:r>
              <a:rPr lang="en-US" sz="2400" dirty="0">
                <a:solidFill>
                  <a:schemeClr val="tx1"/>
                </a:solidFill>
              </a:rPr>
              <a:t>GymMember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E8DA6B8F-7878-3074-0AB8-972FA67D7869}"/>
              </a:ext>
            </a:extLst>
          </p:cNvPr>
          <p:cNvSpPr/>
          <p:nvPr/>
        </p:nvSpPr>
        <p:spPr>
          <a:xfrm>
            <a:off x="0" y="-10274"/>
            <a:ext cx="6082301" cy="4859676"/>
          </a:xfrm>
          <a:custGeom>
            <a:avLst/>
            <a:gdLst>
              <a:gd name="connsiteX0" fmla="*/ 0 w 6082301"/>
              <a:gd name="connsiteY0" fmla="*/ 0 h 4859676"/>
              <a:gd name="connsiteX1" fmla="*/ 10274 w 6082301"/>
              <a:gd name="connsiteY1" fmla="*/ 4859676 h 4859676"/>
              <a:gd name="connsiteX2" fmla="*/ 4325420 w 6082301"/>
              <a:gd name="connsiteY2" fmla="*/ 4859676 h 4859676"/>
              <a:gd name="connsiteX3" fmla="*/ 6082301 w 6082301"/>
              <a:gd name="connsiteY3" fmla="*/ 10274 h 4859676"/>
              <a:gd name="connsiteX4" fmla="*/ 0 w 6082301"/>
              <a:gd name="connsiteY4" fmla="*/ 0 h 4859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2301" h="4859676">
                <a:moveTo>
                  <a:pt x="0" y="0"/>
                </a:moveTo>
                <a:cubicBezTo>
                  <a:pt x="3425" y="1619892"/>
                  <a:pt x="6849" y="3239784"/>
                  <a:pt x="10274" y="4859676"/>
                </a:cubicBezTo>
                <a:lnTo>
                  <a:pt x="4325420" y="4859676"/>
                </a:lnTo>
                <a:lnTo>
                  <a:pt x="6082301" y="10274"/>
                </a:lnTo>
                <a:lnTo>
                  <a:pt x="0" y="0"/>
                </a:lnTo>
                <a:close/>
              </a:path>
            </a:pathLst>
          </a:custGeom>
          <a:solidFill>
            <a:srgbClr val="1181F3"/>
          </a:solidFill>
          <a:ln w="12700" cap="flat">
            <a:solidFill>
              <a:schemeClr val="tx1"/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pic>
        <p:nvPicPr>
          <p:cNvPr id="6" name="Picture 5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F26A4769-E317-7896-04FA-A460F4C8D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0" y="30822"/>
            <a:ext cx="4804453" cy="4804453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1EEF671-DD98-291D-1BE3-CFCF69AD7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BB9C55-9B3F-5A1B-FE83-4585346B8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90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able&#10;&#10;Description automatically generated with medium confidence">
            <a:extLst>
              <a:ext uri="{FF2B5EF4-FFF2-40B4-BE49-F238E27FC236}">
                <a16:creationId xmlns:a16="http://schemas.microsoft.com/office/drawing/2014/main" id="{A3D84FCA-DA0B-E2EE-774C-DBBB525AD7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641" y="875874"/>
            <a:ext cx="4114802" cy="37632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GymMember</a:t>
            </a:r>
            <a:r>
              <a:rPr lang="en-IE" dirty="0"/>
              <a:t> Class…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4884" y="889929"/>
            <a:ext cx="2968444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dirty="0"/>
              <a:t>Object Type / </a:t>
            </a:r>
            <a:r>
              <a:rPr lang="en-IE" sz="1800" b="1" dirty="0"/>
              <a:t>Class</a:t>
            </a:r>
            <a:r>
              <a:rPr lang="en-IE" sz="1800" dirty="0"/>
              <a:t> Name</a:t>
            </a:r>
          </a:p>
          <a:p>
            <a:pPr algn="ctr"/>
            <a:r>
              <a:rPr lang="en-IE" sz="1800" dirty="0"/>
              <a:t>i.e. </a:t>
            </a:r>
            <a:r>
              <a:rPr lang="en-IE" sz="1800" dirty="0">
                <a:latin typeface="Monaco" pitchFamily="2" charset="77"/>
              </a:rPr>
              <a:t>GymMember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A65584-D9F8-47FD-8EF6-E2D83A0BCBAE}"/>
              </a:ext>
            </a:extLst>
          </p:cNvPr>
          <p:cNvSpPr txBox="1"/>
          <p:nvPr/>
        </p:nvSpPr>
        <p:spPr>
          <a:xfrm>
            <a:off x="505557" y="1849757"/>
            <a:ext cx="3378527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dirty="0"/>
              <a:t>The </a:t>
            </a:r>
            <a:r>
              <a:rPr lang="en-IE" sz="1800" b="1" dirty="0"/>
              <a:t>C</a:t>
            </a:r>
            <a:r>
              <a:rPr lang="en-IE" sz="1800" dirty="0"/>
              <a:t> icon means it is a </a:t>
            </a:r>
            <a:r>
              <a:rPr lang="en-IE" sz="1800" b="1" dirty="0"/>
              <a:t>Class</a:t>
            </a:r>
            <a:r>
              <a:rPr lang="en-IE" sz="1800" dirty="0"/>
              <a:t>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DB8DED-05D7-4233-89A9-69D12A06D8C0}"/>
              </a:ext>
            </a:extLst>
          </p:cNvPr>
          <p:cNvCxnSpPr>
            <a:cxnSpLocks/>
          </p:cNvCxnSpPr>
          <p:nvPr/>
        </p:nvCxnSpPr>
        <p:spPr>
          <a:xfrm flipV="1">
            <a:off x="3743327" y="1062109"/>
            <a:ext cx="1023851" cy="814584"/>
          </a:xfrm>
          <a:prstGeom prst="straightConnector1">
            <a:avLst/>
          </a:prstGeom>
          <a:ln w="28575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3EBAFC0-DD4C-427D-86E5-1622439D0E56}"/>
              </a:ext>
            </a:extLst>
          </p:cNvPr>
          <p:cNvSpPr txBox="1"/>
          <p:nvPr/>
        </p:nvSpPr>
        <p:spPr>
          <a:xfrm>
            <a:off x="286871" y="2639410"/>
            <a:ext cx="4013665" cy="369332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dirty="0"/>
              <a:t>The open padlock means it is </a:t>
            </a:r>
            <a:r>
              <a:rPr lang="en-IE" sz="1800" b="1" dirty="0"/>
              <a:t>public</a:t>
            </a:r>
            <a:r>
              <a:rPr lang="en-IE" sz="1800" dirty="0"/>
              <a:t>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1A018E-A2FD-4EE2-BAD6-1F821407C8A1}"/>
              </a:ext>
            </a:extLst>
          </p:cNvPr>
          <p:cNvCxnSpPr>
            <a:cxnSpLocks/>
          </p:cNvCxnSpPr>
          <p:nvPr/>
        </p:nvCxnSpPr>
        <p:spPr>
          <a:xfrm flipV="1">
            <a:off x="4171949" y="1062109"/>
            <a:ext cx="837465" cy="1577301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  <a:stCxn id="5" idx="3"/>
          </p:cNvCxnSpPr>
          <p:nvPr/>
        </p:nvCxnSpPr>
        <p:spPr>
          <a:xfrm flipV="1">
            <a:off x="3743328" y="999139"/>
            <a:ext cx="828672" cy="213956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BC7FD38-AFFF-4C8F-A2FA-103ABA30C76D}"/>
              </a:ext>
            </a:extLst>
          </p:cNvPr>
          <p:cNvSpPr/>
          <p:nvPr/>
        </p:nvSpPr>
        <p:spPr>
          <a:xfrm>
            <a:off x="4619066" y="884839"/>
            <a:ext cx="1485902" cy="228600"/>
          </a:xfrm>
          <a:prstGeom prst="round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pic>
        <p:nvPicPr>
          <p:cNvPr id="7" name="Picture 6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E8D72033-BF5D-BAE6-6C21-776948CEB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8C66C85F-2563-ACA3-C91E-45556B5DDC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F1AAD0A-81C1-7518-B720-B8CDF9E4F33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8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4434220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3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able&#10;&#10;Description automatically generated with medium confidence">
            <a:extLst>
              <a:ext uri="{FF2B5EF4-FFF2-40B4-BE49-F238E27FC236}">
                <a16:creationId xmlns:a16="http://schemas.microsoft.com/office/drawing/2014/main" id="{FDC11D51-F9BD-5034-4A62-CBAAF2F7E1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641" y="875874"/>
            <a:ext cx="4114802" cy="37632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A94FFA-7E46-3560-813D-CB92CE0B6C97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4050926" y="2688718"/>
            <a:ext cx="1042150" cy="893415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22848BF-B176-F686-4A63-41776D63B223}"/>
              </a:ext>
            </a:extLst>
          </p:cNvPr>
          <p:cNvSpPr txBox="1"/>
          <p:nvPr/>
        </p:nvSpPr>
        <p:spPr>
          <a:xfrm>
            <a:off x="1657350" y="2411719"/>
            <a:ext cx="2393576" cy="553998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E" sz="1500" b="0" dirty="0"/>
              <a:t>The </a:t>
            </a:r>
            <a:r>
              <a:rPr lang="en-IE" sz="1500" b="0" u="sng" dirty="0"/>
              <a:t>closed padlock </a:t>
            </a:r>
            <a:r>
              <a:rPr lang="en-IE" sz="1500" b="0" dirty="0"/>
              <a:t>means it is </a:t>
            </a:r>
            <a:r>
              <a:rPr lang="en-IE" sz="1500" dirty="0"/>
              <a:t>private</a:t>
            </a:r>
            <a:r>
              <a:rPr lang="en-IE" sz="1500" b="0" dirty="0"/>
              <a:t>.</a:t>
            </a:r>
          </a:p>
        </p:txBody>
      </p:sp>
      <p:pic>
        <p:nvPicPr>
          <p:cNvPr id="5" name="Picture 4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9BEAD98A-28FD-1F62-7BB1-19E188AFCA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6D4C68-4FCD-8602-2DA2-6DBD7FD7F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GymMember</a:t>
            </a:r>
            <a:r>
              <a:rPr lang="en-IE" dirty="0"/>
              <a:t> Class…</a:t>
            </a:r>
          </a:p>
        </p:txBody>
      </p:sp>
      <p:sp>
        <p:nvSpPr>
          <p:cNvPr id="17" name="Rectangle: Rounded Corners 6">
            <a:extLst>
              <a:ext uri="{FF2B5EF4-FFF2-40B4-BE49-F238E27FC236}">
                <a16:creationId xmlns:a16="http://schemas.microsoft.com/office/drawing/2014/main" id="{74D6D723-8EC5-8DE0-B884-A503AA0D7B4C}"/>
              </a:ext>
            </a:extLst>
          </p:cNvPr>
          <p:cNvSpPr/>
          <p:nvPr/>
        </p:nvSpPr>
        <p:spPr>
          <a:xfrm>
            <a:off x="4800600" y="3582132"/>
            <a:ext cx="3314700" cy="1075496"/>
          </a:xfrm>
          <a:prstGeom prst="roundRect">
            <a:avLst/>
          </a:prstGeom>
          <a:noFill/>
          <a:ln w="38100">
            <a:solidFill>
              <a:srgbClr val="F9C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266768-B3E1-5314-A69A-2EA5ADB9FE3D}"/>
              </a:ext>
            </a:extLst>
          </p:cNvPr>
          <p:cNvSpPr txBox="1"/>
          <p:nvPr/>
        </p:nvSpPr>
        <p:spPr>
          <a:xfrm>
            <a:off x="1366585" y="3836596"/>
            <a:ext cx="2866357" cy="784830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500" b="1" dirty="0"/>
              <a:t>Fields</a:t>
            </a:r>
            <a:r>
              <a:rPr lang="en-IE" sz="1500" dirty="0"/>
              <a:t> </a:t>
            </a:r>
            <a:br>
              <a:rPr lang="en-IE" sz="1500" dirty="0"/>
            </a:br>
            <a:r>
              <a:rPr lang="en-IE" sz="1500" dirty="0"/>
              <a:t>i.e. the </a:t>
            </a:r>
            <a:r>
              <a:rPr lang="en-IE" sz="1500" b="1" dirty="0"/>
              <a:t>attributes / properties</a:t>
            </a:r>
            <a:r>
              <a:rPr lang="en-IE" sz="1500" dirty="0"/>
              <a:t> </a:t>
            </a:r>
            <a:br>
              <a:rPr lang="en-IE" sz="1500" dirty="0"/>
            </a:br>
            <a:r>
              <a:rPr lang="en-IE" sz="1500" dirty="0"/>
              <a:t>of the class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5D9DA68-2617-8D75-AE85-0E22A4536B21}"/>
              </a:ext>
            </a:extLst>
          </p:cNvPr>
          <p:cNvCxnSpPr>
            <a:cxnSpLocks/>
          </p:cNvCxnSpPr>
          <p:nvPr/>
        </p:nvCxnSpPr>
        <p:spPr>
          <a:xfrm>
            <a:off x="4061492" y="4297455"/>
            <a:ext cx="896752" cy="0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2FB6D12-3100-E7CF-317B-23579544CBBE}"/>
              </a:ext>
            </a:extLst>
          </p:cNvPr>
          <p:cNvSpPr txBox="1"/>
          <p:nvPr/>
        </p:nvSpPr>
        <p:spPr>
          <a:xfrm>
            <a:off x="1370493" y="3383055"/>
            <a:ext cx="2690999" cy="323165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E" sz="1500" b="0" dirty="0"/>
              <a:t>The </a:t>
            </a:r>
            <a:r>
              <a:rPr lang="en-IE" sz="1500" dirty="0"/>
              <a:t>f</a:t>
            </a:r>
            <a:r>
              <a:rPr lang="en-IE" sz="1500" b="0" dirty="0"/>
              <a:t> icon means it is a </a:t>
            </a:r>
            <a:r>
              <a:rPr lang="en-IE" sz="1500" dirty="0"/>
              <a:t>field</a:t>
            </a:r>
            <a:r>
              <a:rPr lang="en-IE" sz="1500" b="0" dirty="0"/>
              <a:t>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A99E820-3DF0-4D77-0799-2B8A3A78FBB7}"/>
              </a:ext>
            </a:extLst>
          </p:cNvPr>
          <p:cNvCxnSpPr>
            <a:cxnSpLocks/>
          </p:cNvCxnSpPr>
          <p:nvPr/>
        </p:nvCxnSpPr>
        <p:spPr>
          <a:xfrm>
            <a:off x="4061494" y="3539283"/>
            <a:ext cx="896750" cy="742218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76B8140-E039-88D5-4E94-82751ED01A99}"/>
              </a:ext>
            </a:extLst>
          </p:cNvPr>
          <p:cNvSpPr txBox="1"/>
          <p:nvPr/>
        </p:nvSpPr>
        <p:spPr>
          <a:xfrm>
            <a:off x="2875707" y="1828756"/>
            <a:ext cx="1200150" cy="323165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/>
            </a:lvl1pPr>
          </a:lstStyle>
          <a:p>
            <a:r>
              <a:rPr lang="en-IE" sz="1500" dirty="0"/>
              <a:t>field </a:t>
            </a:r>
            <a:r>
              <a:rPr lang="en-IE" sz="1500" b="1" dirty="0"/>
              <a:t>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D55560-1B68-466B-C1B4-2048F4E8C98F}"/>
              </a:ext>
            </a:extLst>
          </p:cNvPr>
          <p:cNvSpPr txBox="1"/>
          <p:nvPr/>
        </p:nvSpPr>
        <p:spPr>
          <a:xfrm>
            <a:off x="2875708" y="1422027"/>
            <a:ext cx="1211918" cy="323165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/>
            </a:lvl1pPr>
          </a:lstStyle>
          <a:p>
            <a:r>
              <a:rPr lang="en-IE" sz="1500" dirty="0"/>
              <a:t>field </a:t>
            </a:r>
            <a:r>
              <a:rPr lang="en-IE" sz="1500" b="1" dirty="0"/>
              <a:t>type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33B0C9E-9430-64D0-A970-3301A5D54C1F}"/>
              </a:ext>
            </a:extLst>
          </p:cNvPr>
          <p:cNvCxnSpPr>
            <a:cxnSpLocks/>
          </p:cNvCxnSpPr>
          <p:nvPr/>
        </p:nvCxnSpPr>
        <p:spPr>
          <a:xfrm>
            <a:off x="4087625" y="2116743"/>
            <a:ext cx="1380845" cy="1528091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410000E-2C73-4430-E67D-86CE80FB0FC5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4087626" y="1583610"/>
            <a:ext cx="1838044" cy="2061224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291D079-16C0-3731-989C-94B5131C0FD0}"/>
              </a:ext>
            </a:extLst>
          </p:cNvPr>
          <p:cNvSpPr txBox="1"/>
          <p:nvPr/>
        </p:nvSpPr>
        <p:spPr>
          <a:xfrm>
            <a:off x="7780897" y="2411719"/>
            <a:ext cx="1275989" cy="553998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/>
            </a:lvl1pPr>
          </a:lstStyle>
          <a:p>
            <a:r>
              <a:rPr lang="en-IE" sz="1500" dirty="0"/>
              <a:t>field </a:t>
            </a:r>
            <a:r>
              <a:rPr lang="en-IE" sz="1500" b="1" dirty="0"/>
              <a:t>default value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3043CC1-C027-7CB3-5291-ACD3217DD7F3}"/>
              </a:ext>
            </a:extLst>
          </p:cNvPr>
          <p:cNvCxnSpPr>
            <a:cxnSpLocks/>
          </p:cNvCxnSpPr>
          <p:nvPr/>
        </p:nvCxnSpPr>
        <p:spPr>
          <a:xfrm flipH="1">
            <a:off x="7029449" y="2880788"/>
            <a:ext cx="904316" cy="793370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06E4F4C8-872E-461A-DAAC-C566A02591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74FC32F-0A05-A7AC-9F4A-65C60372DAE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9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0814494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  <p:bldP spid="19" grpId="0" animBg="1"/>
      <p:bldP spid="21" grpId="0" animBg="1"/>
      <p:bldP spid="2" grpId="0" animBg="1"/>
      <p:bldP spid="3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able&#10;&#10;Description automatically generated with medium confidence">
            <a:extLst>
              <a:ext uri="{FF2B5EF4-FFF2-40B4-BE49-F238E27FC236}">
                <a16:creationId xmlns:a16="http://schemas.microsoft.com/office/drawing/2014/main" id="{C82FF24B-5CE1-8941-ECC7-295A8C5DCE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" b="88637"/>
          <a:stretch/>
        </p:blipFill>
        <p:spPr>
          <a:xfrm>
            <a:off x="4523641" y="1207569"/>
            <a:ext cx="4106009" cy="427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C3C2130-7317-AD37-2101-4A4D75F9F4D6}"/>
              </a:ext>
            </a:extLst>
          </p:cNvPr>
          <p:cNvSpPr txBox="1"/>
          <p:nvPr/>
        </p:nvSpPr>
        <p:spPr>
          <a:xfrm>
            <a:off x="1587547" y="1260460"/>
            <a:ext cx="2620939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800" b="1" dirty="0"/>
              <a:t>Constructor</a:t>
            </a:r>
            <a:r>
              <a:rPr lang="en-IE" sz="1800" dirty="0"/>
              <a:t> </a:t>
            </a:r>
            <a:br>
              <a:rPr lang="en-IE" sz="1800" dirty="0"/>
            </a:br>
            <a:r>
              <a:rPr lang="en-IE" sz="1800" dirty="0"/>
              <a:t>i.e. for building objects.</a:t>
            </a:r>
          </a:p>
        </p:txBody>
      </p:sp>
      <p:sp>
        <p:nvSpPr>
          <p:cNvPr id="27" name="Rectangle: Rounded Corners 20">
            <a:extLst>
              <a:ext uri="{FF2B5EF4-FFF2-40B4-BE49-F238E27FC236}">
                <a16:creationId xmlns:a16="http://schemas.microsoft.com/office/drawing/2014/main" id="{291AFB0E-BDD0-B50D-0B6F-7D4FE04E05BC}"/>
              </a:ext>
            </a:extLst>
          </p:cNvPr>
          <p:cNvSpPr/>
          <p:nvPr/>
        </p:nvSpPr>
        <p:spPr>
          <a:xfrm>
            <a:off x="4872910" y="1405994"/>
            <a:ext cx="3699590" cy="251953"/>
          </a:xfrm>
          <a:prstGeom prst="roundRect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3EA4806-BB4F-BFE5-791A-8424C761DD6F}"/>
              </a:ext>
            </a:extLst>
          </p:cNvPr>
          <p:cNvCxnSpPr>
            <a:cxnSpLocks/>
          </p:cNvCxnSpPr>
          <p:nvPr/>
        </p:nvCxnSpPr>
        <p:spPr>
          <a:xfrm>
            <a:off x="4208486" y="1549571"/>
            <a:ext cx="418541" cy="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CF06EBA-C925-FFCD-3898-183E5D3C8BE0}"/>
              </a:ext>
            </a:extLst>
          </p:cNvPr>
          <p:cNvSpPr txBox="1"/>
          <p:nvPr/>
        </p:nvSpPr>
        <p:spPr>
          <a:xfrm>
            <a:off x="1694329" y="2322749"/>
            <a:ext cx="3053927" cy="323165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500" dirty="0"/>
              <a:t>The </a:t>
            </a:r>
            <a:r>
              <a:rPr lang="en-IE" sz="1500" b="1" dirty="0"/>
              <a:t>m</a:t>
            </a:r>
            <a:r>
              <a:rPr lang="en-IE" sz="1500" dirty="0"/>
              <a:t> icon means it is a </a:t>
            </a:r>
            <a:r>
              <a:rPr lang="en-IE" sz="1500" b="1" dirty="0"/>
              <a:t>method</a:t>
            </a:r>
            <a:r>
              <a:rPr lang="en-IE" sz="1500" dirty="0"/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EA449A-6A72-EF05-DAAB-D344D8230751}"/>
              </a:ext>
            </a:extLst>
          </p:cNvPr>
          <p:cNvSpPr txBox="1"/>
          <p:nvPr/>
        </p:nvSpPr>
        <p:spPr>
          <a:xfrm>
            <a:off x="2140955" y="3001316"/>
            <a:ext cx="3370574" cy="323165"/>
          </a:xfrm>
          <a:prstGeom prst="rect">
            <a:avLst/>
          </a:prstGeom>
          <a:solidFill>
            <a:srgbClr val="A1D38E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IE" sz="1500" dirty="0"/>
              <a:t>The </a:t>
            </a:r>
            <a:r>
              <a:rPr lang="en-IE" sz="1500" u="sng" dirty="0"/>
              <a:t>open padlock </a:t>
            </a:r>
            <a:r>
              <a:rPr lang="en-IE" sz="1500" dirty="0"/>
              <a:t>means it is </a:t>
            </a:r>
            <a:r>
              <a:rPr lang="en-IE" sz="1500" b="1" dirty="0"/>
              <a:t>public</a:t>
            </a:r>
            <a:r>
              <a:rPr lang="en-IE" sz="1500" dirty="0"/>
              <a:t>.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2DF585F-71AC-1D2B-B0A0-06A42045DDCB}"/>
              </a:ext>
            </a:extLst>
          </p:cNvPr>
          <p:cNvCxnSpPr>
            <a:cxnSpLocks/>
          </p:cNvCxnSpPr>
          <p:nvPr/>
        </p:nvCxnSpPr>
        <p:spPr>
          <a:xfrm flipV="1">
            <a:off x="4179911" y="1603360"/>
            <a:ext cx="771526" cy="733875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5C720D3-C2C2-133B-0F1E-7D4B6DF5D64D}"/>
              </a:ext>
            </a:extLst>
          </p:cNvPr>
          <p:cNvSpPr txBox="1"/>
          <p:nvPr/>
        </p:nvSpPr>
        <p:spPr>
          <a:xfrm>
            <a:off x="2958353" y="3665365"/>
            <a:ext cx="3882786" cy="323165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IE" sz="1500"/>
              <a:t>Constructors have same </a:t>
            </a:r>
            <a:r>
              <a:rPr lang="en-IE" sz="1500" dirty="0"/>
              <a:t>name as the class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33143A6-BFBB-9AC4-C20B-7B5F884F2C92}"/>
              </a:ext>
            </a:extLst>
          </p:cNvPr>
          <p:cNvCxnSpPr>
            <a:cxnSpLocks/>
          </p:cNvCxnSpPr>
          <p:nvPr/>
        </p:nvCxnSpPr>
        <p:spPr>
          <a:xfrm flipH="1" flipV="1">
            <a:off x="5693243" y="1578028"/>
            <a:ext cx="286893" cy="2087337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71E4840-FF88-BF90-A403-619D6B7D4DAB}"/>
              </a:ext>
            </a:extLst>
          </p:cNvPr>
          <p:cNvCxnSpPr>
            <a:cxnSpLocks/>
          </p:cNvCxnSpPr>
          <p:nvPr/>
        </p:nvCxnSpPr>
        <p:spPr>
          <a:xfrm flipV="1">
            <a:off x="5135493" y="1578028"/>
            <a:ext cx="58426" cy="1423289"/>
          </a:xfrm>
          <a:prstGeom prst="straightConnector1">
            <a:avLst/>
          </a:prstGeom>
          <a:ln w="28575">
            <a:solidFill>
              <a:srgbClr val="A1D38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6A326393-1F31-B283-E774-4D51C739C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AF88848-4204-2538-79FB-762EB3B4C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GymMember</a:t>
            </a:r>
            <a:r>
              <a:rPr lang="en-IE" dirty="0"/>
              <a:t> Class… constructor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1AB2479A-8EEF-A012-FA36-1DCC854152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C29A093-C089-FC09-89FC-56CD528FB7F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10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38806233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7" grpId="0" animBg="1"/>
      <p:bldP spid="29" grpId="0" animBg="1"/>
      <p:bldP spid="30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able&#10;&#10;Description automatically generated with medium confidence">
            <a:extLst>
              <a:ext uri="{FF2B5EF4-FFF2-40B4-BE49-F238E27FC236}">
                <a16:creationId xmlns:a16="http://schemas.microsoft.com/office/drawing/2014/main" id="{C82FF24B-5CE1-8941-ECC7-295A8C5DCE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" b="88637"/>
          <a:stretch/>
        </p:blipFill>
        <p:spPr>
          <a:xfrm>
            <a:off x="4523641" y="1207569"/>
            <a:ext cx="4106009" cy="427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C3C2130-7317-AD37-2101-4A4D75F9F4D6}"/>
              </a:ext>
            </a:extLst>
          </p:cNvPr>
          <p:cNvSpPr txBox="1"/>
          <p:nvPr/>
        </p:nvSpPr>
        <p:spPr>
          <a:xfrm>
            <a:off x="1587547" y="1260460"/>
            <a:ext cx="2620939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800" b="1" dirty="0"/>
              <a:t>Constructor</a:t>
            </a:r>
            <a:r>
              <a:rPr lang="en-IE" sz="1800" dirty="0"/>
              <a:t> </a:t>
            </a:r>
            <a:br>
              <a:rPr lang="en-IE" sz="1800" dirty="0"/>
            </a:br>
            <a:r>
              <a:rPr lang="en-IE" sz="1800" dirty="0"/>
              <a:t>i.e. for building objects.</a:t>
            </a:r>
          </a:p>
        </p:txBody>
      </p:sp>
      <p:sp>
        <p:nvSpPr>
          <p:cNvPr id="27" name="Rectangle: Rounded Corners 20">
            <a:extLst>
              <a:ext uri="{FF2B5EF4-FFF2-40B4-BE49-F238E27FC236}">
                <a16:creationId xmlns:a16="http://schemas.microsoft.com/office/drawing/2014/main" id="{291AFB0E-BDD0-B50D-0B6F-7D4FE04E05BC}"/>
              </a:ext>
            </a:extLst>
          </p:cNvPr>
          <p:cNvSpPr/>
          <p:nvPr/>
        </p:nvSpPr>
        <p:spPr>
          <a:xfrm>
            <a:off x="4872910" y="1405994"/>
            <a:ext cx="3699590" cy="251953"/>
          </a:xfrm>
          <a:prstGeom prst="roundRect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3EA4806-BB4F-BFE5-791A-8424C761DD6F}"/>
              </a:ext>
            </a:extLst>
          </p:cNvPr>
          <p:cNvCxnSpPr>
            <a:cxnSpLocks/>
          </p:cNvCxnSpPr>
          <p:nvPr/>
        </p:nvCxnSpPr>
        <p:spPr>
          <a:xfrm>
            <a:off x="4208486" y="1549571"/>
            <a:ext cx="418541" cy="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CF06EBA-C925-FFCD-3898-183E5D3C8BE0}"/>
              </a:ext>
            </a:extLst>
          </p:cNvPr>
          <p:cNvSpPr txBox="1"/>
          <p:nvPr/>
        </p:nvSpPr>
        <p:spPr>
          <a:xfrm>
            <a:off x="1694329" y="2322749"/>
            <a:ext cx="3053927" cy="323165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500" dirty="0"/>
              <a:t>The </a:t>
            </a:r>
            <a:r>
              <a:rPr lang="en-IE" sz="1500" b="1" dirty="0"/>
              <a:t>m</a:t>
            </a:r>
            <a:r>
              <a:rPr lang="en-IE" sz="1500" dirty="0"/>
              <a:t> icon means it is a </a:t>
            </a:r>
            <a:r>
              <a:rPr lang="en-IE" sz="1500" b="1" dirty="0"/>
              <a:t>method</a:t>
            </a:r>
            <a:r>
              <a:rPr lang="en-IE" sz="1500" dirty="0"/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EA449A-6A72-EF05-DAAB-D344D8230751}"/>
              </a:ext>
            </a:extLst>
          </p:cNvPr>
          <p:cNvSpPr txBox="1"/>
          <p:nvPr/>
        </p:nvSpPr>
        <p:spPr>
          <a:xfrm>
            <a:off x="2140955" y="3001316"/>
            <a:ext cx="3370574" cy="323165"/>
          </a:xfrm>
          <a:prstGeom prst="rect">
            <a:avLst/>
          </a:prstGeom>
          <a:solidFill>
            <a:srgbClr val="A1D38E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IE" sz="1500" dirty="0"/>
              <a:t>The </a:t>
            </a:r>
            <a:r>
              <a:rPr lang="en-IE" sz="1500" u="sng" dirty="0"/>
              <a:t>open padlock </a:t>
            </a:r>
            <a:r>
              <a:rPr lang="en-IE" sz="1500" dirty="0"/>
              <a:t>means it is </a:t>
            </a:r>
            <a:r>
              <a:rPr lang="en-IE" sz="1500" b="1" dirty="0"/>
              <a:t>public</a:t>
            </a:r>
            <a:r>
              <a:rPr lang="en-IE" sz="1500" dirty="0"/>
              <a:t>.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2DF585F-71AC-1D2B-B0A0-06A42045DDCB}"/>
              </a:ext>
            </a:extLst>
          </p:cNvPr>
          <p:cNvCxnSpPr>
            <a:cxnSpLocks/>
          </p:cNvCxnSpPr>
          <p:nvPr/>
        </p:nvCxnSpPr>
        <p:spPr>
          <a:xfrm flipV="1">
            <a:off x="4179911" y="1603360"/>
            <a:ext cx="771526" cy="733875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5C720D3-C2C2-133B-0F1E-7D4B6DF5D64D}"/>
              </a:ext>
            </a:extLst>
          </p:cNvPr>
          <p:cNvSpPr txBox="1"/>
          <p:nvPr/>
        </p:nvSpPr>
        <p:spPr>
          <a:xfrm>
            <a:off x="2958353" y="3665365"/>
            <a:ext cx="3882786" cy="323165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IE" sz="1500"/>
              <a:t>Constructors have same </a:t>
            </a:r>
            <a:r>
              <a:rPr lang="en-IE" sz="1500" dirty="0"/>
              <a:t>name as the class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33143A6-BFBB-9AC4-C20B-7B5F884F2C92}"/>
              </a:ext>
            </a:extLst>
          </p:cNvPr>
          <p:cNvCxnSpPr>
            <a:cxnSpLocks/>
          </p:cNvCxnSpPr>
          <p:nvPr/>
        </p:nvCxnSpPr>
        <p:spPr>
          <a:xfrm flipH="1" flipV="1">
            <a:off x="5693243" y="1578028"/>
            <a:ext cx="286893" cy="2087337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71E4840-FF88-BF90-A403-619D6B7D4DAB}"/>
              </a:ext>
            </a:extLst>
          </p:cNvPr>
          <p:cNvCxnSpPr>
            <a:cxnSpLocks/>
          </p:cNvCxnSpPr>
          <p:nvPr/>
        </p:nvCxnSpPr>
        <p:spPr>
          <a:xfrm flipV="1">
            <a:off x="5135493" y="1578028"/>
            <a:ext cx="58426" cy="1423289"/>
          </a:xfrm>
          <a:prstGeom prst="straightConnector1">
            <a:avLst/>
          </a:prstGeom>
          <a:ln w="28575">
            <a:solidFill>
              <a:srgbClr val="A1D38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6A326393-1F31-B283-E774-4D51C739C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AF88848-4204-2538-79FB-762EB3B4C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GymMember</a:t>
            </a:r>
            <a:r>
              <a:rPr lang="en-IE" dirty="0"/>
              <a:t> Class… constructor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B599C7-D711-3983-884D-495526CB9015}"/>
              </a:ext>
            </a:extLst>
          </p:cNvPr>
          <p:cNvSpPr txBox="1"/>
          <p:nvPr/>
        </p:nvSpPr>
        <p:spPr>
          <a:xfrm>
            <a:off x="6585540" y="4079825"/>
            <a:ext cx="1965191" cy="553998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IE" sz="1500" dirty="0"/>
              <a:t>Five </a:t>
            </a:r>
            <a:r>
              <a:rPr lang="en-IE" sz="1500" b="1" dirty="0"/>
              <a:t>parameters</a:t>
            </a:r>
            <a:r>
              <a:rPr lang="en-IE" sz="1500" dirty="0"/>
              <a:t>; </a:t>
            </a:r>
            <a:br>
              <a:rPr lang="en-IE" sz="1500" dirty="0"/>
            </a:br>
            <a:r>
              <a:rPr lang="en-IE" sz="1500" dirty="0"/>
              <a:t>one for each field.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5790F6B-E070-6E77-BD32-D19A1BA16F9C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6400801" y="1657946"/>
            <a:ext cx="1167335" cy="2421879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DD60CEE-C829-DB11-2D5D-015E41883A28}"/>
              </a:ext>
            </a:extLst>
          </p:cNvPr>
          <p:cNvCxnSpPr>
            <a:cxnSpLocks/>
          </p:cNvCxnSpPr>
          <p:nvPr/>
        </p:nvCxnSpPr>
        <p:spPr>
          <a:xfrm flipH="1" flipV="1">
            <a:off x="6841139" y="1657946"/>
            <a:ext cx="703443" cy="2421879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F62C64D-E56E-101C-7BF4-CD5358391B32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7429501" y="1635176"/>
            <a:ext cx="138635" cy="2444649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EE4588F-E088-96DF-1B51-0DCE7F02E081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7568136" y="1657946"/>
            <a:ext cx="204265" cy="2421879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D78932-447F-E8FB-9B14-0391EF7080E2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7568136" y="1635176"/>
            <a:ext cx="604315" cy="2444649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A73217D-A09E-C2EA-A4BF-2E85B1519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2D5698-06F1-7882-7C0E-AFB6BCB25D8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11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7617244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7922641" cy="761815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GymMember</a:t>
            </a:r>
            <a:r>
              <a:rPr lang="en-IE" dirty="0"/>
              <a:t> Class… Fields &amp; Constructor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559702-2446-1EAE-ED35-26563BFFFB43}"/>
              </a:ext>
            </a:extLst>
          </p:cNvPr>
          <p:cNvSpPr/>
          <p:nvPr/>
        </p:nvSpPr>
        <p:spPr>
          <a:xfrm>
            <a:off x="171450" y="895158"/>
            <a:ext cx="8908542" cy="4248342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algn="l"/>
            <a:endParaRPr lang="en-IE" sz="1688" b="1" dirty="0">
              <a:solidFill>
                <a:srgbClr val="000080"/>
              </a:solidFill>
              <a:latin typeface="Monaco" pitchFamily="2" charset="77"/>
            </a:endParaRPr>
          </a:p>
          <a:p>
            <a:pPr algn="l"/>
            <a:r>
              <a:rPr lang="en-IE" sz="1688" b="1" dirty="0">
                <a:solidFill>
                  <a:srgbClr val="000080"/>
                </a:solidFill>
                <a:latin typeface="Monaco" pitchFamily="2" charset="77"/>
              </a:rPr>
              <a:t>private </a:t>
            </a:r>
            <a:r>
              <a:rPr lang="en-IE" sz="1688" dirty="0">
                <a:latin typeface="Monaco" pitchFamily="2" charset="77"/>
              </a:rPr>
              <a:t>String </a:t>
            </a:r>
            <a:r>
              <a:rPr lang="en-IE" sz="1688" b="1" dirty="0">
                <a:solidFill>
                  <a:srgbClr val="660E7A"/>
                </a:solidFill>
                <a:latin typeface="Monaco" pitchFamily="2" charset="77"/>
              </a:rPr>
              <a:t>name </a:t>
            </a:r>
            <a:r>
              <a:rPr lang="en-IE" sz="1688" dirty="0">
                <a:latin typeface="Monaco" pitchFamily="2" charset="77"/>
              </a:rPr>
              <a:t>= </a:t>
            </a:r>
            <a:r>
              <a:rPr lang="en-IE" sz="1688" b="1" dirty="0">
                <a:solidFill>
                  <a:srgbClr val="008000"/>
                </a:solidFill>
                <a:latin typeface="Monaco" pitchFamily="2" charset="77"/>
              </a:rPr>
              <a:t>"Unknown"</a:t>
            </a:r>
            <a:r>
              <a:rPr lang="en-IE" sz="1688" dirty="0">
                <a:latin typeface="Monaco" pitchFamily="2" charset="77"/>
              </a:rPr>
              <a:t>;  </a:t>
            </a:r>
            <a:br>
              <a:rPr lang="en-IE" sz="1688" i="1" dirty="0">
                <a:solidFill>
                  <a:srgbClr val="808080"/>
                </a:solidFill>
                <a:latin typeface="Monaco" pitchFamily="2" charset="77"/>
              </a:rPr>
            </a:br>
            <a:r>
              <a:rPr lang="en-IE" sz="1688" b="1" dirty="0">
                <a:solidFill>
                  <a:srgbClr val="000080"/>
                </a:solidFill>
                <a:latin typeface="Monaco" pitchFamily="2" charset="77"/>
              </a:rPr>
              <a:t>private double </a:t>
            </a:r>
            <a:r>
              <a:rPr lang="en-IE" sz="1688" b="1" dirty="0">
                <a:solidFill>
                  <a:srgbClr val="660E7A"/>
                </a:solidFill>
                <a:latin typeface="Monaco" pitchFamily="2" charset="77"/>
              </a:rPr>
              <a:t>height </a:t>
            </a:r>
            <a:r>
              <a:rPr lang="en-IE" sz="1688" dirty="0">
                <a:latin typeface="Monaco" pitchFamily="2" charset="77"/>
              </a:rPr>
              <a:t>= </a:t>
            </a:r>
            <a:r>
              <a:rPr lang="en-IE" sz="1688" dirty="0">
                <a:solidFill>
                  <a:srgbClr val="0000FF"/>
                </a:solidFill>
                <a:latin typeface="Monaco" pitchFamily="2" charset="77"/>
              </a:rPr>
              <a:t>0.0</a:t>
            </a:r>
            <a:br>
              <a:rPr lang="en-IE" sz="1688" i="1" dirty="0">
                <a:solidFill>
                  <a:srgbClr val="808080"/>
                </a:solidFill>
                <a:latin typeface="Monaco" pitchFamily="2" charset="77"/>
              </a:rPr>
            </a:br>
            <a:r>
              <a:rPr lang="en-IE" sz="1688" b="1" dirty="0">
                <a:solidFill>
                  <a:srgbClr val="000080"/>
                </a:solidFill>
                <a:latin typeface="Monaco" pitchFamily="2" charset="77"/>
              </a:rPr>
              <a:t>private double </a:t>
            </a:r>
            <a:r>
              <a:rPr lang="en-IE" sz="1688" b="1" dirty="0">
                <a:solidFill>
                  <a:srgbClr val="660E7A"/>
                </a:solidFill>
                <a:latin typeface="Monaco" pitchFamily="2" charset="77"/>
              </a:rPr>
              <a:t>weight </a:t>
            </a:r>
            <a:r>
              <a:rPr lang="en-IE" sz="1688" dirty="0">
                <a:latin typeface="Monaco" pitchFamily="2" charset="77"/>
              </a:rPr>
              <a:t>= </a:t>
            </a:r>
            <a:r>
              <a:rPr lang="en-IE" sz="1688" dirty="0">
                <a:solidFill>
                  <a:srgbClr val="0000FF"/>
                </a:solidFill>
                <a:latin typeface="Monaco" pitchFamily="2" charset="77"/>
              </a:rPr>
              <a:t>0.0</a:t>
            </a:r>
            <a:r>
              <a:rPr lang="en-IE" sz="1688" dirty="0">
                <a:latin typeface="Monaco" pitchFamily="2" charset="77"/>
              </a:rPr>
              <a:t>;   </a:t>
            </a:r>
            <a:br>
              <a:rPr lang="en-IE" sz="1688" i="1" dirty="0">
                <a:solidFill>
                  <a:srgbClr val="808080"/>
                </a:solidFill>
                <a:latin typeface="Monaco" pitchFamily="2" charset="77"/>
              </a:rPr>
            </a:br>
            <a:r>
              <a:rPr lang="en-IE" sz="1688" b="1" dirty="0">
                <a:solidFill>
                  <a:srgbClr val="000080"/>
                </a:solidFill>
                <a:latin typeface="Monaco" pitchFamily="2" charset="77"/>
              </a:rPr>
              <a:t>private int </a:t>
            </a:r>
            <a:r>
              <a:rPr lang="en-IE" sz="1688" b="1" dirty="0" err="1">
                <a:solidFill>
                  <a:srgbClr val="660E7A"/>
                </a:solidFill>
                <a:latin typeface="Monaco" pitchFamily="2" charset="77"/>
              </a:rPr>
              <a:t>membershipNumber</a:t>
            </a:r>
            <a:r>
              <a:rPr lang="en-IE" sz="1688" b="1" dirty="0">
                <a:solidFill>
                  <a:srgbClr val="660E7A"/>
                </a:solidFill>
                <a:latin typeface="Monaco" pitchFamily="2" charset="77"/>
              </a:rPr>
              <a:t> </a:t>
            </a:r>
            <a:r>
              <a:rPr lang="en-IE" sz="1688" dirty="0">
                <a:latin typeface="Monaco" pitchFamily="2" charset="77"/>
              </a:rPr>
              <a:t>= </a:t>
            </a:r>
            <a:r>
              <a:rPr lang="en-IE" sz="1688" dirty="0">
                <a:solidFill>
                  <a:srgbClr val="0000FF"/>
                </a:solidFill>
                <a:latin typeface="Monaco" pitchFamily="2" charset="77"/>
              </a:rPr>
              <a:t>99999</a:t>
            </a:r>
            <a:r>
              <a:rPr lang="en-IE" sz="1688" dirty="0">
                <a:latin typeface="Monaco" pitchFamily="2" charset="77"/>
              </a:rPr>
              <a:t>; </a:t>
            </a:r>
          </a:p>
          <a:p>
            <a:pPr algn="l"/>
            <a:r>
              <a:rPr lang="en-IE" sz="1688" b="1" dirty="0">
                <a:solidFill>
                  <a:srgbClr val="000080"/>
                </a:solidFill>
                <a:latin typeface="Monaco" pitchFamily="2" charset="77"/>
              </a:rPr>
              <a:t>private </a:t>
            </a:r>
            <a:r>
              <a:rPr lang="en-IE" sz="1688" b="1" dirty="0" err="1">
                <a:solidFill>
                  <a:srgbClr val="000080"/>
                </a:solidFill>
                <a:latin typeface="Monaco" pitchFamily="2" charset="77"/>
              </a:rPr>
              <a:t>boolean</a:t>
            </a:r>
            <a:r>
              <a:rPr lang="en-IE" sz="1688" b="1" dirty="0">
                <a:solidFill>
                  <a:srgbClr val="000080"/>
                </a:solidFill>
                <a:latin typeface="Monaco" pitchFamily="2" charset="77"/>
              </a:rPr>
              <a:t> </a:t>
            </a:r>
            <a:r>
              <a:rPr lang="en-IE" sz="1688" b="1" dirty="0" err="1">
                <a:solidFill>
                  <a:srgbClr val="660E7A"/>
                </a:solidFill>
                <a:latin typeface="Monaco" pitchFamily="2" charset="77"/>
              </a:rPr>
              <a:t>isCurrentGymMember</a:t>
            </a:r>
            <a:r>
              <a:rPr lang="en-IE" sz="1688" b="1" dirty="0">
                <a:solidFill>
                  <a:srgbClr val="660E7A"/>
                </a:solidFill>
                <a:latin typeface="Monaco" pitchFamily="2" charset="77"/>
              </a:rPr>
              <a:t> </a:t>
            </a:r>
            <a:r>
              <a:rPr lang="en-IE" sz="1688" dirty="0">
                <a:latin typeface="Monaco" pitchFamily="2" charset="77"/>
              </a:rPr>
              <a:t>= </a:t>
            </a:r>
            <a:r>
              <a:rPr lang="en-IE" sz="1688" b="1" dirty="0">
                <a:solidFill>
                  <a:srgbClr val="000080"/>
                </a:solidFill>
                <a:latin typeface="Monaco" pitchFamily="2" charset="77"/>
              </a:rPr>
              <a:t>false</a:t>
            </a:r>
            <a:r>
              <a:rPr lang="en-IE" sz="1688" dirty="0">
                <a:latin typeface="Monaco" pitchFamily="2" charset="77"/>
              </a:rPr>
              <a:t>;</a:t>
            </a:r>
            <a:br>
              <a:rPr lang="en-IE" sz="1688" dirty="0">
                <a:latin typeface="Monaco" pitchFamily="2" charset="77"/>
              </a:rPr>
            </a:br>
            <a:br>
              <a:rPr lang="en-IE" sz="1688" dirty="0">
                <a:latin typeface="Monaco" pitchFamily="2" charset="77"/>
              </a:rPr>
            </a:br>
            <a:r>
              <a:rPr lang="en-IE" sz="1688" b="1" dirty="0">
                <a:solidFill>
                  <a:srgbClr val="000080"/>
                </a:solidFill>
                <a:latin typeface="Monaco" pitchFamily="2" charset="77"/>
              </a:rPr>
              <a:t>public </a:t>
            </a:r>
            <a:r>
              <a:rPr lang="en-IE" sz="1688" dirty="0">
                <a:latin typeface="Monaco" pitchFamily="2" charset="77"/>
              </a:rPr>
              <a:t>GymMember(String name, </a:t>
            </a:r>
            <a:r>
              <a:rPr lang="en-IE" sz="1688" b="1" dirty="0">
                <a:solidFill>
                  <a:srgbClr val="000080"/>
                </a:solidFill>
                <a:latin typeface="Monaco" pitchFamily="2" charset="77"/>
              </a:rPr>
              <a:t>double </a:t>
            </a:r>
            <a:r>
              <a:rPr lang="en-IE" sz="1688" dirty="0">
                <a:latin typeface="Monaco" pitchFamily="2" charset="77"/>
              </a:rPr>
              <a:t>height, </a:t>
            </a:r>
            <a:r>
              <a:rPr lang="en-IE" sz="1688" b="1" dirty="0">
                <a:solidFill>
                  <a:srgbClr val="000080"/>
                </a:solidFill>
                <a:latin typeface="Monaco" pitchFamily="2" charset="77"/>
              </a:rPr>
              <a:t>double </a:t>
            </a:r>
            <a:r>
              <a:rPr lang="en-IE" sz="1688" dirty="0">
                <a:latin typeface="Monaco" pitchFamily="2" charset="77"/>
              </a:rPr>
              <a:t>weight, </a:t>
            </a:r>
            <a:r>
              <a:rPr lang="en-IE" sz="1688" b="1" dirty="0">
                <a:solidFill>
                  <a:srgbClr val="000080"/>
                </a:solidFill>
                <a:latin typeface="Monaco" pitchFamily="2" charset="77"/>
              </a:rPr>
              <a:t>int </a:t>
            </a:r>
            <a:r>
              <a:rPr lang="en-IE" sz="1688" dirty="0" err="1">
                <a:latin typeface="Monaco" pitchFamily="2" charset="77"/>
              </a:rPr>
              <a:t>membershipNumber</a:t>
            </a:r>
            <a:r>
              <a:rPr lang="en-IE" sz="1688" dirty="0">
                <a:latin typeface="Monaco" pitchFamily="2" charset="77"/>
              </a:rPr>
              <a:t>, </a:t>
            </a:r>
            <a:r>
              <a:rPr lang="en-IE" sz="1688" b="1" dirty="0" err="1">
                <a:solidFill>
                  <a:srgbClr val="000080"/>
                </a:solidFill>
                <a:latin typeface="Monaco" pitchFamily="2" charset="77"/>
              </a:rPr>
              <a:t>boolean</a:t>
            </a:r>
            <a:r>
              <a:rPr lang="en-IE" sz="1688" b="1" dirty="0">
                <a:solidFill>
                  <a:srgbClr val="000080"/>
                </a:solidFill>
                <a:latin typeface="Monaco" pitchFamily="2" charset="77"/>
              </a:rPr>
              <a:t> </a:t>
            </a:r>
            <a:r>
              <a:rPr lang="en-IE" sz="1688" dirty="0" err="1">
                <a:latin typeface="Monaco" pitchFamily="2" charset="77"/>
              </a:rPr>
              <a:t>isCurrentGymMember</a:t>
            </a:r>
            <a:r>
              <a:rPr lang="en-IE" sz="1688" dirty="0">
                <a:latin typeface="Monaco" pitchFamily="2" charset="77"/>
              </a:rPr>
              <a:t>) {</a:t>
            </a:r>
            <a:br>
              <a:rPr lang="en-IE" sz="1688" dirty="0">
                <a:latin typeface="Monaco" pitchFamily="2" charset="77"/>
              </a:rPr>
            </a:br>
            <a:r>
              <a:rPr lang="en-IE" sz="1688" dirty="0">
                <a:latin typeface="Monaco" pitchFamily="2" charset="77"/>
              </a:rPr>
              <a:t>    </a:t>
            </a:r>
            <a:r>
              <a:rPr lang="en-IE" sz="1688" dirty="0" err="1">
                <a:latin typeface="Monaco" pitchFamily="2" charset="77"/>
              </a:rPr>
              <a:t>setName</a:t>
            </a:r>
            <a:r>
              <a:rPr lang="en-IE" sz="1688" dirty="0">
                <a:latin typeface="Monaco" pitchFamily="2" charset="77"/>
              </a:rPr>
              <a:t>(name);</a:t>
            </a:r>
            <a:br>
              <a:rPr lang="en-IE" sz="1688" dirty="0">
                <a:latin typeface="Monaco" pitchFamily="2" charset="77"/>
              </a:rPr>
            </a:br>
            <a:r>
              <a:rPr lang="en-IE" sz="1688" dirty="0">
                <a:latin typeface="Monaco" pitchFamily="2" charset="77"/>
              </a:rPr>
              <a:t>    </a:t>
            </a:r>
            <a:r>
              <a:rPr lang="en-IE" sz="1688" dirty="0" err="1">
                <a:latin typeface="Monaco" pitchFamily="2" charset="77"/>
              </a:rPr>
              <a:t>setHeight</a:t>
            </a:r>
            <a:r>
              <a:rPr lang="en-IE" sz="1688" dirty="0">
                <a:latin typeface="Monaco" pitchFamily="2" charset="77"/>
              </a:rPr>
              <a:t>(height);</a:t>
            </a:r>
            <a:br>
              <a:rPr lang="en-IE" sz="1688" dirty="0">
                <a:latin typeface="Monaco" pitchFamily="2" charset="77"/>
              </a:rPr>
            </a:br>
            <a:r>
              <a:rPr lang="en-IE" sz="1688" dirty="0">
                <a:latin typeface="Monaco" pitchFamily="2" charset="77"/>
              </a:rPr>
              <a:t>    </a:t>
            </a:r>
            <a:r>
              <a:rPr lang="en-IE" sz="1688" dirty="0" err="1">
                <a:latin typeface="Monaco" pitchFamily="2" charset="77"/>
              </a:rPr>
              <a:t>setWeight</a:t>
            </a:r>
            <a:r>
              <a:rPr lang="en-IE" sz="1688" dirty="0">
                <a:latin typeface="Monaco" pitchFamily="2" charset="77"/>
              </a:rPr>
              <a:t>(weight);</a:t>
            </a:r>
            <a:br>
              <a:rPr lang="en-IE" sz="1688" dirty="0">
                <a:latin typeface="Monaco" pitchFamily="2" charset="77"/>
              </a:rPr>
            </a:br>
            <a:r>
              <a:rPr lang="en-IE" sz="1688" dirty="0">
                <a:latin typeface="Monaco" pitchFamily="2" charset="77"/>
              </a:rPr>
              <a:t>    </a:t>
            </a:r>
            <a:r>
              <a:rPr lang="en-IE" sz="1688" dirty="0" err="1">
                <a:latin typeface="Monaco" pitchFamily="2" charset="77"/>
              </a:rPr>
              <a:t>setMembershipNumber</a:t>
            </a:r>
            <a:r>
              <a:rPr lang="en-IE" sz="1688" dirty="0">
                <a:latin typeface="Monaco" pitchFamily="2" charset="77"/>
              </a:rPr>
              <a:t>(</a:t>
            </a:r>
            <a:r>
              <a:rPr lang="en-IE" sz="1688" dirty="0" err="1">
                <a:latin typeface="Monaco" pitchFamily="2" charset="77"/>
              </a:rPr>
              <a:t>membershipNumber</a:t>
            </a:r>
            <a:r>
              <a:rPr lang="en-IE" sz="1688" dirty="0">
                <a:latin typeface="Monaco" pitchFamily="2" charset="77"/>
              </a:rPr>
              <a:t>);</a:t>
            </a:r>
            <a:br>
              <a:rPr lang="en-IE" sz="1688" dirty="0">
                <a:latin typeface="Monaco" pitchFamily="2" charset="77"/>
              </a:rPr>
            </a:br>
            <a:r>
              <a:rPr lang="en-IE" sz="1688" dirty="0">
                <a:latin typeface="Monaco" pitchFamily="2" charset="77"/>
              </a:rPr>
              <a:t>    </a:t>
            </a:r>
            <a:r>
              <a:rPr lang="en-IE" sz="1688" dirty="0" err="1">
                <a:latin typeface="Monaco" pitchFamily="2" charset="77"/>
              </a:rPr>
              <a:t>setCurrentGymMember</a:t>
            </a:r>
            <a:r>
              <a:rPr lang="en-IE" sz="1688" dirty="0">
                <a:latin typeface="Monaco" pitchFamily="2" charset="77"/>
              </a:rPr>
              <a:t>(</a:t>
            </a:r>
            <a:r>
              <a:rPr lang="en-IE" sz="1688" dirty="0" err="1">
                <a:latin typeface="Monaco" pitchFamily="2" charset="77"/>
              </a:rPr>
              <a:t>isCurrentGymMember</a:t>
            </a:r>
            <a:r>
              <a:rPr lang="en-IE" sz="1688" dirty="0">
                <a:latin typeface="Monaco" pitchFamily="2" charset="77"/>
              </a:rPr>
              <a:t>);</a:t>
            </a:r>
            <a:br>
              <a:rPr lang="en-IE" sz="1688" dirty="0">
                <a:latin typeface="Monaco" pitchFamily="2" charset="77"/>
              </a:rPr>
            </a:br>
            <a:r>
              <a:rPr lang="en-IE" sz="1688" dirty="0">
                <a:latin typeface="Monaco" pitchFamily="2" charset="77"/>
              </a:rPr>
              <a:t>}</a:t>
            </a:r>
          </a:p>
          <a:p>
            <a:pPr algn="l"/>
            <a:endParaRPr lang="en-US" sz="1688" dirty="0">
              <a:latin typeface="Monaco" pitchFamily="2" charset="77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DEF71E-A0D7-0034-6F43-A336BFC29338}"/>
              </a:ext>
            </a:extLst>
          </p:cNvPr>
          <p:cNvSpPr/>
          <p:nvPr/>
        </p:nvSpPr>
        <p:spPr>
          <a:xfrm>
            <a:off x="220434" y="1173720"/>
            <a:ext cx="5821777" cy="1398030"/>
          </a:xfrm>
          <a:prstGeom prst="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4CF50F-7000-1A83-A995-9E49D90398F7}"/>
              </a:ext>
            </a:extLst>
          </p:cNvPr>
          <p:cNvSpPr/>
          <p:nvPr/>
        </p:nvSpPr>
        <p:spPr>
          <a:xfrm>
            <a:off x="220435" y="2723553"/>
            <a:ext cx="8752115" cy="2090494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77A5121-0DFA-EBC8-CF2C-04FB32759CD0}"/>
              </a:ext>
            </a:extLst>
          </p:cNvPr>
          <p:cNvCxnSpPr>
            <a:cxnSpLocks/>
          </p:cNvCxnSpPr>
          <p:nvPr/>
        </p:nvCxnSpPr>
        <p:spPr>
          <a:xfrm flipH="1">
            <a:off x="4294094" y="681318"/>
            <a:ext cx="753035" cy="403411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16C1FDF-C359-FD83-94F2-0BE1F369F755}"/>
              </a:ext>
            </a:extLst>
          </p:cNvPr>
          <p:cNvCxnSpPr>
            <a:cxnSpLocks/>
          </p:cNvCxnSpPr>
          <p:nvPr/>
        </p:nvCxnSpPr>
        <p:spPr>
          <a:xfrm flipH="1">
            <a:off x="5262282" y="681318"/>
            <a:ext cx="1416424" cy="204223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3AF28628-D84F-E5E0-19FD-43F2ABA69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0EFF68C-7F98-9BB0-6FF1-A4631B2188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8C742EA-B79C-F3B7-8606-F339C9ED0E3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12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532729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GymMember</a:t>
            </a:r>
            <a:r>
              <a:rPr lang="en-IE" dirty="0"/>
              <a:t> Class… methods</a:t>
            </a:r>
          </a:p>
        </p:txBody>
      </p:sp>
      <p:pic>
        <p:nvPicPr>
          <p:cNvPr id="6" name="Picture 5" descr="Table&#10;&#10;Description automatically generated with medium confidence">
            <a:extLst>
              <a:ext uri="{FF2B5EF4-FFF2-40B4-BE49-F238E27FC236}">
                <a16:creationId xmlns:a16="http://schemas.microsoft.com/office/drawing/2014/main" id="{C82FF24B-5CE1-8941-ECC7-295A8C5DC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641" y="920697"/>
            <a:ext cx="4114802" cy="37632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7B87679-642A-C344-B856-5B77E5A63735}"/>
              </a:ext>
            </a:extLst>
          </p:cNvPr>
          <p:cNvSpPr txBox="1"/>
          <p:nvPr/>
        </p:nvSpPr>
        <p:spPr>
          <a:xfrm>
            <a:off x="1272988" y="2938538"/>
            <a:ext cx="2902803" cy="553998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500" b="1" dirty="0"/>
              <a:t>Methods</a:t>
            </a:r>
            <a:br>
              <a:rPr lang="en-IE" sz="1500"/>
            </a:br>
            <a:r>
              <a:rPr lang="en-IE" sz="1500"/>
              <a:t>i.e</a:t>
            </a:r>
            <a:r>
              <a:rPr lang="en-IE" sz="1500" dirty="0"/>
              <a:t>. the </a:t>
            </a:r>
            <a:r>
              <a:rPr lang="en-IE" sz="1500" b="1" dirty="0"/>
              <a:t>behaviours</a:t>
            </a:r>
            <a:r>
              <a:rPr lang="en-IE" sz="1500" dirty="0"/>
              <a:t> of the class</a:t>
            </a:r>
          </a:p>
        </p:txBody>
      </p:sp>
      <p:sp>
        <p:nvSpPr>
          <p:cNvPr id="27" name="Rectangle: Rounded Corners 6">
            <a:extLst>
              <a:ext uri="{FF2B5EF4-FFF2-40B4-BE49-F238E27FC236}">
                <a16:creationId xmlns:a16="http://schemas.microsoft.com/office/drawing/2014/main" id="{A7592025-56BA-47D6-3F10-EF8DD7CD21F9}"/>
              </a:ext>
            </a:extLst>
          </p:cNvPr>
          <p:cNvSpPr/>
          <p:nvPr/>
        </p:nvSpPr>
        <p:spPr>
          <a:xfrm>
            <a:off x="4681978" y="1370478"/>
            <a:ext cx="3261872" cy="2278581"/>
          </a:xfrm>
          <a:prstGeom prst="roundRect">
            <a:avLst/>
          </a:prstGeom>
          <a:noFill/>
          <a:ln w="38100">
            <a:solidFill>
              <a:srgbClr val="FCBA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A60563F-E5D0-E91B-7C08-1D644C5AF865}"/>
              </a:ext>
            </a:extLst>
          </p:cNvPr>
          <p:cNvCxnSpPr>
            <a:cxnSpLocks/>
          </p:cNvCxnSpPr>
          <p:nvPr/>
        </p:nvCxnSpPr>
        <p:spPr>
          <a:xfrm flipV="1">
            <a:off x="4175791" y="3294898"/>
            <a:ext cx="449038" cy="84796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653ED67-C259-959E-55A3-EBA2F640AFED}"/>
              </a:ext>
            </a:extLst>
          </p:cNvPr>
          <p:cNvSpPr txBox="1"/>
          <p:nvPr/>
        </p:nvSpPr>
        <p:spPr>
          <a:xfrm>
            <a:off x="1272988" y="2484999"/>
            <a:ext cx="3074252" cy="323165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E" sz="1500" b="0" dirty="0"/>
              <a:t>The </a:t>
            </a:r>
            <a:r>
              <a:rPr lang="en-IE" sz="1500" dirty="0"/>
              <a:t>m</a:t>
            </a:r>
            <a:r>
              <a:rPr lang="en-IE" sz="1500" b="0" dirty="0"/>
              <a:t> icon means it is a </a:t>
            </a:r>
            <a:r>
              <a:rPr lang="en-IE" sz="1500" dirty="0"/>
              <a:t>method</a:t>
            </a:r>
            <a:r>
              <a:rPr lang="en-IE" sz="1500" b="0" dirty="0"/>
              <a:t>.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BEDC7DC-EC3D-13B0-6B5E-8679630FB02C}"/>
              </a:ext>
            </a:extLst>
          </p:cNvPr>
          <p:cNvCxnSpPr>
            <a:cxnSpLocks/>
          </p:cNvCxnSpPr>
          <p:nvPr/>
        </p:nvCxnSpPr>
        <p:spPr>
          <a:xfrm>
            <a:off x="4061492" y="2724929"/>
            <a:ext cx="839602" cy="569969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84F714D-5C69-FD1C-F62A-C9489EB74973}"/>
              </a:ext>
            </a:extLst>
          </p:cNvPr>
          <p:cNvCxnSpPr>
            <a:cxnSpLocks/>
          </p:cNvCxnSpPr>
          <p:nvPr/>
        </p:nvCxnSpPr>
        <p:spPr>
          <a:xfrm>
            <a:off x="4004342" y="2073930"/>
            <a:ext cx="1143000" cy="949726"/>
          </a:xfrm>
          <a:prstGeom prst="straightConnector1">
            <a:avLst/>
          </a:prstGeom>
          <a:ln w="28575">
            <a:solidFill>
              <a:srgbClr val="A1D38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59D2A09-E097-F199-E84D-CEE6446EB38D}"/>
              </a:ext>
            </a:extLst>
          </p:cNvPr>
          <p:cNvSpPr txBox="1"/>
          <p:nvPr/>
        </p:nvSpPr>
        <p:spPr>
          <a:xfrm>
            <a:off x="1272988" y="2031459"/>
            <a:ext cx="3351841" cy="323165"/>
          </a:xfrm>
          <a:prstGeom prst="rect">
            <a:avLst/>
          </a:prstGeom>
          <a:solidFill>
            <a:srgbClr val="A1D38E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E" sz="1500" b="0" dirty="0"/>
              <a:t>The </a:t>
            </a:r>
            <a:r>
              <a:rPr lang="en-IE" sz="1500" b="0" u="sng" dirty="0"/>
              <a:t>open padlock </a:t>
            </a:r>
            <a:r>
              <a:rPr lang="en-IE" sz="1500" b="0" dirty="0"/>
              <a:t>means it is </a:t>
            </a:r>
            <a:r>
              <a:rPr lang="en-IE" sz="1500" dirty="0"/>
              <a:t>public</a:t>
            </a:r>
            <a:r>
              <a:rPr lang="en-IE" sz="1500" b="0" dirty="0"/>
              <a:t>.</a:t>
            </a:r>
          </a:p>
        </p:txBody>
      </p:sp>
      <p:pic>
        <p:nvPicPr>
          <p:cNvPr id="5" name="Picture 4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2795BF60-95F4-A703-E3D1-4EFDC57B73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520741C-28C1-E770-1EEA-27167B7AB7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9138DA2-5C1B-55BE-C4CD-8A759D2B6B2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13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8419916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7" grpId="0" animBg="1"/>
      <p:bldP spid="29" grpId="0" animBg="1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able&#10;&#10;Description automatically generated with medium confidence">
            <a:extLst>
              <a:ext uri="{FF2B5EF4-FFF2-40B4-BE49-F238E27FC236}">
                <a16:creationId xmlns:a16="http://schemas.microsoft.com/office/drawing/2014/main" id="{B6C05118-7F59-0EBA-6F04-A3248A41A4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641" y="920697"/>
            <a:ext cx="4114802" cy="37632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GymMember</a:t>
            </a:r>
            <a:r>
              <a:rPr lang="en-IE" dirty="0"/>
              <a:t> Class… methods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0A2DD3-9767-4B2A-23EF-32BC53F4310D}"/>
              </a:ext>
            </a:extLst>
          </p:cNvPr>
          <p:cNvSpPr txBox="1"/>
          <p:nvPr/>
        </p:nvSpPr>
        <p:spPr>
          <a:xfrm>
            <a:off x="2837690" y="1944615"/>
            <a:ext cx="1407738" cy="323165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/>
            </a:lvl1pPr>
          </a:lstStyle>
          <a:p>
            <a:r>
              <a:rPr lang="en-IE" sz="1500"/>
              <a:t>Method </a:t>
            </a:r>
            <a:r>
              <a:rPr lang="en-IE" sz="1500" b="1"/>
              <a:t>name</a:t>
            </a:r>
            <a:endParaRPr lang="en-IE" sz="15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5B38D2-6006-9158-F562-C1CE37E5B498}"/>
              </a:ext>
            </a:extLst>
          </p:cNvPr>
          <p:cNvSpPr txBox="1"/>
          <p:nvPr/>
        </p:nvSpPr>
        <p:spPr>
          <a:xfrm>
            <a:off x="2837691" y="977539"/>
            <a:ext cx="1419506" cy="323165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/>
            </a:lvl1pPr>
          </a:lstStyle>
          <a:p>
            <a:r>
              <a:rPr lang="en-IE" sz="1500" b="1" dirty="0"/>
              <a:t>Return</a:t>
            </a:r>
            <a:r>
              <a:rPr lang="en-IE" sz="1500" dirty="0"/>
              <a:t> </a:t>
            </a:r>
            <a:r>
              <a:rPr lang="en-IE" sz="1500" b="1" dirty="0"/>
              <a:t>type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18E781-96A5-AB1D-A885-4E9361414588}"/>
              </a:ext>
            </a:extLst>
          </p:cNvPr>
          <p:cNvCxnSpPr>
            <a:cxnSpLocks/>
          </p:cNvCxnSpPr>
          <p:nvPr/>
        </p:nvCxnSpPr>
        <p:spPr>
          <a:xfrm flipV="1">
            <a:off x="4229101" y="1601255"/>
            <a:ext cx="1200149" cy="499919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CFF6382-B9DF-277B-EC0D-3CB17B91FF27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4257197" y="1139122"/>
            <a:ext cx="1883627" cy="250407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623149-6C5D-DB8E-6A26-AA192D9C1B83}"/>
              </a:ext>
            </a:extLst>
          </p:cNvPr>
          <p:cNvCxnSpPr>
            <a:cxnSpLocks/>
          </p:cNvCxnSpPr>
          <p:nvPr/>
        </p:nvCxnSpPr>
        <p:spPr>
          <a:xfrm>
            <a:off x="5356972" y="1561688"/>
            <a:ext cx="586628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9CC4D31-58A2-ACAF-955A-4740D3ADF39F}"/>
              </a:ext>
            </a:extLst>
          </p:cNvPr>
          <p:cNvCxnSpPr/>
          <p:nvPr/>
        </p:nvCxnSpPr>
        <p:spPr>
          <a:xfrm>
            <a:off x="6057900" y="1559972"/>
            <a:ext cx="4572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D6DD7522-DA49-679B-F8AA-1DD14E3F48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F5B9E69-30B4-C81B-F098-D90379B47F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E5E359E-D43B-FFCE-40CA-5B6CF4177AF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14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2784894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able&#10;&#10;Description automatically generated with medium confidence">
            <a:extLst>
              <a:ext uri="{FF2B5EF4-FFF2-40B4-BE49-F238E27FC236}">
                <a16:creationId xmlns:a16="http://schemas.microsoft.com/office/drawing/2014/main" id="{345B6002-F3E1-4208-AE1B-148975BB8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641" y="920697"/>
            <a:ext cx="4114802" cy="37632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GymMember</a:t>
            </a:r>
            <a:r>
              <a:rPr lang="en-IE" dirty="0"/>
              <a:t> Class… getters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C67D78-F217-E74F-BB81-DBC1C6D734D2}"/>
              </a:ext>
            </a:extLst>
          </p:cNvPr>
          <p:cNvSpPr txBox="1"/>
          <p:nvPr/>
        </p:nvSpPr>
        <p:spPr>
          <a:xfrm>
            <a:off x="1765234" y="2051427"/>
            <a:ext cx="126176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800" b="1" dirty="0"/>
              <a:t>get</a:t>
            </a:r>
            <a:r>
              <a:rPr lang="en-IE" sz="1800" dirty="0"/>
              <a:t>ters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807B670-35A2-DD7E-6743-DF6F5BD56676}"/>
              </a:ext>
            </a:extLst>
          </p:cNvPr>
          <p:cNvCxnSpPr>
            <a:cxnSpLocks/>
            <a:stCxn id="11" idx="3"/>
            <a:endCxn id="24" idx="1"/>
          </p:cNvCxnSpPr>
          <p:nvPr/>
        </p:nvCxnSpPr>
        <p:spPr>
          <a:xfrm flipV="1">
            <a:off x="3027000" y="1457878"/>
            <a:ext cx="1830751" cy="77821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1C60B9F-27A4-4596-1D10-F0841DEB24DB}"/>
              </a:ext>
            </a:extLst>
          </p:cNvPr>
          <p:cNvSpPr/>
          <p:nvPr/>
        </p:nvSpPr>
        <p:spPr>
          <a:xfrm>
            <a:off x="4833258" y="2628498"/>
            <a:ext cx="2661557" cy="174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22" name="Rectangle: Rounded Corners 20">
            <a:extLst>
              <a:ext uri="{FF2B5EF4-FFF2-40B4-BE49-F238E27FC236}">
                <a16:creationId xmlns:a16="http://schemas.microsoft.com/office/drawing/2014/main" id="{8E5EEAB2-FD5C-0E1A-753E-C0A8D43C8383}"/>
              </a:ext>
            </a:extLst>
          </p:cNvPr>
          <p:cNvSpPr/>
          <p:nvPr/>
        </p:nvSpPr>
        <p:spPr>
          <a:xfrm>
            <a:off x="4857751" y="2214083"/>
            <a:ext cx="2661557" cy="174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23" name="Rectangle: Rounded Corners 20">
            <a:extLst>
              <a:ext uri="{FF2B5EF4-FFF2-40B4-BE49-F238E27FC236}">
                <a16:creationId xmlns:a16="http://schemas.microsoft.com/office/drawing/2014/main" id="{291AFE38-D714-0806-2E27-A56BF60ED7B8}"/>
              </a:ext>
            </a:extLst>
          </p:cNvPr>
          <p:cNvSpPr/>
          <p:nvPr/>
        </p:nvSpPr>
        <p:spPr>
          <a:xfrm>
            <a:off x="4833258" y="1774597"/>
            <a:ext cx="2661557" cy="174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24" name="Rectangle: Rounded Corners 20">
            <a:extLst>
              <a:ext uri="{FF2B5EF4-FFF2-40B4-BE49-F238E27FC236}">
                <a16:creationId xmlns:a16="http://schemas.microsoft.com/office/drawing/2014/main" id="{DDDE1C1B-B461-B3F6-BE66-097198E2DCAB}"/>
              </a:ext>
            </a:extLst>
          </p:cNvPr>
          <p:cNvSpPr/>
          <p:nvPr/>
        </p:nvSpPr>
        <p:spPr>
          <a:xfrm>
            <a:off x="4857751" y="1370478"/>
            <a:ext cx="2661557" cy="174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25" name="Rectangle: Rounded Corners 20">
            <a:extLst>
              <a:ext uri="{FF2B5EF4-FFF2-40B4-BE49-F238E27FC236}">
                <a16:creationId xmlns:a16="http://schemas.microsoft.com/office/drawing/2014/main" id="{7C1E616F-DB7E-4F9B-5BCF-DA981034E0F9}"/>
              </a:ext>
            </a:extLst>
          </p:cNvPr>
          <p:cNvSpPr/>
          <p:nvPr/>
        </p:nvSpPr>
        <p:spPr>
          <a:xfrm>
            <a:off x="4857750" y="3020674"/>
            <a:ext cx="2661557" cy="174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62A5FA5-F6D6-7A12-036F-D2FDD2D34835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 flipV="1">
            <a:off x="3027000" y="1861997"/>
            <a:ext cx="1806258" cy="37409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A75663C-0738-8E79-5C2B-F1BC27849AFA}"/>
              </a:ext>
            </a:extLst>
          </p:cNvPr>
          <p:cNvCxnSpPr>
            <a:cxnSpLocks/>
            <a:stCxn id="11" idx="3"/>
            <a:endCxn id="22" idx="1"/>
          </p:cNvCxnSpPr>
          <p:nvPr/>
        </p:nvCxnSpPr>
        <p:spPr>
          <a:xfrm>
            <a:off x="3027000" y="2236093"/>
            <a:ext cx="1830751" cy="653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9C7E6E1-BDA6-A38E-F1C2-50D74DF1BF9A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027000" y="2236093"/>
            <a:ext cx="1830750" cy="47980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57E43D-9224-A8C0-0B69-373EDA84A209}"/>
              </a:ext>
            </a:extLst>
          </p:cNvPr>
          <p:cNvCxnSpPr>
            <a:cxnSpLocks/>
          </p:cNvCxnSpPr>
          <p:nvPr/>
        </p:nvCxnSpPr>
        <p:spPr>
          <a:xfrm>
            <a:off x="3027001" y="2224552"/>
            <a:ext cx="1806257" cy="7693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54BF8E1-5B24-1062-5E52-82A80EC84CCD}"/>
              </a:ext>
            </a:extLst>
          </p:cNvPr>
          <p:cNvCxnSpPr>
            <a:cxnSpLocks/>
            <a:stCxn id="11" idx="3"/>
            <a:endCxn id="25" idx="1"/>
          </p:cNvCxnSpPr>
          <p:nvPr/>
        </p:nvCxnSpPr>
        <p:spPr>
          <a:xfrm>
            <a:off x="3027000" y="2236093"/>
            <a:ext cx="1830750" cy="87198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7173B77-488F-0C1C-4FB1-6BBB2717C0BF}"/>
              </a:ext>
            </a:extLst>
          </p:cNvPr>
          <p:cNvSpPr txBox="1"/>
          <p:nvPr/>
        </p:nvSpPr>
        <p:spPr>
          <a:xfrm>
            <a:off x="1089271" y="3383228"/>
            <a:ext cx="2686050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800" dirty="0"/>
              <a:t>Note the different naming standard for a </a:t>
            </a:r>
            <a:r>
              <a:rPr lang="en-IE" sz="1800" dirty="0" err="1"/>
              <a:t>boolean</a:t>
            </a:r>
            <a:r>
              <a:rPr lang="en-IE" sz="1800" dirty="0"/>
              <a:t> field getter 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EB5D91A-98CE-F2B0-9798-BBE6BEDB2BA3}"/>
              </a:ext>
            </a:extLst>
          </p:cNvPr>
          <p:cNvCxnSpPr>
            <a:cxnSpLocks/>
          </p:cNvCxnSpPr>
          <p:nvPr/>
        </p:nvCxnSpPr>
        <p:spPr>
          <a:xfrm flipV="1">
            <a:off x="3775321" y="3210104"/>
            <a:ext cx="1593360" cy="623247"/>
          </a:xfrm>
          <a:prstGeom prst="straightConnector1">
            <a:avLst/>
          </a:prstGeom>
          <a:ln w="28575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9B0147AA-5F88-0F22-6B54-DA8D6B60AF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5D02D6-1762-F46C-A603-0D31588ED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9F2786-673F-44D0-3065-405DA5E2D09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15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130588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Get</a:t>
            </a:r>
            <a:r>
              <a:rPr lang="en-IE" dirty="0"/>
              <a:t>ters (Accessor Methods)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Accessor</a:t>
            </a:r>
            <a:r>
              <a:rPr lang="en-US" dirty="0"/>
              <a:t> methods </a:t>
            </a:r>
          </a:p>
          <a:p>
            <a:pPr lvl="1"/>
            <a:r>
              <a:rPr lang="en-US" sz="2000" dirty="0"/>
              <a:t>return information about the </a:t>
            </a:r>
            <a:r>
              <a:rPr lang="en-US" sz="2000" b="1" dirty="0"/>
              <a:t>state</a:t>
            </a:r>
            <a:r>
              <a:rPr lang="en-US" sz="2000" dirty="0"/>
              <a:t> of an object </a:t>
            </a:r>
          </a:p>
          <a:p>
            <a:pPr lvl="2"/>
            <a:r>
              <a:rPr lang="en-US" sz="1600" dirty="0"/>
              <a:t>i.e. </a:t>
            </a:r>
            <a:r>
              <a:rPr lang="en-US" sz="1600" b="1" dirty="0"/>
              <a:t>the values stored in the fields</a:t>
            </a:r>
            <a:r>
              <a:rPr lang="en-US" sz="1600" dirty="0"/>
              <a:t>.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‘getter’ </a:t>
            </a:r>
            <a:r>
              <a:rPr lang="en-US" dirty="0"/>
              <a:t>method </a:t>
            </a:r>
          </a:p>
          <a:p>
            <a:pPr lvl="1"/>
            <a:r>
              <a:rPr lang="en-US" sz="2000" dirty="0"/>
              <a:t>is a specific type of </a:t>
            </a:r>
            <a:r>
              <a:rPr lang="en-US" sz="2000" b="1" dirty="0">
                <a:solidFill>
                  <a:srgbClr val="00B050"/>
                </a:solidFill>
              </a:rPr>
              <a:t>accessor</a:t>
            </a:r>
            <a:r>
              <a:rPr lang="en-US" sz="2000" dirty="0"/>
              <a:t> method and typically:</a:t>
            </a:r>
          </a:p>
          <a:p>
            <a:pPr lvl="2"/>
            <a:r>
              <a:rPr lang="en-US" sz="1600" b="1" dirty="0"/>
              <a:t>contains a return statement </a:t>
            </a:r>
            <a:r>
              <a:rPr lang="en-US" sz="1600" dirty="0"/>
              <a:t>(as the last executable statement in the method).</a:t>
            </a:r>
          </a:p>
          <a:p>
            <a:pPr lvl="2"/>
            <a:r>
              <a:rPr lang="en-US" sz="1600" dirty="0"/>
              <a:t>defines a </a:t>
            </a:r>
            <a:r>
              <a:rPr lang="en-US" sz="1600" b="1" dirty="0"/>
              <a:t>return</a:t>
            </a:r>
            <a:r>
              <a:rPr lang="en-US" sz="1600" dirty="0"/>
              <a:t> </a:t>
            </a:r>
            <a:r>
              <a:rPr lang="en-US" sz="1600" b="1" dirty="0"/>
              <a:t>type</a:t>
            </a:r>
            <a:r>
              <a:rPr lang="en-US" sz="1600" dirty="0"/>
              <a:t>.</a:t>
            </a:r>
          </a:p>
          <a:p>
            <a:pPr lvl="2"/>
            <a:r>
              <a:rPr lang="en-US" sz="1600" b="1" dirty="0"/>
              <a:t>does NOT change the object state</a:t>
            </a:r>
            <a:r>
              <a:rPr lang="en-US" sz="1600" dirty="0"/>
              <a:t>.</a:t>
            </a:r>
            <a:endParaRPr lang="en-US" sz="2800" dirty="0"/>
          </a:p>
          <a:p>
            <a:pPr marL="0" indent="0">
              <a:buNone/>
            </a:pPr>
            <a:endParaRPr lang="en-IE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97F73-D09D-79F0-D912-F85070C278D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16</a:t>
            </a:fld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6DADCD-644A-7871-EBD1-4449ED2F5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032177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Get</a:t>
            </a:r>
            <a:r>
              <a:rPr lang="en-IE" dirty="0"/>
              <a:t>ters</a:t>
            </a:r>
            <a:endParaRPr lang="en-US" dirty="0"/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016081" y="2460967"/>
            <a:ext cx="3631123" cy="1200329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IE" sz="1800" dirty="0">
                <a:latin typeface="Monaco" pitchFamily="2" charset="77"/>
                <a:cs typeface="Times" pitchFamily="-32" charset="0"/>
              </a:rPr>
              <a:t>public double </a:t>
            </a:r>
            <a:r>
              <a:rPr lang="en-IE" sz="1800" dirty="0" err="1">
                <a:latin typeface="Monaco" pitchFamily="2" charset="77"/>
                <a:cs typeface="Times" pitchFamily="-32" charset="0"/>
              </a:rPr>
              <a:t>getHeight</a:t>
            </a:r>
            <a:r>
              <a:rPr lang="en-IE" sz="1800" dirty="0">
                <a:latin typeface="Monaco" pitchFamily="2" charset="77"/>
                <a:cs typeface="Times" pitchFamily="-32" charset="0"/>
              </a:rPr>
              <a:t>()</a:t>
            </a:r>
          </a:p>
          <a:p>
            <a:pPr algn="l"/>
            <a:r>
              <a:rPr lang="en-IE" sz="1800" dirty="0">
                <a:latin typeface="Monaco" pitchFamily="2" charset="77"/>
                <a:cs typeface="Times" pitchFamily="-32" charset="0"/>
              </a:rPr>
              <a:t>{</a:t>
            </a:r>
          </a:p>
          <a:p>
            <a:pPr algn="l"/>
            <a:r>
              <a:rPr lang="en-IE" sz="1800" dirty="0">
                <a:latin typeface="Monaco" pitchFamily="2" charset="77"/>
                <a:cs typeface="Times" pitchFamily="-32" charset="0"/>
              </a:rPr>
              <a:t>     return height;</a:t>
            </a:r>
          </a:p>
          <a:p>
            <a:pPr algn="l"/>
            <a:r>
              <a:rPr lang="en-IE" sz="1800" dirty="0">
                <a:latin typeface="Monaco" pitchFamily="2" charset="77"/>
                <a:cs typeface="Times" pitchFamily="-32" charset="0"/>
              </a:rPr>
              <a:t>}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3252789" y="1626395"/>
            <a:ext cx="1178719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return type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4814888" y="1866900"/>
            <a:ext cx="1372492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method name</a:t>
            </a: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5938837" y="2274095"/>
            <a:ext cx="1547813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parameter list (empty)</a:t>
            </a:r>
          </a:p>
        </p:txBody>
      </p:sp>
      <p:sp>
        <p:nvSpPr>
          <p:cNvPr id="17416" name="Oval 8"/>
          <p:cNvSpPr>
            <a:spLocks noChangeArrowheads="1"/>
          </p:cNvSpPr>
          <p:nvPr/>
        </p:nvSpPr>
        <p:spPr bwMode="auto">
          <a:xfrm>
            <a:off x="2046700" y="2814583"/>
            <a:ext cx="273844" cy="823630"/>
          </a:xfrm>
          <a:prstGeom prst="ellipse">
            <a:avLst/>
          </a:prstGeom>
          <a:noFill/>
          <a:ln w="28575">
            <a:solidFill>
              <a:srgbClr val="A571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2338387" y="3817145"/>
            <a:ext cx="3414713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start and end of method body (block)</a:t>
            </a:r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6057247" y="3050359"/>
            <a:ext cx="158569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return statement</a:t>
            </a:r>
          </a:p>
        </p:txBody>
      </p:sp>
      <p:sp>
        <p:nvSpPr>
          <p:cNvPr id="17419" name="Line 11"/>
          <p:cNvSpPr>
            <a:spLocks noChangeShapeType="1"/>
          </p:cNvSpPr>
          <p:nvPr/>
        </p:nvSpPr>
        <p:spPr bwMode="auto">
          <a:xfrm flipH="1" flipV="1">
            <a:off x="2166938" y="3657600"/>
            <a:ext cx="1714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sz="1688"/>
          </a:p>
        </p:txBody>
      </p:sp>
      <p:sp>
        <p:nvSpPr>
          <p:cNvPr id="17420" name="Line 12"/>
          <p:cNvSpPr>
            <a:spLocks noChangeShapeType="1"/>
          </p:cNvSpPr>
          <p:nvPr/>
        </p:nvSpPr>
        <p:spPr bwMode="auto">
          <a:xfrm flipH="1">
            <a:off x="3424238" y="1931194"/>
            <a:ext cx="28575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sz="1688"/>
          </a:p>
        </p:txBody>
      </p:sp>
      <p:sp>
        <p:nvSpPr>
          <p:cNvPr id="17421" name="Line 13"/>
          <p:cNvSpPr>
            <a:spLocks noChangeShapeType="1"/>
          </p:cNvSpPr>
          <p:nvPr/>
        </p:nvSpPr>
        <p:spPr bwMode="auto">
          <a:xfrm flipH="1">
            <a:off x="4795838" y="2114550"/>
            <a:ext cx="419100" cy="3464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 defTabSz="366737" rtl="0"/>
            <a:endParaRPr lang="en-IE" sz="1688"/>
          </a:p>
        </p:txBody>
      </p:sp>
      <p:sp>
        <p:nvSpPr>
          <p:cNvPr id="17422" name="Line 14"/>
          <p:cNvSpPr>
            <a:spLocks noChangeShapeType="1"/>
          </p:cNvSpPr>
          <p:nvPr/>
        </p:nvSpPr>
        <p:spPr bwMode="auto">
          <a:xfrm flipH="1">
            <a:off x="5414682" y="2515995"/>
            <a:ext cx="586068" cy="10776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 defTabSz="366737" rtl="0"/>
            <a:endParaRPr lang="en-IE" sz="1688"/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 flipH="1">
            <a:off x="4795838" y="3188499"/>
            <a:ext cx="1261410" cy="2804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 defTabSz="366737" rtl="0"/>
            <a:endParaRPr lang="en-IE" sz="1688"/>
          </a:p>
        </p:txBody>
      </p:sp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1453755" y="1866900"/>
            <a:ext cx="1608133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17425" name="Line 17"/>
          <p:cNvSpPr>
            <a:spLocks noChangeShapeType="1"/>
          </p:cNvSpPr>
          <p:nvPr/>
        </p:nvSpPr>
        <p:spPr bwMode="auto">
          <a:xfrm>
            <a:off x="1938338" y="2171701"/>
            <a:ext cx="571500" cy="2738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sz="1688"/>
          </a:p>
        </p:txBody>
      </p:sp>
      <p:sp>
        <p:nvSpPr>
          <p:cNvPr id="17" name="Oval 8"/>
          <p:cNvSpPr>
            <a:spLocks noChangeArrowheads="1"/>
          </p:cNvSpPr>
          <p:nvPr/>
        </p:nvSpPr>
        <p:spPr bwMode="auto">
          <a:xfrm>
            <a:off x="1957855" y="2441578"/>
            <a:ext cx="1066334" cy="358772"/>
          </a:xfrm>
          <a:prstGeom prst="ellipse">
            <a:avLst/>
          </a:prstGeom>
          <a:noFill/>
          <a:ln w="28575">
            <a:solidFill>
              <a:srgbClr val="A571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0C0578-A68B-FA20-9E9F-BE55284E73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49C11C-736F-DDA0-E03D-E80B5ED4169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17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0635793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/>
      <p:bldP spid="17414" grpId="0"/>
      <p:bldP spid="17415" grpId="0"/>
      <p:bldP spid="17416" grpId="0" animBg="1"/>
      <p:bldP spid="17417" grpId="0"/>
      <p:bldP spid="17418" grpId="0"/>
      <p:bldP spid="17419" grpId="0" animBg="1"/>
      <p:bldP spid="17420" grpId="0" animBg="1"/>
      <p:bldP spid="17421" grpId="0" animBg="1"/>
      <p:bldP spid="17422" grpId="0" animBg="1"/>
      <p:bldP spid="17423" grpId="0" animBg="1"/>
      <p:bldP spid="17424" grpId="0"/>
      <p:bldP spid="17425" grpId="0" animBg="1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2700" dirty="0"/>
              <a:t>A </a:t>
            </a:r>
            <a:r>
              <a:rPr lang="en-IE" sz="2700" b="1" dirty="0">
                <a:latin typeface="Monaco" pitchFamily="2" charset="77"/>
              </a:rPr>
              <a:t>GymMember</a:t>
            </a:r>
            <a:r>
              <a:rPr lang="en-IE" sz="2700" dirty="0"/>
              <a:t> Class… getters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419A6C-9B5A-424C-99BA-93AEEC632613}"/>
              </a:ext>
            </a:extLst>
          </p:cNvPr>
          <p:cNvSpPr/>
          <p:nvPr/>
        </p:nvSpPr>
        <p:spPr>
          <a:xfrm>
            <a:off x="5251163" y="380907"/>
            <a:ext cx="3314700" cy="415498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E" sz="1200" b="1" dirty="0">
                <a:solidFill>
                  <a:srgbClr val="000080"/>
                </a:solidFill>
                <a:latin typeface="Monaco" pitchFamily="2" charset="77"/>
              </a:rPr>
              <a:t>public </a:t>
            </a:r>
            <a:r>
              <a:rPr lang="en-IE" sz="1200" dirty="0">
                <a:latin typeface="Monaco" pitchFamily="2" charset="77"/>
              </a:rPr>
              <a:t>String </a:t>
            </a:r>
            <a:r>
              <a:rPr lang="en-IE" sz="1200" dirty="0" err="1">
                <a:latin typeface="Monaco" pitchFamily="2" charset="77"/>
              </a:rPr>
              <a:t>getName</a:t>
            </a:r>
            <a:r>
              <a:rPr lang="en-IE" sz="1200" dirty="0">
                <a:latin typeface="Monaco" pitchFamily="2" charset="77"/>
              </a:rPr>
              <a:t>() {</a:t>
            </a:r>
            <a:br>
              <a:rPr lang="en-IE" sz="1200" dirty="0">
                <a:latin typeface="Monaco" pitchFamily="2" charset="77"/>
              </a:rPr>
            </a:br>
            <a:r>
              <a:rPr lang="en-IE" sz="1200" dirty="0">
                <a:latin typeface="Monaco" pitchFamily="2" charset="77"/>
              </a:rPr>
              <a:t>    </a:t>
            </a:r>
            <a:r>
              <a:rPr lang="en-IE" sz="1200" b="1" dirty="0">
                <a:solidFill>
                  <a:srgbClr val="000080"/>
                </a:solidFill>
                <a:latin typeface="Monaco" pitchFamily="2" charset="77"/>
              </a:rPr>
              <a:t>return </a:t>
            </a:r>
            <a:r>
              <a:rPr lang="en-IE" sz="1200" b="1" dirty="0">
                <a:solidFill>
                  <a:srgbClr val="660E7A"/>
                </a:solidFill>
                <a:latin typeface="Monaco" pitchFamily="2" charset="77"/>
              </a:rPr>
              <a:t>name</a:t>
            </a:r>
            <a:r>
              <a:rPr lang="en-IE" sz="1200" dirty="0">
                <a:latin typeface="Monaco" pitchFamily="2" charset="77"/>
              </a:rPr>
              <a:t>;</a:t>
            </a:r>
            <a:br>
              <a:rPr lang="en-IE" sz="1200" dirty="0">
                <a:latin typeface="Monaco" pitchFamily="2" charset="77"/>
              </a:rPr>
            </a:br>
            <a:r>
              <a:rPr lang="en-IE" sz="1200" dirty="0">
                <a:latin typeface="Monaco" pitchFamily="2" charset="77"/>
              </a:rPr>
              <a:t>}</a:t>
            </a:r>
            <a:br>
              <a:rPr lang="en-IE" sz="1200" dirty="0">
                <a:latin typeface="Monaco" pitchFamily="2" charset="77"/>
              </a:rPr>
            </a:br>
            <a:br>
              <a:rPr lang="en-IE" sz="1200" dirty="0">
                <a:latin typeface="Monaco" pitchFamily="2" charset="77"/>
              </a:rPr>
            </a:br>
            <a:r>
              <a:rPr lang="en-IE" sz="1200" b="1" dirty="0">
                <a:solidFill>
                  <a:srgbClr val="000080"/>
                </a:solidFill>
                <a:latin typeface="Monaco" pitchFamily="2" charset="77"/>
              </a:rPr>
              <a:t>public double </a:t>
            </a:r>
            <a:r>
              <a:rPr lang="en-IE" sz="1200" dirty="0" err="1">
                <a:latin typeface="Monaco" pitchFamily="2" charset="77"/>
              </a:rPr>
              <a:t>getHeight</a:t>
            </a:r>
            <a:r>
              <a:rPr lang="en-IE" sz="1200" dirty="0">
                <a:latin typeface="Monaco" pitchFamily="2" charset="77"/>
              </a:rPr>
              <a:t>() {</a:t>
            </a:r>
            <a:br>
              <a:rPr lang="en-IE" sz="1200" dirty="0">
                <a:latin typeface="Monaco" pitchFamily="2" charset="77"/>
              </a:rPr>
            </a:br>
            <a:r>
              <a:rPr lang="en-IE" sz="1200" dirty="0">
                <a:latin typeface="Monaco" pitchFamily="2" charset="77"/>
              </a:rPr>
              <a:t>    </a:t>
            </a:r>
            <a:r>
              <a:rPr lang="en-IE" sz="1200" b="1" dirty="0">
                <a:solidFill>
                  <a:srgbClr val="000080"/>
                </a:solidFill>
                <a:latin typeface="Monaco" pitchFamily="2" charset="77"/>
              </a:rPr>
              <a:t>return </a:t>
            </a:r>
            <a:r>
              <a:rPr lang="en-IE" sz="1200" b="1" dirty="0">
                <a:solidFill>
                  <a:srgbClr val="660E7A"/>
                </a:solidFill>
                <a:latin typeface="Monaco" pitchFamily="2" charset="77"/>
              </a:rPr>
              <a:t>height</a:t>
            </a:r>
            <a:r>
              <a:rPr lang="en-IE" sz="1200" dirty="0">
                <a:latin typeface="Monaco" pitchFamily="2" charset="77"/>
              </a:rPr>
              <a:t>;</a:t>
            </a:r>
            <a:br>
              <a:rPr lang="en-IE" sz="1200" dirty="0">
                <a:latin typeface="Monaco" pitchFamily="2" charset="77"/>
              </a:rPr>
            </a:br>
            <a:r>
              <a:rPr lang="en-IE" sz="1200" dirty="0">
                <a:latin typeface="Monaco" pitchFamily="2" charset="77"/>
              </a:rPr>
              <a:t>}</a:t>
            </a:r>
            <a:br>
              <a:rPr lang="en-IE" sz="1200" dirty="0">
                <a:latin typeface="Monaco" pitchFamily="2" charset="77"/>
              </a:rPr>
            </a:br>
            <a:br>
              <a:rPr lang="en-IE" sz="1200" dirty="0">
                <a:latin typeface="Monaco" pitchFamily="2" charset="77"/>
              </a:rPr>
            </a:br>
            <a:r>
              <a:rPr lang="en-IE" sz="1200" b="1" dirty="0">
                <a:solidFill>
                  <a:srgbClr val="000080"/>
                </a:solidFill>
                <a:latin typeface="Monaco" pitchFamily="2" charset="77"/>
              </a:rPr>
              <a:t>public double </a:t>
            </a:r>
            <a:r>
              <a:rPr lang="en-IE" sz="1200" dirty="0" err="1">
                <a:latin typeface="Monaco" pitchFamily="2" charset="77"/>
              </a:rPr>
              <a:t>getWeight</a:t>
            </a:r>
            <a:r>
              <a:rPr lang="en-IE" sz="1200" dirty="0">
                <a:latin typeface="Monaco" pitchFamily="2" charset="77"/>
              </a:rPr>
              <a:t>() {</a:t>
            </a:r>
            <a:br>
              <a:rPr lang="en-IE" sz="1200" dirty="0">
                <a:latin typeface="Monaco" pitchFamily="2" charset="77"/>
              </a:rPr>
            </a:br>
            <a:r>
              <a:rPr lang="en-IE" sz="1200" dirty="0">
                <a:latin typeface="Monaco" pitchFamily="2" charset="77"/>
              </a:rPr>
              <a:t>    </a:t>
            </a:r>
            <a:r>
              <a:rPr lang="en-IE" sz="1200" b="1" dirty="0">
                <a:solidFill>
                  <a:srgbClr val="000080"/>
                </a:solidFill>
                <a:latin typeface="Monaco" pitchFamily="2" charset="77"/>
              </a:rPr>
              <a:t>return </a:t>
            </a:r>
            <a:r>
              <a:rPr lang="en-IE" sz="1200" b="1" dirty="0">
                <a:solidFill>
                  <a:srgbClr val="660E7A"/>
                </a:solidFill>
                <a:latin typeface="Monaco" pitchFamily="2" charset="77"/>
              </a:rPr>
              <a:t>weight</a:t>
            </a:r>
            <a:r>
              <a:rPr lang="en-IE" sz="1200" dirty="0">
                <a:latin typeface="Monaco" pitchFamily="2" charset="77"/>
              </a:rPr>
              <a:t>;</a:t>
            </a:r>
            <a:br>
              <a:rPr lang="en-IE" sz="1200" dirty="0">
                <a:latin typeface="Monaco" pitchFamily="2" charset="77"/>
              </a:rPr>
            </a:br>
            <a:r>
              <a:rPr lang="en-IE" sz="1200" dirty="0">
                <a:latin typeface="Monaco" pitchFamily="2" charset="77"/>
              </a:rPr>
              <a:t>}</a:t>
            </a:r>
            <a:br>
              <a:rPr lang="en-IE" sz="1200" dirty="0">
                <a:latin typeface="Monaco" pitchFamily="2" charset="77"/>
              </a:rPr>
            </a:br>
            <a:br>
              <a:rPr lang="en-IE" sz="1200" dirty="0">
                <a:latin typeface="Monaco" pitchFamily="2" charset="77"/>
              </a:rPr>
            </a:br>
            <a:br>
              <a:rPr lang="en-IE" sz="1200" dirty="0">
                <a:latin typeface="Monaco" pitchFamily="2" charset="77"/>
              </a:rPr>
            </a:br>
            <a:r>
              <a:rPr lang="en-IE" sz="1200" b="1" dirty="0">
                <a:solidFill>
                  <a:srgbClr val="000080"/>
                </a:solidFill>
                <a:latin typeface="Monaco" pitchFamily="2" charset="77"/>
              </a:rPr>
              <a:t>public int </a:t>
            </a:r>
            <a:r>
              <a:rPr lang="en-IE" sz="1200" dirty="0" err="1">
                <a:latin typeface="Monaco" pitchFamily="2" charset="77"/>
              </a:rPr>
              <a:t>getMembershipNumber</a:t>
            </a:r>
            <a:r>
              <a:rPr lang="en-IE" sz="1200" dirty="0">
                <a:latin typeface="Monaco" pitchFamily="2" charset="77"/>
              </a:rPr>
              <a:t>() {</a:t>
            </a:r>
            <a:br>
              <a:rPr lang="en-IE" sz="1200" dirty="0">
                <a:latin typeface="Monaco" pitchFamily="2" charset="77"/>
              </a:rPr>
            </a:br>
            <a:r>
              <a:rPr lang="en-IE" sz="1200" dirty="0">
                <a:latin typeface="Monaco" pitchFamily="2" charset="77"/>
              </a:rPr>
              <a:t>    </a:t>
            </a:r>
            <a:r>
              <a:rPr lang="en-IE" sz="1200" b="1" dirty="0">
                <a:solidFill>
                  <a:srgbClr val="000080"/>
                </a:solidFill>
                <a:latin typeface="Monaco" pitchFamily="2" charset="77"/>
              </a:rPr>
              <a:t>return </a:t>
            </a:r>
            <a:r>
              <a:rPr lang="en-IE" sz="1200" b="1" dirty="0" err="1">
                <a:solidFill>
                  <a:srgbClr val="660E7A"/>
                </a:solidFill>
                <a:latin typeface="Monaco" pitchFamily="2" charset="77"/>
              </a:rPr>
              <a:t>membershipNumber</a:t>
            </a:r>
            <a:r>
              <a:rPr lang="en-IE" sz="1200" dirty="0">
                <a:latin typeface="Monaco" pitchFamily="2" charset="77"/>
              </a:rPr>
              <a:t>;</a:t>
            </a:r>
            <a:br>
              <a:rPr lang="en-IE" sz="1200" dirty="0">
                <a:latin typeface="Monaco" pitchFamily="2" charset="77"/>
              </a:rPr>
            </a:br>
            <a:r>
              <a:rPr lang="en-IE" sz="1200" dirty="0">
                <a:latin typeface="Monaco" pitchFamily="2" charset="77"/>
              </a:rPr>
              <a:t>}</a:t>
            </a:r>
            <a:br>
              <a:rPr lang="en-IE" sz="1200" dirty="0">
                <a:latin typeface="Monaco" pitchFamily="2" charset="77"/>
              </a:rPr>
            </a:br>
            <a:br>
              <a:rPr lang="en-IE" sz="1200" dirty="0">
                <a:latin typeface="Monaco" pitchFamily="2" charset="77"/>
              </a:rPr>
            </a:br>
            <a:r>
              <a:rPr lang="en-IE" sz="1200" b="1" dirty="0">
                <a:solidFill>
                  <a:srgbClr val="000080"/>
                </a:solidFill>
                <a:latin typeface="Monaco" pitchFamily="2" charset="77"/>
              </a:rPr>
              <a:t>public </a:t>
            </a:r>
            <a:r>
              <a:rPr lang="en-IE" sz="1200" b="1" dirty="0" err="1">
                <a:solidFill>
                  <a:srgbClr val="000080"/>
                </a:solidFill>
                <a:latin typeface="Monaco" pitchFamily="2" charset="77"/>
              </a:rPr>
              <a:t>boolean</a:t>
            </a:r>
            <a:r>
              <a:rPr lang="en-IE" sz="1200" b="1" dirty="0">
                <a:solidFill>
                  <a:srgbClr val="000080"/>
                </a:solidFill>
                <a:latin typeface="Monaco" pitchFamily="2" charset="77"/>
              </a:rPr>
              <a:t> </a:t>
            </a:r>
            <a:r>
              <a:rPr lang="en-IE" sz="1200" dirty="0" err="1">
                <a:latin typeface="Monaco" pitchFamily="2" charset="77"/>
              </a:rPr>
              <a:t>isCurrentGymMember</a:t>
            </a:r>
            <a:r>
              <a:rPr lang="en-IE" sz="1200" dirty="0">
                <a:latin typeface="Monaco" pitchFamily="2" charset="77"/>
              </a:rPr>
              <a:t>() {</a:t>
            </a:r>
            <a:br>
              <a:rPr lang="en-IE" sz="1200" dirty="0">
                <a:latin typeface="Monaco" pitchFamily="2" charset="77"/>
              </a:rPr>
            </a:br>
            <a:r>
              <a:rPr lang="en-IE" sz="1200" dirty="0">
                <a:latin typeface="Monaco" pitchFamily="2" charset="77"/>
              </a:rPr>
              <a:t>    </a:t>
            </a:r>
            <a:r>
              <a:rPr lang="en-IE" sz="1200" b="1" dirty="0">
                <a:solidFill>
                  <a:srgbClr val="000080"/>
                </a:solidFill>
                <a:latin typeface="Monaco" pitchFamily="2" charset="77"/>
              </a:rPr>
              <a:t>return </a:t>
            </a:r>
            <a:r>
              <a:rPr lang="en-IE" sz="1200" b="1" dirty="0" err="1">
                <a:solidFill>
                  <a:srgbClr val="660E7A"/>
                </a:solidFill>
                <a:latin typeface="Monaco" pitchFamily="2" charset="77"/>
              </a:rPr>
              <a:t>isCurrentGymMember</a:t>
            </a:r>
            <a:r>
              <a:rPr lang="en-IE" sz="1200" dirty="0">
                <a:latin typeface="Monaco" pitchFamily="2" charset="77"/>
              </a:rPr>
              <a:t>;</a:t>
            </a:r>
            <a:br>
              <a:rPr lang="en-IE" sz="1200" dirty="0">
                <a:latin typeface="Monaco" pitchFamily="2" charset="77"/>
              </a:rPr>
            </a:br>
            <a:r>
              <a:rPr lang="en-IE" sz="1200" dirty="0">
                <a:latin typeface="Monaco" pitchFamily="2" charset="77"/>
              </a:rPr>
              <a:t>}</a:t>
            </a:r>
            <a:endParaRPr lang="en-US" sz="1200" dirty="0">
              <a:latin typeface="Monaco" pitchFamily="2" charset="77"/>
            </a:endParaRPr>
          </a:p>
        </p:txBody>
      </p:sp>
      <p:pic>
        <p:nvPicPr>
          <p:cNvPr id="6" name="Picture 5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0775B8BE-6538-A50B-5C7A-835839A26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82EB21-9CC0-437F-EB3C-1F113ED2CF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2F0FCE6-99EC-15FF-97EB-7B3DC4B7E45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18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44801094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GymMember</a:t>
            </a:r>
            <a:r>
              <a:rPr lang="en-IE" dirty="0"/>
              <a:t> Class… setters</a:t>
            </a:r>
          </a:p>
        </p:txBody>
      </p:sp>
      <p:pic>
        <p:nvPicPr>
          <p:cNvPr id="6" name="Picture 5" descr="Table&#10;&#10;Description automatically generated with medium confidence">
            <a:extLst>
              <a:ext uri="{FF2B5EF4-FFF2-40B4-BE49-F238E27FC236}">
                <a16:creationId xmlns:a16="http://schemas.microsoft.com/office/drawing/2014/main" id="{C82FF24B-5CE1-8941-ECC7-295A8C5DC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641" y="884838"/>
            <a:ext cx="4114802" cy="37632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C67D78-F217-E74F-BB81-DBC1C6D734D2}"/>
              </a:ext>
            </a:extLst>
          </p:cNvPr>
          <p:cNvSpPr txBox="1"/>
          <p:nvPr/>
        </p:nvSpPr>
        <p:spPr>
          <a:xfrm>
            <a:off x="1765234" y="2235134"/>
            <a:ext cx="126176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800" b="1" dirty="0"/>
              <a:t>setters</a:t>
            </a:r>
            <a:r>
              <a:rPr lang="en-IE" sz="1800" dirty="0"/>
              <a:t>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807B670-35A2-DD7E-6743-DF6F5BD56676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3027000" y="1654424"/>
            <a:ext cx="1830750" cy="76667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1C60B9F-27A4-4596-1D10-F0841DEB24DB}"/>
              </a:ext>
            </a:extLst>
          </p:cNvPr>
          <p:cNvSpPr/>
          <p:nvPr/>
        </p:nvSpPr>
        <p:spPr>
          <a:xfrm>
            <a:off x="4833258" y="2825044"/>
            <a:ext cx="2661557" cy="174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22" name="Rectangle: Rounded Corners 20">
            <a:extLst>
              <a:ext uri="{FF2B5EF4-FFF2-40B4-BE49-F238E27FC236}">
                <a16:creationId xmlns:a16="http://schemas.microsoft.com/office/drawing/2014/main" id="{8E5EEAB2-FD5C-0E1A-753E-C0A8D43C8383}"/>
              </a:ext>
            </a:extLst>
          </p:cNvPr>
          <p:cNvSpPr/>
          <p:nvPr/>
        </p:nvSpPr>
        <p:spPr>
          <a:xfrm>
            <a:off x="4857751" y="2410629"/>
            <a:ext cx="2661557" cy="174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23" name="Rectangle: Rounded Corners 20">
            <a:extLst>
              <a:ext uri="{FF2B5EF4-FFF2-40B4-BE49-F238E27FC236}">
                <a16:creationId xmlns:a16="http://schemas.microsoft.com/office/drawing/2014/main" id="{291AFE38-D714-0806-2E27-A56BF60ED7B8}"/>
              </a:ext>
            </a:extLst>
          </p:cNvPr>
          <p:cNvSpPr/>
          <p:nvPr/>
        </p:nvSpPr>
        <p:spPr>
          <a:xfrm>
            <a:off x="4833258" y="1971143"/>
            <a:ext cx="2661557" cy="174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24" name="Rectangle: Rounded Corners 20">
            <a:extLst>
              <a:ext uri="{FF2B5EF4-FFF2-40B4-BE49-F238E27FC236}">
                <a16:creationId xmlns:a16="http://schemas.microsoft.com/office/drawing/2014/main" id="{DDDE1C1B-B461-B3F6-BE66-097198E2DCAB}"/>
              </a:ext>
            </a:extLst>
          </p:cNvPr>
          <p:cNvSpPr/>
          <p:nvPr/>
        </p:nvSpPr>
        <p:spPr>
          <a:xfrm>
            <a:off x="4857751" y="1567024"/>
            <a:ext cx="2661557" cy="174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25" name="Rectangle: Rounded Corners 20">
            <a:extLst>
              <a:ext uri="{FF2B5EF4-FFF2-40B4-BE49-F238E27FC236}">
                <a16:creationId xmlns:a16="http://schemas.microsoft.com/office/drawing/2014/main" id="{7C1E616F-DB7E-4F9B-5BCF-DA981034E0F9}"/>
              </a:ext>
            </a:extLst>
          </p:cNvPr>
          <p:cNvSpPr/>
          <p:nvPr/>
        </p:nvSpPr>
        <p:spPr>
          <a:xfrm>
            <a:off x="4857750" y="3217219"/>
            <a:ext cx="2971801" cy="174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62A5FA5-F6D6-7A12-036F-D2FDD2D34835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3027001" y="2058543"/>
            <a:ext cx="1806257" cy="3625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A75663C-0738-8E79-5C2B-F1BC27849AFA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3027000" y="2421098"/>
            <a:ext cx="1830750" cy="7693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9C7E6E1-BDA6-A38E-F1C2-50D74DF1BF9A}"/>
              </a:ext>
            </a:extLst>
          </p:cNvPr>
          <p:cNvCxnSpPr>
            <a:cxnSpLocks/>
          </p:cNvCxnSpPr>
          <p:nvPr/>
        </p:nvCxnSpPr>
        <p:spPr>
          <a:xfrm>
            <a:off x="3027001" y="2421098"/>
            <a:ext cx="1830749" cy="49134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57E43D-9224-A8C0-0B69-373EDA84A209}"/>
              </a:ext>
            </a:extLst>
          </p:cNvPr>
          <p:cNvCxnSpPr>
            <a:cxnSpLocks/>
          </p:cNvCxnSpPr>
          <p:nvPr/>
        </p:nvCxnSpPr>
        <p:spPr>
          <a:xfrm>
            <a:off x="3027001" y="2421098"/>
            <a:ext cx="1806257" cy="7693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54BF8E1-5B24-1062-5E52-82A80EC84CCD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3027001" y="2421098"/>
            <a:ext cx="1830749" cy="88352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3A9B1B09-9A62-1EC5-19F9-008D0C2F4E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8554A11-7453-F12A-420E-324C95E83C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C33869-23F9-9C17-D5A0-72C3443928B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19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5845602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Set</a:t>
            </a:r>
            <a:r>
              <a:rPr lang="en-IE" dirty="0"/>
              <a:t>ters (</a:t>
            </a:r>
            <a:r>
              <a:rPr lang="en-IE" dirty="0" err="1"/>
              <a:t>Mutator</a:t>
            </a:r>
            <a:r>
              <a:rPr lang="en-IE" dirty="0"/>
              <a:t> methods)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Mutator</a:t>
            </a:r>
            <a:r>
              <a:rPr lang="en-US" dirty="0"/>
              <a:t> methods </a:t>
            </a:r>
          </a:p>
          <a:p>
            <a:pPr lvl="1"/>
            <a:r>
              <a:rPr lang="en-US" dirty="0"/>
              <a:t>change (i.e. mutate!) an object’s state.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‘setter’ </a:t>
            </a:r>
            <a:r>
              <a:rPr lang="en-US" dirty="0"/>
              <a:t>method </a:t>
            </a:r>
          </a:p>
          <a:p>
            <a:pPr lvl="1"/>
            <a:r>
              <a:rPr lang="en-US" dirty="0"/>
              <a:t>is a specific type of </a:t>
            </a:r>
            <a:r>
              <a:rPr lang="en-US" b="1" dirty="0" err="1">
                <a:solidFill>
                  <a:srgbClr val="00B050"/>
                </a:solidFill>
              </a:rPr>
              <a:t>mutator</a:t>
            </a:r>
            <a:r>
              <a:rPr lang="en-US" dirty="0"/>
              <a:t> method and typically:</a:t>
            </a:r>
          </a:p>
          <a:p>
            <a:pPr lvl="2"/>
            <a:r>
              <a:rPr lang="en-US" dirty="0"/>
              <a:t>contains an </a:t>
            </a:r>
            <a:r>
              <a:rPr lang="en-US" b="1" dirty="0"/>
              <a:t>assignment statement </a:t>
            </a:r>
          </a:p>
          <a:p>
            <a:pPr lvl="2"/>
            <a:r>
              <a:rPr lang="en-US" dirty="0"/>
              <a:t>takes in a </a:t>
            </a:r>
            <a:r>
              <a:rPr lang="en-US" b="1" dirty="0"/>
              <a:t>parameter</a:t>
            </a:r>
          </a:p>
          <a:p>
            <a:pPr lvl="2"/>
            <a:r>
              <a:rPr lang="en-US" b="1" dirty="0"/>
              <a:t>changes the object state</a:t>
            </a:r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F367F1-9FC3-4E43-F3A1-D9849A2D75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A234E-B998-21F0-6C67-BED57DDB959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20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3825320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Setters – without validation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5F52DF-3B03-2C7F-0129-053B40A1293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EDE543-40C1-98FD-40BD-A6BDB2BFB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1943101" y="2402682"/>
            <a:ext cx="5147563" cy="1200329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800" dirty="0">
                <a:latin typeface="Monaco" pitchFamily="2" charset="77"/>
                <a:cs typeface="Times" pitchFamily="-32" charset="0"/>
              </a:rPr>
              <a:t>public void </a:t>
            </a:r>
            <a:r>
              <a:rPr lang="en-US" sz="1800" dirty="0" err="1">
                <a:latin typeface="Monaco" pitchFamily="2" charset="77"/>
                <a:cs typeface="Times" pitchFamily="-32" charset="0"/>
              </a:rPr>
              <a:t>setHeight</a:t>
            </a:r>
            <a:r>
              <a:rPr lang="en-US" sz="1800" dirty="0">
                <a:latin typeface="Monaco" pitchFamily="2" charset="77"/>
                <a:cs typeface="Times" pitchFamily="-32" charset="0"/>
              </a:rPr>
              <a:t>(double height)</a:t>
            </a:r>
          </a:p>
          <a:p>
            <a:pPr algn="l" eaLnBrk="1" hangingPunct="1"/>
            <a:r>
              <a:rPr lang="en-US" sz="1800" dirty="0">
                <a:latin typeface="Monaco" pitchFamily="2" charset="77"/>
                <a:cs typeface="Times" pitchFamily="-32" charset="0"/>
              </a:rPr>
              <a:t>{</a:t>
            </a:r>
          </a:p>
          <a:p>
            <a:pPr algn="l" eaLnBrk="1" hangingPunct="1"/>
            <a:r>
              <a:rPr lang="en-US" sz="1800" dirty="0">
                <a:latin typeface="Monaco" pitchFamily="2" charset="77"/>
                <a:cs typeface="Times" pitchFamily="-32" charset="0"/>
              </a:rPr>
              <a:t>    </a:t>
            </a:r>
            <a:r>
              <a:rPr lang="en-US" sz="1800" dirty="0" err="1">
                <a:latin typeface="Monaco" pitchFamily="2" charset="77"/>
                <a:cs typeface="Times" pitchFamily="-32" charset="0"/>
              </a:rPr>
              <a:t>this.height</a:t>
            </a:r>
            <a:r>
              <a:rPr lang="en-US" sz="1800" dirty="0">
                <a:latin typeface="Monaco" pitchFamily="2" charset="77"/>
                <a:cs typeface="Times" pitchFamily="-32" charset="0"/>
              </a:rPr>
              <a:t> = height;</a:t>
            </a:r>
          </a:p>
          <a:p>
            <a:pPr algn="l" eaLnBrk="1" hangingPunct="1"/>
            <a:r>
              <a:rPr lang="en-US" sz="1800" dirty="0">
                <a:latin typeface="Monaco" pitchFamily="2" charset="77"/>
                <a:cs typeface="Times" pitchFamily="-32" charset="0"/>
              </a:rPr>
              <a:t>}</a:t>
            </a:r>
            <a:r>
              <a:rPr lang="en-US" sz="1800" dirty="0">
                <a:latin typeface="Monaco" pitchFamily="2" charset="77"/>
              </a:rPr>
              <a:t> 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3028951" y="1314450"/>
            <a:ext cx="1114408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return type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4117182" y="1714500"/>
            <a:ext cx="1372492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method name</a:t>
            </a: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6343650" y="1714500"/>
            <a:ext cx="107273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parameter</a:t>
            </a:r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 flipH="1">
            <a:off x="3201591" y="1600201"/>
            <a:ext cx="341710" cy="8512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sz="1688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 flipH="1">
            <a:off x="4457700" y="2000250"/>
            <a:ext cx="342900" cy="4512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sz="1688"/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 flipH="1">
            <a:off x="6667500" y="2015228"/>
            <a:ext cx="200025" cy="37435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sz="1688"/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1371601" y="1702594"/>
            <a:ext cx="1608133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>
            <a:off x="2228851" y="2000251"/>
            <a:ext cx="98822" cy="3893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sz="1688"/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3742847" y="3771900"/>
            <a:ext cx="123303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1500" dirty="0">
                <a:solidFill>
                  <a:srgbClr val="A57133"/>
                </a:solidFill>
              </a:rPr>
              <a:t>assignment </a:t>
            </a:r>
          </a:p>
          <a:p>
            <a:pPr eaLnBrk="1" hangingPunct="1"/>
            <a:r>
              <a:rPr lang="en-US" sz="1500" dirty="0">
                <a:solidFill>
                  <a:srgbClr val="A57133"/>
                </a:solidFill>
              </a:rPr>
              <a:t>statement</a:t>
            </a:r>
          </a:p>
        </p:txBody>
      </p:sp>
      <p:sp>
        <p:nvSpPr>
          <p:cNvPr id="19469" name="Line 13"/>
          <p:cNvSpPr>
            <a:spLocks noChangeShapeType="1"/>
          </p:cNvSpPr>
          <p:nvPr/>
        </p:nvSpPr>
        <p:spPr bwMode="auto">
          <a:xfrm flipH="1" flipV="1">
            <a:off x="4308662" y="3233666"/>
            <a:ext cx="0" cy="58011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 defTabSz="366737" rtl="0"/>
            <a:endParaRPr lang="en-IE" sz="1688"/>
          </a:p>
        </p:txBody>
      </p: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2010808" y="3718533"/>
            <a:ext cx="1435008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Instance field </a:t>
            </a:r>
          </a:p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being mutated</a:t>
            </a:r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 flipV="1">
            <a:off x="3201589" y="3257550"/>
            <a:ext cx="284561" cy="5024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sz="1688"/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5657851" y="3812485"/>
            <a:ext cx="148951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1500" dirty="0">
                <a:solidFill>
                  <a:srgbClr val="A57133"/>
                </a:solidFill>
              </a:rPr>
              <a:t>Value passed </a:t>
            </a:r>
          </a:p>
          <a:p>
            <a:pPr eaLnBrk="1" hangingPunct="1"/>
            <a:r>
              <a:rPr lang="en-US" sz="1500" dirty="0">
                <a:solidFill>
                  <a:srgbClr val="A57133"/>
                </a:solidFill>
              </a:rPr>
              <a:t>as a parameter</a:t>
            </a:r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 flipH="1" flipV="1">
            <a:off x="5257801" y="3257549"/>
            <a:ext cx="732779" cy="5430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sz="1688"/>
          </a:p>
        </p:txBody>
      </p:sp>
    </p:spTree>
    <p:extLst>
      <p:ext uri="{BB962C8B-B14F-4D97-AF65-F5344CB8AC3E}">
        <p14:creationId xmlns:p14="http://schemas.microsoft.com/office/powerpoint/2010/main" val="10288248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9461" grpId="0"/>
      <p:bldP spid="19462" grpId="0"/>
      <p:bldP spid="19463" grpId="0" animBg="1"/>
      <p:bldP spid="19464" grpId="0" animBg="1"/>
      <p:bldP spid="19465" grpId="0" animBg="1"/>
      <p:bldP spid="19466" grpId="0"/>
      <p:bldP spid="19467" grpId="0" animBg="1"/>
      <p:bldP spid="19468" grpId="0"/>
      <p:bldP spid="19469" grpId="0" animBg="1"/>
      <p:bldP spid="19470" grpId="0"/>
      <p:bldP spid="19471" grpId="0" animBg="1"/>
      <p:bldP spid="16" grpId="0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Setters – with validation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8FCF69-5DFA-BC25-4AFE-0912D6004AB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034A398-97AB-1325-5342-7008105E6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1943101" y="2402681"/>
            <a:ext cx="6447221" cy="1477328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eaLnBrk="1" hangingPunct="1"/>
            <a:r>
              <a:rPr lang="en-US" sz="1800" dirty="0">
                <a:latin typeface="Monaco" pitchFamily="2" charset="77"/>
                <a:cs typeface="Times" pitchFamily="-32" charset="0"/>
              </a:rPr>
              <a:t>public void </a:t>
            </a:r>
            <a:r>
              <a:rPr lang="en-US" sz="1800" dirty="0" err="1">
                <a:latin typeface="Monaco" pitchFamily="2" charset="77"/>
                <a:cs typeface="Times" pitchFamily="-32" charset="0"/>
              </a:rPr>
              <a:t>setHeight</a:t>
            </a:r>
            <a:r>
              <a:rPr lang="en-US" sz="1800" dirty="0">
                <a:latin typeface="Monaco" pitchFamily="2" charset="77"/>
                <a:cs typeface="Times" pitchFamily="-32" charset="0"/>
              </a:rPr>
              <a:t>(double height)</a:t>
            </a:r>
          </a:p>
          <a:p>
            <a:pPr algn="l" eaLnBrk="1" hangingPunct="1"/>
            <a:r>
              <a:rPr lang="en-US" sz="1800" dirty="0">
                <a:latin typeface="Monaco" pitchFamily="2" charset="77"/>
                <a:cs typeface="Times" pitchFamily="-32" charset="0"/>
              </a:rPr>
              <a:t>{</a:t>
            </a:r>
          </a:p>
          <a:p>
            <a:r>
              <a:rPr lang="en-IE" sz="1800" dirty="0">
                <a:solidFill>
                  <a:srgbClr val="C00000"/>
                </a:solidFill>
                <a:latin typeface="Monaco" pitchFamily="2" charset="77"/>
                <a:cs typeface="Courier New" panose="02070309020205020404" pitchFamily="49" charset="0"/>
              </a:rPr>
              <a:t>if ((height &gt;= 0.5) &amp;&amp; (height &lt;= 3.0))</a:t>
            </a:r>
            <a:endParaRPr lang="en-US" sz="1800" dirty="0">
              <a:solidFill>
                <a:srgbClr val="C00000"/>
              </a:solidFill>
              <a:latin typeface="Monaco" pitchFamily="2" charset="77"/>
              <a:cs typeface="Courier New" panose="02070309020205020404" pitchFamily="49" charset="0"/>
            </a:endParaRPr>
          </a:p>
          <a:p>
            <a:pPr algn="l" eaLnBrk="1" hangingPunct="1"/>
            <a:r>
              <a:rPr lang="en-US" sz="1800" dirty="0">
                <a:latin typeface="Monaco" pitchFamily="2" charset="77"/>
                <a:cs typeface="Times" pitchFamily="-32" charset="0"/>
              </a:rPr>
              <a:t>        </a:t>
            </a:r>
            <a:r>
              <a:rPr lang="en-US" sz="1800" dirty="0" err="1">
                <a:latin typeface="Monaco" pitchFamily="2" charset="77"/>
                <a:cs typeface="Times" pitchFamily="-32" charset="0"/>
              </a:rPr>
              <a:t>this.height</a:t>
            </a:r>
            <a:r>
              <a:rPr lang="en-US" sz="1800" dirty="0">
                <a:latin typeface="Monaco" pitchFamily="2" charset="77"/>
                <a:cs typeface="Times" pitchFamily="-32" charset="0"/>
              </a:rPr>
              <a:t> = height;</a:t>
            </a:r>
          </a:p>
          <a:p>
            <a:pPr algn="l" eaLnBrk="1" hangingPunct="1"/>
            <a:r>
              <a:rPr lang="en-US" sz="1800" dirty="0">
                <a:latin typeface="Monaco" pitchFamily="2" charset="77"/>
                <a:cs typeface="Times" pitchFamily="-32" charset="0"/>
              </a:rPr>
              <a:t>}</a:t>
            </a:r>
            <a:r>
              <a:rPr lang="en-US" sz="1800" dirty="0">
                <a:latin typeface="Monaco" pitchFamily="2" charset="77"/>
              </a:rPr>
              <a:t> 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3028951" y="1314450"/>
            <a:ext cx="1114408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return type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4117182" y="1714500"/>
            <a:ext cx="1372492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method name</a:t>
            </a: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6343650" y="1714500"/>
            <a:ext cx="107273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parameter</a:t>
            </a:r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 flipH="1">
            <a:off x="3201591" y="1600201"/>
            <a:ext cx="341710" cy="8512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sz="1688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 flipH="1">
            <a:off x="4457700" y="2000250"/>
            <a:ext cx="342900" cy="4512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sz="1688"/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 flipH="1">
            <a:off x="6667500" y="2015228"/>
            <a:ext cx="200025" cy="37435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 defTabSz="366737" rtl="0"/>
            <a:endParaRPr lang="en-IE" sz="1688"/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1371601" y="1702594"/>
            <a:ext cx="1608133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>
            <a:off x="2228851" y="2000251"/>
            <a:ext cx="98822" cy="3893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sz="1688"/>
          </a:p>
        </p:txBody>
      </p: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2101611" y="4107313"/>
            <a:ext cx="1435008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1500" dirty="0">
                <a:solidFill>
                  <a:srgbClr val="A57133"/>
                </a:solidFill>
              </a:rPr>
              <a:t>Instance field </a:t>
            </a:r>
          </a:p>
          <a:p>
            <a:pPr eaLnBrk="1" hangingPunct="1"/>
            <a:r>
              <a:rPr lang="en-US" sz="1500" dirty="0">
                <a:solidFill>
                  <a:srgbClr val="A57133"/>
                </a:solidFill>
              </a:rPr>
              <a:t>being mutated</a:t>
            </a:r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 flipV="1">
            <a:off x="3059310" y="3547719"/>
            <a:ext cx="284561" cy="5024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sz="1688"/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5419079" y="4098235"/>
            <a:ext cx="148951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1500" dirty="0">
                <a:solidFill>
                  <a:srgbClr val="A57133"/>
                </a:solidFill>
              </a:rPr>
              <a:t>Value passed </a:t>
            </a:r>
          </a:p>
          <a:p>
            <a:pPr eaLnBrk="1" hangingPunct="1"/>
            <a:r>
              <a:rPr lang="en-US" sz="1500" dirty="0">
                <a:solidFill>
                  <a:srgbClr val="A57133"/>
                </a:solidFill>
              </a:rPr>
              <a:t>as a parameter</a:t>
            </a:r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 flipH="1" flipV="1">
            <a:off x="5359541" y="3559834"/>
            <a:ext cx="488759" cy="5309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sz="1688"/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35BD789C-CB2C-14B3-B28B-F6BCE63CF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5859" y="2748928"/>
            <a:ext cx="1954904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en-US" sz="1500" dirty="0">
                <a:solidFill>
                  <a:srgbClr val="C00000"/>
                </a:solidFill>
              </a:rPr>
              <a:t>Validation of value </a:t>
            </a:r>
          </a:p>
          <a:p>
            <a:pPr eaLnBrk="1" hangingPunct="1"/>
            <a:r>
              <a:rPr lang="en-US" sz="1500" dirty="0">
                <a:solidFill>
                  <a:srgbClr val="C00000"/>
                </a:solidFill>
              </a:rPr>
              <a:t>passed as a </a:t>
            </a:r>
          </a:p>
          <a:p>
            <a:pPr eaLnBrk="1" hangingPunct="1"/>
            <a:r>
              <a:rPr lang="en-US" sz="1500" dirty="0">
                <a:solidFill>
                  <a:srgbClr val="C00000"/>
                </a:solidFill>
              </a:rPr>
              <a:t>parameter</a:t>
            </a:r>
          </a:p>
        </p:txBody>
      </p:sp>
      <p:sp>
        <p:nvSpPr>
          <p:cNvPr id="19" name="Line 13">
            <a:extLst>
              <a:ext uri="{FF2B5EF4-FFF2-40B4-BE49-F238E27FC236}">
                <a16:creationId xmlns:a16="http://schemas.microsoft.com/office/drawing/2014/main" id="{4DB32E9A-75EC-7198-929C-318A3582F1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90711" y="3148615"/>
            <a:ext cx="947689" cy="1817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algn="ctr" defTabSz="366737" rtl="0"/>
            <a:endParaRPr lang="en-IE" sz="1688"/>
          </a:p>
        </p:txBody>
      </p:sp>
      <p:sp>
        <p:nvSpPr>
          <p:cNvPr id="5" name="5-point Star 4">
            <a:extLst>
              <a:ext uri="{FF2B5EF4-FFF2-40B4-BE49-F238E27FC236}">
                <a16:creationId xmlns:a16="http://schemas.microsoft.com/office/drawing/2014/main" id="{B31B8C72-7EA5-B187-71E5-E7B0EA162A8B}"/>
              </a:ext>
            </a:extLst>
          </p:cNvPr>
          <p:cNvSpPr/>
          <p:nvPr/>
        </p:nvSpPr>
        <p:spPr>
          <a:xfrm>
            <a:off x="8061692" y="2037665"/>
            <a:ext cx="681317" cy="699247"/>
          </a:xfrm>
          <a:prstGeom prst="star5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id="{7A16A763-8519-2FBA-90A2-0379332FF1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97904" y="3074894"/>
            <a:ext cx="480614" cy="5555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 defTabSz="366737" rtl="0"/>
            <a:endParaRPr lang="en-IE" sz="1688"/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AA52B6BF-4B0A-71AE-CEC2-8A84AD1E5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4292" y="2892357"/>
            <a:ext cx="841897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500" b="1" dirty="0">
                <a:solidFill>
                  <a:srgbClr val="A57133"/>
                </a:solidFill>
              </a:rPr>
              <a:t>NO { } !</a:t>
            </a:r>
          </a:p>
        </p:txBody>
      </p:sp>
    </p:spTree>
    <p:extLst>
      <p:ext uri="{BB962C8B-B14F-4D97-AF65-F5344CB8AC3E}">
        <p14:creationId xmlns:p14="http://schemas.microsoft.com/office/powerpoint/2010/main" val="19063731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9461" grpId="0"/>
      <p:bldP spid="19462" grpId="0"/>
      <p:bldP spid="19463" grpId="0" animBg="1"/>
      <p:bldP spid="19464" grpId="0" animBg="1"/>
      <p:bldP spid="19465" grpId="0" animBg="1"/>
      <p:bldP spid="19466" grpId="0"/>
      <p:bldP spid="19467" grpId="0" animBg="1"/>
      <p:bldP spid="19470" grpId="0"/>
      <p:bldP spid="19471" grpId="0" animBg="1"/>
      <p:bldP spid="16" grpId="0"/>
      <p:bldP spid="17" grpId="0" animBg="1"/>
      <p:bldP spid="18" grpId="0"/>
      <p:bldP spid="19" grpId="0" animBg="1"/>
      <p:bldP spid="5" grpId="0" animBg="1"/>
      <p:bldP spid="6" grpId="0" animBg="1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GymMember</a:t>
            </a:r>
            <a:r>
              <a:rPr lang="en-IE" dirty="0"/>
              <a:t> Class… setters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70BD2B-0A82-D798-AD1C-BF1A7413203D}"/>
              </a:ext>
            </a:extLst>
          </p:cNvPr>
          <p:cNvSpPr/>
          <p:nvPr/>
        </p:nvSpPr>
        <p:spPr>
          <a:xfrm>
            <a:off x="1114425" y="1657350"/>
            <a:ext cx="691515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E" sz="18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void </a:t>
            </a:r>
            <a:r>
              <a:rPr lang="en-IE" sz="1800" dirty="0" err="1">
                <a:latin typeface="Monaco" pitchFamily="2" charset="77"/>
                <a:cs typeface="Courier New" panose="02070309020205020404" pitchFamily="49" charset="0"/>
              </a:rPr>
              <a:t>setName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(String name) {</a:t>
            </a:r>
            <a:br>
              <a:rPr lang="en-IE" sz="1800" dirty="0">
                <a:latin typeface="Monaco" pitchFamily="2" charset="77"/>
                <a:cs typeface="Courier New" panose="02070309020205020404" pitchFamily="49" charset="0"/>
              </a:rPr>
            </a:b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IE" sz="18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if 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(name != </a:t>
            </a:r>
            <a:r>
              <a:rPr lang="en-IE" sz="18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null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){</a:t>
            </a:r>
            <a:br>
              <a:rPr lang="en-IE" sz="1800" dirty="0">
                <a:latin typeface="Monaco" pitchFamily="2" charset="77"/>
                <a:cs typeface="Courier New" panose="02070309020205020404" pitchFamily="49" charset="0"/>
              </a:rPr>
            </a:b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        </a:t>
            </a:r>
            <a:r>
              <a:rPr lang="en-IE" sz="18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if 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IE" sz="1800" dirty="0" err="1">
                <a:latin typeface="Monaco" pitchFamily="2" charset="77"/>
                <a:cs typeface="Courier New" panose="02070309020205020404" pitchFamily="49" charset="0"/>
              </a:rPr>
              <a:t>name.length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() &gt; </a:t>
            </a:r>
            <a:r>
              <a:rPr lang="en-IE" sz="1800" dirty="0">
                <a:solidFill>
                  <a:srgbClr val="0000FF"/>
                </a:solidFill>
                <a:latin typeface="Monaco" pitchFamily="2" charset="77"/>
                <a:cs typeface="Courier New" panose="02070309020205020404" pitchFamily="49" charset="0"/>
              </a:rPr>
              <a:t>30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)</a:t>
            </a:r>
            <a:br>
              <a:rPr lang="en-IE" sz="1800" dirty="0">
                <a:latin typeface="Monaco" pitchFamily="2" charset="77"/>
                <a:cs typeface="Courier New" panose="02070309020205020404" pitchFamily="49" charset="0"/>
              </a:rPr>
            </a:b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            </a:t>
            </a:r>
            <a:r>
              <a:rPr lang="en-IE" sz="18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this</a:t>
            </a:r>
            <a:r>
              <a:rPr lang="en-IE" sz="1800" dirty="0" err="1">
                <a:latin typeface="Monaco" pitchFamily="2" charset="77"/>
                <a:cs typeface="Courier New" panose="02070309020205020404" pitchFamily="49" charset="0"/>
              </a:rPr>
              <a:t>.</a:t>
            </a:r>
            <a:r>
              <a:rPr lang="en-IE" sz="18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name</a:t>
            </a:r>
            <a:r>
              <a:rPr lang="en-IE" sz="18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IE" sz="1800" dirty="0" err="1">
                <a:latin typeface="Monaco" pitchFamily="2" charset="77"/>
                <a:cs typeface="Courier New" panose="02070309020205020404" pitchFamily="49" charset="0"/>
              </a:rPr>
              <a:t>name.substring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IE" sz="1800" dirty="0">
                <a:solidFill>
                  <a:srgbClr val="0000FF"/>
                </a:solidFill>
                <a:latin typeface="Monaco" pitchFamily="2" charset="77"/>
                <a:cs typeface="Courier New" panose="02070309020205020404" pitchFamily="49" charset="0"/>
              </a:rPr>
              <a:t>0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,</a:t>
            </a:r>
            <a:r>
              <a:rPr lang="en-IE" sz="1800" dirty="0">
                <a:solidFill>
                  <a:srgbClr val="0000FF"/>
                </a:solidFill>
                <a:latin typeface="Monaco" pitchFamily="2" charset="77"/>
                <a:cs typeface="Courier New" panose="02070309020205020404" pitchFamily="49" charset="0"/>
              </a:rPr>
              <a:t>30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IE" sz="1800" dirty="0">
                <a:latin typeface="Monaco" pitchFamily="2" charset="77"/>
                <a:cs typeface="Courier New" panose="02070309020205020404" pitchFamily="49" charset="0"/>
              </a:rPr>
            </a:b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        </a:t>
            </a:r>
            <a:r>
              <a:rPr lang="en-IE" sz="18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else</a:t>
            </a:r>
            <a:br>
              <a:rPr lang="en-IE" sz="18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IE" sz="18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            </a:t>
            </a:r>
            <a:r>
              <a:rPr lang="en-IE" sz="18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this</a:t>
            </a:r>
            <a:r>
              <a:rPr lang="en-IE" sz="1800" dirty="0" err="1">
                <a:latin typeface="Monaco" pitchFamily="2" charset="77"/>
                <a:cs typeface="Courier New" panose="02070309020205020404" pitchFamily="49" charset="0"/>
              </a:rPr>
              <a:t>.</a:t>
            </a:r>
            <a:r>
              <a:rPr lang="en-IE" sz="18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name</a:t>
            </a:r>
            <a:r>
              <a:rPr lang="en-IE" sz="18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= name;</a:t>
            </a:r>
            <a:br>
              <a:rPr lang="en-IE" sz="1800" dirty="0">
                <a:latin typeface="Monaco" pitchFamily="2" charset="77"/>
                <a:cs typeface="Courier New" panose="02070309020205020404" pitchFamily="49" charset="0"/>
              </a:rPr>
            </a:b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        }</a:t>
            </a:r>
            <a:br>
              <a:rPr lang="en-IE" sz="1800" dirty="0">
                <a:latin typeface="Monaco" pitchFamily="2" charset="77"/>
                <a:cs typeface="Courier New" panose="02070309020205020404" pitchFamily="49" charset="0"/>
              </a:rPr>
            </a:b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}</a:t>
            </a:r>
            <a:endParaRPr lang="en-US" sz="1800" dirty="0">
              <a:latin typeface="Monaco" pitchFamily="2" charset="77"/>
              <a:cs typeface="Courier New" panose="02070309020205020404" pitchFamily="49" charset="0"/>
            </a:endParaRPr>
          </a:p>
        </p:txBody>
      </p:sp>
      <p:pic>
        <p:nvPicPr>
          <p:cNvPr id="6" name="Picture 5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39F0558E-395F-AF55-8488-6F1D07FEDF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70C08C-0896-7A15-4122-CE8A8CBA26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4FA1982-6357-01FA-2794-79AC512D7DE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23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5874556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GymMember</a:t>
            </a:r>
            <a:r>
              <a:rPr lang="en-IE" dirty="0"/>
              <a:t> Class… setters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F06C1E-5221-9622-305F-7ABBC13FB615}"/>
              </a:ext>
            </a:extLst>
          </p:cNvPr>
          <p:cNvSpPr/>
          <p:nvPr/>
        </p:nvSpPr>
        <p:spPr>
          <a:xfrm>
            <a:off x="543485" y="941295"/>
            <a:ext cx="6431056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E" sz="18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void </a:t>
            </a:r>
            <a:r>
              <a:rPr lang="en-IE" sz="1800" dirty="0" err="1">
                <a:latin typeface="Monaco" pitchFamily="2" charset="77"/>
                <a:cs typeface="Courier New" panose="02070309020205020404" pitchFamily="49" charset="0"/>
              </a:rPr>
              <a:t>setHeight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IE" sz="18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double 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height) {</a:t>
            </a:r>
            <a:br>
              <a:rPr lang="en-IE" sz="1800" dirty="0">
                <a:latin typeface="Monaco" pitchFamily="2" charset="77"/>
                <a:cs typeface="Courier New" panose="02070309020205020404" pitchFamily="49" charset="0"/>
              </a:rPr>
            </a:b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IE" sz="18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if 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((height &gt;= </a:t>
            </a:r>
            <a:r>
              <a:rPr lang="en-IE" sz="1800" dirty="0">
                <a:solidFill>
                  <a:srgbClr val="0000FF"/>
                </a:solidFill>
                <a:latin typeface="Monaco" pitchFamily="2" charset="77"/>
                <a:cs typeface="Courier New" panose="02070309020205020404" pitchFamily="49" charset="0"/>
              </a:rPr>
              <a:t>0.5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) &amp;&amp; (height &lt;= </a:t>
            </a:r>
            <a:r>
              <a:rPr lang="en-IE" sz="1800" dirty="0">
                <a:solidFill>
                  <a:srgbClr val="0000FF"/>
                </a:solidFill>
                <a:latin typeface="Monaco" pitchFamily="2" charset="77"/>
                <a:cs typeface="Courier New" panose="02070309020205020404" pitchFamily="49" charset="0"/>
              </a:rPr>
              <a:t>3.0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)) {</a:t>
            </a:r>
            <a:br>
              <a:rPr lang="en-IE" sz="1800" dirty="0">
                <a:latin typeface="Monaco" pitchFamily="2" charset="77"/>
                <a:cs typeface="Courier New" panose="02070309020205020404" pitchFamily="49" charset="0"/>
              </a:rPr>
            </a:b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        </a:t>
            </a:r>
            <a:r>
              <a:rPr lang="en-IE" sz="18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this</a:t>
            </a:r>
            <a:r>
              <a:rPr lang="en-IE" sz="1800" dirty="0" err="1">
                <a:latin typeface="Monaco" pitchFamily="2" charset="77"/>
                <a:cs typeface="Courier New" panose="02070309020205020404" pitchFamily="49" charset="0"/>
              </a:rPr>
              <a:t>.</a:t>
            </a:r>
            <a:r>
              <a:rPr lang="en-IE" sz="18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height</a:t>
            </a:r>
            <a:r>
              <a:rPr lang="en-IE" sz="18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= height;</a:t>
            </a:r>
            <a:br>
              <a:rPr lang="en-IE" sz="1800" dirty="0">
                <a:latin typeface="Monaco" pitchFamily="2" charset="77"/>
                <a:cs typeface="Courier New" panose="02070309020205020404" pitchFamily="49" charset="0"/>
              </a:rPr>
            </a:b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    }</a:t>
            </a:r>
            <a:br>
              <a:rPr lang="en-IE" sz="1800" dirty="0">
                <a:latin typeface="Monaco" pitchFamily="2" charset="77"/>
                <a:cs typeface="Courier New" panose="02070309020205020404" pitchFamily="49" charset="0"/>
              </a:rPr>
            </a:b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}</a:t>
            </a:r>
            <a:endParaRPr lang="en-US" sz="1800" dirty="0">
              <a:latin typeface="Monaco" pitchFamily="2" charset="77"/>
              <a:cs typeface="Courier New" panose="020703090202050204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382639-DAED-D604-0F33-99D29B9B6B80}"/>
              </a:ext>
            </a:extLst>
          </p:cNvPr>
          <p:cNvSpPr/>
          <p:nvPr/>
        </p:nvSpPr>
        <p:spPr>
          <a:xfrm>
            <a:off x="1639420" y="2571750"/>
            <a:ext cx="6307382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E" sz="18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void </a:t>
            </a:r>
            <a:r>
              <a:rPr lang="en-IE" sz="1800" dirty="0" err="1">
                <a:latin typeface="Monaco" pitchFamily="2" charset="77"/>
                <a:cs typeface="Courier New" panose="02070309020205020404" pitchFamily="49" charset="0"/>
              </a:rPr>
              <a:t>setWeight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IE" sz="18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double 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weight) {</a:t>
            </a:r>
            <a:br>
              <a:rPr lang="en-IE" sz="1800" dirty="0">
                <a:latin typeface="Monaco" pitchFamily="2" charset="77"/>
                <a:cs typeface="Courier New" panose="02070309020205020404" pitchFamily="49" charset="0"/>
              </a:rPr>
            </a:b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IE" sz="18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if 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((weight &gt;= </a:t>
            </a:r>
            <a:r>
              <a:rPr lang="en-IE" sz="1800" dirty="0">
                <a:solidFill>
                  <a:srgbClr val="0000FF"/>
                </a:solidFill>
                <a:latin typeface="Monaco" pitchFamily="2" charset="77"/>
                <a:cs typeface="Courier New" panose="02070309020205020404" pitchFamily="49" charset="0"/>
              </a:rPr>
              <a:t>25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) &amp;&amp; (weight &lt;= </a:t>
            </a:r>
            <a:r>
              <a:rPr lang="en-IE" sz="1800" dirty="0">
                <a:solidFill>
                  <a:srgbClr val="0000FF"/>
                </a:solidFill>
                <a:latin typeface="Monaco" pitchFamily="2" charset="77"/>
                <a:cs typeface="Courier New" panose="02070309020205020404" pitchFamily="49" charset="0"/>
              </a:rPr>
              <a:t>500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)) {</a:t>
            </a:r>
            <a:br>
              <a:rPr lang="en-IE" sz="1800" dirty="0">
                <a:latin typeface="Monaco" pitchFamily="2" charset="77"/>
                <a:cs typeface="Courier New" panose="02070309020205020404" pitchFamily="49" charset="0"/>
              </a:rPr>
            </a:b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        </a:t>
            </a:r>
            <a:r>
              <a:rPr lang="en-IE" sz="18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this</a:t>
            </a:r>
            <a:r>
              <a:rPr lang="en-IE" sz="1800" dirty="0" err="1">
                <a:latin typeface="Monaco" pitchFamily="2" charset="77"/>
                <a:cs typeface="Courier New" panose="02070309020205020404" pitchFamily="49" charset="0"/>
              </a:rPr>
              <a:t>.</a:t>
            </a:r>
            <a:r>
              <a:rPr lang="en-IE" sz="18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weight</a:t>
            </a:r>
            <a:r>
              <a:rPr lang="en-IE" sz="18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= weight;</a:t>
            </a:r>
            <a:br>
              <a:rPr lang="en-IE" sz="1800" dirty="0">
                <a:latin typeface="Monaco" pitchFamily="2" charset="77"/>
                <a:cs typeface="Courier New" panose="02070309020205020404" pitchFamily="49" charset="0"/>
              </a:rPr>
            </a:b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    }</a:t>
            </a:r>
            <a:br>
              <a:rPr lang="en-IE" sz="1800" dirty="0">
                <a:latin typeface="Monaco" pitchFamily="2" charset="77"/>
                <a:cs typeface="Courier New" panose="02070309020205020404" pitchFamily="49" charset="0"/>
              </a:rPr>
            </a:b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}</a:t>
            </a:r>
            <a:endParaRPr lang="en-US" sz="1800" dirty="0">
              <a:latin typeface="Monaco" pitchFamily="2" charset="77"/>
              <a:cs typeface="Courier New" panose="02070309020205020404" pitchFamily="49" charset="0"/>
            </a:endParaRPr>
          </a:p>
        </p:txBody>
      </p:sp>
      <p:pic>
        <p:nvPicPr>
          <p:cNvPr id="7" name="Picture 6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DA38A7FF-25B7-01EA-9CB9-00070CC23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7344E9-8B51-3E4A-F759-E434C5A95F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987E2E-8B79-D6ED-966E-6158EDDC7FC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24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52819779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GymMember</a:t>
            </a:r>
            <a:r>
              <a:rPr lang="en-IE" dirty="0"/>
              <a:t> Class… setters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023286-3CFA-B05F-4FF5-E8C8DD973931}"/>
              </a:ext>
            </a:extLst>
          </p:cNvPr>
          <p:cNvSpPr/>
          <p:nvPr/>
        </p:nvSpPr>
        <p:spPr>
          <a:xfrm>
            <a:off x="87405" y="888717"/>
            <a:ext cx="8545606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E" sz="18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void </a:t>
            </a:r>
            <a:r>
              <a:rPr lang="en-IE" sz="1800" dirty="0" err="1">
                <a:latin typeface="Monaco" pitchFamily="2" charset="77"/>
                <a:cs typeface="Courier New" panose="02070309020205020404" pitchFamily="49" charset="0"/>
              </a:rPr>
              <a:t>setMembershipNumber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IE" sz="18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int </a:t>
            </a:r>
            <a:r>
              <a:rPr lang="en-IE" sz="1800" dirty="0" err="1">
                <a:latin typeface="Monaco" pitchFamily="2" charset="77"/>
                <a:cs typeface="Courier New" panose="02070309020205020404" pitchFamily="49" charset="0"/>
              </a:rPr>
              <a:t>membershipNumber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) {</a:t>
            </a:r>
            <a:br>
              <a:rPr lang="en-IE" sz="1800" dirty="0">
                <a:latin typeface="Monaco" pitchFamily="2" charset="77"/>
                <a:cs typeface="Courier New" panose="02070309020205020404" pitchFamily="49" charset="0"/>
              </a:rPr>
            </a:b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IE" sz="18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if 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((</a:t>
            </a:r>
            <a:r>
              <a:rPr lang="en-IE" sz="1800" dirty="0" err="1">
                <a:latin typeface="Monaco" pitchFamily="2" charset="77"/>
                <a:cs typeface="Courier New" panose="02070309020205020404" pitchFamily="49" charset="0"/>
              </a:rPr>
              <a:t>membershipNumber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 &gt; </a:t>
            </a:r>
            <a:r>
              <a:rPr lang="en-IE" sz="1800" dirty="0">
                <a:solidFill>
                  <a:srgbClr val="0000FF"/>
                </a:solidFill>
                <a:latin typeface="Monaco" pitchFamily="2" charset="77"/>
                <a:cs typeface="Courier New" panose="02070309020205020404" pitchFamily="49" charset="0"/>
              </a:rPr>
              <a:t>0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) &amp;&amp; (</a:t>
            </a:r>
            <a:r>
              <a:rPr lang="en-IE" sz="1800" dirty="0" err="1">
                <a:latin typeface="Monaco" pitchFamily="2" charset="77"/>
                <a:cs typeface="Courier New" panose="02070309020205020404" pitchFamily="49" charset="0"/>
              </a:rPr>
              <a:t>membershipNumber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 &lt; </a:t>
            </a:r>
            <a:r>
              <a:rPr lang="en-IE" sz="1800" dirty="0">
                <a:solidFill>
                  <a:srgbClr val="0000FF"/>
                </a:solidFill>
                <a:latin typeface="Monaco" pitchFamily="2" charset="77"/>
                <a:cs typeface="Courier New" panose="02070309020205020404" pitchFamily="49" charset="0"/>
              </a:rPr>
              <a:t>99999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)) 		{</a:t>
            </a:r>
            <a:br>
              <a:rPr lang="en-IE" sz="1800" dirty="0">
                <a:latin typeface="Monaco" pitchFamily="2" charset="77"/>
                <a:cs typeface="Courier New" panose="02070309020205020404" pitchFamily="49" charset="0"/>
              </a:rPr>
            </a:b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        </a:t>
            </a:r>
            <a:r>
              <a:rPr lang="en-IE" sz="18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this</a:t>
            </a:r>
            <a:r>
              <a:rPr lang="en-IE" sz="1800" dirty="0" err="1">
                <a:latin typeface="Monaco" pitchFamily="2" charset="77"/>
                <a:cs typeface="Courier New" panose="02070309020205020404" pitchFamily="49" charset="0"/>
              </a:rPr>
              <a:t>.</a:t>
            </a:r>
            <a:r>
              <a:rPr lang="en-IE" sz="18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membershipNumber</a:t>
            </a:r>
            <a:r>
              <a:rPr lang="en-IE" sz="18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IE" sz="1800" dirty="0" err="1">
                <a:latin typeface="Monaco" pitchFamily="2" charset="77"/>
                <a:cs typeface="Courier New" panose="02070309020205020404" pitchFamily="49" charset="0"/>
              </a:rPr>
              <a:t>membershipNumber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IE" sz="1800" dirty="0">
                <a:latin typeface="Monaco" pitchFamily="2" charset="77"/>
                <a:cs typeface="Courier New" panose="02070309020205020404" pitchFamily="49" charset="0"/>
              </a:rPr>
            </a:b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     }</a:t>
            </a:r>
            <a:br>
              <a:rPr lang="en-IE" sz="1800" dirty="0">
                <a:latin typeface="Monaco" pitchFamily="2" charset="77"/>
                <a:cs typeface="Courier New" panose="02070309020205020404" pitchFamily="49" charset="0"/>
              </a:rPr>
            </a:b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}</a:t>
            </a:r>
            <a:endParaRPr lang="en-US" sz="1800" dirty="0">
              <a:latin typeface="Monaco" pitchFamily="2" charset="77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3B787B-7ABD-8003-C22F-1EA58B9AB393}"/>
              </a:ext>
            </a:extLst>
          </p:cNvPr>
          <p:cNvSpPr/>
          <p:nvPr/>
        </p:nvSpPr>
        <p:spPr>
          <a:xfrm>
            <a:off x="1014136" y="2870682"/>
            <a:ext cx="8065856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E" sz="18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void </a:t>
            </a:r>
            <a:r>
              <a:rPr lang="en-IE" sz="1800" dirty="0" err="1">
                <a:latin typeface="Monaco" pitchFamily="2" charset="77"/>
                <a:cs typeface="Courier New" panose="02070309020205020404" pitchFamily="49" charset="0"/>
              </a:rPr>
              <a:t>setCurrentGymMember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IE" sz="18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boolean</a:t>
            </a:r>
            <a:r>
              <a:rPr lang="en-IE" sz="18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IE" sz="1800" dirty="0" err="1">
                <a:latin typeface="Monaco" pitchFamily="2" charset="77"/>
                <a:cs typeface="Courier New" panose="02070309020205020404" pitchFamily="49" charset="0"/>
              </a:rPr>
              <a:t>currentGymMember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) {</a:t>
            </a:r>
            <a:br>
              <a:rPr lang="en-IE" sz="1800" dirty="0">
                <a:latin typeface="Monaco" pitchFamily="2" charset="77"/>
                <a:cs typeface="Courier New" panose="02070309020205020404" pitchFamily="49" charset="0"/>
              </a:rPr>
            </a:b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IE" sz="18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isCurrentGymMember</a:t>
            </a:r>
            <a:r>
              <a:rPr lang="en-IE" sz="18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IE" sz="1800" dirty="0" err="1">
                <a:latin typeface="Monaco" pitchFamily="2" charset="77"/>
                <a:cs typeface="Courier New" panose="02070309020205020404" pitchFamily="49" charset="0"/>
              </a:rPr>
              <a:t>currentGymMember</a:t>
            </a: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IE" sz="1800" dirty="0">
                <a:latin typeface="Monaco" pitchFamily="2" charset="77"/>
                <a:cs typeface="Courier New" panose="02070309020205020404" pitchFamily="49" charset="0"/>
              </a:rPr>
            </a:br>
            <a:r>
              <a:rPr lang="en-IE" sz="1800" dirty="0">
                <a:latin typeface="Monaco" pitchFamily="2" charset="77"/>
                <a:cs typeface="Courier New" panose="02070309020205020404" pitchFamily="49" charset="0"/>
              </a:rPr>
              <a:t>}</a:t>
            </a:r>
            <a:endParaRPr lang="en-US" sz="1800" dirty="0">
              <a:latin typeface="Monaco" pitchFamily="2" charset="77"/>
              <a:cs typeface="Courier New" panose="02070309020205020404" pitchFamily="49" charset="0"/>
            </a:endParaRPr>
          </a:p>
        </p:txBody>
      </p:sp>
      <p:pic>
        <p:nvPicPr>
          <p:cNvPr id="7" name="Picture 6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298E3718-9396-824B-B368-424474E8A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AF858E-57D1-0A0D-DEDB-2E517BC58E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2D9CE3-317E-A7A4-2A64-DEF8A5330D5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25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77107102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Getters / Setters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dirty="0"/>
              <a:t>For </a:t>
            </a:r>
            <a:r>
              <a:rPr lang="en-IE" dirty="0">
                <a:solidFill>
                  <a:srgbClr val="FF0000"/>
                </a:solidFill>
              </a:rPr>
              <a:t>each instance field </a:t>
            </a:r>
            <a:r>
              <a:rPr lang="en-IE" dirty="0"/>
              <a:t>in a class, you are normally asked to write: </a:t>
            </a:r>
          </a:p>
          <a:p>
            <a:pPr marL="0" indent="0">
              <a:buNone/>
            </a:pPr>
            <a:endParaRPr lang="en-IE" dirty="0"/>
          </a:p>
          <a:p>
            <a:pPr lvl="1"/>
            <a:r>
              <a:rPr lang="en-IE" sz="2800" dirty="0"/>
              <a:t>A </a:t>
            </a:r>
            <a:r>
              <a:rPr lang="en-IE" sz="2800" b="1" dirty="0"/>
              <a:t>get</a:t>
            </a:r>
            <a:r>
              <a:rPr lang="en-IE" sz="2800" dirty="0"/>
              <a:t>ter</a:t>
            </a:r>
          </a:p>
          <a:p>
            <a:pPr lvl="2"/>
            <a:r>
              <a:rPr lang="en-IE" sz="2800" dirty="0"/>
              <a:t>Return statement</a:t>
            </a:r>
          </a:p>
          <a:p>
            <a:pPr marL="342900" lvl="1" indent="0">
              <a:buNone/>
            </a:pPr>
            <a:endParaRPr lang="en-IE" sz="2800" dirty="0"/>
          </a:p>
          <a:p>
            <a:pPr lvl="1"/>
            <a:r>
              <a:rPr lang="en-IE" sz="2800" dirty="0"/>
              <a:t>A </a:t>
            </a:r>
            <a:r>
              <a:rPr lang="en-IE" sz="2800" b="1" dirty="0"/>
              <a:t>set</a:t>
            </a:r>
            <a:r>
              <a:rPr lang="en-IE" sz="2800" dirty="0"/>
              <a:t>ter</a:t>
            </a:r>
          </a:p>
          <a:p>
            <a:pPr lvl="2"/>
            <a:r>
              <a:rPr lang="en-IE" sz="2800" dirty="0"/>
              <a:t>Assignment statement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03A41-934F-7B3A-3250-B872ED8A60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151065-672C-92DC-7005-1B9D4CB16E4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26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8582413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GymMember</a:t>
            </a:r>
            <a:r>
              <a:rPr lang="en-IE" dirty="0"/>
              <a:t> Class… </a:t>
            </a:r>
            <a:r>
              <a:rPr lang="en-IE" dirty="0" err="1">
                <a:latin typeface="Monaco" pitchFamily="2" charset="77"/>
              </a:rPr>
              <a:t>toString</a:t>
            </a:r>
            <a:endParaRPr lang="en-IE" dirty="0">
              <a:latin typeface="Monaco" pitchFamily="2" charset="77"/>
            </a:endParaRPr>
          </a:p>
        </p:txBody>
      </p:sp>
      <p:pic>
        <p:nvPicPr>
          <p:cNvPr id="6" name="Picture 5" descr="Table&#10;&#10;Description automatically generated with medium confidence">
            <a:extLst>
              <a:ext uri="{FF2B5EF4-FFF2-40B4-BE49-F238E27FC236}">
                <a16:creationId xmlns:a16="http://schemas.microsoft.com/office/drawing/2014/main" id="{C82FF24B-5CE1-8941-ECC7-295A8C5DC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641" y="875873"/>
            <a:ext cx="4114802" cy="37632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A860743-5B17-FF7A-F7BE-68896772DC12}"/>
              </a:ext>
            </a:extLst>
          </p:cNvPr>
          <p:cNvSpPr txBox="1"/>
          <p:nvPr/>
        </p:nvSpPr>
        <p:spPr>
          <a:xfrm>
            <a:off x="1615327" y="1668554"/>
            <a:ext cx="2385173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800" b="1" dirty="0">
                <a:latin typeface="Monaco" pitchFamily="2" charset="77"/>
              </a:rPr>
              <a:t>toString</a:t>
            </a:r>
            <a:r>
              <a:rPr lang="en-IE" sz="1800" dirty="0">
                <a:latin typeface="Monaco" pitchFamily="2" charset="77"/>
              </a:rPr>
              <a:t>()</a:t>
            </a:r>
            <a:r>
              <a:rPr lang="en-IE" sz="1800" dirty="0"/>
              <a:t>:</a:t>
            </a:r>
          </a:p>
          <a:p>
            <a:endParaRPr lang="en-IE" sz="1800" dirty="0"/>
          </a:p>
          <a:p>
            <a:r>
              <a:rPr lang="en-US" altLang="en-US" sz="1500" dirty="0">
                <a:solidFill>
                  <a:schemeClr val="tx1">
                    <a:lumMod val="65000"/>
                    <a:lumOff val="35000"/>
                  </a:schemeClr>
                </a:solidFill>
                <a:cs typeface="Courier New" panose="02070309020205020404" pitchFamily="49" charset="0"/>
              </a:rPr>
              <a:t>Builds and returns a String containing a user-friendly representation of the object state.</a:t>
            </a:r>
            <a:r>
              <a:rPr lang="en-IE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</a:t>
            </a:r>
          </a:p>
        </p:txBody>
      </p:sp>
      <p:sp>
        <p:nvSpPr>
          <p:cNvPr id="18" name="Rectangle: Rounded Corners 20">
            <a:extLst>
              <a:ext uri="{FF2B5EF4-FFF2-40B4-BE49-F238E27FC236}">
                <a16:creationId xmlns:a16="http://schemas.microsoft.com/office/drawing/2014/main" id="{DFC47359-E7ED-6055-AD5B-1EAF50DAFD54}"/>
              </a:ext>
            </a:extLst>
          </p:cNvPr>
          <p:cNvSpPr/>
          <p:nvPr/>
        </p:nvSpPr>
        <p:spPr>
          <a:xfrm flipV="1">
            <a:off x="4529980" y="3333895"/>
            <a:ext cx="3528170" cy="2857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7912FA-256F-D976-AB82-A2C5F7C71DBB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4000500" y="2453384"/>
            <a:ext cx="529480" cy="99481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5594A2AD-A32B-B2BD-0A78-9695824A51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E512C9D-CA8E-E283-00BB-A57BCB0441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699A63-D630-C2B6-E9FB-C045827134E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27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64958855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5">
            <a:extLst>
              <a:ext uri="{FF2B5EF4-FFF2-40B4-BE49-F238E27FC236}">
                <a16:creationId xmlns:a16="http://schemas.microsoft.com/office/drawing/2014/main" id="{FF422864-AB66-318C-4A99-C6BBBF95BA6E}"/>
              </a:ext>
            </a:extLst>
          </p:cNvPr>
          <p:cNvSpPr/>
          <p:nvPr/>
        </p:nvSpPr>
        <p:spPr>
          <a:xfrm>
            <a:off x="347383" y="3663491"/>
            <a:ext cx="6328521" cy="486867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500" dirty="0"/>
              <a:t>Sample Console Output if we </a:t>
            </a:r>
            <a:r>
              <a:rPr lang="en-IE" sz="1500" b="1" u="sng" dirty="0"/>
              <a:t>don’t</a:t>
            </a:r>
            <a:r>
              <a:rPr lang="en-IE" sz="1500" dirty="0"/>
              <a:t> have a </a:t>
            </a:r>
            <a:r>
              <a:rPr lang="en-IE" sz="1500" dirty="0" err="1">
                <a:latin typeface="Monaco" pitchFamily="2" charset="77"/>
              </a:rPr>
              <a:t>toString</a:t>
            </a:r>
            <a:r>
              <a:rPr lang="en-IE" sz="1500" dirty="0"/>
              <a:t> for </a:t>
            </a:r>
            <a:r>
              <a:rPr lang="en-IE" sz="1500" dirty="0">
                <a:latin typeface="Monaco" pitchFamily="2" charset="77"/>
              </a:rPr>
              <a:t>GymMember</a:t>
            </a:r>
            <a:r>
              <a:rPr lang="en-IE" sz="1500" dirty="0"/>
              <a:t>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021BC8-ED83-C62C-3AEA-A7B700A2B7D3}"/>
              </a:ext>
            </a:extLst>
          </p:cNvPr>
          <p:cNvSpPr/>
          <p:nvPr/>
        </p:nvSpPr>
        <p:spPr>
          <a:xfrm>
            <a:off x="233081" y="1362982"/>
            <a:ext cx="8776447" cy="1708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E" sz="1500" dirty="0">
                <a:solidFill>
                  <a:srgbClr val="808000"/>
                </a:solidFill>
                <a:latin typeface="Monaco" pitchFamily="2" charset="77"/>
                <a:cs typeface="Courier New" panose="02070309020205020404" pitchFamily="49" charset="0"/>
              </a:rPr>
              <a:t>@Override</a:t>
            </a:r>
            <a:br>
              <a:rPr lang="en-IE" sz="1500" dirty="0">
                <a:solidFill>
                  <a:srgbClr val="808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IE" sz="15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</a:t>
            </a:r>
            <a:r>
              <a:rPr lang="en-IE" sz="1500" dirty="0">
                <a:latin typeface="Monaco" pitchFamily="2" charset="77"/>
                <a:cs typeface="Courier New" panose="02070309020205020404" pitchFamily="49" charset="0"/>
              </a:rPr>
              <a:t>String </a:t>
            </a:r>
            <a:r>
              <a:rPr lang="en-IE" sz="1500" dirty="0" err="1">
                <a:latin typeface="Monaco" pitchFamily="2" charset="77"/>
                <a:cs typeface="Courier New" panose="02070309020205020404" pitchFamily="49" charset="0"/>
              </a:rPr>
              <a:t>toString</a:t>
            </a:r>
            <a:r>
              <a:rPr lang="en-IE" sz="1500" dirty="0">
                <a:latin typeface="Monaco" pitchFamily="2" charset="77"/>
                <a:cs typeface="Courier New" panose="02070309020205020404" pitchFamily="49" charset="0"/>
              </a:rPr>
              <a:t>() {</a:t>
            </a:r>
            <a:br>
              <a:rPr lang="en-IE" sz="1500" dirty="0">
                <a:latin typeface="Monaco" pitchFamily="2" charset="77"/>
                <a:cs typeface="Courier New" panose="02070309020205020404" pitchFamily="49" charset="0"/>
              </a:rPr>
            </a:br>
            <a:r>
              <a:rPr lang="en-IE" sz="1500" dirty="0"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IE" sz="15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return  </a:t>
            </a:r>
            <a:r>
              <a:rPr lang="en-IE" sz="15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name </a:t>
            </a:r>
            <a:r>
              <a:rPr lang="en-IE" sz="1500" dirty="0">
                <a:latin typeface="Monaco" pitchFamily="2" charset="77"/>
                <a:cs typeface="Courier New" panose="02070309020205020404" pitchFamily="49" charset="0"/>
              </a:rPr>
              <a:t>+ </a:t>
            </a:r>
            <a:r>
              <a:rPr lang="en-IE" sz="15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": " </a:t>
            </a:r>
            <a:r>
              <a:rPr lang="en-IE" sz="1500" dirty="0">
                <a:latin typeface="Monaco" pitchFamily="2" charset="77"/>
                <a:cs typeface="Courier New" panose="02070309020205020404" pitchFamily="49" charset="0"/>
              </a:rPr>
              <a:t>+ </a:t>
            </a:r>
          </a:p>
          <a:p>
            <a:pPr algn="l"/>
            <a:r>
              <a:rPr lang="en-IE" sz="15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		height </a:t>
            </a:r>
            <a:r>
              <a:rPr lang="en-IE" sz="1500" dirty="0">
                <a:latin typeface="Monaco" pitchFamily="2" charset="77"/>
                <a:cs typeface="Courier New" panose="02070309020205020404" pitchFamily="49" charset="0"/>
              </a:rPr>
              <a:t>+ </a:t>
            </a:r>
            <a:r>
              <a:rPr lang="en-IE" sz="15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"M, " </a:t>
            </a:r>
            <a:r>
              <a:rPr lang="en-IE" sz="1500" dirty="0">
                <a:latin typeface="Monaco" pitchFamily="2" charset="77"/>
                <a:cs typeface="Courier New" panose="02070309020205020404" pitchFamily="49" charset="0"/>
              </a:rPr>
              <a:t>+ </a:t>
            </a:r>
          </a:p>
          <a:p>
            <a:pPr algn="l"/>
            <a:r>
              <a:rPr lang="en-IE" sz="15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		weight </a:t>
            </a:r>
            <a:r>
              <a:rPr lang="en-IE" sz="1500" dirty="0">
                <a:latin typeface="Monaco" pitchFamily="2" charset="77"/>
                <a:cs typeface="Courier New" panose="02070309020205020404" pitchFamily="49" charset="0"/>
              </a:rPr>
              <a:t>+ </a:t>
            </a:r>
            <a:r>
              <a:rPr lang="en-IE" sz="15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"KG (Member </a:t>
            </a:r>
            <a:r>
              <a:rPr lang="en-IE" sz="1500" b="1" dirty="0" err="1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Num</a:t>
            </a:r>
            <a:r>
              <a:rPr lang="en-IE" sz="15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: " </a:t>
            </a:r>
            <a:r>
              <a:rPr lang="en-IE" sz="1500" dirty="0">
                <a:latin typeface="Monaco" pitchFamily="2" charset="77"/>
                <a:cs typeface="Courier New" panose="02070309020205020404" pitchFamily="49" charset="0"/>
              </a:rPr>
              <a:t>+ </a:t>
            </a:r>
          </a:p>
          <a:p>
            <a:pPr algn="l"/>
            <a:r>
              <a:rPr lang="en-IE" sz="15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		</a:t>
            </a:r>
            <a:r>
              <a:rPr lang="en-IE" sz="15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membershipNumber</a:t>
            </a:r>
            <a:r>
              <a:rPr lang="en-IE" sz="15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IE" sz="1500" dirty="0">
                <a:latin typeface="Monaco" pitchFamily="2" charset="77"/>
                <a:cs typeface="Courier New" panose="02070309020205020404" pitchFamily="49" charset="0"/>
              </a:rPr>
              <a:t>+ </a:t>
            </a:r>
            <a:r>
              <a:rPr lang="en-IE" sz="15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", current member: " </a:t>
            </a:r>
            <a:r>
              <a:rPr lang="en-IE" sz="1500" dirty="0">
                <a:latin typeface="Monaco" pitchFamily="2" charset="77"/>
                <a:cs typeface="Courier New" panose="02070309020205020404" pitchFamily="49" charset="0"/>
              </a:rPr>
              <a:t>+ </a:t>
            </a:r>
            <a:r>
              <a:rPr lang="en-IE" sz="15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isCurrentGymMember</a:t>
            </a:r>
            <a:r>
              <a:rPr lang="en-IE" sz="15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IE" sz="1500" dirty="0">
                <a:latin typeface="Monaco" pitchFamily="2" charset="77"/>
                <a:cs typeface="Courier New" panose="02070309020205020404" pitchFamily="49" charset="0"/>
              </a:rPr>
              <a:t>+ </a:t>
            </a:r>
            <a:r>
              <a:rPr lang="en-IE" sz="15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")"</a:t>
            </a:r>
            <a:r>
              <a:rPr lang="en-IE" sz="1500" dirty="0"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IE" sz="1500" dirty="0">
                <a:latin typeface="Monaco" pitchFamily="2" charset="77"/>
                <a:cs typeface="Courier New" panose="02070309020205020404" pitchFamily="49" charset="0"/>
              </a:rPr>
            </a:br>
            <a:r>
              <a:rPr lang="en-IE" sz="1500" dirty="0">
                <a:latin typeface="Monaco" pitchFamily="2" charset="77"/>
                <a:cs typeface="Courier New" panose="02070309020205020404" pitchFamily="49" charset="0"/>
              </a:rPr>
              <a:t>}</a:t>
            </a:r>
            <a:endParaRPr lang="en-US" sz="1500" dirty="0">
              <a:latin typeface="Monaco" pitchFamily="2" charset="77"/>
              <a:cs typeface="Courier New" panose="020703090202050204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F98ED6-CA5D-9635-FB05-DD0F9D5CADDD}"/>
              </a:ext>
            </a:extLst>
          </p:cNvPr>
          <p:cNvCxnSpPr>
            <a:cxnSpLocks/>
          </p:cNvCxnSpPr>
          <p:nvPr/>
        </p:nvCxnSpPr>
        <p:spPr>
          <a:xfrm>
            <a:off x="1703294" y="845473"/>
            <a:ext cx="2868706" cy="261474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C78D5B-1589-8028-26E2-F88B77818CBF}"/>
              </a:ext>
            </a:extLst>
          </p:cNvPr>
          <p:cNvCxnSpPr>
            <a:cxnSpLocks/>
          </p:cNvCxnSpPr>
          <p:nvPr/>
        </p:nvCxnSpPr>
        <p:spPr>
          <a:xfrm flipH="1">
            <a:off x="1640541" y="845473"/>
            <a:ext cx="2789282" cy="261474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1EA03E25-FA7E-8A11-266A-7407A06317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823" y="4216244"/>
            <a:ext cx="2343150" cy="4970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E373EEC6-3D53-E604-A7E4-19B6FED8EF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CBCC42A-ABF3-48D8-0378-A2790C161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4323646-1E43-25DE-0140-5E5A384489D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28</a:t>
            </a:fld>
            <a:endParaRPr lang="en-IE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C566197-89F4-421B-C697-364570417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GymMember</a:t>
            </a:r>
            <a:r>
              <a:rPr lang="en-IE" dirty="0"/>
              <a:t> Class… </a:t>
            </a:r>
            <a:r>
              <a:rPr lang="en-IE" dirty="0" err="1">
                <a:latin typeface="Monaco" pitchFamily="2" charset="77"/>
              </a:rPr>
              <a:t>toString</a:t>
            </a:r>
            <a:endParaRPr lang="en-IE" dirty="0">
              <a:latin typeface="Monac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917940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>
                <a:latin typeface="Monaco" pitchFamily="2" charset="77"/>
              </a:rPr>
              <a:t>toString()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395536" y="843558"/>
            <a:ext cx="8062665" cy="4299943"/>
          </a:xfrm>
        </p:spPr>
        <p:txBody>
          <a:bodyPr>
            <a:normAutofit/>
          </a:bodyPr>
          <a:lstStyle/>
          <a:p>
            <a:r>
              <a:rPr lang="en-US" dirty="0"/>
              <a:t>This is a useful method and you will write a </a:t>
            </a:r>
            <a:r>
              <a:rPr lang="en-US" b="1" dirty="0">
                <a:latin typeface="Monaco" pitchFamily="2" charset="77"/>
              </a:rPr>
              <a:t>toString() </a:t>
            </a:r>
            <a:r>
              <a:rPr lang="en-US" dirty="0"/>
              <a:t>method for most of your classes</a:t>
            </a:r>
          </a:p>
          <a:p>
            <a:r>
              <a:rPr lang="en-IE" b="1" dirty="0"/>
              <a:t>When you print an object, Java automatically calls the </a:t>
            </a:r>
            <a:r>
              <a:rPr lang="en-IE" b="1" dirty="0">
                <a:latin typeface="Monaco" pitchFamily="2" charset="77"/>
              </a:rPr>
              <a:t>toString() </a:t>
            </a:r>
            <a:r>
              <a:rPr lang="en-IE" b="1" dirty="0"/>
              <a:t>method </a:t>
            </a:r>
            <a:r>
              <a:rPr lang="en-IE" dirty="0"/>
              <a:t>e.g.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4D2A4-F6D8-6105-9CED-A93C14B5DB2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29</a:t>
            </a:fld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F671DE-7594-3CE9-8614-C98024851D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1071980" y="2690960"/>
            <a:ext cx="6715685" cy="144270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E" sz="1800" dirty="0">
                <a:solidFill>
                  <a:schemeClr val="tx1"/>
                </a:solidFill>
                <a:latin typeface="Monaco" pitchFamily="2" charset="77"/>
              </a:rPr>
              <a:t>GymMember </a:t>
            </a:r>
            <a:r>
              <a:rPr lang="en-IE" sz="1800" dirty="0" err="1">
                <a:solidFill>
                  <a:schemeClr val="tx1"/>
                </a:solidFill>
                <a:latin typeface="Monaco" pitchFamily="2" charset="77"/>
              </a:rPr>
              <a:t>gymMember</a:t>
            </a:r>
            <a:r>
              <a:rPr lang="en-IE" sz="1800" dirty="0">
                <a:solidFill>
                  <a:schemeClr val="tx1"/>
                </a:solidFill>
                <a:latin typeface="Monaco" pitchFamily="2" charset="77"/>
              </a:rPr>
              <a:t> = new GymMember();</a:t>
            </a:r>
          </a:p>
          <a:p>
            <a:pPr algn="l"/>
            <a:endParaRPr lang="en-IE" sz="1575" dirty="0">
              <a:solidFill>
                <a:schemeClr val="tx1"/>
              </a:solidFill>
              <a:latin typeface="Monaco" pitchFamily="2" charset="77"/>
            </a:endParaRPr>
          </a:p>
          <a:p>
            <a:pPr algn="l"/>
            <a:r>
              <a:rPr lang="en-IE" sz="1800" dirty="0">
                <a:solidFill>
                  <a:schemeClr val="bg1">
                    <a:lumMod val="50000"/>
                  </a:schemeClr>
                </a:solidFill>
                <a:latin typeface="Monaco" pitchFamily="2" charset="77"/>
              </a:rPr>
              <a:t>//both of these lines of code do the same thing</a:t>
            </a:r>
          </a:p>
          <a:p>
            <a:pPr algn="l"/>
            <a:r>
              <a:rPr lang="en-IE" sz="1800" dirty="0" err="1">
                <a:solidFill>
                  <a:schemeClr val="tx1"/>
                </a:solidFill>
                <a:latin typeface="Monaco" pitchFamily="2" charset="77"/>
              </a:rPr>
              <a:t>System.out.println</a:t>
            </a:r>
            <a:r>
              <a:rPr lang="en-IE" sz="1800" dirty="0">
                <a:solidFill>
                  <a:schemeClr val="tx1"/>
                </a:solidFill>
                <a:latin typeface="Monaco" pitchFamily="2" charset="77"/>
              </a:rPr>
              <a:t>(</a:t>
            </a:r>
            <a:r>
              <a:rPr lang="en-IE" sz="1800" dirty="0" err="1">
                <a:solidFill>
                  <a:schemeClr val="tx1"/>
                </a:solidFill>
                <a:latin typeface="Monaco" pitchFamily="2" charset="77"/>
              </a:rPr>
              <a:t>gymMember</a:t>
            </a:r>
            <a:r>
              <a:rPr lang="en-IE" sz="1800" dirty="0">
                <a:solidFill>
                  <a:schemeClr val="tx1"/>
                </a:solidFill>
                <a:latin typeface="Monaco" pitchFamily="2" charset="77"/>
              </a:rPr>
              <a:t>);</a:t>
            </a:r>
          </a:p>
          <a:p>
            <a:pPr algn="l"/>
            <a:r>
              <a:rPr lang="en-IE" sz="1800" dirty="0" err="1">
                <a:solidFill>
                  <a:schemeClr val="tx1"/>
                </a:solidFill>
                <a:latin typeface="Monaco" pitchFamily="2" charset="77"/>
              </a:rPr>
              <a:t>System.out.println</a:t>
            </a:r>
            <a:r>
              <a:rPr lang="en-IE" sz="1800" dirty="0">
                <a:solidFill>
                  <a:schemeClr val="tx1"/>
                </a:solidFill>
                <a:latin typeface="Monaco" pitchFamily="2" charset="77"/>
              </a:rPr>
              <a:t>(</a:t>
            </a:r>
            <a:r>
              <a:rPr lang="en-IE" sz="1800" dirty="0" err="1">
                <a:solidFill>
                  <a:schemeClr val="tx1"/>
                </a:solidFill>
                <a:latin typeface="Monaco" pitchFamily="2" charset="77"/>
              </a:rPr>
              <a:t>gymMember.toString</a:t>
            </a:r>
            <a:r>
              <a:rPr lang="en-IE" sz="1800" dirty="0">
                <a:solidFill>
                  <a:schemeClr val="tx1"/>
                </a:solidFill>
                <a:latin typeface="Monaco" pitchFamily="2" charset="77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4447881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598460" y="1337969"/>
            <a:ext cx="3426668" cy="2166836"/>
          </a:xfrm>
        </p:spPr>
        <p:txBody>
          <a:bodyPr vert="horz" lIns="68580" tIns="34290" rIns="68580" bIns="3429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dirty="0"/>
              <a:t>USER I/O: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598459" y="3563170"/>
            <a:ext cx="3065479" cy="860897"/>
          </a:xfrm>
        </p:spPr>
        <p:txBody>
          <a:bodyPr vert="horz" lIns="68580" tIns="34290" rIns="68580" bIns="3429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</a:pPr>
            <a:r>
              <a:rPr lang="en-US" sz="2400" dirty="0">
                <a:solidFill>
                  <a:schemeClr val="tx1"/>
                </a:solidFill>
              </a:rPr>
              <a:t>Driver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E8DA6B8F-7878-3074-0AB8-972FA67D7869}"/>
              </a:ext>
            </a:extLst>
          </p:cNvPr>
          <p:cNvSpPr/>
          <p:nvPr/>
        </p:nvSpPr>
        <p:spPr>
          <a:xfrm>
            <a:off x="0" y="-10274"/>
            <a:ext cx="6082301" cy="4859676"/>
          </a:xfrm>
          <a:custGeom>
            <a:avLst/>
            <a:gdLst>
              <a:gd name="connsiteX0" fmla="*/ 0 w 6082301"/>
              <a:gd name="connsiteY0" fmla="*/ 0 h 4859676"/>
              <a:gd name="connsiteX1" fmla="*/ 10274 w 6082301"/>
              <a:gd name="connsiteY1" fmla="*/ 4859676 h 4859676"/>
              <a:gd name="connsiteX2" fmla="*/ 4325420 w 6082301"/>
              <a:gd name="connsiteY2" fmla="*/ 4859676 h 4859676"/>
              <a:gd name="connsiteX3" fmla="*/ 6082301 w 6082301"/>
              <a:gd name="connsiteY3" fmla="*/ 10274 h 4859676"/>
              <a:gd name="connsiteX4" fmla="*/ 0 w 6082301"/>
              <a:gd name="connsiteY4" fmla="*/ 0 h 4859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2301" h="4859676">
                <a:moveTo>
                  <a:pt x="0" y="0"/>
                </a:moveTo>
                <a:cubicBezTo>
                  <a:pt x="3425" y="1619892"/>
                  <a:pt x="6849" y="3239784"/>
                  <a:pt x="10274" y="4859676"/>
                </a:cubicBezTo>
                <a:lnTo>
                  <a:pt x="4325420" y="4859676"/>
                </a:lnTo>
                <a:lnTo>
                  <a:pt x="6082301" y="10274"/>
                </a:lnTo>
                <a:lnTo>
                  <a:pt x="0" y="0"/>
                </a:lnTo>
                <a:close/>
              </a:path>
            </a:pathLst>
          </a:custGeom>
          <a:solidFill>
            <a:srgbClr val="1181F3"/>
          </a:solidFill>
          <a:ln w="12700" cap="flat">
            <a:solidFill>
              <a:schemeClr val="tx1"/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pic>
        <p:nvPicPr>
          <p:cNvPr id="6" name="Picture 5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F26A4769-E317-7896-04FA-A460F4C8D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0" y="30822"/>
            <a:ext cx="4804453" cy="4804453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1EEF671-DD98-291D-1BE3-CFCF69AD7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BB9C55-9B3F-5A1B-FE83-4585346B8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7160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the </a:t>
            </a:r>
            <a:r>
              <a:rPr lang="en-IE" dirty="0">
                <a:latin typeface="Monaco" pitchFamily="2" charset="77"/>
              </a:rPr>
              <a:t>GymMember</a:t>
            </a:r>
            <a:r>
              <a:rPr lang="en-IE" dirty="0"/>
              <a:t> Class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7638F2C-4F3A-4740-B1F7-98694765C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1088222"/>
            <a:ext cx="4030756" cy="30008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</a:t>
            </a:r>
            <a:r>
              <a:rPr lang="en-US" altLang="en-US" sz="1500" dirty="0">
                <a:solidFill>
                  <a:srgbClr val="C00000"/>
                </a:solidFill>
                <a:latin typeface="Monaco" pitchFamily="2" charset="77"/>
                <a:cs typeface="Courier New" panose="02070309020205020404" pitchFamily="49" charset="0"/>
              </a:rPr>
              <a:t>GymMember</a:t>
            </a:r>
            <a:r>
              <a:rPr lang="en-US" altLang="en-US" sz="15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15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gymMember</a:t>
            </a:r>
            <a:r>
              <a:rPr lang="en-US" altLang="en-US" sz="15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endParaRPr lang="en-US" altLang="en-US" sz="3600" dirty="0">
              <a:latin typeface="Monaco" pitchFamily="2" charset="7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5A02A5-FBE3-4BFD-A937-751A496B5248}"/>
              </a:ext>
            </a:extLst>
          </p:cNvPr>
          <p:cNvSpPr txBox="1"/>
          <p:nvPr/>
        </p:nvSpPr>
        <p:spPr>
          <a:xfrm>
            <a:off x="514350" y="1617567"/>
            <a:ext cx="4030756" cy="64633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50" dirty="0"/>
              <a:t>Declaring an object </a:t>
            </a:r>
            <a:r>
              <a:rPr lang="en-US" altLang="en-US" sz="18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gymMember</a:t>
            </a:r>
            <a:r>
              <a:rPr lang="en-IE" sz="1650" dirty="0"/>
              <a:t>, of type </a:t>
            </a:r>
            <a:r>
              <a:rPr lang="en-US" altLang="en-US" sz="1800" dirty="0">
                <a:solidFill>
                  <a:srgbClr val="C00000"/>
                </a:solidFill>
                <a:latin typeface="Monaco" pitchFamily="2" charset="77"/>
                <a:cs typeface="Courier New" panose="02070309020205020404" pitchFamily="49" charset="0"/>
              </a:rPr>
              <a:t>GymMember</a:t>
            </a:r>
            <a:endParaRPr lang="en-IE" sz="165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1E86991-78E0-40A7-9D7A-068BB348EFE2}"/>
              </a:ext>
            </a:extLst>
          </p:cNvPr>
          <p:cNvCxnSpPr>
            <a:cxnSpLocks/>
            <a:stCxn id="24" idx="0"/>
            <a:endCxn id="7" idx="2"/>
          </p:cNvCxnSpPr>
          <p:nvPr/>
        </p:nvCxnSpPr>
        <p:spPr>
          <a:xfrm flipV="1">
            <a:off x="2529728" y="1388304"/>
            <a:ext cx="0" cy="22926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DC93C307-7E7D-4619-BD7C-341559638F1F}"/>
              </a:ext>
            </a:extLst>
          </p:cNvPr>
          <p:cNvSpPr/>
          <p:nvPr/>
        </p:nvSpPr>
        <p:spPr>
          <a:xfrm>
            <a:off x="342900" y="856883"/>
            <a:ext cx="342900" cy="3083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88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5C9017-7322-2713-33F7-50B2A81E8B15}"/>
              </a:ext>
            </a:extLst>
          </p:cNvPr>
          <p:cNvSpPr txBox="1"/>
          <p:nvPr/>
        </p:nvSpPr>
        <p:spPr>
          <a:xfrm>
            <a:off x="6901615" y="1349015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18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gymMember</a:t>
            </a:r>
            <a:endParaRPr lang="en-IE" sz="1800" dirty="0">
              <a:solidFill>
                <a:srgbClr val="7030A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31CE37-E245-4DD9-518D-99AD607A0482}"/>
              </a:ext>
            </a:extLst>
          </p:cNvPr>
          <p:cNvSpPr/>
          <p:nvPr/>
        </p:nvSpPr>
        <p:spPr>
          <a:xfrm>
            <a:off x="7244515" y="1715433"/>
            <a:ext cx="714375" cy="415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100" dirty="0"/>
              <a:t>null</a:t>
            </a:r>
          </a:p>
        </p:txBody>
      </p:sp>
      <p:pic>
        <p:nvPicPr>
          <p:cNvPr id="3" name="Picture 2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2B47BE9C-2E66-F988-D775-A6DC629B5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BEE73E-AC6E-31A5-4DFB-2FD0A71EFF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085866-439E-0029-F394-8D87879F295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31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066001506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the </a:t>
            </a:r>
            <a:r>
              <a:rPr lang="en-IE" dirty="0">
                <a:latin typeface="Monaco" pitchFamily="2" charset="77"/>
              </a:rPr>
              <a:t>GymMember</a:t>
            </a:r>
            <a:r>
              <a:rPr lang="en-IE" dirty="0"/>
              <a:t> Class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64D5C-75CB-4A03-B126-E4A08DBBB495}"/>
              </a:ext>
            </a:extLst>
          </p:cNvPr>
          <p:cNvSpPr txBox="1"/>
          <p:nvPr/>
        </p:nvSpPr>
        <p:spPr>
          <a:xfrm>
            <a:off x="6901615" y="1349015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18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gymMember</a:t>
            </a:r>
            <a:endParaRPr lang="en-IE" sz="1800" dirty="0">
              <a:solidFill>
                <a:srgbClr val="7030A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CE7FB0-63B1-4809-A8C1-48C339B20821}"/>
              </a:ext>
            </a:extLst>
          </p:cNvPr>
          <p:cNvSpPr/>
          <p:nvPr/>
        </p:nvSpPr>
        <p:spPr>
          <a:xfrm>
            <a:off x="7244515" y="1715433"/>
            <a:ext cx="714375" cy="415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21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61B6DCC-18CF-18CB-CFFC-96F2B7E9C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2343177"/>
            <a:ext cx="5841625" cy="58875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88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gymMember</a:t>
            </a:r>
            <a:r>
              <a:rPr lang="en-US" altLang="en-US" sz="1688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1688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new </a:t>
            </a: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GymMember(“Joe Soap”, 1.8, 									175, 12001, true);</a:t>
            </a:r>
            <a:endParaRPr lang="en-US" altLang="en-US" sz="3300" dirty="0">
              <a:latin typeface="Monaco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B6FC94-2A2E-A550-D013-05AB8190D4C0}"/>
              </a:ext>
            </a:extLst>
          </p:cNvPr>
          <p:cNvSpPr txBox="1"/>
          <p:nvPr/>
        </p:nvSpPr>
        <p:spPr>
          <a:xfrm>
            <a:off x="514350" y="3507883"/>
            <a:ext cx="2514600" cy="110799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50" dirty="0"/>
              <a:t>Calls the </a:t>
            </a:r>
            <a:r>
              <a:rPr lang="en-US" altLang="en-US" sz="1600" dirty="0">
                <a:solidFill>
                  <a:srgbClr val="C00000"/>
                </a:solidFill>
                <a:latin typeface="Monaco" pitchFamily="2" charset="77"/>
                <a:cs typeface="Courier New" panose="02070309020205020404" pitchFamily="49" charset="0"/>
              </a:rPr>
              <a:t>GymMember</a:t>
            </a:r>
            <a:r>
              <a:rPr lang="en-IE" sz="1650" b="1" dirty="0">
                <a:solidFill>
                  <a:srgbClr val="FF0000"/>
                </a:solidFill>
              </a:rPr>
              <a:t> </a:t>
            </a:r>
            <a:r>
              <a:rPr lang="en-IE" sz="1650" i="1" dirty="0"/>
              <a:t>constructor</a:t>
            </a:r>
            <a:r>
              <a:rPr lang="en-IE" sz="1650" dirty="0"/>
              <a:t> to build the </a:t>
            </a:r>
            <a:r>
              <a:rPr lang="en-US" altLang="en-US" sz="16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gymMember</a:t>
            </a:r>
            <a:r>
              <a:rPr lang="en-IE" sz="1650" b="1" dirty="0">
                <a:solidFill>
                  <a:srgbClr val="FF0000"/>
                </a:solidFill>
              </a:rPr>
              <a:t> </a:t>
            </a:r>
            <a:r>
              <a:rPr lang="en-IE" sz="1650" dirty="0"/>
              <a:t>object in memory.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D43B48-1E46-177E-8182-81FA3ABE24D8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1771650" y="3075368"/>
            <a:ext cx="0" cy="43251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E99B3B1F-44D9-2F7E-868A-728AEEDE1D28}"/>
              </a:ext>
            </a:extLst>
          </p:cNvPr>
          <p:cNvSpPr/>
          <p:nvPr/>
        </p:nvSpPr>
        <p:spPr>
          <a:xfrm>
            <a:off x="249890" y="2296083"/>
            <a:ext cx="342900" cy="3083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88" dirty="0"/>
              <a:t>2</a:t>
            </a:r>
          </a:p>
        </p:txBody>
      </p:sp>
      <p:sp>
        <p:nvSpPr>
          <p:cNvPr id="15" name="Rounded Rectangle 11">
            <a:extLst>
              <a:ext uri="{FF2B5EF4-FFF2-40B4-BE49-F238E27FC236}">
                <a16:creationId xmlns:a16="http://schemas.microsoft.com/office/drawing/2014/main" id="{E55F4301-B9C0-EFFB-F26A-4DD824C411E3}"/>
              </a:ext>
            </a:extLst>
          </p:cNvPr>
          <p:cNvSpPr/>
          <p:nvPr/>
        </p:nvSpPr>
        <p:spPr>
          <a:xfrm>
            <a:off x="5943600" y="2953018"/>
            <a:ext cx="3086100" cy="210828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50E3B3-7AC2-BE40-BFF6-FAB632E2B8E1}"/>
              </a:ext>
            </a:extLst>
          </p:cNvPr>
          <p:cNvSpPr txBox="1"/>
          <p:nvPr/>
        </p:nvSpPr>
        <p:spPr>
          <a:xfrm>
            <a:off x="6000750" y="3372580"/>
            <a:ext cx="154305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8A897E-3DBE-252B-A595-6FA50BE137E0}"/>
              </a:ext>
            </a:extLst>
          </p:cNvPr>
          <p:cNvSpPr txBox="1"/>
          <p:nvPr/>
        </p:nvSpPr>
        <p:spPr>
          <a:xfrm>
            <a:off x="6000750" y="3705435"/>
            <a:ext cx="154305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height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AFA196-3F56-0CEC-9D55-7FE8279754B1}"/>
              </a:ext>
            </a:extLst>
          </p:cNvPr>
          <p:cNvSpPr txBox="1"/>
          <p:nvPr/>
        </p:nvSpPr>
        <p:spPr>
          <a:xfrm>
            <a:off x="7656659" y="3388687"/>
            <a:ext cx="1236245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“Joe Soap”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9D3D98-CE7A-409E-43D7-5D411272D416}"/>
              </a:ext>
            </a:extLst>
          </p:cNvPr>
          <p:cNvSpPr txBox="1"/>
          <p:nvPr/>
        </p:nvSpPr>
        <p:spPr>
          <a:xfrm>
            <a:off x="7961460" y="3721542"/>
            <a:ext cx="646417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1.8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3C692F-20DE-D2FE-9029-784D3A4024E4}"/>
              </a:ext>
            </a:extLst>
          </p:cNvPr>
          <p:cNvSpPr txBox="1"/>
          <p:nvPr/>
        </p:nvSpPr>
        <p:spPr>
          <a:xfrm>
            <a:off x="6925678" y="2994651"/>
            <a:ext cx="1377399" cy="3231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500" dirty="0" err="1"/>
              <a:t>gymMember</a:t>
            </a:r>
            <a:endParaRPr lang="en-IE" sz="15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3C8B58-3C6D-2D9E-6E4D-77EB2DCF2271}"/>
              </a:ext>
            </a:extLst>
          </p:cNvPr>
          <p:cNvSpPr txBox="1"/>
          <p:nvPr/>
        </p:nvSpPr>
        <p:spPr>
          <a:xfrm>
            <a:off x="6000751" y="4048335"/>
            <a:ext cx="1526248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weight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234B88-8CCA-932C-77CB-22596114F50C}"/>
              </a:ext>
            </a:extLst>
          </p:cNvPr>
          <p:cNvSpPr txBox="1"/>
          <p:nvPr/>
        </p:nvSpPr>
        <p:spPr>
          <a:xfrm>
            <a:off x="7943412" y="4064442"/>
            <a:ext cx="646417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175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58E6DA-0CBF-73E5-3312-C23943CDCFCB}"/>
              </a:ext>
            </a:extLst>
          </p:cNvPr>
          <p:cNvSpPr txBox="1"/>
          <p:nvPr/>
        </p:nvSpPr>
        <p:spPr>
          <a:xfrm>
            <a:off x="6090397" y="4366634"/>
            <a:ext cx="1631137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membershipNumber</a:t>
            </a:r>
            <a:endParaRPr lang="en-IE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A19CB4-2003-00A0-167E-3349A5A7860F}"/>
              </a:ext>
            </a:extLst>
          </p:cNvPr>
          <p:cNvSpPr txBox="1"/>
          <p:nvPr/>
        </p:nvSpPr>
        <p:spPr>
          <a:xfrm>
            <a:off x="7936688" y="4375507"/>
            <a:ext cx="653421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12001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159D2B-D703-61F0-6103-1B3E7A2749C0}"/>
              </a:ext>
            </a:extLst>
          </p:cNvPr>
          <p:cNvSpPr txBox="1"/>
          <p:nvPr/>
        </p:nvSpPr>
        <p:spPr>
          <a:xfrm>
            <a:off x="6127979" y="4686241"/>
            <a:ext cx="1725104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isCurrentGymMember</a:t>
            </a:r>
            <a:endParaRPr lang="en-IE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B1FF5D-DB20-0DE4-1DC7-DC3D3AB2A45F}"/>
              </a:ext>
            </a:extLst>
          </p:cNvPr>
          <p:cNvSpPr txBox="1"/>
          <p:nvPr/>
        </p:nvSpPr>
        <p:spPr>
          <a:xfrm>
            <a:off x="7945134" y="4702348"/>
            <a:ext cx="646417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true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F907B77-D9C9-05BE-EFB4-ED8A861D475E}"/>
              </a:ext>
            </a:extLst>
          </p:cNvPr>
          <p:cNvCxnSpPr>
            <a:cxnSpLocks/>
          </p:cNvCxnSpPr>
          <p:nvPr/>
        </p:nvCxnSpPr>
        <p:spPr>
          <a:xfrm>
            <a:off x="7600950" y="1870567"/>
            <a:ext cx="43615" cy="1124084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4FB46805-C28F-507F-ED36-D09724E4D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A86374-8141-2E25-6667-FC5B8CA00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727B91A1-91B0-2CC5-A98A-CB2789B37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1088222"/>
            <a:ext cx="4030756" cy="30008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</a:t>
            </a:r>
            <a:r>
              <a:rPr lang="en-US" altLang="en-US" sz="1500" dirty="0">
                <a:solidFill>
                  <a:srgbClr val="C00000"/>
                </a:solidFill>
                <a:latin typeface="Monaco" pitchFamily="2" charset="77"/>
                <a:cs typeface="Courier New" panose="02070309020205020404" pitchFamily="49" charset="0"/>
              </a:rPr>
              <a:t>GymMember</a:t>
            </a:r>
            <a:r>
              <a:rPr lang="en-US" altLang="en-US" sz="15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15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gymMember</a:t>
            </a:r>
            <a:r>
              <a:rPr lang="en-US" altLang="en-US" sz="15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endParaRPr lang="en-US" altLang="en-US" sz="3600" dirty="0">
              <a:latin typeface="Monaco" pitchFamily="2" charset="7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2940B1-A13D-37B8-1E78-BF74C398E501}"/>
              </a:ext>
            </a:extLst>
          </p:cNvPr>
          <p:cNvSpPr txBox="1"/>
          <p:nvPr/>
        </p:nvSpPr>
        <p:spPr>
          <a:xfrm>
            <a:off x="514350" y="1617567"/>
            <a:ext cx="4030756" cy="64633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50" dirty="0"/>
              <a:t>Declaring an object </a:t>
            </a:r>
            <a:r>
              <a:rPr lang="en-US" altLang="en-US" sz="18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gymMember</a:t>
            </a:r>
            <a:r>
              <a:rPr lang="en-IE" sz="1650" dirty="0"/>
              <a:t>, of type </a:t>
            </a:r>
            <a:r>
              <a:rPr lang="en-US" altLang="en-US" sz="1800" dirty="0">
                <a:solidFill>
                  <a:srgbClr val="C00000"/>
                </a:solidFill>
                <a:latin typeface="Monaco" pitchFamily="2" charset="77"/>
                <a:cs typeface="Courier New" panose="02070309020205020404" pitchFamily="49" charset="0"/>
              </a:rPr>
              <a:t>GymMember</a:t>
            </a:r>
            <a:endParaRPr lang="en-IE" sz="165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97D4098-4813-9F1A-D4F0-AF371DB4BA0E}"/>
              </a:ext>
            </a:extLst>
          </p:cNvPr>
          <p:cNvCxnSpPr>
            <a:cxnSpLocks/>
            <a:stCxn id="33" idx="0"/>
            <a:endCxn id="32" idx="2"/>
          </p:cNvCxnSpPr>
          <p:nvPr/>
        </p:nvCxnSpPr>
        <p:spPr>
          <a:xfrm flipV="1">
            <a:off x="2529728" y="1388304"/>
            <a:ext cx="0" cy="22926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7DE2D10E-B60D-3609-F8C9-C541FED3F88A}"/>
              </a:ext>
            </a:extLst>
          </p:cNvPr>
          <p:cNvSpPr/>
          <p:nvPr/>
        </p:nvSpPr>
        <p:spPr>
          <a:xfrm>
            <a:off x="342900" y="856883"/>
            <a:ext cx="342900" cy="3083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88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42866657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Multiple </a:t>
            </a:r>
            <a:r>
              <a:rPr lang="en-IE" dirty="0">
                <a:latin typeface="Monaco" pitchFamily="2" charset="77"/>
              </a:rPr>
              <a:t>GymMember</a:t>
            </a:r>
            <a:r>
              <a:rPr lang="en-IE" dirty="0"/>
              <a:t>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64D5C-75CB-4A03-B126-E4A08DBBB495}"/>
              </a:ext>
            </a:extLst>
          </p:cNvPr>
          <p:cNvSpPr txBox="1"/>
          <p:nvPr/>
        </p:nvSpPr>
        <p:spPr>
          <a:xfrm>
            <a:off x="676776" y="1960922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800" dirty="0" err="1">
                <a:solidFill>
                  <a:srgbClr val="7030A0"/>
                </a:solidFill>
                <a:latin typeface="Monaco" pitchFamily="2" charset="77"/>
              </a:rPr>
              <a:t>gymMember</a:t>
            </a:r>
            <a:endParaRPr lang="en-IE" sz="1800" dirty="0">
              <a:solidFill>
                <a:srgbClr val="7030A0"/>
              </a:solidFill>
              <a:latin typeface="Monaco" pitchFamily="2" charset="7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CE7FB0-63B1-4809-A8C1-48C339B20821}"/>
              </a:ext>
            </a:extLst>
          </p:cNvPr>
          <p:cNvSpPr/>
          <p:nvPr/>
        </p:nvSpPr>
        <p:spPr>
          <a:xfrm>
            <a:off x="1100138" y="2328163"/>
            <a:ext cx="714375" cy="415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21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61B6DCC-18CF-18CB-CFFC-96F2B7E9C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834510"/>
            <a:ext cx="8229600" cy="58875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88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</a:t>
            </a: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GymMember </a:t>
            </a:r>
            <a:r>
              <a:rPr lang="en-US" altLang="en-US" sz="1688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gymMember</a:t>
            </a:r>
            <a:r>
              <a:rPr lang="en-US" altLang="en-US" sz="1688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1688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new </a:t>
            </a: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GymMember(“Joe Soap”, 1.8, 																  175, 12001, true);</a:t>
            </a:r>
            <a:endParaRPr lang="en-US" altLang="en-US" sz="3300" dirty="0">
              <a:latin typeface="Monaco" pitchFamily="2" charset="77"/>
            </a:endParaRPr>
          </a:p>
        </p:txBody>
      </p:sp>
      <p:sp>
        <p:nvSpPr>
          <p:cNvPr id="15" name="Rounded Rectangle 11">
            <a:extLst>
              <a:ext uri="{FF2B5EF4-FFF2-40B4-BE49-F238E27FC236}">
                <a16:creationId xmlns:a16="http://schemas.microsoft.com/office/drawing/2014/main" id="{E55F4301-B9C0-EFFB-F26A-4DD824C411E3}"/>
              </a:ext>
            </a:extLst>
          </p:cNvPr>
          <p:cNvSpPr/>
          <p:nvPr/>
        </p:nvSpPr>
        <p:spPr>
          <a:xfrm>
            <a:off x="628650" y="2920911"/>
            <a:ext cx="3086100" cy="210828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50E3B3-7AC2-BE40-BFF6-FAB632E2B8E1}"/>
              </a:ext>
            </a:extLst>
          </p:cNvPr>
          <p:cNvSpPr txBox="1"/>
          <p:nvPr/>
        </p:nvSpPr>
        <p:spPr>
          <a:xfrm>
            <a:off x="685800" y="3340473"/>
            <a:ext cx="154305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8A897E-3DBE-252B-A595-6FA50BE137E0}"/>
              </a:ext>
            </a:extLst>
          </p:cNvPr>
          <p:cNvSpPr txBox="1"/>
          <p:nvPr/>
        </p:nvSpPr>
        <p:spPr>
          <a:xfrm>
            <a:off x="685800" y="3673328"/>
            <a:ext cx="154305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height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AFA196-3F56-0CEC-9D55-7FE8279754B1}"/>
              </a:ext>
            </a:extLst>
          </p:cNvPr>
          <p:cNvSpPr txBox="1"/>
          <p:nvPr/>
        </p:nvSpPr>
        <p:spPr>
          <a:xfrm>
            <a:off x="2341709" y="3356580"/>
            <a:ext cx="1236245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“Joe Soap”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9D3D98-CE7A-409E-43D7-5D411272D416}"/>
              </a:ext>
            </a:extLst>
          </p:cNvPr>
          <p:cNvSpPr txBox="1"/>
          <p:nvPr/>
        </p:nvSpPr>
        <p:spPr>
          <a:xfrm>
            <a:off x="2655476" y="3689435"/>
            <a:ext cx="646417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1.8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3C692F-20DE-D2FE-9029-784D3A4024E4}"/>
              </a:ext>
            </a:extLst>
          </p:cNvPr>
          <p:cNvSpPr txBox="1"/>
          <p:nvPr/>
        </p:nvSpPr>
        <p:spPr>
          <a:xfrm>
            <a:off x="1610728" y="2962545"/>
            <a:ext cx="1377399" cy="3231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500" dirty="0" err="1"/>
              <a:t>gymMember</a:t>
            </a:r>
            <a:endParaRPr lang="en-IE" sz="15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3C8B58-3C6D-2D9E-6E4D-77EB2DCF2271}"/>
              </a:ext>
            </a:extLst>
          </p:cNvPr>
          <p:cNvSpPr txBox="1"/>
          <p:nvPr/>
        </p:nvSpPr>
        <p:spPr>
          <a:xfrm>
            <a:off x="685801" y="4016228"/>
            <a:ext cx="1526248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weight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234B88-8CCA-932C-77CB-22596114F50C}"/>
              </a:ext>
            </a:extLst>
          </p:cNvPr>
          <p:cNvSpPr txBox="1"/>
          <p:nvPr/>
        </p:nvSpPr>
        <p:spPr>
          <a:xfrm>
            <a:off x="2637428" y="4032335"/>
            <a:ext cx="646417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175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58E6DA-0CBF-73E5-3312-C23943CDCFCB}"/>
              </a:ext>
            </a:extLst>
          </p:cNvPr>
          <p:cNvSpPr txBox="1"/>
          <p:nvPr/>
        </p:nvSpPr>
        <p:spPr>
          <a:xfrm>
            <a:off x="685801" y="4343492"/>
            <a:ext cx="1655908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membershipNumber</a:t>
            </a:r>
            <a:endParaRPr lang="en-IE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A19CB4-2003-00A0-167E-3349A5A7860F}"/>
              </a:ext>
            </a:extLst>
          </p:cNvPr>
          <p:cNvSpPr txBox="1"/>
          <p:nvPr/>
        </p:nvSpPr>
        <p:spPr>
          <a:xfrm>
            <a:off x="2630704" y="4343401"/>
            <a:ext cx="653421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12001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159D2B-D703-61F0-6103-1B3E7A2749C0}"/>
              </a:ext>
            </a:extLst>
          </p:cNvPr>
          <p:cNvSpPr txBox="1"/>
          <p:nvPr/>
        </p:nvSpPr>
        <p:spPr>
          <a:xfrm>
            <a:off x="759241" y="4654134"/>
            <a:ext cx="1732949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isCurrentGymMember</a:t>
            </a:r>
            <a:endParaRPr lang="en-IE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B1FF5D-DB20-0DE4-1DC7-DC3D3AB2A45F}"/>
              </a:ext>
            </a:extLst>
          </p:cNvPr>
          <p:cNvSpPr txBox="1"/>
          <p:nvPr/>
        </p:nvSpPr>
        <p:spPr>
          <a:xfrm>
            <a:off x="2639150" y="4670241"/>
            <a:ext cx="646417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true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F907B77-D9C9-05BE-EFB4-ED8A861D475E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457325" y="2551843"/>
            <a:ext cx="714375" cy="369068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D5D8E6E7-CF76-0596-1329-4B82D444C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4CD566-0829-34DA-C0C6-50A8E09F836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33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718932741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Multiple </a:t>
            </a:r>
            <a:r>
              <a:rPr lang="en-IE" dirty="0">
                <a:latin typeface="Monaco" pitchFamily="2" charset="77"/>
              </a:rPr>
              <a:t>GymMember</a:t>
            </a:r>
            <a:r>
              <a:rPr lang="en-IE" dirty="0"/>
              <a:t>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64D5C-75CB-4A03-B126-E4A08DBBB495}"/>
              </a:ext>
            </a:extLst>
          </p:cNvPr>
          <p:cNvSpPr txBox="1"/>
          <p:nvPr/>
        </p:nvSpPr>
        <p:spPr>
          <a:xfrm>
            <a:off x="676776" y="1960922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800" dirty="0" err="1">
                <a:solidFill>
                  <a:srgbClr val="7030A0"/>
                </a:solidFill>
                <a:latin typeface="Monaco" pitchFamily="2" charset="77"/>
              </a:rPr>
              <a:t>gymMember</a:t>
            </a:r>
            <a:endParaRPr lang="en-IE" sz="1800" dirty="0">
              <a:solidFill>
                <a:srgbClr val="7030A0"/>
              </a:solidFill>
              <a:latin typeface="Monaco" pitchFamily="2" charset="7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CE7FB0-63B1-4809-A8C1-48C339B20821}"/>
              </a:ext>
            </a:extLst>
          </p:cNvPr>
          <p:cNvSpPr/>
          <p:nvPr/>
        </p:nvSpPr>
        <p:spPr>
          <a:xfrm>
            <a:off x="1100138" y="2328163"/>
            <a:ext cx="714375" cy="415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2100" dirty="0"/>
          </a:p>
        </p:txBody>
      </p:sp>
      <p:sp>
        <p:nvSpPr>
          <p:cNvPr id="15" name="Rounded Rectangle 11">
            <a:extLst>
              <a:ext uri="{FF2B5EF4-FFF2-40B4-BE49-F238E27FC236}">
                <a16:creationId xmlns:a16="http://schemas.microsoft.com/office/drawing/2014/main" id="{E55F4301-B9C0-EFFB-F26A-4DD824C411E3}"/>
              </a:ext>
            </a:extLst>
          </p:cNvPr>
          <p:cNvSpPr/>
          <p:nvPr/>
        </p:nvSpPr>
        <p:spPr>
          <a:xfrm>
            <a:off x="628650" y="2920911"/>
            <a:ext cx="3086100" cy="210828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50E3B3-7AC2-BE40-BFF6-FAB632E2B8E1}"/>
              </a:ext>
            </a:extLst>
          </p:cNvPr>
          <p:cNvSpPr txBox="1"/>
          <p:nvPr/>
        </p:nvSpPr>
        <p:spPr>
          <a:xfrm>
            <a:off x="685800" y="3340473"/>
            <a:ext cx="154305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8A897E-3DBE-252B-A595-6FA50BE137E0}"/>
              </a:ext>
            </a:extLst>
          </p:cNvPr>
          <p:cNvSpPr txBox="1"/>
          <p:nvPr/>
        </p:nvSpPr>
        <p:spPr>
          <a:xfrm>
            <a:off x="685800" y="3673328"/>
            <a:ext cx="154305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height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AFA196-3F56-0CEC-9D55-7FE8279754B1}"/>
              </a:ext>
            </a:extLst>
          </p:cNvPr>
          <p:cNvSpPr txBox="1"/>
          <p:nvPr/>
        </p:nvSpPr>
        <p:spPr>
          <a:xfrm>
            <a:off x="2341709" y="3356580"/>
            <a:ext cx="1236245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“Joe Soap”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9D3D98-CE7A-409E-43D7-5D411272D416}"/>
              </a:ext>
            </a:extLst>
          </p:cNvPr>
          <p:cNvSpPr txBox="1"/>
          <p:nvPr/>
        </p:nvSpPr>
        <p:spPr>
          <a:xfrm>
            <a:off x="2682370" y="3689435"/>
            <a:ext cx="646417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1.8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3C692F-20DE-D2FE-9029-784D3A4024E4}"/>
              </a:ext>
            </a:extLst>
          </p:cNvPr>
          <p:cNvSpPr txBox="1"/>
          <p:nvPr/>
        </p:nvSpPr>
        <p:spPr>
          <a:xfrm>
            <a:off x="1610728" y="2962545"/>
            <a:ext cx="1359351" cy="3231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500" dirty="0" err="1"/>
              <a:t>gymMember</a:t>
            </a:r>
            <a:endParaRPr lang="en-IE" sz="15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3C8B58-3C6D-2D9E-6E4D-77EB2DCF2271}"/>
              </a:ext>
            </a:extLst>
          </p:cNvPr>
          <p:cNvSpPr txBox="1"/>
          <p:nvPr/>
        </p:nvSpPr>
        <p:spPr>
          <a:xfrm>
            <a:off x="685801" y="4016228"/>
            <a:ext cx="1526248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weight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234B88-8CCA-932C-77CB-22596114F50C}"/>
              </a:ext>
            </a:extLst>
          </p:cNvPr>
          <p:cNvSpPr txBox="1"/>
          <p:nvPr/>
        </p:nvSpPr>
        <p:spPr>
          <a:xfrm>
            <a:off x="2664322" y="4032335"/>
            <a:ext cx="646417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175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58E6DA-0CBF-73E5-3312-C23943CDCFCB}"/>
              </a:ext>
            </a:extLst>
          </p:cNvPr>
          <p:cNvSpPr txBox="1"/>
          <p:nvPr/>
        </p:nvSpPr>
        <p:spPr>
          <a:xfrm>
            <a:off x="685801" y="4343492"/>
            <a:ext cx="1655908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membershipNumber</a:t>
            </a:r>
            <a:endParaRPr lang="en-IE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A19CB4-2003-00A0-167E-3349A5A7860F}"/>
              </a:ext>
            </a:extLst>
          </p:cNvPr>
          <p:cNvSpPr txBox="1"/>
          <p:nvPr/>
        </p:nvSpPr>
        <p:spPr>
          <a:xfrm>
            <a:off x="2657598" y="4343401"/>
            <a:ext cx="653421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12001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159D2B-D703-61F0-6103-1B3E7A2749C0}"/>
              </a:ext>
            </a:extLst>
          </p:cNvPr>
          <p:cNvSpPr txBox="1"/>
          <p:nvPr/>
        </p:nvSpPr>
        <p:spPr>
          <a:xfrm>
            <a:off x="768207" y="4654134"/>
            <a:ext cx="175211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isCurrentGymMember</a:t>
            </a:r>
            <a:endParaRPr lang="en-IE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B1FF5D-DB20-0DE4-1DC7-DC3D3AB2A45F}"/>
              </a:ext>
            </a:extLst>
          </p:cNvPr>
          <p:cNvSpPr txBox="1"/>
          <p:nvPr/>
        </p:nvSpPr>
        <p:spPr>
          <a:xfrm>
            <a:off x="2666044" y="4670241"/>
            <a:ext cx="646417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true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F907B77-D9C9-05BE-EFB4-ED8A861D475E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457325" y="2551843"/>
            <a:ext cx="714375" cy="369068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BE2A4DF-F44C-EAE0-C906-DFF43A92015E}"/>
              </a:ext>
            </a:extLst>
          </p:cNvPr>
          <p:cNvSpPr txBox="1"/>
          <p:nvPr/>
        </p:nvSpPr>
        <p:spPr>
          <a:xfrm>
            <a:off x="4334376" y="1983543"/>
            <a:ext cx="1485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800" dirty="0">
                <a:solidFill>
                  <a:srgbClr val="7030A0"/>
                </a:solidFill>
                <a:latin typeface="Monaco" pitchFamily="2" charset="77"/>
              </a:rPr>
              <a:t>gymMember2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1C5D202-A3AF-2C66-ACA5-2576FFDAA536}"/>
              </a:ext>
            </a:extLst>
          </p:cNvPr>
          <p:cNvSpPr/>
          <p:nvPr/>
        </p:nvSpPr>
        <p:spPr>
          <a:xfrm>
            <a:off x="4757738" y="2350785"/>
            <a:ext cx="714375" cy="415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2100" dirty="0"/>
          </a:p>
        </p:txBody>
      </p:sp>
      <p:sp>
        <p:nvSpPr>
          <p:cNvPr id="33" name="Rounded Rectangle 11">
            <a:extLst>
              <a:ext uri="{FF2B5EF4-FFF2-40B4-BE49-F238E27FC236}">
                <a16:creationId xmlns:a16="http://schemas.microsoft.com/office/drawing/2014/main" id="{33A16050-59EB-E85A-418D-5E0D536FEB58}"/>
              </a:ext>
            </a:extLst>
          </p:cNvPr>
          <p:cNvSpPr/>
          <p:nvPr/>
        </p:nvSpPr>
        <p:spPr>
          <a:xfrm>
            <a:off x="4286250" y="2943533"/>
            <a:ext cx="3086100" cy="210828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9A3064-B75A-97DC-5244-F09626A302EE}"/>
              </a:ext>
            </a:extLst>
          </p:cNvPr>
          <p:cNvSpPr txBox="1"/>
          <p:nvPr/>
        </p:nvSpPr>
        <p:spPr>
          <a:xfrm>
            <a:off x="4343400" y="3363094"/>
            <a:ext cx="154305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name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30D897-C3B0-6B4D-B12B-84518102E150}"/>
              </a:ext>
            </a:extLst>
          </p:cNvPr>
          <p:cNvSpPr txBox="1"/>
          <p:nvPr/>
        </p:nvSpPr>
        <p:spPr>
          <a:xfrm>
            <a:off x="4343400" y="3695950"/>
            <a:ext cx="154305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height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A4E12F-9E15-16E1-345E-0B877D2E1DCD}"/>
              </a:ext>
            </a:extLst>
          </p:cNvPr>
          <p:cNvSpPr txBox="1"/>
          <p:nvPr/>
        </p:nvSpPr>
        <p:spPr>
          <a:xfrm>
            <a:off x="5999309" y="3379201"/>
            <a:ext cx="1236245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“Mary Lee”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DDB276-3718-D7F4-5938-075F7037C19E}"/>
              </a:ext>
            </a:extLst>
          </p:cNvPr>
          <p:cNvSpPr txBox="1"/>
          <p:nvPr/>
        </p:nvSpPr>
        <p:spPr>
          <a:xfrm>
            <a:off x="6339970" y="3712057"/>
            <a:ext cx="646417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1.5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BA347D-200D-6DBD-D468-69650FE42ED3}"/>
              </a:ext>
            </a:extLst>
          </p:cNvPr>
          <p:cNvSpPr txBox="1"/>
          <p:nvPr/>
        </p:nvSpPr>
        <p:spPr>
          <a:xfrm>
            <a:off x="5268328" y="2985166"/>
            <a:ext cx="1377399" cy="3231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500" dirty="0"/>
              <a:t>gymMember2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C6BA1B-3537-02F1-39C9-F77BDB0DD6F5}"/>
              </a:ext>
            </a:extLst>
          </p:cNvPr>
          <p:cNvSpPr txBox="1"/>
          <p:nvPr/>
        </p:nvSpPr>
        <p:spPr>
          <a:xfrm>
            <a:off x="4343401" y="4038850"/>
            <a:ext cx="1526248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weight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A53199-EDF8-086E-1E1B-9AE933143140}"/>
              </a:ext>
            </a:extLst>
          </p:cNvPr>
          <p:cNvSpPr txBox="1"/>
          <p:nvPr/>
        </p:nvSpPr>
        <p:spPr>
          <a:xfrm>
            <a:off x="6321922" y="4054957"/>
            <a:ext cx="646417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125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714943-B817-B0F4-6AA5-FE0521535ADD}"/>
              </a:ext>
            </a:extLst>
          </p:cNvPr>
          <p:cNvSpPr txBox="1"/>
          <p:nvPr/>
        </p:nvSpPr>
        <p:spPr>
          <a:xfrm>
            <a:off x="4343401" y="4366114"/>
            <a:ext cx="1655908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membershipNumber</a:t>
            </a:r>
            <a:endParaRPr lang="en-IE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4BD87C-0A0F-6097-2D77-836B820AB3DE}"/>
              </a:ext>
            </a:extLst>
          </p:cNvPr>
          <p:cNvSpPr txBox="1"/>
          <p:nvPr/>
        </p:nvSpPr>
        <p:spPr>
          <a:xfrm>
            <a:off x="6315198" y="4366022"/>
            <a:ext cx="653421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12002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0E8B5E-07A8-8D57-8F91-23DBEC2EF1DC}"/>
              </a:ext>
            </a:extLst>
          </p:cNvPr>
          <p:cNvSpPr txBox="1"/>
          <p:nvPr/>
        </p:nvSpPr>
        <p:spPr>
          <a:xfrm>
            <a:off x="4434771" y="4676755"/>
            <a:ext cx="1759843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isCurrentGymMember</a:t>
            </a:r>
            <a:endParaRPr lang="en-IE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557CDE-CF4A-E30F-CD98-F0E56A864D0D}"/>
              </a:ext>
            </a:extLst>
          </p:cNvPr>
          <p:cNvSpPr txBox="1"/>
          <p:nvPr/>
        </p:nvSpPr>
        <p:spPr>
          <a:xfrm>
            <a:off x="6323644" y="4692862"/>
            <a:ext cx="646417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false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CBEE2C3-88C1-69B9-7CD4-7865F1A256DE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5114925" y="2574465"/>
            <a:ext cx="714375" cy="369068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2">
            <a:extLst>
              <a:ext uri="{FF2B5EF4-FFF2-40B4-BE49-F238E27FC236}">
                <a16:creationId xmlns:a16="http://schemas.microsoft.com/office/drawing/2014/main" id="{96EDE36F-3D8A-492B-DA5B-5F2D9167E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453075"/>
            <a:ext cx="8515350" cy="58875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88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</a:t>
            </a: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GymMember </a:t>
            </a:r>
            <a:r>
              <a:rPr lang="en-US" altLang="en-US" sz="1688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gymMember2 </a:t>
            </a: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1688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new </a:t>
            </a: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GymMember(“Mary Lee”, 1.5, 																	125, 12002, false);</a:t>
            </a:r>
            <a:endParaRPr lang="en-US" altLang="en-US" sz="3300" dirty="0">
              <a:latin typeface="Monaco" pitchFamily="2" charset="77"/>
            </a:endParaRPr>
          </a:p>
        </p:txBody>
      </p:sp>
      <p:pic>
        <p:nvPicPr>
          <p:cNvPr id="3" name="Picture 2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08C39211-B213-0886-1F42-D55966839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CCAC82-8DBA-2837-CCE2-806A119A0D4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34</a:t>
            </a:fld>
            <a:endParaRPr lang="en-IE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67500D9-277A-CED5-139A-28C021EAA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834510"/>
            <a:ext cx="8229600" cy="58875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88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</a:t>
            </a: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GymMember </a:t>
            </a:r>
            <a:r>
              <a:rPr lang="en-US" altLang="en-US" sz="1688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gymMember</a:t>
            </a:r>
            <a:r>
              <a:rPr lang="en-US" altLang="en-US" sz="1688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1688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new </a:t>
            </a: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GymMember(“Joe Soap”, 1.8, 																  175, 12001, true);</a:t>
            </a:r>
            <a:endParaRPr lang="en-US" altLang="en-US" sz="3300" dirty="0">
              <a:latin typeface="Monac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26276091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62E0F6-DCEA-7145-9380-E55370C13C9E}"/>
              </a:ext>
            </a:extLst>
          </p:cNvPr>
          <p:cNvSpPr/>
          <p:nvPr/>
        </p:nvSpPr>
        <p:spPr>
          <a:xfrm>
            <a:off x="268915" y="92075"/>
            <a:ext cx="6287621" cy="440120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E" sz="1400" b="1" dirty="0">
                <a:solidFill>
                  <a:srgbClr val="000080"/>
                </a:solidFill>
                <a:latin typeface="Monaco" pitchFamily="2" charset="77"/>
              </a:rPr>
              <a:t>import </a:t>
            </a:r>
            <a:r>
              <a:rPr lang="en-IE" sz="1400" dirty="0" err="1">
                <a:latin typeface="Monaco" pitchFamily="2" charset="77"/>
              </a:rPr>
              <a:t>java.util.Scanner</a:t>
            </a:r>
            <a:r>
              <a:rPr lang="en-IE" sz="1400" dirty="0">
                <a:latin typeface="Monaco" pitchFamily="2" charset="77"/>
              </a:rPr>
              <a:t>;</a:t>
            </a:r>
            <a:br>
              <a:rPr lang="en-IE" sz="1400" dirty="0">
                <a:latin typeface="Monaco" pitchFamily="2" charset="77"/>
              </a:rPr>
            </a:br>
            <a:br>
              <a:rPr lang="en-IE" sz="1400" dirty="0">
                <a:latin typeface="Monaco" pitchFamily="2" charset="77"/>
              </a:rPr>
            </a:br>
            <a:r>
              <a:rPr lang="en-IE" sz="1400" b="1" dirty="0">
                <a:solidFill>
                  <a:srgbClr val="000080"/>
                </a:solidFill>
                <a:latin typeface="Monaco" pitchFamily="2" charset="77"/>
              </a:rPr>
              <a:t>public class </a:t>
            </a:r>
            <a:r>
              <a:rPr lang="en-IE" sz="1400" dirty="0">
                <a:latin typeface="Monaco" pitchFamily="2" charset="77"/>
              </a:rPr>
              <a:t>Driver {</a:t>
            </a:r>
            <a:br>
              <a:rPr lang="en-IE" sz="1400" i="1" dirty="0">
                <a:solidFill>
                  <a:srgbClr val="808080"/>
                </a:solidFill>
                <a:latin typeface="Monaco" pitchFamily="2" charset="77"/>
              </a:rPr>
            </a:br>
            <a:br>
              <a:rPr lang="en-IE" sz="1400" i="1" dirty="0">
                <a:solidFill>
                  <a:srgbClr val="808080"/>
                </a:solidFill>
                <a:latin typeface="Monaco" pitchFamily="2" charset="77"/>
              </a:rPr>
            </a:br>
            <a:r>
              <a:rPr lang="en-IE" sz="1400" i="1" dirty="0">
                <a:solidFill>
                  <a:srgbClr val="808080"/>
                </a:solidFill>
                <a:latin typeface="Monaco" pitchFamily="2" charset="77"/>
              </a:rPr>
              <a:t>        </a:t>
            </a:r>
            <a:r>
              <a:rPr lang="en-IE" sz="1400" b="1" dirty="0">
                <a:solidFill>
                  <a:srgbClr val="000080"/>
                </a:solidFill>
                <a:latin typeface="Monaco" pitchFamily="2" charset="77"/>
              </a:rPr>
              <a:t>private </a:t>
            </a:r>
            <a:r>
              <a:rPr lang="en-IE" sz="1400" dirty="0">
                <a:latin typeface="Monaco" pitchFamily="2" charset="77"/>
              </a:rPr>
              <a:t>Scanner </a:t>
            </a:r>
            <a:r>
              <a:rPr lang="en-IE" sz="1400" b="1" dirty="0">
                <a:solidFill>
                  <a:srgbClr val="660E7A"/>
                </a:solidFill>
                <a:latin typeface="Monaco" pitchFamily="2" charset="77"/>
              </a:rPr>
              <a:t>input </a:t>
            </a:r>
            <a:r>
              <a:rPr lang="en-IE" sz="1400" dirty="0">
                <a:latin typeface="Monaco" pitchFamily="2" charset="77"/>
              </a:rPr>
              <a:t>= </a:t>
            </a:r>
            <a:r>
              <a:rPr lang="en-IE" sz="1400" b="1" dirty="0">
                <a:solidFill>
                  <a:srgbClr val="000080"/>
                </a:solidFill>
                <a:latin typeface="Monaco" pitchFamily="2" charset="77"/>
              </a:rPr>
              <a:t>new </a:t>
            </a:r>
            <a:r>
              <a:rPr lang="en-IE" sz="1400" dirty="0">
                <a:latin typeface="Monaco" pitchFamily="2" charset="77"/>
              </a:rPr>
              <a:t>Scanner(</a:t>
            </a:r>
            <a:r>
              <a:rPr lang="en-IE" sz="1400" dirty="0" err="1">
                <a:latin typeface="Monaco" pitchFamily="2" charset="77"/>
              </a:rPr>
              <a:t>System.</a:t>
            </a:r>
            <a:r>
              <a:rPr lang="en-IE" sz="1400" b="1" i="1" dirty="0" err="1">
                <a:solidFill>
                  <a:srgbClr val="660E7A"/>
                </a:solidFill>
                <a:latin typeface="Monaco" pitchFamily="2" charset="77"/>
              </a:rPr>
              <a:t>in</a:t>
            </a:r>
            <a:r>
              <a:rPr lang="en-IE" sz="1400" dirty="0">
                <a:latin typeface="Monaco" pitchFamily="2" charset="77"/>
              </a:rPr>
              <a:t>);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    </a:t>
            </a:r>
            <a:r>
              <a:rPr lang="en-IE" sz="1400" b="1" dirty="0">
                <a:solidFill>
                  <a:srgbClr val="000080"/>
                </a:solidFill>
                <a:latin typeface="Monaco" pitchFamily="2" charset="77"/>
              </a:rPr>
              <a:t>private </a:t>
            </a:r>
            <a:r>
              <a:rPr lang="en-IE" sz="1400" dirty="0">
                <a:latin typeface="Monaco" pitchFamily="2" charset="77"/>
              </a:rPr>
              <a:t>GymMember </a:t>
            </a:r>
            <a:r>
              <a:rPr lang="en-IE" sz="1400" b="1" dirty="0" err="1">
                <a:solidFill>
                  <a:srgbClr val="660E7A"/>
                </a:solidFill>
                <a:latin typeface="Monaco" pitchFamily="2" charset="77"/>
              </a:rPr>
              <a:t>gymMember</a:t>
            </a:r>
            <a:r>
              <a:rPr lang="en-IE" sz="1400" dirty="0">
                <a:latin typeface="Monaco" pitchFamily="2" charset="77"/>
              </a:rPr>
              <a:t>;</a:t>
            </a:r>
            <a:br>
              <a:rPr lang="en-IE" sz="1400" dirty="0">
                <a:latin typeface="Monaco" pitchFamily="2" charset="77"/>
              </a:rPr>
            </a:b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    </a:t>
            </a:r>
            <a:r>
              <a:rPr lang="en-IE" sz="1400" b="1" dirty="0">
                <a:solidFill>
                  <a:srgbClr val="000080"/>
                </a:solidFill>
                <a:latin typeface="Monaco" pitchFamily="2" charset="77"/>
              </a:rPr>
              <a:t>public static void </a:t>
            </a:r>
            <a:r>
              <a:rPr lang="en-IE" sz="1400" dirty="0">
                <a:latin typeface="Monaco" pitchFamily="2" charset="77"/>
              </a:rPr>
              <a:t>main(String[] </a:t>
            </a:r>
            <a:r>
              <a:rPr lang="en-IE" sz="1400" dirty="0" err="1">
                <a:latin typeface="Monaco" pitchFamily="2" charset="77"/>
              </a:rPr>
              <a:t>arg</a:t>
            </a:r>
            <a:r>
              <a:rPr lang="en-IE" sz="1400" dirty="0">
                <a:latin typeface="Monaco" pitchFamily="2" charset="77"/>
              </a:rPr>
              <a:t>) {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        </a:t>
            </a:r>
            <a:r>
              <a:rPr lang="en-IE" sz="1400" b="1" dirty="0">
                <a:solidFill>
                  <a:srgbClr val="000080"/>
                </a:solidFill>
                <a:latin typeface="Monaco" pitchFamily="2" charset="77"/>
              </a:rPr>
              <a:t>new </a:t>
            </a:r>
            <a:r>
              <a:rPr lang="en-IE" sz="1400" dirty="0">
                <a:latin typeface="Monaco" pitchFamily="2" charset="77"/>
              </a:rPr>
              <a:t>Driver();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    }</a:t>
            </a:r>
            <a:br>
              <a:rPr lang="en-IE" sz="1400" dirty="0">
                <a:latin typeface="Monaco" pitchFamily="2" charset="77"/>
              </a:rPr>
            </a:b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    </a:t>
            </a:r>
            <a:r>
              <a:rPr lang="en-IE" sz="1400" b="1" dirty="0">
                <a:solidFill>
                  <a:srgbClr val="000080"/>
                </a:solidFill>
                <a:latin typeface="Monaco" pitchFamily="2" charset="77"/>
              </a:rPr>
              <a:t>public </a:t>
            </a:r>
            <a:r>
              <a:rPr lang="en-IE" sz="1400" dirty="0">
                <a:latin typeface="Monaco" pitchFamily="2" charset="77"/>
              </a:rPr>
              <a:t>Driver() {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        </a:t>
            </a:r>
            <a:r>
              <a:rPr lang="en-IE" sz="1400" dirty="0" err="1">
                <a:latin typeface="Monaco" pitchFamily="2" charset="77"/>
              </a:rPr>
              <a:t>addGymMember</a:t>
            </a:r>
            <a:r>
              <a:rPr lang="en-IE" sz="1400" dirty="0">
                <a:latin typeface="Monaco" pitchFamily="2" charset="77"/>
              </a:rPr>
              <a:t>();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        </a:t>
            </a:r>
            <a:r>
              <a:rPr lang="en-IE" sz="1400" dirty="0" err="1">
                <a:latin typeface="Monaco" pitchFamily="2" charset="77"/>
              </a:rPr>
              <a:t>printGymMember</a:t>
            </a:r>
            <a:r>
              <a:rPr lang="en-IE" sz="1400" dirty="0">
                <a:latin typeface="Monaco" pitchFamily="2" charset="77"/>
              </a:rPr>
              <a:t>();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    }</a:t>
            </a:r>
          </a:p>
          <a:p>
            <a:pPr algn="l"/>
            <a:endParaRPr lang="en-IE" sz="1400" dirty="0">
              <a:latin typeface="Monaco" pitchFamily="2" charset="77"/>
            </a:endParaRPr>
          </a:p>
          <a:p>
            <a:pPr algn="l"/>
            <a:r>
              <a:rPr lang="en-IE" sz="1400" dirty="0">
                <a:solidFill>
                  <a:schemeClr val="bg1">
                    <a:lumMod val="50000"/>
                  </a:schemeClr>
                </a:solidFill>
                <a:latin typeface="Monaco" pitchFamily="2" charset="77"/>
              </a:rPr>
              <a:t>        // </a:t>
            </a:r>
            <a:r>
              <a:rPr lang="en-IE" sz="1400" dirty="0" err="1">
                <a:solidFill>
                  <a:schemeClr val="bg1">
                    <a:lumMod val="50000"/>
                  </a:schemeClr>
                </a:solidFill>
                <a:latin typeface="Monaco" pitchFamily="2" charset="77"/>
              </a:rPr>
              <a:t>addGymMember</a:t>
            </a:r>
            <a:r>
              <a:rPr lang="en-IE" sz="1400" dirty="0">
                <a:solidFill>
                  <a:schemeClr val="bg1">
                    <a:lumMod val="50000"/>
                  </a:schemeClr>
                </a:solidFill>
                <a:latin typeface="Monaco" pitchFamily="2" charset="77"/>
              </a:rPr>
              <a:t> () code</a:t>
            </a:r>
          </a:p>
          <a:p>
            <a:pPr algn="l"/>
            <a:r>
              <a:rPr lang="en-IE" sz="1400" dirty="0">
                <a:solidFill>
                  <a:schemeClr val="bg1">
                    <a:lumMod val="50000"/>
                  </a:schemeClr>
                </a:solidFill>
                <a:latin typeface="Monaco" pitchFamily="2" charset="77"/>
              </a:rPr>
              <a:t>        // </a:t>
            </a:r>
            <a:r>
              <a:rPr lang="en-IE" sz="1400" dirty="0" err="1">
                <a:solidFill>
                  <a:schemeClr val="bg1">
                    <a:lumMod val="50000"/>
                  </a:schemeClr>
                </a:solidFill>
                <a:latin typeface="Monaco" pitchFamily="2" charset="77"/>
              </a:rPr>
              <a:t>printGymMember</a:t>
            </a:r>
            <a:r>
              <a:rPr lang="en-IE" sz="1400" dirty="0">
                <a:solidFill>
                  <a:schemeClr val="bg1">
                    <a:lumMod val="50000"/>
                  </a:schemeClr>
                </a:solidFill>
                <a:latin typeface="Monaco" pitchFamily="2" charset="77"/>
              </a:rPr>
              <a:t>() code</a:t>
            </a:r>
          </a:p>
          <a:p>
            <a:pPr algn="l"/>
            <a:endParaRPr lang="en-IE" sz="1400" dirty="0">
              <a:latin typeface="Monaco" pitchFamily="2" charset="77"/>
            </a:endParaRPr>
          </a:p>
          <a:p>
            <a:pPr algn="l"/>
            <a:r>
              <a:rPr lang="en-IE" sz="1400" dirty="0">
                <a:latin typeface="Monaco" pitchFamily="2" charset="77"/>
              </a:rPr>
              <a:t>}</a:t>
            </a:r>
            <a:endParaRPr lang="en-US" sz="1400" dirty="0">
              <a:latin typeface="Monaco" pitchFamily="2" charset="77"/>
            </a:endParaRPr>
          </a:p>
        </p:txBody>
      </p:sp>
      <p:pic>
        <p:nvPicPr>
          <p:cNvPr id="2" name="Picture 1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55987E4B-1D04-B745-A60C-41B8E734E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A8D38B-A621-8112-28A4-199275884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3F81AE-BC0D-A937-385F-B4FF9048D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74CEF6-AB45-BFCC-F671-0EEDAF90979E}"/>
              </a:ext>
            </a:extLst>
          </p:cNvPr>
          <p:cNvSpPr txBox="1"/>
          <p:nvPr/>
        </p:nvSpPr>
        <p:spPr>
          <a:xfrm>
            <a:off x="5973854" y="198496"/>
            <a:ext cx="1771650" cy="41549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100" dirty="0"/>
              <a:t>Driver Class</a:t>
            </a:r>
          </a:p>
        </p:txBody>
      </p:sp>
    </p:spTree>
    <p:extLst>
      <p:ext uri="{BB962C8B-B14F-4D97-AF65-F5344CB8AC3E}">
        <p14:creationId xmlns:p14="http://schemas.microsoft.com/office/powerpoint/2010/main" val="9730891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04611F-EF1A-8C76-298C-9E04DBB5D80C}"/>
              </a:ext>
            </a:extLst>
          </p:cNvPr>
          <p:cNvSpPr/>
          <p:nvPr/>
        </p:nvSpPr>
        <p:spPr>
          <a:xfrm>
            <a:off x="113314" y="47982"/>
            <a:ext cx="7953935" cy="50475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E" sz="1400" b="1" dirty="0">
                <a:solidFill>
                  <a:srgbClr val="000080"/>
                </a:solidFill>
                <a:latin typeface="Monaco" pitchFamily="2" charset="77"/>
              </a:rPr>
              <a:t>private void </a:t>
            </a:r>
            <a:r>
              <a:rPr lang="en-IE" sz="1400" dirty="0" err="1">
                <a:latin typeface="Monaco" pitchFamily="2" charset="77"/>
              </a:rPr>
              <a:t>addGymMember</a:t>
            </a:r>
            <a:r>
              <a:rPr lang="en-IE" sz="1400" dirty="0">
                <a:latin typeface="Monaco" pitchFamily="2" charset="77"/>
              </a:rPr>
              <a:t>() {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</a:t>
            </a:r>
            <a:r>
              <a:rPr lang="en-IE" sz="1400" i="1" dirty="0">
                <a:solidFill>
                  <a:srgbClr val="808080"/>
                </a:solidFill>
                <a:latin typeface="Monaco" pitchFamily="2" charset="77"/>
              </a:rPr>
              <a:t>//obtaining the data from the user</a:t>
            </a:r>
            <a:br>
              <a:rPr lang="en-IE" sz="1400" i="1" dirty="0">
                <a:solidFill>
                  <a:srgbClr val="808080"/>
                </a:solidFill>
                <a:latin typeface="Monaco" pitchFamily="2" charset="77"/>
              </a:rPr>
            </a:br>
            <a:r>
              <a:rPr lang="en-IE" sz="1400" i="1" dirty="0">
                <a:solidFill>
                  <a:srgbClr val="808080"/>
                </a:solidFill>
                <a:latin typeface="Monaco" pitchFamily="2" charset="77"/>
              </a:rPr>
              <a:t>    </a:t>
            </a:r>
            <a:r>
              <a:rPr lang="en-IE" sz="1400" dirty="0" err="1">
                <a:latin typeface="Monaco" pitchFamily="2" charset="77"/>
              </a:rPr>
              <a:t>System.</a:t>
            </a:r>
            <a:r>
              <a:rPr lang="en-IE" sz="1400" b="1" i="1" dirty="0" err="1">
                <a:solidFill>
                  <a:srgbClr val="660E7A"/>
                </a:solidFill>
                <a:latin typeface="Monaco" pitchFamily="2" charset="77"/>
              </a:rPr>
              <a:t>out</a:t>
            </a:r>
            <a:r>
              <a:rPr lang="en-IE" sz="1400" dirty="0" err="1">
                <a:latin typeface="Monaco" pitchFamily="2" charset="77"/>
              </a:rPr>
              <a:t>.println</a:t>
            </a:r>
            <a:r>
              <a:rPr lang="en-IE" sz="1400" dirty="0">
                <a:latin typeface="Monaco" pitchFamily="2" charset="77"/>
              </a:rPr>
              <a:t>(</a:t>
            </a:r>
            <a:r>
              <a:rPr lang="en-IE" sz="1400" b="1" dirty="0">
                <a:solidFill>
                  <a:srgbClr val="008000"/>
                </a:solidFill>
                <a:latin typeface="Monaco" pitchFamily="2" charset="77"/>
              </a:rPr>
              <a:t>"Entering details"</a:t>
            </a:r>
            <a:r>
              <a:rPr lang="en-IE" sz="1400" dirty="0">
                <a:latin typeface="Monaco" pitchFamily="2" charset="77"/>
              </a:rPr>
              <a:t>);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</a:t>
            </a:r>
            <a:r>
              <a:rPr lang="en-IE" sz="1400" dirty="0" err="1">
                <a:latin typeface="Monaco" pitchFamily="2" charset="77"/>
              </a:rPr>
              <a:t>System.</a:t>
            </a:r>
            <a:r>
              <a:rPr lang="en-IE" sz="1400" b="1" i="1" dirty="0" err="1">
                <a:solidFill>
                  <a:srgbClr val="660E7A"/>
                </a:solidFill>
                <a:latin typeface="Monaco" pitchFamily="2" charset="77"/>
              </a:rPr>
              <a:t>out</a:t>
            </a:r>
            <a:r>
              <a:rPr lang="en-IE" sz="1400" dirty="0" err="1">
                <a:latin typeface="Monaco" pitchFamily="2" charset="77"/>
              </a:rPr>
              <a:t>.println</a:t>
            </a:r>
            <a:r>
              <a:rPr lang="en-IE" sz="1400" dirty="0">
                <a:latin typeface="Monaco" pitchFamily="2" charset="77"/>
              </a:rPr>
              <a:t>(</a:t>
            </a:r>
            <a:r>
              <a:rPr lang="en-IE" sz="1400" b="1" dirty="0">
                <a:solidFill>
                  <a:srgbClr val="008000"/>
                </a:solidFill>
                <a:latin typeface="Monaco" pitchFamily="2" charset="77"/>
              </a:rPr>
              <a:t>"----------------"</a:t>
            </a:r>
            <a:r>
              <a:rPr lang="en-IE" sz="1400" dirty="0">
                <a:latin typeface="Monaco" pitchFamily="2" charset="77"/>
              </a:rPr>
              <a:t>);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</a:t>
            </a:r>
            <a:r>
              <a:rPr lang="en-IE" sz="1400" dirty="0" err="1">
                <a:latin typeface="Monaco" pitchFamily="2" charset="77"/>
              </a:rPr>
              <a:t>System.</a:t>
            </a:r>
            <a:r>
              <a:rPr lang="en-IE" sz="1400" b="1" i="1" dirty="0" err="1">
                <a:solidFill>
                  <a:srgbClr val="660E7A"/>
                </a:solidFill>
                <a:latin typeface="Monaco" pitchFamily="2" charset="77"/>
              </a:rPr>
              <a:t>out</a:t>
            </a:r>
            <a:r>
              <a:rPr lang="en-IE" sz="1400" dirty="0" err="1">
                <a:latin typeface="Monaco" pitchFamily="2" charset="77"/>
              </a:rPr>
              <a:t>.print</a:t>
            </a:r>
            <a:r>
              <a:rPr lang="en-IE" sz="1400" dirty="0">
                <a:latin typeface="Monaco" pitchFamily="2" charset="77"/>
              </a:rPr>
              <a:t>(</a:t>
            </a:r>
            <a:r>
              <a:rPr lang="en-IE" sz="1400" b="1" dirty="0">
                <a:solidFill>
                  <a:srgbClr val="008000"/>
                </a:solidFill>
                <a:latin typeface="Monaco" pitchFamily="2" charset="77"/>
              </a:rPr>
              <a:t>"   Enter your name:             "</a:t>
            </a:r>
            <a:r>
              <a:rPr lang="en-IE" sz="1400" dirty="0">
                <a:latin typeface="Monaco" pitchFamily="2" charset="77"/>
              </a:rPr>
              <a:t>);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String name = </a:t>
            </a:r>
            <a:r>
              <a:rPr lang="en-IE" sz="1400" b="1" dirty="0" err="1">
                <a:solidFill>
                  <a:srgbClr val="660E7A"/>
                </a:solidFill>
                <a:latin typeface="Monaco" pitchFamily="2" charset="77"/>
              </a:rPr>
              <a:t>input</a:t>
            </a:r>
            <a:r>
              <a:rPr lang="en-IE" sz="1400" dirty="0" err="1">
                <a:latin typeface="Monaco" pitchFamily="2" charset="77"/>
              </a:rPr>
              <a:t>.nextLine</a:t>
            </a:r>
            <a:r>
              <a:rPr lang="en-IE" sz="1400" dirty="0">
                <a:latin typeface="Monaco" pitchFamily="2" charset="77"/>
              </a:rPr>
              <a:t>();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</a:t>
            </a:r>
            <a:r>
              <a:rPr lang="en-IE" sz="1400" dirty="0" err="1">
                <a:latin typeface="Monaco" pitchFamily="2" charset="77"/>
              </a:rPr>
              <a:t>System.</a:t>
            </a:r>
            <a:r>
              <a:rPr lang="en-IE" sz="1400" b="1" i="1" dirty="0" err="1">
                <a:solidFill>
                  <a:srgbClr val="660E7A"/>
                </a:solidFill>
                <a:latin typeface="Monaco" pitchFamily="2" charset="77"/>
              </a:rPr>
              <a:t>out</a:t>
            </a:r>
            <a:r>
              <a:rPr lang="en-IE" sz="1400" dirty="0" err="1">
                <a:latin typeface="Monaco" pitchFamily="2" charset="77"/>
              </a:rPr>
              <a:t>.print</a:t>
            </a:r>
            <a:r>
              <a:rPr lang="en-IE" sz="1400" dirty="0">
                <a:latin typeface="Monaco" pitchFamily="2" charset="77"/>
              </a:rPr>
              <a:t>(</a:t>
            </a:r>
            <a:r>
              <a:rPr lang="en-IE" sz="1400" b="1" dirty="0">
                <a:solidFill>
                  <a:srgbClr val="008000"/>
                </a:solidFill>
                <a:latin typeface="Monaco" pitchFamily="2" charset="77"/>
              </a:rPr>
              <a:t>"   Enter your height (meters):  "</a:t>
            </a:r>
            <a:r>
              <a:rPr lang="en-IE" sz="1400" dirty="0">
                <a:latin typeface="Monaco" pitchFamily="2" charset="77"/>
              </a:rPr>
              <a:t>);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</a:t>
            </a:r>
            <a:r>
              <a:rPr lang="en-IE" sz="1400" b="1" dirty="0">
                <a:solidFill>
                  <a:srgbClr val="000080"/>
                </a:solidFill>
                <a:latin typeface="Monaco" pitchFamily="2" charset="77"/>
              </a:rPr>
              <a:t>double </a:t>
            </a:r>
            <a:r>
              <a:rPr lang="en-IE" sz="1400" dirty="0">
                <a:latin typeface="Monaco" pitchFamily="2" charset="77"/>
              </a:rPr>
              <a:t>height = </a:t>
            </a:r>
            <a:r>
              <a:rPr lang="en-IE" sz="1400" b="1" dirty="0" err="1">
                <a:solidFill>
                  <a:srgbClr val="660E7A"/>
                </a:solidFill>
                <a:latin typeface="Monaco" pitchFamily="2" charset="77"/>
              </a:rPr>
              <a:t>input</a:t>
            </a:r>
            <a:r>
              <a:rPr lang="en-IE" sz="1400" dirty="0" err="1">
                <a:latin typeface="Monaco" pitchFamily="2" charset="77"/>
              </a:rPr>
              <a:t>.nextDouble</a:t>
            </a:r>
            <a:r>
              <a:rPr lang="en-IE" sz="1400" dirty="0">
                <a:latin typeface="Monaco" pitchFamily="2" charset="77"/>
              </a:rPr>
              <a:t>();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</a:t>
            </a:r>
            <a:r>
              <a:rPr lang="en-IE" sz="1400" dirty="0" err="1">
                <a:latin typeface="Monaco" pitchFamily="2" charset="77"/>
              </a:rPr>
              <a:t>System.</a:t>
            </a:r>
            <a:r>
              <a:rPr lang="en-IE" sz="1400" b="1" i="1" dirty="0" err="1">
                <a:solidFill>
                  <a:srgbClr val="660E7A"/>
                </a:solidFill>
                <a:latin typeface="Monaco" pitchFamily="2" charset="77"/>
              </a:rPr>
              <a:t>out</a:t>
            </a:r>
            <a:r>
              <a:rPr lang="en-IE" sz="1400" dirty="0" err="1">
                <a:latin typeface="Monaco" pitchFamily="2" charset="77"/>
              </a:rPr>
              <a:t>.print</a:t>
            </a:r>
            <a:r>
              <a:rPr lang="en-IE" sz="1400" dirty="0">
                <a:latin typeface="Monaco" pitchFamily="2" charset="77"/>
              </a:rPr>
              <a:t>(</a:t>
            </a:r>
            <a:r>
              <a:rPr lang="en-IE" sz="1400" b="1" dirty="0">
                <a:solidFill>
                  <a:srgbClr val="008000"/>
                </a:solidFill>
                <a:latin typeface="Monaco" pitchFamily="2" charset="77"/>
              </a:rPr>
              <a:t>"   Enter your weight (kgs):     "</a:t>
            </a:r>
            <a:r>
              <a:rPr lang="en-IE" sz="1400" dirty="0">
                <a:latin typeface="Monaco" pitchFamily="2" charset="77"/>
              </a:rPr>
              <a:t>);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</a:t>
            </a:r>
            <a:r>
              <a:rPr lang="en-IE" sz="1400" b="1" dirty="0">
                <a:solidFill>
                  <a:srgbClr val="000080"/>
                </a:solidFill>
                <a:latin typeface="Monaco" pitchFamily="2" charset="77"/>
              </a:rPr>
              <a:t>double </a:t>
            </a:r>
            <a:r>
              <a:rPr lang="en-IE" sz="1400" dirty="0">
                <a:latin typeface="Monaco" pitchFamily="2" charset="77"/>
              </a:rPr>
              <a:t>weight = </a:t>
            </a:r>
            <a:r>
              <a:rPr lang="en-IE" sz="1400" b="1" dirty="0" err="1">
                <a:solidFill>
                  <a:srgbClr val="660E7A"/>
                </a:solidFill>
                <a:latin typeface="Monaco" pitchFamily="2" charset="77"/>
              </a:rPr>
              <a:t>input</a:t>
            </a:r>
            <a:r>
              <a:rPr lang="en-IE" sz="1400" dirty="0" err="1">
                <a:latin typeface="Monaco" pitchFamily="2" charset="77"/>
              </a:rPr>
              <a:t>.nextDouble</a:t>
            </a:r>
            <a:r>
              <a:rPr lang="en-IE" sz="1400" dirty="0">
                <a:latin typeface="Monaco" pitchFamily="2" charset="77"/>
              </a:rPr>
              <a:t>();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</a:t>
            </a:r>
            <a:r>
              <a:rPr lang="en-IE" sz="1400" dirty="0" err="1">
                <a:latin typeface="Monaco" pitchFamily="2" charset="77"/>
              </a:rPr>
              <a:t>System.</a:t>
            </a:r>
            <a:r>
              <a:rPr lang="en-IE" sz="1400" b="1" i="1" dirty="0" err="1">
                <a:solidFill>
                  <a:srgbClr val="660E7A"/>
                </a:solidFill>
                <a:latin typeface="Monaco" pitchFamily="2" charset="77"/>
              </a:rPr>
              <a:t>out</a:t>
            </a:r>
            <a:r>
              <a:rPr lang="en-IE" sz="1400" dirty="0" err="1">
                <a:latin typeface="Monaco" pitchFamily="2" charset="77"/>
              </a:rPr>
              <a:t>.print</a:t>
            </a:r>
            <a:r>
              <a:rPr lang="en-IE" sz="1400" dirty="0">
                <a:latin typeface="Monaco" pitchFamily="2" charset="77"/>
              </a:rPr>
              <a:t>(</a:t>
            </a:r>
            <a:r>
              <a:rPr lang="en-IE" sz="1400" b="1" dirty="0">
                <a:solidFill>
                  <a:srgbClr val="008000"/>
                </a:solidFill>
                <a:latin typeface="Monaco" pitchFamily="2" charset="77"/>
              </a:rPr>
              <a:t>"   Enter the membership number: "</a:t>
            </a:r>
            <a:r>
              <a:rPr lang="en-IE" sz="1400" dirty="0">
                <a:latin typeface="Monaco" pitchFamily="2" charset="77"/>
              </a:rPr>
              <a:t>);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</a:t>
            </a:r>
            <a:r>
              <a:rPr lang="en-IE" sz="1400" b="1" dirty="0">
                <a:solidFill>
                  <a:srgbClr val="000080"/>
                </a:solidFill>
                <a:latin typeface="Monaco" pitchFamily="2" charset="77"/>
              </a:rPr>
              <a:t>int </a:t>
            </a:r>
            <a:r>
              <a:rPr lang="en-IE" sz="1400" dirty="0" err="1">
                <a:latin typeface="Monaco" pitchFamily="2" charset="77"/>
              </a:rPr>
              <a:t>membershipNumber</a:t>
            </a:r>
            <a:r>
              <a:rPr lang="en-IE" sz="1400" dirty="0">
                <a:latin typeface="Monaco" pitchFamily="2" charset="77"/>
              </a:rPr>
              <a:t> = </a:t>
            </a:r>
            <a:r>
              <a:rPr lang="en-IE" sz="1400" b="1" dirty="0" err="1">
                <a:solidFill>
                  <a:srgbClr val="660E7A"/>
                </a:solidFill>
                <a:latin typeface="Monaco" pitchFamily="2" charset="77"/>
              </a:rPr>
              <a:t>input</a:t>
            </a:r>
            <a:r>
              <a:rPr lang="en-IE" sz="1400" dirty="0" err="1">
                <a:latin typeface="Monaco" pitchFamily="2" charset="77"/>
              </a:rPr>
              <a:t>.nextInt</a:t>
            </a:r>
            <a:r>
              <a:rPr lang="en-IE" sz="1400" dirty="0">
                <a:latin typeface="Monaco" pitchFamily="2" charset="77"/>
              </a:rPr>
              <a:t>();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</a:t>
            </a:r>
            <a:r>
              <a:rPr lang="en-IE" sz="1400" dirty="0" err="1">
                <a:latin typeface="Monaco" pitchFamily="2" charset="77"/>
              </a:rPr>
              <a:t>System.</a:t>
            </a:r>
            <a:r>
              <a:rPr lang="en-IE" sz="1400" b="1" i="1" dirty="0" err="1">
                <a:solidFill>
                  <a:srgbClr val="660E7A"/>
                </a:solidFill>
                <a:latin typeface="Monaco" pitchFamily="2" charset="77"/>
              </a:rPr>
              <a:t>out</a:t>
            </a:r>
            <a:r>
              <a:rPr lang="en-IE" sz="1400" dirty="0" err="1">
                <a:latin typeface="Monaco" pitchFamily="2" charset="77"/>
              </a:rPr>
              <a:t>.print</a:t>
            </a:r>
            <a:r>
              <a:rPr lang="en-IE" sz="1400" dirty="0">
                <a:latin typeface="Monaco" pitchFamily="2" charset="77"/>
              </a:rPr>
              <a:t>(</a:t>
            </a:r>
            <a:r>
              <a:rPr lang="en-IE" sz="1400" b="1" dirty="0">
                <a:solidFill>
                  <a:srgbClr val="008000"/>
                </a:solidFill>
                <a:latin typeface="Monaco" pitchFamily="2" charset="77"/>
              </a:rPr>
              <a:t>"   Is current member (y/n):     "</a:t>
            </a:r>
            <a:r>
              <a:rPr lang="en-IE" sz="1400" dirty="0">
                <a:latin typeface="Monaco" pitchFamily="2" charset="77"/>
              </a:rPr>
              <a:t>);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</a:t>
            </a:r>
            <a:r>
              <a:rPr lang="en-IE" sz="1400" b="1" dirty="0">
                <a:solidFill>
                  <a:srgbClr val="000080"/>
                </a:solidFill>
                <a:latin typeface="Monaco" pitchFamily="2" charset="77"/>
              </a:rPr>
              <a:t>char </a:t>
            </a:r>
            <a:r>
              <a:rPr lang="en-IE" sz="1400" dirty="0" err="1">
                <a:latin typeface="Monaco" pitchFamily="2" charset="77"/>
              </a:rPr>
              <a:t>isCurrentMemberChar</a:t>
            </a:r>
            <a:r>
              <a:rPr lang="en-IE" sz="1400" dirty="0">
                <a:latin typeface="Monaco" pitchFamily="2" charset="77"/>
              </a:rPr>
              <a:t> = </a:t>
            </a:r>
            <a:r>
              <a:rPr lang="en-IE" sz="1400" b="1" dirty="0" err="1">
                <a:solidFill>
                  <a:srgbClr val="660E7A"/>
                </a:solidFill>
                <a:latin typeface="Monaco" pitchFamily="2" charset="77"/>
              </a:rPr>
              <a:t>input</a:t>
            </a:r>
            <a:r>
              <a:rPr lang="en-IE" sz="1400" dirty="0" err="1">
                <a:latin typeface="Monaco" pitchFamily="2" charset="77"/>
              </a:rPr>
              <a:t>.next</a:t>
            </a:r>
            <a:r>
              <a:rPr lang="en-IE" sz="1400" dirty="0">
                <a:latin typeface="Monaco" pitchFamily="2" charset="77"/>
              </a:rPr>
              <a:t>().</a:t>
            </a:r>
            <a:r>
              <a:rPr lang="en-IE" sz="1400" dirty="0" err="1">
                <a:latin typeface="Monaco" pitchFamily="2" charset="77"/>
              </a:rPr>
              <a:t>charAt</a:t>
            </a:r>
            <a:r>
              <a:rPr lang="en-IE" sz="1400" dirty="0">
                <a:latin typeface="Monaco" pitchFamily="2" charset="77"/>
              </a:rPr>
              <a:t>(</a:t>
            </a:r>
            <a:r>
              <a:rPr lang="en-IE" sz="1400" dirty="0">
                <a:solidFill>
                  <a:srgbClr val="0000FF"/>
                </a:solidFill>
                <a:latin typeface="Monaco" pitchFamily="2" charset="77"/>
              </a:rPr>
              <a:t>0</a:t>
            </a:r>
            <a:r>
              <a:rPr lang="en-IE" sz="1400" dirty="0">
                <a:latin typeface="Monaco" pitchFamily="2" charset="77"/>
              </a:rPr>
              <a:t>);</a:t>
            </a:r>
            <a:br>
              <a:rPr lang="en-IE" sz="1400" dirty="0">
                <a:latin typeface="Monaco" pitchFamily="2" charset="77"/>
              </a:rPr>
            </a:b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</a:t>
            </a:r>
            <a:r>
              <a:rPr lang="en-IE" sz="1400" b="1" dirty="0" err="1">
                <a:solidFill>
                  <a:srgbClr val="000080"/>
                </a:solidFill>
                <a:latin typeface="Monaco" pitchFamily="2" charset="77"/>
              </a:rPr>
              <a:t>boolean</a:t>
            </a:r>
            <a:r>
              <a:rPr lang="en-IE" sz="1400" b="1" dirty="0">
                <a:solidFill>
                  <a:srgbClr val="000080"/>
                </a:solidFill>
                <a:latin typeface="Monaco" pitchFamily="2" charset="77"/>
              </a:rPr>
              <a:t> </a:t>
            </a:r>
            <a:r>
              <a:rPr lang="en-IE" sz="1400" dirty="0" err="1">
                <a:latin typeface="Monaco" pitchFamily="2" charset="77"/>
              </a:rPr>
              <a:t>isCurrentMember</a:t>
            </a:r>
            <a:r>
              <a:rPr lang="en-IE" sz="1400" dirty="0">
                <a:latin typeface="Monaco" pitchFamily="2" charset="77"/>
              </a:rPr>
              <a:t> = </a:t>
            </a:r>
            <a:r>
              <a:rPr lang="en-IE" sz="1400" b="1" dirty="0">
                <a:solidFill>
                  <a:srgbClr val="000080"/>
                </a:solidFill>
                <a:latin typeface="Monaco" pitchFamily="2" charset="77"/>
              </a:rPr>
              <a:t>false</a:t>
            </a:r>
            <a:r>
              <a:rPr lang="en-IE" sz="1400" dirty="0">
                <a:latin typeface="Monaco" pitchFamily="2" charset="77"/>
              </a:rPr>
              <a:t>;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</a:t>
            </a:r>
            <a:r>
              <a:rPr lang="en-IE" sz="1400" b="1" dirty="0">
                <a:solidFill>
                  <a:srgbClr val="000080"/>
                </a:solidFill>
                <a:latin typeface="Monaco" pitchFamily="2" charset="77"/>
              </a:rPr>
              <a:t>if </a:t>
            </a:r>
            <a:r>
              <a:rPr lang="en-IE" sz="1400" dirty="0">
                <a:latin typeface="Monaco" pitchFamily="2" charset="77"/>
              </a:rPr>
              <a:t>((</a:t>
            </a:r>
            <a:r>
              <a:rPr lang="en-IE" sz="1400" dirty="0" err="1">
                <a:latin typeface="Monaco" pitchFamily="2" charset="77"/>
              </a:rPr>
              <a:t>isCurrentMemberChar</a:t>
            </a:r>
            <a:r>
              <a:rPr lang="en-IE" sz="1400" dirty="0">
                <a:latin typeface="Monaco" pitchFamily="2" charset="77"/>
              </a:rPr>
              <a:t> == </a:t>
            </a:r>
            <a:r>
              <a:rPr lang="en-IE" sz="1400" b="1" dirty="0">
                <a:solidFill>
                  <a:srgbClr val="008000"/>
                </a:solidFill>
                <a:latin typeface="Monaco" pitchFamily="2" charset="77"/>
              </a:rPr>
              <a:t>'Y'</a:t>
            </a:r>
            <a:r>
              <a:rPr lang="en-IE" sz="1400" dirty="0">
                <a:latin typeface="Monaco" pitchFamily="2" charset="77"/>
              </a:rPr>
              <a:t>) || (</a:t>
            </a:r>
            <a:r>
              <a:rPr lang="en-IE" sz="1400" dirty="0" err="1">
                <a:latin typeface="Monaco" pitchFamily="2" charset="77"/>
              </a:rPr>
              <a:t>isCurrentMemberChar</a:t>
            </a:r>
            <a:r>
              <a:rPr lang="en-IE" sz="1400" dirty="0">
                <a:latin typeface="Monaco" pitchFamily="2" charset="77"/>
              </a:rPr>
              <a:t> == </a:t>
            </a:r>
            <a:r>
              <a:rPr lang="en-IE" sz="1400" b="1" dirty="0">
                <a:solidFill>
                  <a:srgbClr val="008000"/>
                </a:solidFill>
                <a:latin typeface="Monaco" pitchFamily="2" charset="77"/>
              </a:rPr>
              <a:t>'y'</a:t>
            </a:r>
            <a:r>
              <a:rPr lang="en-IE" sz="1400" dirty="0">
                <a:latin typeface="Monaco" pitchFamily="2" charset="77"/>
              </a:rPr>
              <a:t>)) {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    </a:t>
            </a:r>
            <a:r>
              <a:rPr lang="en-IE" sz="1400" dirty="0" err="1">
                <a:latin typeface="Monaco" pitchFamily="2" charset="77"/>
              </a:rPr>
              <a:t>isCurrentMember</a:t>
            </a:r>
            <a:r>
              <a:rPr lang="en-IE" sz="1400" dirty="0">
                <a:latin typeface="Monaco" pitchFamily="2" charset="77"/>
              </a:rPr>
              <a:t> = </a:t>
            </a:r>
            <a:r>
              <a:rPr lang="en-IE" sz="1400" b="1" dirty="0">
                <a:solidFill>
                  <a:srgbClr val="000080"/>
                </a:solidFill>
                <a:latin typeface="Monaco" pitchFamily="2" charset="77"/>
              </a:rPr>
              <a:t>true</a:t>
            </a:r>
            <a:r>
              <a:rPr lang="en-IE" sz="1400" dirty="0">
                <a:latin typeface="Monaco" pitchFamily="2" charset="77"/>
              </a:rPr>
              <a:t>;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}</a:t>
            </a:r>
            <a:br>
              <a:rPr lang="en-IE" sz="1400" dirty="0">
                <a:latin typeface="Monaco" pitchFamily="2" charset="77"/>
              </a:rPr>
            </a:b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</a:t>
            </a:r>
            <a:r>
              <a:rPr lang="en-IE" sz="1400" b="1" dirty="0" err="1">
                <a:solidFill>
                  <a:srgbClr val="660E7A"/>
                </a:solidFill>
                <a:latin typeface="Monaco" pitchFamily="2" charset="77"/>
              </a:rPr>
              <a:t>gymMember</a:t>
            </a:r>
            <a:r>
              <a:rPr lang="en-IE" sz="1400" b="1" dirty="0">
                <a:solidFill>
                  <a:srgbClr val="660E7A"/>
                </a:solidFill>
                <a:latin typeface="Monaco" pitchFamily="2" charset="77"/>
              </a:rPr>
              <a:t> </a:t>
            </a:r>
            <a:r>
              <a:rPr lang="en-IE" sz="1400" dirty="0">
                <a:latin typeface="Monaco" pitchFamily="2" charset="77"/>
              </a:rPr>
              <a:t>= </a:t>
            </a:r>
            <a:r>
              <a:rPr lang="en-IE" sz="1400" b="1" dirty="0">
                <a:solidFill>
                  <a:srgbClr val="000080"/>
                </a:solidFill>
                <a:latin typeface="Monaco" pitchFamily="2" charset="77"/>
              </a:rPr>
              <a:t>new </a:t>
            </a:r>
            <a:r>
              <a:rPr lang="en-IE" sz="1400" dirty="0">
                <a:latin typeface="Monaco" pitchFamily="2" charset="77"/>
              </a:rPr>
              <a:t>GymMember(name, height, weight, </a:t>
            </a:r>
            <a:r>
              <a:rPr lang="en-IE" sz="1400" dirty="0" err="1">
                <a:latin typeface="Monaco" pitchFamily="2" charset="77"/>
              </a:rPr>
              <a:t>membershipNumber</a:t>
            </a:r>
            <a:r>
              <a:rPr lang="en-IE" sz="1400" dirty="0">
                <a:latin typeface="Monaco" pitchFamily="2" charset="77"/>
              </a:rPr>
              <a:t>, </a:t>
            </a:r>
            <a:r>
              <a:rPr lang="en-IE" sz="1400" dirty="0" err="1">
                <a:latin typeface="Monaco" pitchFamily="2" charset="77"/>
              </a:rPr>
              <a:t>isCurrentMember</a:t>
            </a:r>
            <a:r>
              <a:rPr lang="en-IE" sz="1400" dirty="0">
                <a:latin typeface="Monaco" pitchFamily="2" charset="77"/>
              </a:rPr>
              <a:t>);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}</a:t>
            </a:r>
            <a:endParaRPr lang="en-US" sz="1400" dirty="0">
              <a:latin typeface="Monaco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A774EB-C422-1A78-7898-E3F4F37DFEE9}"/>
              </a:ext>
            </a:extLst>
          </p:cNvPr>
          <p:cNvSpPr txBox="1"/>
          <p:nvPr/>
        </p:nvSpPr>
        <p:spPr>
          <a:xfrm>
            <a:off x="5973854" y="198496"/>
            <a:ext cx="1771650" cy="41549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100" dirty="0"/>
              <a:t>Driver Class</a:t>
            </a:r>
          </a:p>
        </p:txBody>
      </p:sp>
      <p:pic>
        <p:nvPicPr>
          <p:cNvPr id="6" name="Content Placeholder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305CA633-E1AB-0A43-886D-A4423C5CBA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19" t="13687" r="30571" b="41297"/>
          <a:stretch/>
        </p:blipFill>
        <p:spPr>
          <a:xfrm>
            <a:off x="6409763" y="1418860"/>
            <a:ext cx="2671482" cy="12880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C6E0AF58-1907-4DCD-788C-77CE121FE1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42237C-8AA5-2C77-5B04-F07D01488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19614-29E3-229D-A507-936D31F98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8815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27931C-48F5-38B2-322B-14E4EB3F612D}"/>
              </a:ext>
            </a:extLst>
          </p:cNvPr>
          <p:cNvSpPr/>
          <p:nvPr/>
        </p:nvSpPr>
        <p:spPr>
          <a:xfrm>
            <a:off x="127253" y="70332"/>
            <a:ext cx="6489193" cy="19105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E" sz="1688" b="1" dirty="0">
                <a:solidFill>
                  <a:srgbClr val="000080"/>
                </a:solidFill>
                <a:latin typeface="Monaco" pitchFamily="2" charset="77"/>
              </a:rPr>
              <a:t>private void </a:t>
            </a:r>
            <a:r>
              <a:rPr lang="en-IE" sz="1688" dirty="0" err="1">
                <a:latin typeface="Monaco" pitchFamily="2" charset="77"/>
              </a:rPr>
              <a:t>printGymMember</a:t>
            </a:r>
            <a:r>
              <a:rPr lang="en-IE" sz="1688" dirty="0">
                <a:latin typeface="Monaco" pitchFamily="2" charset="77"/>
              </a:rPr>
              <a:t>()</a:t>
            </a:r>
            <a:br>
              <a:rPr lang="en-IE" sz="1688" dirty="0">
                <a:latin typeface="Monaco" pitchFamily="2" charset="77"/>
              </a:rPr>
            </a:br>
            <a:r>
              <a:rPr lang="en-IE" sz="1688" dirty="0">
                <a:latin typeface="Monaco" pitchFamily="2" charset="77"/>
              </a:rPr>
              <a:t>{</a:t>
            </a:r>
            <a:br>
              <a:rPr lang="en-IE" sz="1688" dirty="0">
                <a:latin typeface="Monaco" pitchFamily="2" charset="77"/>
              </a:rPr>
            </a:br>
            <a:r>
              <a:rPr lang="en-IE" sz="1688" dirty="0">
                <a:latin typeface="Monaco" pitchFamily="2" charset="77"/>
              </a:rPr>
              <a:t>    </a:t>
            </a:r>
            <a:r>
              <a:rPr lang="en-IE" sz="1688" i="1" dirty="0">
                <a:solidFill>
                  <a:srgbClr val="808080"/>
                </a:solidFill>
                <a:latin typeface="Monaco" pitchFamily="2" charset="77"/>
              </a:rPr>
              <a:t>//printing out the data to the user</a:t>
            </a:r>
            <a:br>
              <a:rPr lang="en-IE" sz="1688" i="1" dirty="0">
                <a:solidFill>
                  <a:srgbClr val="808080"/>
                </a:solidFill>
                <a:latin typeface="Monaco" pitchFamily="2" charset="77"/>
              </a:rPr>
            </a:br>
            <a:r>
              <a:rPr lang="en-IE" sz="1688" i="1" dirty="0">
                <a:solidFill>
                  <a:srgbClr val="808080"/>
                </a:solidFill>
                <a:latin typeface="Monaco" pitchFamily="2" charset="77"/>
              </a:rPr>
              <a:t>    </a:t>
            </a:r>
            <a:r>
              <a:rPr lang="en-IE" sz="1688" dirty="0" err="1">
                <a:latin typeface="Monaco" pitchFamily="2" charset="77"/>
              </a:rPr>
              <a:t>System.</a:t>
            </a:r>
            <a:r>
              <a:rPr lang="en-IE" sz="1688" b="1" i="1" dirty="0" err="1">
                <a:solidFill>
                  <a:srgbClr val="660E7A"/>
                </a:solidFill>
                <a:latin typeface="Monaco" pitchFamily="2" charset="77"/>
              </a:rPr>
              <a:t>out</a:t>
            </a:r>
            <a:r>
              <a:rPr lang="en-IE" sz="1688" dirty="0" err="1">
                <a:latin typeface="Monaco" pitchFamily="2" charset="77"/>
              </a:rPr>
              <a:t>.println</a:t>
            </a:r>
            <a:r>
              <a:rPr lang="en-IE" sz="1688" dirty="0">
                <a:latin typeface="Monaco" pitchFamily="2" charset="77"/>
              </a:rPr>
              <a:t>(</a:t>
            </a:r>
            <a:r>
              <a:rPr lang="en-IE" sz="1688" b="1" dirty="0">
                <a:solidFill>
                  <a:srgbClr val="008000"/>
                </a:solidFill>
                <a:latin typeface="Monaco" pitchFamily="2" charset="77"/>
              </a:rPr>
              <a:t>"</a:t>
            </a:r>
            <a:r>
              <a:rPr lang="en-IE" sz="1688" b="1" dirty="0">
                <a:solidFill>
                  <a:srgbClr val="000080"/>
                </a:solidFill>
                <a:latin typeface="Monaco" pitchFamily="2" charset="77"/>
              </a:rPr>
              <a:t>\n\</a:t>
            </a:r>
            <a:r>
              <a:rPr lang="en-IE" sz="1688" b="1" dirty="0" err="1">
                <a:solidFill>
                  <a:srgbClr val="000080"/>
                </a:solidFill>
                <a:latin typeface="Monaco" pitchFamily="2" charset="77"/>
              </a:rPr>
              <a:t>n</a:t>
            </a:r>
            <a:r>
              <a:rPr lang="en-IE" sz="1688" b="1" dirty="0" err="1">
                <a:solidFill>
                  <a:srgbClr val="008000"/>
                </a:solidFill>
                <a:latin typeface="Monaco" pitchFamily="2" charset="77"/>
              </a:rPr>
              <a:t>Printing</a:t>
            </a:r>
            <a:r>
              <a:rPr lang="en-IE" sz="1688" b="1" dirty="0">
                <a:solidFill>
                  <a:srgbClr val="008000"/>
                </a:solidFill>
                <a:latin typeface="Monaco" pitchFamily="2" charset="77"/>
              </a:rPr>
              <a:t> details"</a:t>
            </a:r>
            <a:r>
              <a:rPr lang="en-IE" sz="1688" dirty="0">
                <a:latin typeface="Monaco" pitchFamily="2" charset="77"/>
              </a:rPr>
              <a:t>);</a:t>
            </a:r>
            <a:br>
              <a:rPr lang="en-IE" sz="1688" dirty="0">
                <a:latin typeface="Monaco" pitchFamily="2" charset="77"/>
              </a:rPr>
            </a:br>
            <a:r>
              <a:rPr lang="en-IE" sz="1688" dirty="0">
                <a:latin typeface="Monaco" pitchFamily="2" charset="77"/>
              </a:rPr>
              <a:t>    </a:t>
            </a:r>
            <a:r>
              <a:rPr lang="en-IE" sz="1688" dirty="0" err="1">
                <a:latin typeface="Monaco" pitchFamily="2" charset="77"/>
              </a:rPr>
              <a:t>System.</a:t>
            </a:r>
            <a:r>
              <a:rPr lang="en-IE" sz="1688" b="1" i="1" dirty="0" err="1">
                <a:solidFill>
                  <a:srgbClr val="660E7A"/>
                </a:solidFill>
                <a:latin typeface="Monaco" pitchFamily="2" charset="77"/>
              </a:rPr>
              <a:t>out</a:t>
            </a:r>
            <a:r>
              <a:rPr lang="en-IE" sz="1688" dirty="0" err="1">
                <a:latin typeface="Monaco" pitchFamily="2" charset="77"/>
              </a:rPr>
              <a:t>.println</a:t>
            </a:r>
            <a:r>
              <a:rPr lang="en-IE" sz="1688" dirty="0">
                <a:latin typeface="Monaco" pitchFamily="2" charset="77"/>
              </a:rPr>
              <a:t>(</a:t>
            </a:r>
            <a:r>
              <a:rPr lang="en-IE" sz="1688" b="1" dirty="0">
                <a:solidFill>
                  <a:srgbClr val="008000"/>
                </a:solidFill>
                <a:latin typeface="Monaco" pitchFamily="2" charset="77"/>
              </a:rPr>
              <a:t>"----------------"</a:t>
            </a:r>
            <a:r>
              <a:rPr lang="en-IE" sz="1688" dirty="0">
                <a:latin typeface="Monaco" pitchFamily="2" charset="77"/>
              </a:rPr>
              <a:t>);</a:t>
            </a:r>
            <a:br>
              <a:rPr lang="en-IE" sz="1688" dirty="0">
                <a:latin typeface="Monaco" pitchFamily="2" charset="77"/>
              </a:rPr>
            </a:br>
            <a:r>
              <a:rPr lang="en-IE" sz="1688" dirty="0">
                <a:latin typeface="Monaco" pitchFamily="2" charset="77"/>
              </a:rPr>
              <a:t>    </a:t>
            </a:r>
            <a:r>
              <a:rPr lang="en-IE" sz="1688" dirty="0" err="1">
                <a:latin typeface="Monaco" pitchFamily="2" charset="77"/>
              </a:rPr>
              <a:t>System.</a:t>
            </a:r>
            <a:r>
              <a:rPr lang="en-IE" sz="1688" b="1" i="1" dirty="0" err="1">
                <a:solidFill>
                  <a:srgbClr val="660E7A"/>
                </a:solidFill>
                <a:latin typeface="Monaco" pitchFamily="2" charset="77"/>
              </a:rPr>
              <a:t>out</a:t>
            </a:r>
            <a:r>
              <a:rPr lang="en-IE" sz="1688" dirty="0" err="1">
                <a:latin typeface="Monaco" pitchFamily="2" charset="77"/>
              </a:rPr>
              <a:t>.println</a:t>
            </a:r>
            <a:r>
              <a:rPr lang="en-IE" sz="1688" dirty="0">
                <a:latin typeface="Monaco" pitchFamily="2" charset="77"/>
              </a:rPr>
              <a:t>(</a:t>
            </a:r>
            <a:r>
              <a:rPr lang="en-IE" sz="1688" b="1" dirty="0" err="1">
                <a:solidFill>
                  <a:srgbClr val="660E7A"/>
                </a:solidFill>
                <a:latin typeface="Monaco" pitchFamily="2" charset="77"/>
              </a:rPr>
              <a:t>gymMember</a:t>
            </a:r>
            <a:r>
              <a:rPr lang="en-IE" sz="1688" dirty="0">
                <a:latin typeface="Monaco" pitchFamily="2" charset="77"/>
              </a:rPr>
              <a:t>);</a:t>
            </a:r>
            <a:br>
              <a:rPr lang="en-IE" sz="1688" dirty="0">
                <a:latin typeface="Monaco" pitchFamily="2" charset="77"/>
              </a:rPr>
            </a:br>
            <a:r>
              <a:rPr lang="en-IE" sz="1688" dirty="0">
                <a:latin typeface="Monaco" pitchFamily="2" charset="77"/>
              </a:rPr>
              <a:t>}</a:t>
            </a:r>
            <a:endParaRPr lang="en-US" sz="1688" dirty="0">
              <a:latin typeface="Monaco" pitchFamily="2" charset="77"/>
            </a:endParaRPr>
          </a:p>
        </p:txBody>
      </p:sp>
      <p:pic>
        <p:nvPicPr>
          <p:cNvPr id="6" name="Content Placeholder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9F5B110E-76C5-20CB-0A68-CAF7DA58B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538" y="1709818"/>
            <a:ext cx="4697794" cy="29640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8D5E5FD6-4CE8-2945-F877-DC0AEE100044}"/>
              </a:ext>
            </a:extLst>
          </p:cNvPr>
          <p:cNvSpPr/>
          <p:nvPr/>
        </p:nvSpPr>
        <p:spPr>
          <a:xfrm>
            <a:off x="2400299" y="2571750"/>
            <a:ext cx="1544171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US" sz="1688"/>
          </a:p>
        </p:txBody>
      </p:sp>
      <p:pic>
        <p:nvPicPr>
          <p:cNvPr id="2" name="Picture 1" descr="A cartoon character in a circle&#10;&#10;Description automatically generated">
            <a:extLst>
              <a:ext uri="{FF2B5EF4-FFF2-40B4-BE49-F238E27FC236}">
                <a16:creationId xmlns:a16="http://schemas.microsoft.com/office/drawing/2014/main" id="{E832E741-E967-E408-F8F2-5C49BE578C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177" y="25338"/>
            <a:ext cx="761815" cy="761815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6BE3A21-1E34-3DBF-F97D-CCA2CC025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FCDCCFA-E86C-081B-D3F6-CCA329EF0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A20933-4AF1-8515-B0B8-8CA8B426A85B}"/>
              </a:ext>
            </a:extLst>
          </p:cNvPr>
          <p:cNvSpPr txBox="1"/>
          <p:nvPr/>
        </p:nvSpPr>
        <p:spPr>
          <a:xfrm>
            <a:off x="5973854" y="198496"/>
            <a:ext cx="1771650" cy="41549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100" dirty="0"/>
              <a:t>Driver Class</a:t>
            </a:r>
          </a:p>
        </p:txBody>
      </p:sp>
    </p:spTree>
    <p:extLst>
      <p:ext uri="{BB962C8B-B14F-4D97-AF65-F5344CB8AC3E}">
        <p14:creationId xmlns:p14="http://schemas.microsoft.com/office/powerpoint/2010/main" val="29514938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1543051"/>
            <a:ext cx="3257550" cy="263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F665C3-2C83-616B-78A4-E905A66C1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149D7-55DD-C0B0-E136-9E1F53C7264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38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3;&#10;&#13;&#10;Description automatically generated">
            <a:extLst>
              <a:ext uri="{FF2B5EF4-FFF2-40B4-BE49-F238E27FC236}">
                <a16:creationId xmlns:a16="http://schemas.microsoft.com/office/drawing/2014/main" id="{64886AB6-DCB6-9645-8125-CA11F57910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" r="1" b="1"/>
          <a:stretch/>
        </p:blipFill>
        <p:spPr>
          <a:xfrm>
            <a:off x="1347374" y="473974"/>
            <a:ext cx="5821443" cy="4007299"/>
          </a:xfrm>
          <a:custGeom>
            <a:avLst/>
            <a:gdLst>
              <a:gd name="connsiteX0" fmla="*/ 3025687 w 7761924"/>
              <a:gd name="connsiteY0" fmla="*/ 76 h 5343065"/>
              <a:gd name="connsiteX1" fmla="*/ 3372722 w 7761924"/>
              <a:gd name="connsiteY1" fmla="*/ 16088 h 5343065"/>
              <a:gd name="connsiteX2" fmla="*/ 7761924 w 7761924"/>
              <a:gd name="connsiteY2" fmla="*/ 3316816 h 5343065"/>
              <a:gd name="connsiteX3" fmla="*/ 3701109 w 7761924"/>
              <a:gd name="connsiteY3" fmla="*/ 5320611 h 5343065"/>
              <a:gd name="connsiteX4" fmla="*/ 36290 w 7761924"/>
              <a:gd name="connsiteY4" fmla="*/ 2696959 h 5343065"/>
              <a:gd name="connsiteX5" fmla="*/ 3025687 w 7761924"/>
              <a:gd name="connsiteY5" fmla="*/ 76 h 53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  <a:solidFill>
            <a:srgbClr val="FDE111"/>
          </a:solidFill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EEA231-6D6B-5147-A9A7-1A48939E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7" name="Picture 6" descr="A close up of a toy&#13;&#10;&#13;&#10;Description automatically generated">
            <a:extLst>
              <a:ext uri="{FF2B5EF4-FFF2-40B4-BE49-F238E27FC236}">
                <a16:creationId xmlns:a16="http://schemas.microsoft.com/office/drawing/2014/main" id="{2D47C071-A929-7E49-8327-BB4D84AA9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971" y="4095032"/>
            <a:ext cx="628034" cy="7724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9B5407-EB5B-AF48-8192-C2BB3AEC3F33}"/>
              </a:ext>
            </a:extLst>
          </p:cNvPr>
          <p:cNvSpPr/>
          <p:nvPr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9025A5-5106-3945-8404-F8F73E40F972}"/>
              </a:ext>
            </a:extLst>
          </p:cNvPr>
          <p:cNvSpPr/>
          <p:nvPr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E905818B-C982-6824-2D72-82CAA50EB15F}"/>
              </a:ext>
            </a:extLst>
          </p:cNvPr>
          <p:cNvSpPr/>
          <p:nvPr/>
        </p:nvSpPr>
        <p:spPr>
          <a:xfrm>
            <a:off x="3119770" y="24678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0E12D8E3-B5EB-1F63-44BF-C8DFC4B7792B}"/>
              </a:ext>
            </a:extLst>
          </p:cNvPr>
          <p:cNvSpPr/>
          <p:nvPr/>
        </p:nvSpPr>
        <p:spPr>
          <a:xfrm rot="10800000">
            <a:off x="1199184" y="24110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A07139-B4B0-117B-EC27-2D34964457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6852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28382</TotalTime>
  <Words>2064</Words>
  <Application>Microsoft Macintosh PowerPoint</Application>
  <PresentationFormat>On-screen Show (16:9)</PresentationFormat>
  <Paragraphs>326</Paragraphs>
  <Slides>39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Avenir</vt:lpstr>
      <vt:lpstr>Calibri</vt:lpstr>
      <vt:lpstr>Helvetica</vt:lpstr>
      <vt:lpstr>Helvetica Light</vt:lpstr>
      <vt:lpstr>Helvetica Neue</vt:lpstr>
      <vt:lpstr>Helvetica Neue Light</vt:lpstr>
      <vt:lpstr>Helvetica Neue UltraLight</vt:lpstr>
      <vt:lpstr>Monaco</vt:lpstr>
      <vt:lpstr>Wingdings</vt:lpstr>
      <vt:lpstr>White</vt:lpstr>
      <vt:lpstr>Programming Fundamentals 1</vt:lpstr>
      <vt:lpstr>Gym App</vt:lpstr>
      <vt:lpstr>GYM App V1.0</vt:lpstr>
      <vt:lpstr>GYM App V1.0</vt:lpstr>
      <vt:lpstr>GYM App V1.0</vt:lpstr>
      <vt:lpstr>GYM App V1.0 – Sample I/O</vt:lpstr>
      <vt:lpstr>Encapsulated Class:</vt:lpstr>
      <vt:lpstr>A GymMember Class…</vt:lpstr>
      <vt:lpstr>A GymMember Class…</vt:lpstr>
      <vt:lpstr>A GymMember Class… constructor</vt:lpstr>
      <vt:lpstr>A GymMember Class… constructor</vt:lpstr>
      <vt:lpstr>A GymMember Class… Fields &amp; Constructor</vt:lpstr>
      <vt:lpstr>A GymMember Class… methods</vt:lpstr>
      <vt:lpstr>A GymMember Class… methods</vt:lpstr>
      <vt:lpstr>A GymMember Class… getters</vt:lpstr>
      <vt:lpstr>Getters (Accessor Methods)</vt:lpstr>
      <vt:lpstr>Getters</vt:lpstr>
      <vt:lpstr>A GymMember Class… getters</vt:lpstr>
      <vt:lpstr>A GymMember Class… setters</vt:lpstr>
      <vt:lpstr>Setters (Mutator methods)</vt:lpstr>
      <vt:lpstr>Setters – without validation</vt:lpstr>
      <vt:lpstr>Setters – with validation</vt:lpstr>
      <vt:lpstr>A GymMember Class… setters</vt:lpstr>
      <vt:lpstr>A GymMember Class… setters</vt:lpstr>
      <vt:lpstr>A GymMember Class… setters</vt:lpstr>
      <vt:lpstr>Getters / Setters</vt:lpstr>
      <vt:lpstr>A GymMember Class… toString</vt:lpstr>
      <vt:lpstr>A GymMember Class… toString</vt:lpstr>
      <vt:lpstr>toString()</vt:lpstr>
      <vt:lpstr>USER I/O:</vt:lpstr>
      <vt:lpstr>Using the GymMember Class</vt:lpstr>
      <vt:lpstr>Using the GymMember Class</vt:lpstr>
      <vt:lpstr>Multiple GymMember objects</vt:lpstr>
      <vt:lpstr>Multiple GymMember objects</vt:lpstr>
      <vt:lpstr>PowerPoint Presentation</vt:lpstr>
      <vt:lpstr>PowerPoint Presentation</vt:lpstr>
      <vt:lpstr>PowerPoint Presentation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Development</dc:title>
  <dc:creator>David Drohan</dc:creator>
  <cp:lastModifiedBy>David Drohan</cp:lastModifiedBy>
  <cp:revision>243</cp:revision>
  <dcterms:created xsi:type="dcterms:W3CDTF">2019-01-29T16:40:14Z</dcterms:created>
  <dcterms:modified xsi:type="dcterms:W3CDTF">2023-07-31T21:35:02Z</dcterms:modified>
</cp:coreProperties>
</file>