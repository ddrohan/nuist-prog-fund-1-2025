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465" r:id="rId3"/>
    <p:sldId id="346" r:id="rId4"/>
    <p:sldId id="777" r:id="rId5"/>
    <p:sldId id="583" r:id="rId6"/>
    <p:sldId id="560" r:id="rId7"/>
    <p:sldId id="780" r:id="rId8"/>
    <p:sldId id="781" r:id="rId9"/>
    <p:sldId id="565" r:id="rId10"/>
    <p:sldId id="589" r:id="rId11"/>
    <p:sldId id="632" r:id="rId12"/>
    <p:sldId id="779" r:id="rId13"/>
    <p:sldId id="598" r:id="rId14"/>
    <p:sldId id="602" r:id="rId15"/>
    <p:sldId id="778" r:id="rId16"/>
    <p:sldId id="570" r:id="rId17"/>
    <p:sldId id="606" r:id="rId18"/>
    <p:sldId id="605" r:id="rId19"/>
    <p:sldId id="612" r:id="rId20"/>
    <p:sldId id="608" r:id="rId21"/>
    <p:sldId id="609" r:id="rId22"/>
    <p:sldId id="610" r:id="rId23"/>
    <p:sldId id="611" r:id="rId24"/>
    <p:sldId id="614" r:id="rId25"/>
    <p:sldId id="616" r:id="rId26"/>
    <p:sldId id="613" r:id="rId27"/>
    <p:sldId id="575" r:id="rId28"/>
    <p:sldId id="631" r:id="rId29"/>
    <p:sldId id="576" r:id="rId30"/>
    <p:sldId id="618" r:id="rId31"/>
    <p:sldId id="620" r:id="rId32"/>
    <p:sldId id="621" r:id="rId33"/>
    <p:sldId id="578" r:id="rId34"/>
    <p:sldId id="622" r:id="rId35"/>
    <p:sldId id="623" r:id="rId36"/>
    <p:sldId id="624" r:id="rId37"/>
    <p:sldId id="625" r:id="rId38"/>
    <p:sldId id="626" r:id="rId39"/>
    <p:sldId id="627" r:id="rId40"/>
    <p:sldId id="581" r:id="rId41"/>
    <p:sldId id="630" r:id="rId42"/>
    <p:sldId id="305" r:id="rId43"/>
    <p:sldId id="298" r:id="rId44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3"/>
    <p:restoredTop sz="85442"/>
  </p:normalViewPr>
  <p:slideViewPr>
    <p:cSldViewPr snapToGrid="0" snapToObjects="1">
      <p:cViewPr varScale="1">
        <p:scale>
          <a:sx n="129" d="100"/>
          <a:sy n="129" d="100"/>
        </p:scale>
        <p:origin x="216" y="3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063FA5-C65E-4720-B6D7-EFAAA6FFD1D5}" type="slidenum">
              <a:rPr lang="en-GB"/>
              <a:pPr/>
              <a:t>13</a:t>
            </a:fld>
            <a:endParaRPr lang="en-GB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75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1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16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20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00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21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66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05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68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7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4" r:id="rId5"/>
    <p:sldLayoutId id="2147483675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nutsandbolts/arrays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Primitive Arrays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6793" y="283805"/>
            <a:ext cx="2791808" cy="4374565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A brief overview of Arrays in Java</a:t>
            </a:r>
          </a:p>
          <a:p>
            <a:pPr algn="l" defTabSz="914400"/>
            <a:endParaRPr lang="en-IE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pPr algn="l" rtl="0">
              <a:buClr>
                <a:srgbClr val="194699"/>
              </a:buClr>
            </a:pPr>
            <a:r>
              <a:rPr lang="en-US" sz="3200" dirty="0"/>
              <a:t>Why Arrays?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Primitive Arrays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Array Syntax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9048" y="402106"/>
            <a:ext cx="2761548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Why Arrays?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arrays?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 will look at different pieces of code to explain the concept.</a:t>
            </a:r>
          </a:p>
          <a:p>
            <a:endParaRPr lang="en-IE" dirty="0"/>
          </a:p>
          <a:p>
            <a:r>
              <a:rPr lang="en-IE" dirty="0"/>
              <a:t>In each piece of code, we:</a:t>
            </a:r>
          </a:p>
          <a:p>
            <a:pPr lvl="1"/>
            <a:r>
              <a:rPr lang="en-IE" dirty="0"/>
              <a:t>read in 10 numbers from the keyboard</a:t>
            </a:r>
          </a:p>
          <a:p>
            <a:pPr lvl="1"/>
            <a:r>
              <a:rPr lang="en-IE" dirty="0"/>
              <a:t>add the numbers</a:t>
            </a:r>
          </a:p>
          <a:p>
            <a:pPr lvl="1"/>
            <a:r>
              <a:rPr lang="en-IE" dirty="0"/>
              <a:t>print the sum of all the numbers.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697730" y="4423688"/>
            <a:ext cx="417195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900" dirty="0"/>
              <a:t>Source:  </a:t>
            </a:r>
            <a:r>
              <a:rPr lang="en-IE" sz="900" dirty="0" err="1"/>
              <a:t>Reas</a:t>
            </a:r>
            <a:r>
              <a:rPr lang="en-IE" sz="900" dirty="0"/>
              <a:t> &amp; Fry (2014)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F3957-6AC0-4904-A2C8-F2FB389CC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93ECB-61B5-08A6-F82C-49C57A44C2F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748071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7474DF-C5F2-49DC-8A85-0384697CC4D7}"/>
              </a:ext>
            </a:extLst>
          </p:cNvPr>
          <p:cNvSpPr txBox="1"/>
          <p:nvPr/>
        </p:nvSpPr>
        <p:spPr>
          <a:xfrm>
            <a:off x="689288" y="917942"/>
            <a:ext cx="7478649" cy="369331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800" b="1">
                <a:solidFill>
                  <a:srgbClr val="000080"/>
                </a:solidFill>
              </a:rPr>
              <a:t>import </a:t>
            </a:r>
            <a:r>
              <a:rPr lang="en-IE" sz="1800"/>
              <a:t>java.util.Scanner;</a:t>
            </a:r>
            <a:br>
              <a:rPr lang="en-IE" sz="1800"/>
            </a:br>
            <a:r>
              <a:rPr lang="en-IE" sz="1800"/>
              <a:t> :</a:t>
            </a:r>
          </a:p>
          <a:p>
            <a:pPr algn="l"/>
            <a:r>
              <a:rPr lang="en-IE" sz="1800"/>
              <a:t>Scanner </a:t>
            </a:r>
            <a:r>
              <a:rPr lang="en-IE" sz="1800" i="1">
                <a:solidFill>
                  <a:srgbClr val="660E7A"/>
                </a:solidFill>
              </a:rPr>
              <a:t>input </a:t>
            </a:r>
            <a:r>
              <a:rPr lang="en-IE" sz="1800"/>
              <a:t>= </a:t>
            </a:r>
            <a:r>
              <a:rPr lang="en-IE" sz="1800" b="1">
                <a:solidFill>
                  <a:srgbClr val="000080"/>
                </a:solidFill>
              </a:rPr>
              <a:t>new </a:t>
            </a:r>
            <a:r>
              <a:rPr lang="en-IE" sz="1800"/>
              <a:t>Scanner(System.</a:t>
            </a:r>
            <a:r>
              <a:rPr lang="en-IE" sz="1800" b="1" i="1">
                <a:solidFill>
                  <a:srgbClr val="660E7A"/>
                </a:solidFill>
              </a:rPr>
              <a:t>in</a:t>
            </a:r>
            <a:r>
              <a:rPr lang="en-IE" sz="1800"/>
              <a:t>);</a:t>
            </a:r>
          </a:p>
          <a:p>
            <a:pPr algn="l"/>
            <a:r>
              <a:rPr lang="en-IE" sz="1800"/>
              <a:t> :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n;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sum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</a:t>
            </a:r>
            <a:br>
              <a:rPr lang="en-IE" sz="1800"/>
            </a:b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for </a:t>
            </a:r>
            <a:r>
              <a:rPr lang="en-IE" sz="1800"/>
              <a:t>(</a:t>
            </a: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i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 i&lt;</a:t>
            </a:r>
            <a:r>
              <a:rPr lang="en-IE" sz="1800">
                <a:solidFill>
                  <a:srgbClr val="0000FF"/>
                </a:solidFill>
              </a:rPr>
              <a:t>10</a:t>
            </a:r>
            <a:r>
              <a:rPr lang="en-IE" sz="1800"/>
              <a:t>; i++)  {</a:t>
            </a:r>
            <a:br>
              <a:rPr lang="en-IE" sz="1800"/>
            </a:br>
            <a:r>
              <a:rPr lang="en-IE" sz="1800"/>
              <a:t>    n = </a:t>
            </a:r>
            <a:r>
              <a:rPr lang="en-IE" sz="1800" i="1">
                <a:solidFill>
                  <a:srgbClr val="660E7A"/>
                </a:solidFill>
              </a:rPr>
              <a:t>input</a:t>
            </a:r>
            <a:r>
              <a:rPr lang="en-IE" sz="1800"/>
              <a:t>.nextInt();</a:t>
            </a:r>
            <a:br>
              <a:rPr lang="en-IE" sz="1800"/>
            </a:br>
            <a:r>
              <a:rPr lang="en-IE" sz="1800"/>
              <a:t>    sum += n;</a:t>
            </a:r>
            <a:br>
              <a:rPr lang="en-IE" sz="1800"/>
            </a:br>
            <a:r>
              <a:rPr lang="en-IE" sz="1800"/>
              <a:t>}</a:t>
            </a:r>
            <a:br>
              <a:rPr lang="en-IE" sz="1800"/>
            </a:br>
            <a:br>
              <a:rPr lang="en-IE" sz="1800"/>
            </a:br>
            <a:r>
              <a:rPr lang="en-IE" sz="1800"/>
              <a:t>System.</a:t>
            </a:r>
            <a:r>
              <a:rPr lang="en-IE" sz="1800" b="1" i="1">
                <a:solidFill>
                  <a:srgbClr val="660E7A"/>
                </a:solidFill>
              </a:rPr>
              <a:t>out</a:t>
            </a:r>
            <a:r>
              <a:rPr lang="en-IE" sz="1800"/>
              <a:t>.println(</a:t>
            </a:r>
            <a:r>
              <a:rPr lang="en-IE" sz="1800" b="1">
                <a:solidFill>
                  <a:srgbClr val="008000"/>
                </a:solidFill>
              </a:rPr>
              <a:t>"The sum of the values you typed in is : " </a:t>
            </a:r>
            <a:r>
              <a:rPr lang="en-IE" sz="1800"/>
              <a:t>+ sum);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Adding 10 numbers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1287"/>
            <a:ext cx="2953512" cy="73866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Reads in 10 numbers from the keyboard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>
            <a:off x="624649" y="2788289"/>
            <a:ext cx="3057525" cy="12001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21049-D464-F5FC-1765-E6859BC06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1D1F07-12B7-0159-C52A-9244AE1E409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9824868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7474DF-C5F2-49DC-8A85-0384697CC4D7}"/>
              </a:ext>
            </a:extLst>
          </p:cNvPr>
          <p:cNvSpPr txBox="1"/>
          <p:nvPr/>
        </p:nvSpPr>
        <p:spPr>
          <a:xfrm>
            <a:off x="689288" y="917942"/>
            <a:ext cx="7478649" cy="369331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800" b="1">
                <a:solidFill>
                  <a:srgbClr val="000080"/>
                </a:solidFill>
              </a:rPr>
              <a:t>import </a:t>
            </a:r>
            <a:r>
              <a:rPr lang="en-IE" sz="1800"/>
              <a:t>java.util.Scanner;</a:t>
            </a:r>
            <a:br>
              <a:rPr lang="en-IE" sz="1800"/>
            </a:br>
            <a:r>
              <a:rPr lang="en-IE" sz="1800"/>
              <a:t> :</a:t>
            </a:r>
          </a:p>
          <a:p>
            <a:pPr algn="l"/>
            <a:r>
              <a:rPr lang="en-IE" sz="1800"/>
              <a:t>Scanner </a:t>
            </a:r>
            <a:r>
              <a:rPr lang="en-IE" sz="1800" i="1">
                <a:solidFill>
                  <a:srgbClr val="660E7A"/>
                </a:solidFill>
              </a:rPr>
              <a:t>input </a:t>
            </a:r>
            <a:r>
              <a:rPr lang="en-IE" sz="1800"/>
              <a:t>= </a:t>
            </a:r>
            <a:r>
              <a:rPr lang="en-IE" sz="1800" b="1">
                <a:solidFill>
                  <a:srgbClr val="000080"/>
                </a:solidFill>
              </a:rPr>
              <a:t>new </a:t>
            </a:r>
            <a:r>
              <a:rPr lang="en-IE" sz="1800"/>
              <a:t>Scanner(System.</a:t>
            </a:r>
            <a:r>
              <a:rPr lang="en-IE" sz="1800" b="1" i="1">
                <a:solidFill>
                  <a:srgbClr val="660E7A"/>
                </a:solidFill>
              </a:rPr>
              <a:t>in</a:t>
            </a:r>
            <a:r>
              <a:rPr lang="en-IE" sz="1800"/>
              <a:t>);</a:t>
            </a:r>
          </a:p>
          <a:p>
            <a:pPr algn="l"/>
            <a:r>
              <a:rPr lang="en-IE" sz="1800"/>
              <a:t> :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n;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sum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</a:t>
            </a:r>
            <a:br>
              <a:rPr lang="en-IE" sz="1800"/>
            </a:b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for </a:t>
            </a:r>
            <a:r>
              <a:rPr lang="en-IE" sz="1800"/>
              <a:t>(</a:t>
            </a: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i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 i&lt;</a:t>
            </a:r>
            <a:r>
              <a:rPr lang="en-IE" sz="1800">
                <a:solidFill>
                  <a:srgbClr val="0000FF"/>
                </a:solidFill>
              </a:rPr>
              <a:t>10</a:t>
            </a:r>
            <a:r>
              <a:rPr lang="en-IE" sz="1800"/>
              <a:t>; i++)  {</a:t>
            </a:r>
            <a:br>
              <a:rPr lang="en-IE" sz="1800"/>
            </a:br>
            <a:r>
              <a:rPr lang="en-IE" sz="1800"/>
              <a:t>    n = </a:t>
            </a:r>
            <a:r>
              <a:rPr lang="en-IE" sz="1800" i="1">
                <a:solidFill>
                  <a:srgbClr val="660E7A"/>
                </a:solidFill>
              </a:rPr>
              <a:t>input</a:t>
            </a:r>
            <a:r>
              <a:rPr lang="en-IE" sz="1800"/>
              <a:t>.nextInt();</a:t>
            </a:r>
            <a:br>
              <a:rPr lang="en-IE" sz="1800"/>
            </a:br>
            <a:r>
              <a:rPr lang="en-IE" sz="1800"/>
              <a:t>    sum += n;</a:t>
            </a:r>
            <a:br>
              <a:rPr lang="en-IE" sz="1800"/>
            </a:br>
            <a:r>
              <a:rPr lang="en-IE" sz="1800"/>
              <a:t>}</a:t>
            </a:r>
            <a:br>
              <a:rPr lang="en-IE" sz="1800"/>
            </a:br>
            <a:br>
              <a:rPr lang="en-IE" sz="1800"/>
            </a:br>
            <a:r>
              <a:rPr lang="en-IE" sz="1800"/>
              <a:t>System.</a:t>
            </a:r>
            <a:r>
              <a:rPr lang="en-IE" sz="1800" b="1" i="1">
                <a:solidFill>
                  <a:srgbClr val="660E7A"/>
                </a:solidFill>
              </a:rPr>
              <a:t>out</a:t>
            </a:r>
            <a:r>
              <a:rPr lang="en-IE" sz="1800"/>
              <a:t>.println(</a:t>
            </a:r>
            <a:r>
              <a:rPr lang="en-IE" sz="1800" b="1">
                <a:solidFill>
                  <a:srgbClr val="008000"/>
                </a:solidFill>
              </a:rPr>
              <a:t>"The sum of the values you typed in is : " </a:t>
            </a:r>
            <a:r>
              <a:rPr lang="en-IE" sz="1800"/>
              <a:t>+ sum);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Adding 10 numbers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>
            <a:off x="868109" y="3417404"/>
            <a:ext cx="1372171" cy="37459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805D9-F110-F63D-D582-4FB6829907AA}"/>
              </a:ext>
            </a:extLst>
          </p:cNvPr>
          <p:cNvSpPr txBox="1"/>
          <p:nvPr/>
        </p:nvSpPr>
        <p:spPr>
          <a:xfrm>
            <a:off x="4686300" y="2228850"/>
            <a:ext cx="3143250" cy="138499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As each number is entered, it is added to the value currently stored in </a:t>
            </a:r>
            <a:r>
              <a:rPr lang="en-US" sz="2100" b="1" dirty="0"/>
              <a:t>sum</a:t>
            </a:r>
            <a:r>
              <a:rPr lang="en-US" sz="21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F01A5-E95E-39C1-E956-E0DAB2FC4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F4779-DB20-289D-C823-A5C19028384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3543567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7474DF-C5F2-49DC-8A85-0384697CC4D7}"/>
              </a:ext>
            </a:extLst>
          </p:cNvPr>
          <p:cNvSpPr txBox="1"/>
          <p:nvPr/>
        </p:nvSpPr>
        <p:spPr>
          <a:xfrm>
            <a:off x="689288" y="917942"/>
            <a:ext cx="7478649" cy="369331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800" b="1">
                <a:solidFill>
                  <a:srgbClr val="000080"/>
                </a:solidFill>
              </a:rPr>
              <a:t>import </a:t>
            </a:r>
            <a:r>
              <a:rPr lang="en-IE" sz="1800"/>
              <a:t>java.util.Scanner;</a:t>
            </a:r>
            <a:br>
              <a:rPr lang="en-IE" sz="1800"/>
            </a:br>
            <a:r>
              <a:rPr lang="en-IE" sz="1800"/>
              <a:t> :</a:t>
            </a:r>
          </a:p>
          <a:p>
            <a:pPr algn="l"/>
            <a:r>
              <a:rPr lang="en-IE" sz="1800"/>
              <a:t>Scanner </a:t>
            </a:r>
            <a:r>
              <a:rPr lang="en-IE" sz="1800" i="1">
                <a:solidFill>
                  <a:srgbClr val="660E7A"/>
                </a:solidFill>
              </a:rPr>
              <a:t>input </a:t>
            </a:r>
            <a:r>
              <a:rPr lang="en-IE" sz="1800"/>
              <a:t>= </a:t>
            </a:r>
            <a:r>
              <a:rPr lang="en-IE" sz="1800" b="1">
                <a:solidFill>
                  <a:srgbClr val="000080"/>
                </a:solidFill>
              </a:rPr>
              <a:t>new </a:t>
            </a:r>
            <a:r>
              <a:rPr lang="en-IE" sz="1800"/>
              <a:t>Scanner(System.</a:t>
            </a:r>
            <a:r>
              <a:rPr lang="en-IE" sz="1800" b="1" i="1">
                <a:solidFill>
                  <a:srgbClr val="660E7A"/>
                </a:solidFill>
              </a:rPr>
              <a:t>in</a:t>
            </a:r>
            <a:r>
              <a:rPr lang="en-IE" sz="1800"/>
              <a:t>);</a:t>
            </a:r>
          </a:p>
          <a:p>
            <a:pPr algn="l"/>
            <a:r>
              <a:rPr lang="en-IE" sz="1800"/>
              <a:t> :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n;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sum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</a:t>
            </a:r>
            <a:br>
              <a:rPr lang="en-IE" sz="1800"/>
            </a:b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for </a:t>
            </a:r>
            <a:r>
              <a:rPr lang="en-IE" sz="1800"/>
              <a:t>(</a:t>
            </a: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i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 i&lt;</a:t>
            </a:r>
            <a:r>
              <a:rPr lang="en-IE" sz="1800">
                <a:solidFill>
                  <a:srgbClr val="0000FF"/>
                </a:solidFill>
              </a:rPr>
              <a:t>10</a:t>
            </a:r>
            <a:r>
              <a:rPr lang="en-IE" sz="1800"/>
              <a:t>; i++)  {</a:t>
            </a:r>
            <a:br>
              <a:rPr lang="en-IE" sz="1800"/>
            </a:br>
            <a:r>
              <a:rPr lang="en-IE" sz="1800"/>
              <a:t>    n = </a:t>
            </a:r>
            <a:r>
              <a:rPr lang="en-IE" sz="1800" i="1">
                <a:solidFill>
                  <a:srgbClr val="660E7A"/>
                </a:solidFill>
              </a:rPr>
              <a:t>input</a:t>
            </a:r>
            <a:r>
              <a:rPr lang="en-IE" sz="1800"/>
              <a:t>.nextInt();</a:t>
            </a:r>
            <a:br>
              <a:rPr lang="en-IE" sz="1800"/>
            </a:br>
            <a:r>
              <a:rPr lang="en-IE" sz="1800"/>
              <a:t>    sum += n;</a:t>
            </a:r>
            <a:br>
              <a:rPr lang="en-IE" sz="1800"/>
            </a:br>
            <a:r>
              <a:rPr lang="en-IE" sz="1800"/>
              <a:t>}</a:t>
            </a:r>
            <a:br>
              <a:rPr lang="en-IE" sz="1800"/>
            </a:br>
            <a:br>
              <a:rPr lang="en-IE" sz="1800"/>
            </a:br>
            <a:r>
              <a:rPr lang="en-IE" sz="1800"/>
              <a:t>System.</a:t>
            </a:r>
            <a:r>
              <a:rPr lang="en-IE" sz="1800" b="1" i="1">
                <a:solidFill>
                  <a:srgbClr val="660E7A"/>
                </a:solidFill>
              </a:rPr>
              <a:t>out</a:t>
            </a:r>
            <a:r>
              <a:rPr lang="en-IE" sz="1800"/>
              <a:t>.println(</a:t>
            </a:r>
            <a:r>
              <a:rPr lang="en-IE" sz="1800" b="1">
                <a:solidFill>
                  <a:srgbClr val="008000"/>
                </a:solidFill>
              </a:rPr>
              <a:t>"The sum of the values you typed in is : " </a:t>
            </a:r>
            <a:r>
              <a:rPr lang="en-IE" sz="1800"/>
              <a:t>+ sum);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Adding 10 numbers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>
            <a:off x="689288" y="4197095"/>
            <a:ext cx="7247704" cy="36741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4E8F6-B0CA-D7AF-B557-CDB05DF4063D}"/>
              </a:ext>
            </a:extLst>
          </p:cNvPr>
          <p:cNvSpPr txBox="1"/>
          <p:nvPr/>
        </p:nvSpPr>
        <p:spPr>
          <a:xfrm>
            <a:off x="4365381" y="2133230"/>
            <a:ext cx="3464169" cy="138499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When the 10 numbers have been read in</a:t>
            </a:r>
            <a:r>
              <a:rPr lang="en-US" sz="2100"/>
              <a:t>, </a:t>
            </a:r>
          </a:p>
          <a:p>
            <a:pPr algn="ctr"/>
            <a:r>
              <a:rPr lang="en-US" sz="2100" dirty="0"/>
              <a:t>the </a:t>
            </a:r>
            <a:r>
              <a:rPr lang="en-US" sz="2100" b="1" dirty="0"/>
              <a:t>sum</a:t>
            </a:r>
            <a:r>
              <a:rPr lang="en-US" sz="2100" dirty="0"/>
              <a:t> of the 10 numbers is printed to the console.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C6BF8-F826-D2C2-4AAD-80719B65E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D2BF7-C8DF-50C4-37B3-9A9DD106BE0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77989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</a:t>
            </a:r>
            <a:r>
              <a:rPr lang="en-US" dirty="0"/>
              <a:t> – </a:t>
            </a:r>
            <a:r>
              <a:rPr lang="en-US" b="1" dirty="0"/>
              <a:t>Never lose input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try to </a:t>
            </a:r>
            <a:r>
              <a:rPr lang="en-GB" b="1" dirty="0"/>
              <a:t>store</a:t>
            </a:r>
            <a:r>
              <a:rPr lang="en-GB" dirty="0"/>
              <a:t> input data for later use </a:t>
            </a:r>
            <a:br>
              <a:rPr lang="en-GB" dirty="0"/>
            </a:br>
            <a:endParaRPr lang="en-GB" dirty="0"/>
          </a:p>
          <a:p>
            <a:r>
              <a:rPr lang="en-GB" dirty="0"/>
              <a:t>In real-life systems, </a:t>
            </a:r>
            <a:br>
              <a:rPr lang="en-GB" dirty="0"/>
            </a:br>
            <a:r>
              <a:rPr lang="en-GB" dirty="0"/>
              <a:t>you nearly always need to use it again.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previous code has NOT done this.</a:t>
            </a:r>
          </a:p>
          <a:p>
            <a:pPr lvl="1"/>
            <a:r>
              <a:rPr lang="en-GB" dirty="0"/>
              <a:t>Let’s try another way ... </a:t>
            </a:r>
            <a:endParaRPr lang="en-IE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6531102" y="690611"/>
            <a:ext cx="742950" cy="74295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FB37E-D541-6E4F-81D3-AC7615107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697C-E675-069E-4BE7-FDCCC9DE514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437892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Remembering 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492" y="941967"/>
            <a:ext cx="7487443" cy="30931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500" dirty="0" err="1"/>
              <a:t>int</a:t>
            </a:r>
            <a:r>
              <a:rPr lang="en-US" sz="1500" dirty="0"/>
              <a:t> n0,n1, n2, n3, n4, n5, n6, n7, n8, n9;</a:t>
            </a:r>
          </a:p>
          <a:p>
            <a:pPr algn="l"/>
            <a:r>
              <a:rPr lang="en-US" sz="1500" dirty="0" err="1"/>
              <a:t>int</a:t>
            </a:r>
            <a:r>
              <a:rPr lang="en-US" sz="1500" dirty="0"/>
              <a:t> sum = 0;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/>
              <a:t>n0 = </a:t>
            </a:r>
            <a:r>
              <a:rPr lang="en-US" sz="1500" dirty="0" err="1"/>
              <a:t>input.nextInt();</a:t>
            </a:r>
            <a:endParaRPr lang="en-US" sz="1500" dirty="0"/>
          </a:p>
          <a:p>
            <a:pPr algn="l"/>
            <a:r>
              <a:rPr lang="en-US" sz="1500" dirty="0"/>
              <a:t>sum += n0;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/>
              <a:t>n1 = </a:t>
            </a:r>
            <a:r>
              <a:rPr lang="en-US" sz="1500" dirty="0" err="1"/>
              <a:t>input.nextInt();</a:t>
            </a:r>
            <a:endParaRPr lang="en-US" sz="1500" dirty="0"/>
          </a:p>
          <a:p>
            <a:pPr algn="l"/>
            <a:r>
              <a:rPr lang="en-US" sz="1500" dirty="0">
                <a:solidFill>
                  <a:schemeClr val="bg1">
                    <a:lumMod val="75000"/>
                  </a:schemeClr>
                </a:solidFill>
              </a:rPr>
              <a:t>//rest of code for n2 to n8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/>
              <a:t>n9= </a:t>
            </a:r>
            <a:r>
              <a:rPr lang="en-US" sz="1500" dirty="0" err="1"/>
              <a:t>input.nextInt(); </a:t>
            </a:r>
          </a:p>
          <a:p>
            <a:pPr algn="l"/>
            <a:r>
              <a:rPr lang="en-US" sz="1500" dirty="0"/>
              <a:t>sum += n9;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 err="1"/>
              <a:t>println</a:t>
            </a:r>
            <a:r>
              <a:rPr lang="en-US" sz="1500" dirty="0"/>
              <a:t>("The sum of the values you typed in is : " + sum);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213FF-31CA-6095-03AD-D98DEC82B7E3}"/>
              </a:ext>
            </a:extLst>
          </p:cNvPr>
          <p:cNvSpPr/>
          <p:nvPr/>
        </p:nvSpPr>
        <p:spPr>
          <a:xfrm>
            <a:off x="4380766" y="820674"/>
            <a:ext cx="396770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100" dirty="0"/>
              <a:t>This works in the sense that we have retained the input data.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8C53C-F2C5-3FC1-F36A-448912C12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DDC26-28D6-DD76-FE1B-8570B3CBD8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9117087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9FCD39-8461-CFCC-C013-FF0F30079F0C}"/>
              </a:ext>
            </a:extLst>
          </p:cNvPr>
          <p:cNvSpPr txBox="1"/>
          <p:nvPr/>
        </p:nvSpPr>
        <p:spPr>
          <a:xfrm>
            <a:off x="515492" y="941967"/>
            <a:ext cx="7487443" cy="30931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500" dirty="0" err="1"/>
              <a:t>int</a:t>
            </a:r>
            <a:r>
              <a:rPr lang="en-US" sz="1500" dirty="0"/>
              <a:t> n0,n1, n2, n3, n4, n5, n6, n7, n8, n9;</a:t>
            </a:r>
          </a:p>
          <a:p>
            <a:pPr algn="l"/>
            <a:r>
              <a:rPr lang="en-US" sz="1500" dirty="0" err="1"/>
              <a:t>int</a:t>
            </a:r>
            <a:r>
              <a:rPr lang="en-US" sz="1500" dirty="0"/>
              <a:t> sum = 0;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/>
              <a:t>n0 = </a:t>
            </a:r>
            <a:r>
              <a:rPr lang="en-US" sz="1500" dirty="0" err="1"/>
              <a:t>input.nextInt();</a:t>
            </a:r>
            <a:endParaRPr lang="en-US" sz="1500" dirty="0"/>
          </a:p>
          <a:p>
            <a:pPr algn="l"/>
            <a:r>
              <a:rPr lang="en-US" sz="1500" dirty="0"/>
              <a:t>sum += n0;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/>
              <a:t>n1 = </a:t>
            </a:r>
            <a:r>
              <a:rPr lang="en-US" sz="1500" dirty="0" err="1"/>
              <a:t>input.nextInt();</a:t>
            </a:r>
            <a:endParaRPr lang="en-US" sz="1500" dirty="0"/>
          </a:p>
          <a:p>
            <a:pPr algn="l"/>
            <a:r>
              <a:rPr lang="en-US" sz="1500" dirty="0">
                <a:solidFill>
                  <a:schemeClr val="bg1">
                    <a:lumMod val="75000"/>
                  </a:schemeClr>
                </a:solidFill>
              </a:rPr>
              <a:t>//rest of code for n2 to n8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/>
              <a:t>n9= </a:t>
            </a:r>
            <a:r>
              <a:rPr lang="en-US" sz="1500" dirty="0" err="1"/>
              <a:t>input.nextInt(); </a:t>
            </a:r>
          </a:p>
          <a:p>
            <a:pPr algn="l"/>
            <a:r>
              <a:rPr lang="en-US" sz="1500" dirty="0"/>
              <a:t>sum += n9;</a:t>
            </a:r>
          </a:p>
          <a:p>
            <a:pPr algn="l"/>
            <a:endParaRPr lang="en-US" sz="1500" dirty="0"/>
          </a:p>
          <a:p>
            <a:pPr algn="l"/>
            <a:r>
              <a:rPr lang="en-US" sz="1500" dirty="0" err="1"/>
              <a:t>println</a:t>
            </a:r>
            <a:r>
              <a:rPr lang="en-US" sz="1500" dirty="0"/>
              <a:t>("The sum of the values you typed in is : " + sum);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Remembering the Numbers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4400549" y="1584261"/>
            <a:ext cx="3967705" cy="4154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100" dirty="0"/>
              <a:t>BUT…we no longer use loops.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4400549" y="2029344"/>
            <a:ext cx="396770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100" dirty="0"/>
              <a:t>Imagine the code if we had to read in 1,000 numbers?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4400550" y="2794644"/>
            <a:ext cx="3967704" cy="20313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100" dirty="0"/>
              <a:t>We need a new approach…</a:t>
            </a:r>
            <a:br>
              <a:rPr lang="en-GB" sz="2100" dirty="0"/>
            </a:br>
            <a:br>
              <a:rPr lang="en-GB" sz="2100" dirty="0"/>
            </a:br>
            <a:r>
              <a:rPr lang="en-GB" sz="2100" dirty="0"/>
              <a:t>This is where </a:t>
            </a:r>
            <a:r>
              <a:rPr lang="en-GB" sz="2100" b="1" dirty="0"/>
              <a:t>data structures</a:t>
            </a:r>
            <a:r>
              <a:rPr lang="en-GB" sz="2100" dirty="0"/>
              <a:t> come in! </a:t>
            </a:r>
            <a:br>
              <a:rPr lang="en-GB" sz="2100" dirty="0"/>
            </a:br>
            <a:br>
              <a:rPr lang="en-GB" sz="2100" dirty="0"/>
            </a:br>
            <a:r>
              <a:rPr lang="en-GB" sz="2100" dirty="0"/>
              <a:t>We will now look at </a:t>
            </a:r>
            <a:r>
              <a:rPr lang="en-GB" sz="2100" b="1" dirty="0"/>
              <a:t>arrays</a:t>
            </a:r>
            <a:r>
              <a:rPr lang="en-GB" sz="21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9CF413-72DD-0940-6529-B50326E262F4}"/>
              </a:ext>
            </a:extLst>
          </p:cNvPr>
          <p:cNvSpPr/>
          <p:nvPr/>
        </p:nvSpPr>
        <p:spPr>
          <a:xfrm>
            <a:off x="4380766" y="820674"/>
            <a:ext cx="396770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100" dirty="0"/>
              <a:t>This works in the sense that we have retained the input data.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FF77D15-7857-5823-9132-8388E0B7D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962B0E3-B94A-88C0-865D-A3857070420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209813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42" y="411250"/>
            <a:ext cx="3187160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Primitive Arrays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4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Arrays</a:t>
            </a:r>
            <a:r>
              <a:rPr lang="en-US" dirty="0"/>
              <a:t> (fixed-size collections)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7" y="843558"/>
            <a:ext cx="7267136" cy="42999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Arrays are a way to collect associated values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Programming languages usually offer a special </a:t>
            </a:r>
            <a:r>
              <a:rPr lang="en-US" dirty="0">
                <a:solidFill>
                  <a:srgbClr val="FF0000"/>
                </a:solidFill>
              </a:rPr>
              <a:t>fixed-size collection </a:t>
            </a:r>
            <a:r>
              <a:rPr lang="en-US" dirty="0"/>
              <a:t>type: an </a:t>
            </a:r>
            <a:r>
              <a:rPr lang="en-US" i="1" dirty="0"/>
              <a:t>array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Java arrays can store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objects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primitive-type values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Arrays use a special syntax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E3D501-F970-3035-F209-7ECA3DAB6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4AC54-00E3-8F89-7B96-59DCFF24DED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804123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Primitive types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126747" y="4057650"/>
            <a:ext cx="5715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sz="3000" dirty="0">
                <a:latin typeface="Trebuchet MS" pitchFamily="-32" charset="0"/>
              </a:rPr>
              <a:t>17</a:t>
            </a:r>
          </a:p>
        </p:txBody>
      </p:sp>
      <p:sp>
        <p:nvSpPr>
          <p:cNvPr id="3081" name="Text Box 10"/>
          <p:cNvSpPr txBox="1">
            <a:spLocks noChangeArrowheads="1"/>
          </p:cNvSpPr>
          <p:nvPr/>
        </p:nvSpPr>
        <p:spPr bwMode="auto">
          <a:xfrm>
            <a:off x="1508760" y="1371600"/>
            <a:ext cx="1954612" cy="4154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b="0" dirty="0">
                <a:solidFill>
                  <a:srgbClr val="C00000"/>
                </a:solidFill>
                <a:latin typeface="Trebuchet MS" pitchFamily="-32" charset="0"/>
              </a:rPr>
              <a:t>Primitive type</a:t>
            </a:r>
          </a:p>
        </p:txBody>
      </p:sp>
      <p:sp>
        <p:nvSpPr>
          <p:cNvPr id="3083" name="Text Box 12"/>
          <p:cNvSpPr txBox="1">
            <a:spLocks noChangeArrowheads="1"/>
          </p:cNvSpPr>
          <p:nvPr/>
        </p:nvSpPr>
        <p:spPr bwMode="auto">
          <a:xfrm>
            <a:off x="1395257" y="1861108"/>
            <a:ext cx="243887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 err="1">
                <a:latin typeface="Courier New" pitchFamily="-32" charset="0"/>
              </a:rPr>
              <a:t>int</a:t>
            </a:r>
            <a:r>
              <a:rPr lang="en-GB" sz="2100" dirty="0">
                <a:latin typeface="Courier New" pitchFamily="-32" charset="0"/>
              </a:rPr>
              <a:t> </a:t>
            </a:r>
            <a:r>
              <a:rPr lang="en-GB" sz="2100" dirty="0" err="1">
                <a:latin typeface="Courier New" pitchFamily="-32" charset="0"/>
              </a:rPr>
              <a:t>num</a:t>
            </a:r>
            <a:r>
              <a:rPr lang="en-GB" sz="2100" dirty="0">
                <a:latin typeface="Courier New" pitchFamily="-32" charset="0"/>
              </a:rPr>
              <a:t> = 17;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515F851-7DF3-40AD-B332-C0B11289F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257" y="3143251"/>
            <a:ext cx="2205194" cy="7386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algn="ctr" eaLnBrk="1" hangingPunct="1"/>
            <a:r>
              <a:rPr lang="en-GB" sz="2100" b="0" dirty="0">
                <a:solidFill>
                  <a:srgbClr val="C00000"/>
                </a:solidFill>
                <a:latin typeface="Trebuchet MS" pitchFamily="-32" charset="0"/>
              </a:rPr>
              <a:t>Directly stored in memory…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8445D4-7CF0-4AAD-9CD0-4C7572FD768F}"/>
              </a:ext>
            </a:extLst>
          </p:cNvPr>
          <p:cNvSpPr/>
          <p:nvPr/>
        </p:nvSpPr>
        <p:spPr>
          <a:xfrm>
            <a:off x="4572000" y="1037845"/>
            <a:ext cx="3143250" cy="35272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1800" dirty="0"/>
              <a:t>We are now going to look at a </a:t>
            </a:r>
            <a:r>
              <a:rPr lang="en-GB" sz="1800" b="1" dirty="0"/>
              <a:t>structure</a:t>
            </a:r>
            <a:r>
              <a:rPr lang="en-GB" sz="1800" dirty="0"/>
              <a:t> that can </a:t>
            </a:r>
            <a:r>
              <a:rPr lang="en-GB" sz="1800" b="1" dirty="0"/>
              <a:t>store many values </a:t>
            </a:r>
            <a:r>
              <a:rPr lang="en-GB" sz="1800" dirty="0"/>
              <a:t>of the </a:t>
            </a:r>
            <a:r>
              <a:rPr lang="en-GB" sz="1800" b="1" dirty="0"/>
              <a:t>same type</a:t>
            </a:r>
            <a:r>
              <a:rPr lang="en-GB" sz="1800" dirty="0"/>
              <a:t>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1800" dirty="0"/>
              <a:t>Imagine a structure made up of sub-divisions or sections</a:t>
            </a:r>
            <a:r>
              <a:rPr lang="mr-IN" sz="1800" dirty="0"/>
              <a:t>…</a:t>
            </a:r>
            <a:br>
              <a:rPr lang="en-IE" sz="1800" dirty="0"/>
            </a:br>
            <a:endParaRPr lang="en-GB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1800" dirty="0"/>
              <a:t>Such a structure is called an </a:t>
            </a:r>
            <a:r>
              <a:rPr lang="en-GB" sz="1800" b="1" dirty="0"/>
              <a:t>array</a:t>
            </a:r>
            <a:r>
              <a:rPr lang="en-GB" sz="1800" dirty="0"/>
              <a:t> and would look like:</a:t>
            </a:r>
            <a:endParaRPr lang="en-IE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79FB-6D8E-FCD1-7F45-01C9A5617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85252-A582-EE16-C0A8-2FD9BE7A0F3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3737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81" grpId="0" animBg="1"/>
      <p:bldP spid="3083" grpId="0"/>
      <p:bldP spid="12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789" y="383818"/>
            <a:ext cx="2696065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Array Syntax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75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Structure of a primitive array</a:t>
            </a:r>
          </a:p>
        </p:txBody>
      </p:sp>
      <p:pic>
        <p:nvPicPr>
          <p:cNvPr id="4098" name="Picture 2" descr="Illustration of an array as 10 boxes numbered 0 through 9; an index of 0 indicates the first element in the arr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39" y="1090422"/>
            <a:ext cx="6564963" cy="24300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90989" y="3961245"/>
            <a:ext cx="6759713" cy="352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88" dirty="0">
                <a:hlinkClick r:id="rId3"/>
              </a:rPr>
              <a:t>http://docs.oracle.com/javase/tutorial/java/nutsandbolts/arrays.html</a:t>
            </a:r>
            <a:r>
              <a:rPr lang="en-IE" sz="1688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96977-8BA4-6795-57E7-94338CE26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FF213-C445-C172-66F1-D74D276A50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0471725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23508" y="1285450"/>
            <a:ext cx="2039341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int[]  </a:t>
            </a:r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4993902" y="1768830"/>
            <a:ext cx="521298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88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4133088" y="976122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90FBA-E621-7390-F4CC-090ABDA55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EA2F-26A1-F89A-A7FC-6DEA00F320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[]  numbers;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 = new int[4];</a:t>
            </a:r>
            <a:endParaRPr lang="en-IE" sz="2100" b="1" dirty="0"/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BC2F52D4-678A-C9A8-3B2D-D5087EA3F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803A35-EF7A-0707-A657-1D76EAB01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8955E2-8BC9-EC0A-3201-8B103D714141}"/>
              </a:ext>
            </a:extLst>
          </p:cNvPr>
          <p:cNvCxnSpPr>
            <a:cxnSpLocks/>
          </p:cNvCxnSpPr>
          <p:nvPr/>
        </p:nvCxnSpPr>
        <p:spPr>
          <a:xfrm>
            <a:off x="4133088" y="976122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BF8FCE-98DC-E1AE-009A-61EAC6521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A0998E-CE86-2862-25EB-4900B299AC9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[]  numbers;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C1F11D-8D3D-4478-B415-16F739E51BCF}"/>
              </a:ext>
            </a:extLst>
          </p:cNvPr>
          <p:cNvSpPr/>
          <p:nvPr/>
        </p:nvSpPr>
        <p:spPr>
          <a:xfrm>
            <a:off x="932691" y="2623609"/>
            <a:ext cx="2807188" cy="21427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dirty="0"/>
              <a:t>We have declared an array of </a:t>
            </a:r>
            <a:r>
              <a:rPr lang="en-IE" sz="1600" b="1" dirty="0" err="1">
                <a:solidFill>
                  <a:schemeClr val="tx1"/>
                </a:solidFill>
                <a:latin typeface="Courier New" pitchFamily="-32" charset="0"/>
              </a:rPr>
              <a:t>int</a:t>
            </a:r>
            <a:r>
              <a:rPr lang="en-IE" sz="1500" dirty="0"/>
              <a:t>, with a capacity of four. </a:t>
            </a:r>
          </a:p>
          <a:p>
            <a:pPr algn="ctr"/>
            <a:endParaRPr lang="en-IE" sz="1500" dirty="0"/>
          </a:p>
          <a:p>
            <a:pPr algn="ctr"/>
            <a:r>
              <a:rPr lang="en-IE" sz="1500" dirty="0"/>
              <a:t>Each element is of type </a:t>
            </a:r>
            <a:r>
              <a:rPr lang="en-IE" sz="1500" b="1" dirty="0"/>
              <a:t>int</a:t>
            </a:r>
            <a:r>
              <a:rPr lang="en-IE" sz="1500" dirty="0"/>
              <a:t>.</a:t>
            </a:r>
          </a:p>
          <a:p>
            <a:pPr algn="ctr"/>
            <a:endParaRPr lang="en-IE" sz="1500" dirty="0"/>
          </a:p>
          <a:p>
            <a:pPr algn="ctr"/>
            <a:r>
              <a:rPr lang="en-IE" sz="1500" dirty="0"/>
              <a:t>The array is called </a:t>
            </a:r>
            <a:r>
              <a:rPr lang="en-IE" sz="1500" b="1" dirty="0"/>
              <a:t>numbers</a:t>
            </a:r>
            <a:r>
              <a:rPr lang="en-IE" sz="15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69E31-2E96-180C-2652-814BA713EE27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 = new int[4];</a:t>
            </a:r>
            <a:endParaRPr lang="en-IE" sz="2100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FC7A93-5599-5FF7-5746-5189BC8B4B6B}"/>
              </a:ext>
            </a:extLst>
          </p:cNvPr>
          <p:cNvCxnSpPr>
            <a:cxnSpLocks/>
          </p:cNvCxnSpPr>
          <p:nvPr/>
        </p:nvCxnSpPr>
        <p:spPr>
          <a:xfrm>
            <a:off x="4133088" y="966978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Box 11">
            <a:extLst>
              <a:ext uri="{FF2B5EF4-FFF2-40B4-BE49-F238E27FC236}">
                <a16:creationId xmlns:a16="http://schemas.microsoft.com/office/drawing/2014/main" id="{98EC869D-A555-BF78-9933-7886601E2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765A93E-EB51-6F13-2828-4F985CDC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95F3F2F-408C-82CC-7591-7C32236AD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71ECE8-E976-33B8-AE65-CC555DDA2C8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6201866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[]  numbers;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5200650" y="2628900"/>
            <a:ext cx="800100" cy="17145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BC3C9-2ED5-4BCD-8FEE-7FDB53BA9C6E}"/>
              </a:ext>
            </a:extLst>
          </p:cNvPr>
          <p:cNvSpPr/>
          <p:nvPr/>
        </p:nvSpPr>
        <p:spPr>
          <a:xfrm>
            <a:off x="5920740" y="4229100"/>
            <a:ext cx="2820924" cy="5715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Index of each element in the array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4EF568-189D-B38C-BB07-EE41FE77316C}"/>
              </a:ext>
            </a:extLst>
          </p:cNvPr>
          <p:cNvCxnSpPr>
            <a:cxnSpLocks/>
          </p:cNvCxnSpPr>
          <p:nvPr/>
        </p:nvCxnSpPr>
        <p:spPr>
          <a:xfrm>
            <a:off x="4133088" y="966978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8816468-1832-30B3-259E-C347769EAE97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 = new int[4];</a:t>
            </a:r>
            <a:endParaRPr lang="en-IE" sz="2100" b="1" dirty="0"/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06AD427F-E8B2-C4F4-E6FC-E78A23030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3237B40-071A-4E71-BFB7-E56FA3B6D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2122D26-1666-7057-DA74-A7F1BCFBD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CE1CFA6-4657-DD89-A1D8-750D2F9DFB8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0918861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BC3C9-2ED5-4BCD-8FEE-7FDB53BA9C6E}"/>
              </a:ext>
            </a:extLst>
          </p:cNvPr>
          <p:cNvSpPr/>
          <p:nvPr/>
        </p:nvSpPr>
        <p:spPr>
          <a:xfrm>
            <a:off x="6566898" y="4150737"/>
            <a:ext cx="2514600" cy="66442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Default value for each element of type </a:t>
            </a:r>
            <a:r>
              <a:rPr lang="en-IE" sz="1800" b="1" dirty="0"/>
              <a:t>int</a:t>
            </a:r>
            <a:r>
              <a:rPr lang="en-IE" sz="1800" dirty="0"/>
              <a:t>.</a:t>
            </a:r>
          </a:p>
        </p:txBody>
      </p:sp>
      <p:sp>
        <p:nvSpPr>
          <p:cNvPr id="12" name="Donut 11"/>
          <p:cNvSpPr/>
          <p:nvPr/>
        </p:nvSpPr>
        <p:spPr>
          <a:xfrm>
            <a:off x="6106445" y="2535332"/>
            <a:ext cx="637256" cy="1737122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C679C409-BC1B-345C-D8C9-9C528C0E6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EE236B-5324-A994-4E5D-E8F296468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C35202-9681-A999-0F26-8EBB917E1EB7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 = new int[4];</a:t>
            </a:r>
            <a:endParaRPr lang="en-IE" sz="21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A56037-257B-8ABE-20C1-4500181D56E2}"/>
              </a:ext>
            </a:extLst>
          </p:cNvPr>
          <p:cNvCxnSpPr>
            <a:cxnSpLocks/>
          </p:cNvCxnSpPr>
          <p:nvPr/>
        </p:nvCxnSpPr>
        <p:spPr>
          <a:xfrm>
            <a:off x="4133088" y="966978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61F8AA6-1591-4BEE-2621-9D74CB3B6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B5E5430-D8AA-8244-A738-9E674CA5443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29440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143231" y="2731634"/>
            <a:ext cx="238719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[2] = 18;</a:t>
            </a:r>
            <a:endParaRPr lang="en-IE" sz="21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014990" y="3271266"/>
            <a:ext cx="2662256" cy="14859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We are directly accessing the element at index </a:t>
            </a:r>
            <a:r>
              <a:rPr lang="en-IE" sz="1800" b="1" dirty="0"/>
              <a:t>2</a:t>
            </a:r>
            <a:r>
              <a:rPr lang="en-IE" sz="1800" dirty="0"/>
              <a:t> and setting it to a value of </a:t>
            </a:r>
            <a:r>
              <a:rPr lang="en-IE" sz="1800" b="1" dirty="0"/>
              <a:t>18</a:t>
            </a:r>
            <a:r>
              <a:rPr lang="en-IE" sz="1800" dirty="0"/>
              <a:t>.</a:t>
            </a:r>
          </a:p>
        </p:txBody>
      </p:sp>
      <p:sp>
        <p:nvSpPr>
          <p:cNvPr id="16" name="Donut 15"/>
          <p:cNvSpPr/>
          <p:nvPr/>
        </p:nvSpPr>
        <p:spPr>
          <a:xfrm>
            <a:off x="5086350" y="3462336"/>
            <a:ext cx="2114550" cy="382141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960DD87C-B4EA-0C63-3A2C-DA4D9B76C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5F59C8F-5A67-BBDE-3B88-6CE6B892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6F8D2-5B55-D5B1-D07F-E79BBE859A1D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75000"/>
                  </a:schemeClr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bg1">
                    <a:lumMod val="75000"/>
                  </a:schemeClr>
                </a:solidFill>
              </a:rPr>
              <a:t> = new int[4];</a:t>
            </a:r>
            <a:endParaRPr lang="en-IE" sz="2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9F1FA6-C33C-0A4A-D236-CA1452BC5B31}"/>
              </a:ext>
            </a:extLst>
          </p:cNvPr>
          <p:cNvCxnSpPr>
            <a:cxnSpLocks/>
          </p:cNvCxnSpPr>
          <p:nvPr/>
        </p:nvCxnSpPr>
        <p:spPr>
          <a:xfrm>
            <a:off x="4133088" y="966978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384FBA3-6971-3853-E40C-52FD1B12F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717BC1-5A48-D4F6-4209-2BD18D79F8A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143230" y="3288763"/>
            <a:ext cx="238719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[0] = 12;</a:t>
            </a:r>
            <a:endParaRPr lang="en-IE" sz="2100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143231" y="3847338"/>
            <a:ext cx="2457219" cy="85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We are setting the element at index </a:t>
            </a:r>
            <a:r>
              <a:rPr lang="en-IE" sz="1800" b="1" dirty="0"/>
              <a:t>0</a:t>
            </a:r>
            <a:r>
              <a:rPr lang="en-IE" sz="1800" dirty="0"/>
              <a:t> and to a value of </a:t>
            </a:r>
            <a:r>
              <a:rPr lang="en-IE" sz="1800" b="1" dirty="0"/>
              <a:t>12</a:t>
            </a:r>
            <a:r>
              <a:rPr lang="en-IE" sz="1800" dirty="0"/>
              <a:t>.</a:t>
            </a:r>
          </a:p>
        </p:txBody>
      </p:sp>
      <p:sp>
        <p:nvSpPr>
          <p:cNvPr id="21" name="Donut 20"/>
          <p:cNvSpPr/>
          <p:nvPr/>
        </p:nvSpPr>
        <p:spPr>
          <a:xfrm>
            <a:off x="5143500" y="2800352"/>
            <a:ext cx="1943100" cy="33526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2EE29-A35C-723B-F54F-689D47B0BE62}"/>
              </a:ext>
            </a:extLst>
          </p:cNvPr>
          <p:cNvSpPr/>
          <p:nvPr/>
        </p:nvSpPr>
        <p:spPr>
          <a:xfrm>
            <a:off x="1143231" y="2731634"/>
            <a:ext cx="238719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75000"/>
                  </a:schemeClr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bg1">
                    <a:lumMod val="75000"/>
                  </a:schemeClr>
                </a:solidFill>
              </a:rPr>
              <a:t>[2] = 18;</a:t>
            </a:r>
            <a:endParaRPr lang="en-IE" sz="2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58357C3A-BC9C-F4A0-3B19-832B555C6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E2FD61-405A-8F8E-6E70-AA635139C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D0019-CF01-95CD-A787-F2489C96FF6D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75000"/>
                  </a:schemeClr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bg1">
                    <a:lumMod val="75000"/>
                  </a:schemeClr>
                </a:solidFill>
              </a:rPr>
              <a:t> = new int[4];</a:t>
            </a:r>
            <a:endParaRPr lang="en-IE" sz="2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A512D1-3EC3-328B-10CE-6AA2B4150639}"/>
              </a:ext>
            </a:extLst>
          </p:cNvPr>
          <p:cNvCxnSpPr>
            <a:cxnSpLocks/>
          </p:cNvCxnSpPr>
          <p:nvPr/>
        </p:nvCxnSpPr>
        <p:spPr>
          <a:xfrm>
            <a:off x="4133088" y="966978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5E75882-DDD1-2572-8EC3-682946929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CFFA35-0A25-F70D-456A-D28E09F1ED0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primitive array</a:t>
            </a:r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5324096" y="4171950"/>
            <a:ext cx="3621022" cy="85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600" dirty="0"/>
              <a:t>Here we are printing the contents of index location 2 </a:t>
            </a:r>
            <a:br>
              <a:rPr lang="en-IE" sz="1600" dirty="0"/>
            </a:br>
            <a:r>
              <a:rPr lang="en-IE" sz="16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1233870" y="4262229"/>
            <a:ext cx="249780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print(</a:t>
            </a:r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[2]);</a:t>
            </a:r>
            <a:endParaRPr lang="en-IE" sz="2100" b="1" dirty="0"/>
          </a:p>
        </p:txBody>
      </p:sp>
      <p:sp>
        <p:nvSpPr>
          <p:cNvPr id="19" name="Donut 18"/>
          <p:cNvSpPr/>
          <p:nvPr/>
        </p:nvSpPr>
        <p:spPr>
          <a:xfrm>
            <a:off x="5143500" y="3462336"/>
            <a:ext cx="2000251" cy="382141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2D6A5A-7995-7BC8-FD73-CD601A86B057}"/>
              </a:ext>
            </a:extLst>
          </p:cNvPr>
          <p:cNvSpPr/>
          <p:nvPr/>
        </p:nvSpPr>
        <p:spPr>
          <a:xfrm>
            <a:off x="1143230" y="3288763"/>
            <a:ext cx="238719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/>
              <a:t>[0] = 12;</a:t>
            </a:r>
            <a:endParaRPr lang="en-IE" sz="21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DF8D1-388C-4CCF-BF50-479F10FD4EF9}"/>
              </a:ext>
            </a:extLst>
          </p:cNvPr>
          <p:cNvSpPr/>
          <p:nvPr/>
        </p:nvSpPr>
        <p:spPr>
          <a:xfrm>
            <a:off x="1143231" y="2731634"/>
            <a:ext cx="238719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75000"/>
                  </a:schemeClr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bg1">
                    <a:lumMod val="75000"/>
                  </a:schemeClr>
                </a:solidFill>
              </a:rPr>
              <a:t>[2] = 18;</a:t>
            </a:r>
            <a:endParaRPr lang="en-IE" sz="2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59362AC5-7202-F5B5-F738-480A77B32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822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6E225AA-E85C-0BF8-024F-E01F1A36F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1" y="1757092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7B048C-364E-9A2B-B8B8-E50AC5AC4BE9}"/>
              </a:ext>
            </a:extLst>
          </p:cNvPr>
          <p:cNvSpPr/>
          <p:nvPr/>
        </p:nvSpPr>
        <p:spPr>
          <a:xfrm>
            <a:off x="814143" y="2000250"/>
            <a:ext cx="296427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75000"/>
                  </a:schemeClr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bg1">
                    <a:lumMod val="75000"/>
                  </a:schemeClr>
                </a:solidFill>
              </a:rPr>
              <a:t> = new int[4];</a:t>
            </a:r>
            <a:endParaRPr lang="en-IE" sz="2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04E518-DB6D-DCD1-66AE-9631BBDB46D8}"/>
              </a:ext>
            </a:extLst>
          </p:cNvPr>
          <p:cNvCxnSpPr>
            <a:cxnSpLocks/>
          </p:cNvCxnSpPr>
          <p:nvPr/>
        </p:nvCxnSpPr>
        <p:spPr>
          <a:xfrm>
            <a:off x="4133088" y="966978"/>
            <a:ext cx="0" cy="36964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F0C09E3-319D-10BA-29B9-05F2586BE8EB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Declaring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563626" y="1257301"/>
            <a:ext cx="3008374" cy="13100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100" b="1" dirty="0">
                <a:solidFill>
                  <a:schemeClr val="tx1"/>
                </a:solidFill>
              </a:rPr>
              <a:t>int[]  </a:t>
            </a:r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tx1"/>
                </a:solidFill>
              </a:rPr>
              <a:t>;</a:t>
            </a:r>
          </a:p>
          <a:p>
            <a:endParaRPr lang="en-GB" sz="825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21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GB" sz="2100" dirty="0" err="1">
                <a:solidFill>
                  <a:schemeClr val="bg1">
                    <a:lumMod val="50000"/>
                  </a:schemeClr>
                </a:solidFill>
              </a:rPr>
              <a:t>somecode</a:t>
            </a:r>
            <a:endParaRPr lang="en-GB" sz="21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sz="788" b="1" dirty="0">
              <a:solidFill>
                <a:schemeClr val="tx1"/>
              </a:solidFill>
            </a:endParaRPr>
          </a:p>
          <a:p>
            <a:r>
              <a:rPr lang="en-GB" sz="2100" b="1" dirty="0">
                <a:solidFill>
                  <a:schemeClr val="tx1"/>
                </a:solidFill>
                <a:latin typeface="Courier New" pitchFamily="-32" charset="0"/>
              </a:rPr>
              <a:t>numbers</a:t>
            </a:r>
            <a:r>
              <a:rPr lang="en-GB" sz="2100" b="1" dirty="0">
                <a:solidFill>
                  <a:schemeClr val="tx1"/>
                </a:solidFill>
              </a:rPr>
              <a:t> = new int[4];</a:t>
            </a:r>
            <a:endParaRPr lang="en-IE" sz="2100" b="1" dirty="0">
              <a:solidFill>
                <a:schemeClr val="tx1"/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899" y="2008688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793" y="1600200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5314950" y="1085850"/>
            <a:ext cx="0" cy="35410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6115050" y="3101734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6054649" y="2208713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Up 9">
            <a:extLst>
              <a:ext uri="{FF2B5EF4-FFF2-40B4-BE49-F238E27FC236}">
                <a16:creationId xmlns:a16="http://schemas.microsoft.com/office/drawing/2014/main" id="{014EE337-DB19-4609-ABB7-FB0AEFB3224B}"/>
              </a:ext>
            </a:extLst>
          </p:cNvPr>
          <p:cNvSpPr/>
          <p:nvPr/>
        </p:nvSpPr>
        <p:spPr>
          <a:xfrm>
            <a:off x="1544480" y="2655223"/>
            <a:ext cx="3026913" cy="2090744"/>
          </a:xfrm>
          <a:prstGeom prst="upArrow">
            <a:avLst>
              <a:gd name="adj1" fmla="val 50000"/>
              <a:gd name="adj2" fmla="val 4758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600" dirty="0"/>
              <a:t>This is how we previously declared our array of four</a:t>
            </a:r>
            <a:r>
              <a:rPr lang="en-IE" sz="1600" b="1" dirty="0"/>
              <a:t> </a:t>
            </a:r>
            <a:r>
              <a:rPr lang="en-IE" sz="1600" b="1" dirty="0" err="1"/>
              <a:t>int</a:t>
            </a:r>
            <a:r>
              <a:rPr lang="en-IE" sz="1600" dirty="0"/>
              <a:t>, called </a:t>
            </a:r>
            <a:r>
              <a:rPr lang="en-IE" sz="1600" b="1" dirty="0"/>
              <a:t>numbers</a:t>
            </a:r>
            <a:r>
              <a:rPr lang="en-IE" sz="2000" dirty="0"/>
              <a:t>.</a:t>
            </a:r>
          </a:p>
        </p:txBody>
      </p:sp>
      <p:sp>
        <p:nvSpPr>
          <p:cNvPr id="11" name="Donut 10"/>
          <p:cNvSpPr/>
          <p:nvPr/>
        </p:nvSpPr>
        <p:spPr>
          <a:xfrm>
            <a:off x="1209146" y="1063228"/>
            <a:ext cx="3918503" cy="1692347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13" name="5-Point Star 12"/>
          <p:cNvSpPr/>
          <p:nvPr/>
        </p:nvSpPr>
        <p:spPr>
          <a:xfrm>
            <a:off x="782146" y="780957"/>
            <a:ext cx="853999" cy="8001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1D0D3-4008-85C2-0796-AE15E7657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E0DD9-4AB8-A300-FDCE-DDCC7D4CA3F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748383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Declaring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600200" y="1257301"/>
            <a:ext cx="2971800" cy="13100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[]  numbers;</a:t>
            </a:r>
          </a:p>
          <a:p>
            <a:endParaRPr lang="en-GB" sz="825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GB" sz="2100" dirty="0" err="1">
                <a:solidFill>
                  <a:schemeClr val="bg1">
                    <a:lumMod val="75000"/>
                  </a:schemeClr>
                </a:solidFill>
              </a:rPr>
              <a:t>somecode</a:t>
            </a:r>
            <a:endParaRPr lang="en-GB" sz="21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GB" sz="788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numbers = new </a:t>
            </a:r>
            <a:r>
              <a:rPr lang="en-GB" sz="21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75000"/>
                  </a:schemeClr>
                </a:solidFill>
              </a:rPr>
              <a:t>[4];</a:t>
            </a:r>
            <a:endParaRPr lang="en-IE" sz="2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899" y="2008688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793" y="1600200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6115050" y="3101734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6054649" y="2208713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014EE337-DB19-4609-ABB7-FB0AEFB3224B}"/>
              </a:ext>
            </a:extLst>
          </p:cNvPr>
          <p:cNvSpPr/>
          <p:nvPr/>
        </p:nvSpPr>
        <p:spPr>
          <a:xfrm>
            <a:off x="1177981" y="2655223"/>
            <a:ext cx="3829050" cy="13716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We can also declare it like this…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2A0DC-5E11-47CF-8C0F-DE8C4AFFE743}"/>
              </a:ext>
            </a:extLst>
          </p:cNvPr>
          <p:cNvSpPr/>
          <p:nvPr/>
        </p:nvSpPr>
        <p:spPr>
          <a:xfrm>
            <a:off x="1282147" y="4259595"/>
            <a:ext cx="3632753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100" b="1" dirty="0" err="1">
                <a:solidFill>
                  <a:schemeClr val="tx1"/>
                </a:solidFill>
              </a:rPr>
              <a:t>int</a:t>
            </a:r>
            <a:r>
              <a:rPr lang="en-GB" sz="2100" b="1" dirty="0">
                <a:solidFill>
                  <a:schemeClr val="tx1"/>
                </a:solidFill>
              </a:rPr>
              <a:t>[]  numbers = new </a:t>
            </a:r>
            <a:r>
              <a:rPr lang="en-GB" sz="2100" b="1" dirty="0" err="1">
                <a:solidFill>
                  <a:schemeClr val="tx1"/>
                </a:solidFill>
              </a:rPr>
              <a:t>int</a:t>
            </a:r>
            <a:r>
              <a:rPr lang="en-GB" sz="2100" b="1" dirty="0">
                <a:solidFill>
                  <a:schemeClr val="tx1"/>
                </a:solidFill>
              </a:rPr>
              <a:t>[4];</a:t>
            </a:r>
            <a:endParaRPr lang="en-IE" sz="2100" b="1" dirty="0">
              <a:solidFill>
                <a:schemeClr val="tx1"/>
              </a:solidFill>
            </a:endParaRPr>
          </a:p>
        </p:txBody>
      </p:sp>
      <p:sp>
        <p:nvSpPr>
          <p:cNvPr id="12" name="Donut 11"/>
          <p:cNvSpPr/>
          <p:nvPr/>
        </p:nvSpPr>
        <p:spPr>
          <a:xfrm>
            <a:off x="1177981" y="4073284"/>
            <a:ext cx="3918503" cy="8001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3" name="5-Point Star 2"/>
          <p:cNvSpPr/>
          <p:nvPr/>
        </p:nvSpPr>
        <p:spPr>
          <a:xfrm>
            <a:off x="265306" y="3679851"/>
            <a:ext cx="853999" cy="8001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5E79E9-71E1-221E-CE2D-CFAF910379F5}"/>
              </a:ext>
            </a:extLst>
          </p:cNvPr>
          <p:cNvCxnSpPr>
            <a:cxnSpLocks/>
          </p:cNvCxnSpPr>
          <p:nvPr/>
        </p:nvCxnSpPr>
        <p:spPr>
          <a:xfrm>
            <a:off x="5314950" y="1085850"/>
            <a:ext cx="0" cy="35410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2D640-DCAF-C24C-A332-BFE2A88B5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D7A70-877C-F6AF-EE58-7C940D6D54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119649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657350" y="1375838"/>
            <a:ext cx="5829300" cy="1102519"/>
          </a:xfrm>
        </p:spPr>
        <p:txBody>
          <a:bodyPr>
            <a:noAutofit/>
          </a:bodyPr>
          <a:lstStyle/>
          <a:p>
            <a:pPr algn="ctr"/>
            <a:r>
              <a:rPr lang="en-IE" dirty="0">
                <a:solidFill>
                  <a:srgbClr val="C00000"/>
                </a:solidFill>
              </a:rPr>
              <a:t>Returning to our method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that reads in, and sums, 10 numbers (typed in from the keyboard)…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657350" y="2853262"/>
            <a:ext cx="5829300" cy="914400"/>
          </a:xfrm>
        </p:spPr>
        <p:txBody>
          <a:bodyPr/>
          <a:lstStyle/>
          <a:p>
            <a:r>
              <a:rPr lang="en-IE" sz="2800" dirty="0">
                <a:solidFill>
                  <a:srgbClr val="0070C0"/>
                </a:solidFill>
              </a:rPr>
              <a:t>and converting it to use primitive arrays…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FEDCF5-7498-BE00-83DE-BF925D3D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D45072-BFA8-5905-D72E-FA5F7FE6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74493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60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Version that doesn’t save 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688" y="832175"/>
            <a:ext cx="7483792" cy="397031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800" b="1">
                <a:solidFill>
                  <a:srgbClr val="000080"/>
                </a:solidFill>
              </a:rPr>
              <a:t>import </a:t>
            </a:r>
            <a:r>
              <a:rPr lang="en-IE" sz="1800"/>
              <a:t>java.util.Scanner;</a:t>
            </a:r>
            <a:br>
              <a:rPr lang="en-IE" sz="1800"/>
            </a:br>
            <a:r>
              <a:rPr lang="en-IE" sz="1800"/>
              <a:t> :</a:t>
            </a:r>
          </a:p>
          <a:p>
            <a:pPr algn="l"/>
            <a:r>
              <a:rPr lang="en-IE" sz="1800"/>
              <a:t>Scanner </a:t>
            </a:r>
            <a:r>
              <a:rPr lang="en-IE" sz="1800" i="1">
                <a:solidFill>
                  <a:srgbClr val="660E7A"/>
                </a:solidFill>
              </a:rPr>
              <a:t>input </a:t>
            </a:r>
            <a:r>
              <a:rPr lang="en-IE" sz="1800"/>
              <a:t>= </a:t>
            </a:r>
            <a:r>
              <a:rPr lang="en-IE" sz="1800" b="1">
                <a:solidFill>
                  <a:srgbClr val="000080"/>
                </a:solidFill>
              </a:rPr>
              <a:t>new </a:t>
            </a:r>
            <a:r>
              <a:rPr lang="en-IE" sz="1800"/>
              <a:t>Scanner(System.</a:t>
            </a:r>
            <a:r>
              <a:rPr lang="en-IE" sz="1800" b="1" i="1">
                <a:solidFill>
                  <a:srgbClr val="660E7A"/>
                </a:solidFill>
              </a:rPr>
              <a:t>in</a:t>
            </a:r>
            <a:r>
              <a:rPr lang="en-IE" sz="1800"/>
              <a:t>);</a:t>
            </a:r>
          </a:p>
          <a:p>
            <a:pPr algn="l"/>
            <a:r>
              <a:rPr lang="en-IE" sz="1800"/>
              <a:t> :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n;</a:t>
            </a: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sum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</a:t>
            </a:r>
            <a:br>
              <a:rPr lang="en-IE" sz="1800"/>
            </a:br>
            <a:br>
              <a:rPr lang="en-IE" sz="1800"/>
            </a:br>
            <a:r>
              <a:rPr lang="en-IE" sz="1800" b="1">
                <a:solidFill>
                  <a:srgbClr val="000080"/>
                </a:solidFill>
              </a:rPr>
              <a:t>for </a:t>
            </a:r>
            <a:r>
              <a:rPr lang="en-IE" sz="1800"/>
              <a:t>(</a:t>
            </a:r>
            <a:r>
              <a:rPr lang="en-IE" sz="1800" b="1">
                <a:solidFill>
                  <a:srgbClr val="000080"/>
                </a:solidFill>
              </a:rPr>
              <a:t>int </a:t>
            </a:r>
            <a:r>
              <a:rPr lang="en-IE" sz="1800"/>
              <a:t>i = </a:t>
            </a:r>
            <a:r>
              <a:rPr lang="en-IE" sz="1800">
                <a:solidFill>
                  <a:srgbClr val="0000FF"/>
                </a:solidFill>
              </a:rPr>
              <a:t>0</a:t>
            </a:r>
            <a:r>
              <a:rPr lang="en-IE" sz="1800"/>
              <a:t>; i&lt;</a:t>
            </a:r>
            <a:r>
              <a:rPr lang="en-IE" sz="1800">
                <a:solidFill>
                  <a:srgbClr val="0000FF"/>
                </a:solidFill>
              </a:rPr>
              <a:t>10</a:t>
            </a:r>
            <a:r>
              <a:rPr lang="en-IE" sz="1800"/>
              <a:t>; i++)  {</a:t>
            </a:r>
            <a:br>
              <a:rPr lang="en-IE" sz="1800"/>
            </a:br>
            <a:r>
              <a:rPr lang="en-IE" sz="1800"/>
              <a:t>    n = </a:t>
            </a:r>
            <a:r>
              <a:rPr lang="en-IE" sz="1800" i="1">
                <a:solidFill>
                  <a:srgbClr val="660E7A"/>
                </a:solidFill>
              </a:rPr>
              <a:t>input</a:t>
            </a:r>
            <a:r>
              <a:rPr lang="en-IE" sz="1800"/>
              <a:t>.nextInt();</a:t>
            </a:r>
            <a:br>
              <a:rPr lang="en-IE" sz="1800"/>
            </a:br>
            <a:r>
              <a:rPr lang="en-IE" sz="1800"/>
              <a:t>    sum += n;</a:t>
            </a:r>
            <a:br>
              <a:rPr lang="en-IE" sz="1800"/>
            </a:br>
            <a:r>
              <a:rPr lang="en-IE" sz="1800"/>
              <a:t>}</a:t>
            </a:r>
            <a:br>
              <a:rPr lang="en-IE" sz="1800"/>
            </a:br>
            <a:br>
              <a:rPr lang="en-IE" sz="1800"/>
            </a:br>
            <a:r>
              <a:rPr lang="en-IE" sz="1800"/>
              <a:t>System.</a:t>
            </a:r>
            <a:r>
              <a:rPr lang="en-IE" sz="1800" b="1" i="1">
                <a:solidFill>
                  <a:srgbClr val="660E7A"/>
                </a:solidFill>
              </a:rPr>
              <a:t>out</a:t>
            </a:r>
            <a:r>
              <a:rPr lang="en-IE" sz="1800"/>
              <a:t>.println(</a:t>
            </a:r>
            <a:r>
              <a:rPr lang="en-IE" sz="1800" b="1">
                <a:solidFill>
                  <a:srgbClr val="008000"/>
                </a:solidFill>
              </a:rPr>
              <a:t>"The sum of the values you typed in is : " </a:t>
            </a:r>
            <a:r>
              <a:rPr lang="en-IE" sz="1800"/>
              <a:t>+ sum);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852678" y="2750693"/>
            <a:ext cx="2800350" cy="12001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3" name="TextBox 12"/>
          <p:cNvSpPr txBox="1"/>
          <p:nvPr/>
        </p:nvSpPr>
        <p:spPr>
          <a:xfrm>
            <a:off x="4319338" y="1986337"/>
            <a:ext cx="3681662" cy="166199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Notice that, </a:t>
            </a:r>
          </a:p>
          <a:p>
            <a:pPr algn="ctr"/>
            <a:r>
              <a:rPr lang="en-US" sz="1800" dirty="0"/>
              <a:t>each time a number is read in, </a:t>
            </a:r>
          </a:p>
          <a:p>
            <a:pPr algn="ctr"/>
            <a:r>
              <a:rPr lang="en-US" sz="1800" dirty="0"/>
              <a:t>it overwrites the value stored in </a:t>
            </a:r>
            <a:r>
              <a:rPr lang="en-US" sz="1800" b="1" dirty="0">
                <a:solidFill>
                  <a:srgbClr val="0070C0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 </a:t>
            </a:r>
            <a:endParaRPr lang="en-US" sz="1800" dirty="0">
              <a:solidFill>
                <a:schemeClr val="tx1"/>
              </a:solidFill>
            </a:endParaRPr>
          </a:p>
          <a:p>
            <a:pPr algn="ctr"/>
            <a:r>
              <a:rPr lang="en-US" sz="1800" dirty="0">
                <a:solidFill>
                  <a:schemeClr val="tx1"/>
                </a:solidFill>
              </a:rPr>
              <a:t>It doesn’t remember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the individual numbers typed in.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0BBAA-0CB3-16AD-C6A1-3C2F793F3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77C7D-400A-B306-59AD-985FFB70839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8239246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793F25-26D5-4490-978E-7C8BA5931115}"/>
              </a:ext>
            </a:extLst>
          </p:cNvPr>
          <p:cNvSpPr txBox="1"/>
          <p:nvPr/>
        </p:nvSpPr>
        <p:spPr>
          <a:xfrm>
            <a:off x="993925" y="841319"/>
            <a:ext cx="6307931" cy="424731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500" b="1">
                <a:solidFill>
                  <a:srgbClr val="000080"/>
                </a:solidFill>
              </a:rPr>
              <a:t>import </a:t>
            </a:r>
            <a:r>
              <a:rPr lang="en-IE" sz="1500"/>
              <a:t>java.util.Scanner;</a:t>
            </a:r>
            <a:br>
              <a:rPr lang="en-IE" sz="1500"/>
            </a:br>
            <a:r>
              <a:rPr lang="en-IE" sz="1500"/>
              <a:t> :</a:t>
            </a:r>
          </a:p>
          <a:p>
            <a:pPr algn="l"/>
            <a:r>
              <a:rPr lang="en-IE" sz="1500"/>
              <a:t>Scanner </a:t>
            </a:r>
            <a:r>
              <a:rPr lang="en-IE" sz="1500" i="1">
                <a:solidFill>
                  <a:srgbClr val="660E7A"/>
                </a:solidFill>
              </a:rPr>
              <a:t>input </a:t>
            </a:r>
            <a:r>
              <a:rPr lang="en-IE" sz="1500"/>
              <a:t>= </a:t>
            </a:r>
            <a:r>
              <a:rPr lang="en-IE" sz="1500" b="1">
                <a:solidFill>
                  <a:srgbClr val="000080"/>
                </a:solidFill>
              </a:rPr>
              <a:t>new </a:t>
            </a:r>
            <a:r>
              <a:rPr lang="en-IE" sz="1500"/>
              <a:t>Scanner(System.</a:t>
            </a:r>
            <a:r>
              <a:rPr lang="en-IE" sz="1500" b="1" i="1">
                <a:solidFill>
                  <a:srgbClr val="660E7A"/>
                </a:solidFill>
              </a:rPr>
              <a:t>in</a:t>
            </a:r>
            <a:r>
              <a:rPr lang="en-IE" sz="1500"/>
              <a:t>);</a:t>
            </a:r>
          </a:p>
          <a:p>
            <a:pPr algn="l"/>
            <a:r>
              <a:rPr lang="en-IE" sz="1500"/>
              <a:t> :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pPr algn="l"/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now we sum the values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++)   { 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Using arrays to remember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5257800" y="1434413"/>
            <a:ext cx="2599182" cy="106182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Using an array </a:t>
            </a:r>
          </a:p>
          <a:p>
            <a:pPr algn="ctr"/>
            <a:r>
              <a:rPr lang="en-US" sz="2100" dirty="0"/>
              <a:t>to store each value </a:t>
            </a:r>
          </a:p>
          <a:p>
            <a:pPr algn="ctr"/>
            <a:r>
              <a:rPr lang="en-US" sz="2100" dirty="0"/>
              <a:t>that was entered.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9" name="Donut 8"/>
          <p:cNvSpPr/>
          <p:nvPr/>
        </p:nvSpPr>
        <p:spPr>
          <a:xfrm>
            <a:off x="637681" y="1739906"/>
            <a:ext cx="3918503" cy="40005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395536" y="2291663"/>
            <a:ext cx="4333333" cy="1061829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>
            <a:off x="786384" y="3432996"/>
            <a:ext cx="2916936" cy="1157292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9A285-0C04-FC35-A891-1A242F8831A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533389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B5A273-66AA-F411-BA3C-6B3E713C82FF}"/>
              </a:ext>
            </a:extLst>
          </p:cNvPr>
          <p:cNvSpPr txBox="1"/>
          <p:nvPr/>
        </p:nvSpPr>
        <p:spPr>
          <a:xfrm>
            <a:off x="993925" y="841319"/>
            <a:ext cx="6307931" cy="424731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500" b="1">
                <a:solidFill>
                  <a:srgbClr val="000080"/>
                </a:solidFill>
              </a:rPr>
              <a:t>import </a:t>
            </a:r>
            <a:r>
              <a:rPr lang="en-IE" sz="1500"/>
              <a:t>java.util.Scanner;</a:t>
            </a:r>
            <a:br>
              <a:rPr lang="en-IE" sz="1500"/>
            </a:br>
            <a:r>
              <a:rPr lang="en-IE" sz="1500"/>
              <a:t> :</a:t>
            </a:r>
          </a:p>
          <a:p>
            <a:pPr algn="l"/>
            <a:r>
              <a:rPr lang="en-IE" sz="1500"/>
              <a:t>Scanner </a:t>
            </a:r>
            <a:r>
              <a:rPr lang="en-IE" sz="1500" i="1">
                <a:solidFill>
                  <a:srgbClr val="660E7A"/>
                </a:solidFill>
              </a:rPr>
              <a:t>input </a:t>
            </a:r>
            <a:r>
              <a:rPr lang="en-IE" sz="1500"/>
              <a:t>= </a:t>
            </a:r>
            <a:r>
              <a:rPr lang="en-IE" sz="1500" b="1">
                <a:solidFill>
                  <a:srgbClr val="000080"/>
                </a:solidFill>
              </a:rPr>
              <a:t>new </a:t>
            </a:r>
            <a:r>
              <a:rPr lang="en-IE" sz="1500"/>
              <a:t>Scanner(System.</a:t>
            </a:r>
            <a:r>
              <a:rPr lang="en-IE" sz="1500" b="1" i="1">
                <a:solidFill>
                  <a:srgbClr val="660E7A"/>
                </a:solidFill>
              </a:rPr>
              <a:t>in</a:t>
            </a:r>
            <a:r>
              <a:rPr lang="en-IE" sz="1500"/>
              <a:t>);</a:t>
            </a:r>
          </a:p>
          <a:p>
            <a:pPr algn="l"/>
            <a:r>
              <a:rPr lang="en-IE" sz="1500"/>
              <a:t> :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pPr algn="l"/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now we sum the values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++)   { 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Using arrays to remember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5158296" y="1047826"/>
            <a:ext cx="3577589" cy="170816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rgbClr val="FF0000"/>
                </a:solidFill>
              </a:rPr>
              <a:t>Q: </a:t>
            </a:r>
            <a:r>
              <a:rPr lang="en-US" sz="2100" dirty="0"/>
              <a:t>Can we reduce the code to only have </a:t>
            </a:r>
            <a:r>
              <a:rPr lang="en-US" sz="2100" b="1" dirty="0"/>
              <a:t>one loop?</a:t>
            </a:r>
          </a:p>
          <a:p>
            <a:pPr algn="ctr"/>
            <a:endParaRPr lang="en-US" sz="2100" b="1" dirty="0"/>
          </a:p>
          <a:p>
            <a:pPr algn="ctr"/>
            <a:r>
              <a:rPr lang="en-US" sz="2100" dirty="0"/>
              <a:t>Could we move the “sum” code into the first loop?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80460" y="2614071"/>
            <a:ext cx="881973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b="1" dirty="0">
                <a:solidFill>
                  <a:srgbClr val="FF0000"/>
                </a:solidFill>
              </a:rPr>
              <a:t>Loop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0460" y="3774911"/>
            <a:ext cx="881973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b="1" dirty="0">
                <a:solidFill>
                  <a:srgbClr val="FF0000"/>
                </a:solidFill>
              </a:rPr>
              <a:t>Loop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BA539-670E-3939-79A6-B1C723D834D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679923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E" dirty="0"/>
              <a:t>Using arrays to remember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084" y="1035691"/>
            <a:ext cx="6307931" cy="332398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500" b="1" dirty="0">
                <a:solidFill>
                  <a:srgbClr val="000080"/>
                </a:solidFill>
              </a:rPr>
              <a:t>import </a:t>
            </a:r>
            <a:r>
              <a:rPr lang="en-IE" sz="1500" dirty="0" err="1"/>
              <a:t>java.util.Scanner</a:t>
            </a:r>
            <a:r>
              <a:rPr lang="en-IE" sz="1500" dirty="0"/>
              <a:t>;</a:t>
            </a:r>
            <a:br>
              <a:rPr lang="en-IE" sz="1500" dirty="0"/>
            </a:br>
            <a:r>
              <a:rPr lang="en-IE" sz="1500" dirty="0"/>
              <a:t> :</a:t>
            </a:r>
          </a:p>
          <a:p>
            <a:pPr algn="l"/>
            <a:r>
              <a:rPr lang="en-IE" sz="1500" dirty="0"/>
              <a:t>Scanner </a:t>
            </a:r>
            <a:r>
              <a:rPr lang="en-IE" sz="1500" i="1" dirty="0">
                <a:solidFill>
                  <a:srgbClr val="660E7A"/>
                </a:solidFill>
              </a:rPr>
              <a:t>input </a:t>
            </a:r>
            <a:r>
              <a:rPr lang="en-IE" sz="1500" dirty="0"/>
              <a:t>= </a:t>
            </a:r>
            <a:r>
              <a:rPr lang="en-IE" sz="1500" b="1" dirty="0">
                <a:solidFill>
                  <a:srgbClr val="000080"/>
                </a:solidFill>
              </a:rPr>
              <a:t>new </a:t>
            </a:r>
            <a:r>
              <a:rPr lang="en-IE" sz="1500" dirty="0"/>
              <a:t>Scanner(</a:t>
            </a:r>
            <a:r>
              <a:rPr lang="en-IE" sz="1500" dirty="0" err="1"/>
              <a:t>System.</a:t>
            </a:r>
            <a:r>
              <a:rPr lang="en-IE" sz="1500" b="1" i="1" dirty="0" err="1">
                <a:solidFill>
                  <a:srgbClr val="660E7A"/>
                </a:solidFill>
              </a:rPr>
              <a:t>in</a:t>
            </a:r>
            <a:r>
              <a:rPr lang="en-IE" sz="1500" dirty="0"/>
              <a:t>);</a:t>
            </a:r>
          </a:p>
          <a:p>
            <a:pPr algn="l"/>
            <a:r>
              <a:rPr lang="en-IE" sz="1500" dirty="0"/>
              <a:t> :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pPr algn="l"/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for (int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pPr algn="l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4722722" y="1163707"/>
            <a:ext cx="4009644" cy="170816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rgbClr val="00B050"/>
                </a:solidFill>
              </a:rPr>
              <a:t>A: </a:t>
            </a:r>
            <a:r>
              <a:rPr lang="en-US" sz="2100" b="1" i="1" dirty="0"/>
              <a:t>Yes</a:t>
            </a:r>
            <a:endParaRPr lang="en-US" sz="2100" dirty="0"/>
          </a:p>
          <a:p>
            <a:pPr algn="ctr"/>
            <a:endParaRPr lang="en-US" sz="2100" dirty="0"/>
          </a:p>
          <a:p>
            <a:pPr algn="ctr"/>
            <a:r>
              <a:rPr lang="en-US" sz="2100" b="1" dirty="0"/>
              <a:t>Move the “sum” code into the first loop</a:t>
            </a:r>
            <a:r>
              <a:rPr lang="en-US" sz="2100" dirty="0"/>
              <a:t>.</a:t>
            </a:r>
          </a:p>
          <a:p>
            <a:pPr algn="ctr"/>
            <a:r>
              <a:rPr lang="en-US" sz="2100" dirty="0"/>
              <a:t>-&gt; functionality doesn’t change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2744" y="2853579"/>
            <a:ext cx="881973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b="1" dirty="0">
                <a:solidFill>
                  <a:srgbClr val="FF0000"/>
                </a:solidFill>
              </a:rPr>
              <a:t>Loop 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DD571-77BA-DE8A-0D08-155504367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0EBCB-26A1-DC94-41F2-9C12C0866F0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573244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437894" y="1834991"/>
            <a:ext cx="5829300" cy="1102519"/>
          </a:xfrm>
        </p:spPr>
        <p:txBody>
          <a:bodyPr>
            <a:noAutofit/>
          </a:bodyPr>
          <a:lstStyle/>
          <a:p>
            <a:pPr algn="ctr"/>
            <a:r>
              <a:rPr lang="en-IE" dirty="0">
                <a:solidFill>
                  <a:srgbClr val="C00000"/>
                </a:solidFill>
              </a:rPr>
              <a:t>What if we wanted the user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to decide how many numbers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they wanted to sum?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AB2EEA-C301-7800-8C5B-D6D0F1CA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D5FE6-9623-5F4D-111E-AF1E0202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69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0050" y="43443"/>
            <a:ext cx="6572250" cy="477053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IE" sz="1600" b="1" dirty="0">
                <a:solidFill>
                  <a:srgbClr val="000080"/>
                </a:solidFill>
              </a:rPr>
              <a:t>import </a:t>
            </a:r>
            <a:r>
              <a:rPr lang="en-IE" sz="1600" dirty="0" err="1"/>
              <a:t>java.util.Scanner</a:t>
            </a:r>
            <a:r>
              <a:rPr lang="en-IE" sz="1600" dirty="0"/>
              <a:t>;</a:t>
            </a:r>
            <a:br>
              <a:rPr lang="en-IE" sz="1600" dirty="0"/>
            </a:br>
            <a:r>
              <a:rPr lang="en-IE" sz="1600" dirty="0"/>
              <a:t> :</a:t>
            </a:r>
          </a:p>
          <a:p>
            <a:pPr algn="l"/>
            <a:r>
              <a:rPr lang="en-IE" sz="1600" dirty="0"/>
              <a:t>Scanner </a:t>
            </a:r>
            <a:r>
              <a:rPr lang="en-IE" sz="1600" i="1" dirty="0">
                <a:solidFill>
                  <a:srgbClr val="660E7A"/>
                </a:solidFill>
              </a:rPr>
              <a:t>input </a:t>
            </a:r>
            <a:r>
              <a:rPr lang="en-IE" sz="1600" dirty="0"/>
              <a:t>= </a:t>
            </a:r>
            <a:r>
              <a:rPr lang="en-IE" sz="1600" b="1" dirty="0">
                <a:solidFill>
                  <a:srgbClr val="000080"/>
                </a:solidFill>
              </a:rPr>
              <a:t>new </a:t>
            </a:r>
            <a:r>
              <a:rPr lang="en-IE" sz="1600" dirty="0"/>
              <a:t>Scanner(</a:t>
            </a:r>
            <a:r>
              <a:rPr lang="en-IE" sz="1600" dirty="0" err="1"/>
              <a:t>System.</a:t>
            </a:r>
            <a:r>
              <a:rPr lang="en-IE" sz="1600" b="1" i="1" dirty="0" err="1">
                <a:solidFill>
                  <a:srgbClr val="660E7A"/>
                </a:solidFill>
              </a:rPr>
              <a:t>in</a:t>
            </a:r>
            <a:r>
              <a:rPr lang="en-IE" sz="1600" dirty="0"/>
              <a:t>);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pPr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//Using the </a:t>
            </a:r>
            <a:r>
              <a:rPr lang="en-US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 to set the size of the array</a:t>
            </a:r>
          </a:p>
          <a:p>
            <a:pPr algn="l"/>
            <a:r>
              <a:rPr lang="en-US" sz="16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numbers[];</a:t>
            </a:r>
          </a:p>
          <a:p>
            <a:pPr algn="l"/>
            <a:r>
              <a:rPr 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System.out.println(”How many numbers do you need?”);</a:t>
            </a:r>
          </a:p>
          <a:p>
            <a:pPr algn="l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input.nextInt();</a:t>
            </a:r>
          </a:p>
          <a:p>
            <a:pPr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US" sz="1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];             </a:t>
            </a:r>
          </a:p>
          <a:p>
            <a:pPr algn="l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 and sum the values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++)  {   </a:t>
            </a: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 numbers[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input.nextInt();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sum += numbers[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]; </a:t>
            </a: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}    </a:t>
            </a: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cxnSpLocks/>
          </p:cNvCxnSpPr>
          <p:nvPr/>
        </p:nvCxnSpPr>
        <p:spPr>
          <a:xfrm>
            <a:off x="1342453" y="2258568"/>
            <a:ext cx="1028700" cy="2468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nut 5"/>
          <p:cNvSpPr/>
          <p:nvPr/>
        </p:nvSpPr>
        <p:spPr>
          <a:xfrm>
            <a:off x="228600" y="1981176"/>
            <a:ext cx="1728216" cy="371118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96012" y="2471166"/>
            <a:ext cx="4192524" cy="371117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4632579" y="6510"/>
            <a:ext cx="4343400" cy="132343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600" dirty="0" err="1">
                <a:solidFill>
                  <a:schemeClr val="tx1"/>
                </a:solidFill>
              </a:rPr>
              <a:t>Delcare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numbers</a:t>
            </a:r>
            <a:r>
              <a:rPr lang="en-US" sz="1600" dirty="0">
                <a:solidFill>
                  <a:schemeClr val="tx1"/>
                </a:solidFill>
              </a:rPr>
              <a:t> to be an array of type integer.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b="1" dirty="0" err="1">
                <a:solidFill>
                  <a:schemeClr val="tx1"/>
                </a:solidFill>
              </a:rPr>
              <a:t>numData</a:t>
            </a:r>
            <a:r>
              <a:rPr lang="en-US" sz="1600" dirty="0">
                <a:solidFill>
                  <a:schemeClr val="tx1"/>
                </a:solidFill>
              </a:rPr>
              <a:t> takes in the size.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Use </a:t>
            </a:r>
            <a:r>
              <a:rPr lang="en-US" sz="1600" dirty="0" err="1">
                <a:solidFill>
                  <a:schemeClr val="tx1"/>
                </a:solidFill>
              </a:rPr>
              <a:t>numData</a:t>
            </a:r>
            <a:r>
              <a:rPr lang="en-US" sz="1600" dirty="0">
                <a:solidFill>
                  <a:schemeClr val="tx1"/>
                </a:solidFill>
              </a:rPr>
              <a:t> to initialize the array with </a:t>
            </a:r>
            <a:r>
              <a:rPr lang="en-US" sz="1600" b="1" dirty="0">
                <a:solidFill>
                  <a:schemeClr val="tx1"/>
                </a:solidFill>
              </a:rPr>
              <a:t>new </a:t>
            </a:r>
            <a:r>
              <a:rPr lang="en-US" sz="1600" dirty="0">
                <a:solidFill>
                  <a:schemeClr val="tx1"/>
                </a:solidFill>
              </a:rPr>
              <a:t>specifying the size.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30E13E-782F-AB68-7734-1FF78242B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DB1F0-144A-4E72-BB75-0774E86118D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152339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401318" y="1469231"/>
            <a:ext cx="5829300" cy="1102519"/>
          </a:xfrm>
        </p:spPr>
        <p:txBody>
          <a:bodyPr>
            <a:noAutofit/>
          </a:bodyPr>
          <a:lstStyle/>
          <a:p>
            <a:pPr algn="ctr"/>
            <a:r>
              <a:rPr lang="en-IE" dirty="0">
                <a:solidFill>
                  <a:srgbClr val="C00000"/>
                </a:solidFill>
              </a:rPr>
              <a:t>What type of data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can be stored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in a primitive array?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3530EC-8D24-BE4F-B983-079F2F3D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0B0F2-82C3-5869-5C54-E86BC99F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58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85324" y="160345"/>
            <a:ext cx="5036099" cy="45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1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6067" y="3436368"/>
            <a:ext cx="4028667" cy="10618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100" dirty="0"/>
              <a:t>String words[] = new String[30];</a:t>
            </a:r>
          </a:p>
          <a:p>
            <a:endParaRPr lang="en-US" sz="2100" dirty="0"/>
          </a:p>
          <a:p>
            <a:r>
              <a:rPr lang="en-US" sz="2100" dirty="0"/>
              <a:t>Spot spots[] = new Spot[20];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176405" y="1232155"/>
            <a:ext cx="4520789" cy="1708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100" dirty="0" err="1"/>
              <a:t>int</a:t>
            </a:r>
            <a:r>
              <a:rPr lang="en-US" sz="2100" dirty="0"/>
              <a:t> numbers[] = new </a:t>
            </a:r>
            <a:r>
              <a:rPr lang="en-US" sz="2100" dirty="0" err="1"/>
              <a:t>int</a:t>
            </a:r>
            <a:r>
              <a:rPr lang="en-US" sz="2100" dirty="0"/>
              <a:t>[10];</a:t>
            </a:r>
          </a:p>
          <a:p>
            <a:endParaRPr lang="en-US" sz="2100" dirty="0"/>
          </a:p>
          <a:p>
            <a:r>
              <a:rPr lang="en-US" sz="2100" dirty="0"/>
              <a:t>byte </a:t>
            </a:r>
            <a:r>
              <a:rPr lang="en-US" sz="2100" dirty="0" err="1"/>
              <a:t>smallNumbers</a:t>
            </a:r>
            <a:r>
              <a:rPr lang="en-US" sz="2100" dirty="0"/>
              <a:t>[] = new byte[4];</a:t>
            </a:r>
          </a:p>
          <a:p>
            <a:endParaRPr lang="en-US" sz="2100" dirty="0"/>
          </a:p>
          <a:p>
            <a:r>
              <a:rPr lang="en-US" sz="21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294815" y="907328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b="1" dirty="0"/>
              <a:t>Primitive</a:t>
            </a:r>
            <a:r>
              <a:rPr lang="en-IE" sz="2100" dirty="0"/>
              <a:t>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4281599" y="3150617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b="1" dirty="0"/>
              <a:t>Object</a:t>
            </a:r>
            <a:r>
              <a:rPr lang="en-IE" sz="2100" dirty="0"/>
              <a:t> Types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E2B1D5-56FE-6ACC-7F41-A3653F1D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46AF4-3326-9C34-AA8E-0F09EC22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4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884807" y="1469231"/>
            <a:ext cx="5374386" cy="1102519"/>
          </a:xfrm>
        </p:spPr>
        <p:txBody>
          <a:bodyPr>
            <a:normAutofit/>
          </a:bodyPr>
          <a:lstStyle/>
          <a:p>
            <a:pPr algn="ctr"/>
            <a:r>
              <a:rPr lang="en-IE" sz="3200" dirty="0">
                <a:solidFill>
                  <a:srgbClr val="C00000"/>
                </a:solidFill>
              </a:rPr>
              <a:t>Do we have to use </a:t>
            </a:r>
            <a:br>
              <a:rPr lang="en-IE" sz="3200" dirty="0">
                <a:solidFill>
                  <a:srgbClr val="C00000"/>
                </a:solidFill>
              </a:rPr>
            </a:br>
            <a:r>
              <a:rPr lang="en-IE" sz="3200" b="1" dirty="0">
                <a:solidFill>
                  <a:srgbClr val="C00000"/>
                </a:solidFill>
              </a:rPr>
              <a:t>all</a:t>
            </a:r>
            <a:r>
              <a:rPr lang="en-IE" sz="3200" dirty="0">
                <a:solidFill>
                  <a:srgbClr val="C00000"/>
                </a:solidFill>
              </a:rPr>
              <a:t> the elements in the array?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6A12A8-90AE-E80D-4B17-F581C8D6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A5D33-58CB-01CC-2603-219F7DF6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68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7870640" cy="761815"/>
          </a:xfrm>
        </p:spPr>
        <p:txBody>
          <a:bodyPr>
            <a:noAutofit/>
          </a:bodyPr>
          <a:lstStyle/>
          <a:p>
            <a:r>
              <a:rPr lang="en-IE" dirty="0"/>
              <a:t>Do we have to use all elements in the array?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No.  </a:t>
            </a:r>
          </a:p>
          <a:p>
            <a:endParaRPr lang="en-IE" sz="2800" dirty="0"/>
          </a:p>
          <a:p>
            <a:r>
              <a:rPr lang="en-IE" sz="2800" dirty="0">
                <a:solidFill>
                  <a:srgbClr val="FF0000"/>
                </a:solidFill>
              </a:rPr>
              <a:t>But</a:t>
            </a:r>
            <a:r>
              <a:rPr lang="en-IE" sz="2800" dirty="0"/>
              <a:t>…this might cause logic errors, </a:t>
            </a:r>
            <a:br>
              <a:rPr lang="en-IE" sz="2800" dirty="0"/>
            </a:br>
            <a:r>
              <a:rPr lang="en-IE" sz="2800" dirty="0"/>
              <a:t>if we don’t take this into consideration </a:t>
            </a:r>
            <a:br>
              <a:rPr lang="en-IE" sz="2800" dirty="0"/>
            </a:br>
            <a:r>
              <a:rPr lang="en-IE" sz="2800" dirty="0"/>
              <a:t>in our coding.</a:t>
            </a:r>
          </a:p>
          <a:p>
            <a:pPr marL="0" indent="0">
              <a:buNone/>
            </a:pPr>
            <a:endParaRPr lang="en-IE" sz="2800" dirty="0"/>
          </a:p>
          <a:p>
            <a:r>
              <a:rPr lang="en-IE" sz="2800" dirty="0"/>
              <a:t>Consider this scenario…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4C8189-2906-4702-A648-18D19753D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C65213-E43A-B2C5-3B57-65F35925D3D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1386681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7934648" cy="761815"/>
          </a:xfrm>
        </p:spPr>
        <p:txBody>
          <a:bodyPr>
            <a:noAutofit/>
          </a:bodyPr>
          <a:lstStyle/>
          <a:p>
            <a:r>
              <a:rPr lang="en-IE" dirty="0"/>
              <a:t>Scenario – exam results and </a:t>
            </a:r>
            <a:r>
              <a:rPr lang="en-IE" b="1" dirty="0"/>
              <a:t>average grade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idx="1"/>
          </p:nvPr>
        </p:nvSpPr>
        <p:spPr>
          <a:xfrm>
            <a:off x="395537" y="843558"/>
            <a:ext cx="5127440" cy="4299943"/>
          </a:xfrm>
        </p:spPr>
        <p:txBody>
          <a:bodyPr>
            <a:normAutofit/>
          </a:bodyPr>
          <a:lstStyle/>
          <a:p>
            <a:r>
              <a:rPr lang="en-IE" sz="2800" dirty="0"/>
              <a:t>We have a class of 15 students.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They have a test coming up.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We want to store the results in an array and then find the average result.</a:t>
            </a:r>
          </a:p>
          <a:p>
            <a:pPr marL="0" indent="0">
              <a:buNone/>
            </a:pPr>
            <a:endParaRPr lang="en-IE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86BDC2-715A-9F26-D881-493B6E4BD9E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38</a:t>
            </a:fld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2CDDC5-5B4A-6D6F-0897-D06DDA63C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04D6137A-0BED-4046-ABC0-A5EEC317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958" y="1139428"/>
            <a:ext cx="2864644" cy="28646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5232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04963" y="846035"/>
            <a:ext cx="3671482" cy="857250"/>
          </a:xfrm>
        </p:spPr>
        <p:txBody>
          <a:bodyPr>
            <a:noAutofit/>
          </a:bodyPr>
          <a:lstStyle/>
          <a:p>
            <a:r>
              <a:rPr lang="en-IE" sz="2100" dirty="0"/>
              <a:t>We create an array of </a:t>
            </a:r>
            <a:r>
              <a:rPr lang="en-IE" sz="2100" dirty="0" err="1"/>
              <a:t>int</a:t>
            </a:r>
            <a:r>
              <a:rPr lang="en-IE" sz="2100" dirty="0"/>
              <a:t> </a:t>
            </a:r>
            <a:br>
              <a:rPr lang="en-IE" sz="2100" dirty="0"/>
            </a:br>
            <a:r>
              <a:rPr lang="en-IE" sz="2100" dirty="0"/>
              <a:t>with a capacity of 15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69F49A-85F9-44AB-8417-58A8C7FF9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0" y="1407470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AE55D36B-7D79-441F-B1E7-ED4A4F79C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67" y="1407470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results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F74E75-6C8C-4A38-95DD-1354E3C83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422180"/>
              </p:ext>
            </p:extLst>
          </p:nvPr>
        </p:nvGraphicFramePr>
        <p:xfrm>
          <a:off x="2895006" y="941827"/>
          <a:ext cx="1266227" cy="36969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2967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873260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56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65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45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78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98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5782565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41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35169025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40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1542535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55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64411702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45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77547582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51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290445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42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958077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78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47640888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41067944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13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88958092"/>
                  </a:ext>
                </a:extLst>
              </a:tr>
              <a:tr h="246460"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1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5527505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9DFA3A-C276-46AB-8804-551C1618BE14}"/>
              </a:ext>
            </a:extLst>
          </p:cNvPr>
          <p:cNvCxnSpPr>
            <a:cxnSpLocks/>
          </p:cNvCxnSpPr>
          <p:nvPr/>
        </p:nvCxnSpPr>
        <p:spPr>
          <a:xfrm flipV="1">
            <a:off x="2043112" y="941827"/>
            <a:ext cx="851894" cy="6656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3"/>
          <p:cNvSpPr txBox="1">
            <a:spLocks/>
          </p:cNvSpPr>
          <p:nvPr/>
        </p:nvSpPr>
        <p:spPr>
          <a:xfrm>
            <a:off x="4304964" y="1761447"/>
            <a:ext cx="4345260" cy="137622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100" dirty="0"/>
              <a:t>Only 12 students sat the exam. </a:t>
            </a:r>
            <a:br>
              <a:rPr lang="en-IE" sz="2100" dirty="0"/>
            </a:br>
            <a:r>
              <a:rPr lang="en-IE" sz="2100" dirty="0"/>
              <a:t>Their results were recorded in the first 12 elements</a:t>
            </a: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4298750" y="3195829"/>
            <a:ext cx="4552641" cy="13715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100" dirty="0"/>
              <a:t>To calculate the average result, </a:t>
            </a:r>
            <a:br>
              <a:rPr lang="en-IE" sz="2100" dirty="0"/>
            </a:br>
            <a:r>
              <a:rPr lang="en-IE" sz="2100" dirty="0"/>
              <a:t>divide by the number of </a:t>
            </a:r>
            <a:r>
              <a:rPr lang="en-IE" sz="2100" b="1" dirty="0"/>
              <a:t>populated elements </a:t>
            </a:r>
            <a:r>
              <a:rPr lang="en-IE" sz="2100" dirty="0"/>
              <a:t>- </a:t>
            </a:r>
            <a:r>
              <a:rPr lang="en-IE" sz="2100" b="1" dirty="0"/>
              <a:t>NOT</a:t>
            </a:r>
            <a:r>
              <a:rPr lang="en-IE" sz="2100" dirty="0"/>
              <a:t> the array capacity.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4D6137A-0BED-4046-ABC0-A5EEC317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081" y="75324"/>
            <a:ext cx="1582404" cy="15824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3"/>
          <p:cNvSpPr txBox="1">
            <a:spLocks/>
          </p:cNvSpPr>
          <p:nvPr/>
        </p:nvSpPr>
        <p:spPr>
          <a:xfrm>
            <a:off x="486453" y="95843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Average Grade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57FC1E-DEA1-1A08-D63B-5DC191187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9005B2-2BEF-0B50-B38C-BBFDB67ABA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245831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7898072" cy="761815"/>
          </a:xfrm>
        </p:spPr>
        <p:txBody>
          <a:bodyPr>
            <a:noAutofit/>
          </a:bodyPr>
          <a:lstStyle/>
          <a:p>
            <a:r>
              <a:rPr lang="en-IE" dirty="0"/>
              <a:t>Do we have to use all elements in the array?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If all elements in an array are NOT populated, </a:t>
            </a:r>
            <a:br>
              <a:rPr lang="en-IE" dirty="0"/>
            </a:br>
            <a:r>
              <a:rPr lang="en-GB" dirty="0"/>
              <a:t>we need to:</a:t>
            </a:r>
          </a:p>
          <a:p>
            <a:pPr lvl="1"/>
            <a:r>
              <a:rPr lang="en-GB" dirty="0"/>
              <a:t>have another variable (e.g.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size</a:t>
            </a:r>
            <a:r>
              <a:rPr lang="en-GB" dirty="0"/>
              <a:t>) </a:t>
            </a:r>
          </a:p>
          <a:p>
            <a:pPr lvl="2"/>
            <a:r>
              <a:rPr lang="en-GB" dirty="0"/>
              <a:t>containing the number of elements in the array </a:t>
            </a:r>
            <a:r>
              <a:rPr lang="en-GB" b="1" dirty="0"/>
              <a:t>actually used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ensure size is used when processing the array </a:t>
            </a:r>
          </a:p>
          <a:p>
            <a:pPr lvl="2"/>
            <a:r>
              <a:rPr lang="en-GB" dirty="0"/>
              <a:t>e.g.</a:t>
            </a:r>
          </a:p>
          <a:p>
            <a:pPr marL="985838" lvl="3" indent="0">
              <a:buNone/>
            </a:pPr>
            <a:r>
              <a:rPr lang="en-GB" sz="2100" dirty="0">
                <a:latin typeface="Monaco" pitchFamily="2" charset="77"/>
              </a:rPr>
              <a:t>for (</a:t>
            </a:r>
            <a:r>
              <a:rPr lang="en-GB" sz="2100" dirty="0" err="1">
                <a:latin typeface="Monaco" pitchFamily="2" charset="77"/>
              </a:rPr>
              <a:t>int</a:t>
            </a:r>
            <a:r>
              <a:rPr lang="en-GB" sz="2100" dirty="0">
                <a:latin typeface="Monaco" pitchFamily="2" charset="77"/>
              </a:rPr>
              <a:t> </a:t>
            </a:r>
            <a:r>
              <a:rPr lang="en-GB" sz="2100" dirty="0" err="1">
                <a:latin typeface="Monaco" pitchFamily="2" charset="77"/>
              </a:rPr>
              <a:t>i</a:t>
            </a:r>
            <a:r>
              <a:rPr lang="en-GB" sz="2100" dirty="0">
                <a:latin typeface="Monaco" pitchFamily="2" charset="77"/>
              </a:rPr>
              <a:t>= 0; </a:t>
            </a:r>
            <a:r>
              <a:rPr lang="en-GB" sz="2100" dirty="0" err="1">
                <a:latin typeface="Monaco" pitchFamily="2" charset="77"/>
              </a:rPr>
              <a:t>i</a:t>
            </a:r>
            <a:r>
              <a:rPr lang="en-GB" sz="2100" dirty="0">
                <a:latin typeface="Monaco" pitchFamily="2" charset="77"/>
              </a:rPr>
              <a:t> &lt; </a:t>
            </a:r>
            <a:r>
              <a:rPr lang="en-GB" sz="2100" dirty="0">
                <a:solidFill>
                  <a:srgbClr val="FF0000"/>
                </a:solidFill>
                <a:latin typeface="Monaco" pitchFamily="2" charset="77"/>
              </a:rPr>
              <a:t>size</a:t>
            </a:r>
            <a:r>
              <a:rPr lang="en-GB" sz="2100" dirty="0">
                <a:latin typeface="Monaco" pitchFamily="2" charset="77"/>
              </a:rPr>
              <a:t>; </a:t>
            </a:r>
            <a:r>
              <a:rPr lang="en-GB" sz="2100" dirty="0" err="1">
                <a:latin typeface="Monaco" pitchFamily="2" charset="77"/>
              </a:rPr>
              <a:t>i</a:t>
            </a:r>
            <a:r>
              <a:rPr lang="en-GB" sz="2100" dirty="0">
                <a:latin typeface="Monaco" pitchFamily="2" charset="77"/>
              </a:rPr>
              <a:t>++)</a:t>
            </a:r>
          </a:p>
          <a:p>
            <a:pPr marL="42863" indent="0">
              <a:buNone/>
            </a:pPr>
            <a:endParaRPr lang="en-GB" dirty="0"/>
          </a:p>
          <a:p>
            <a:pPr marL="385763" indent="-342900"/>
            <a:r>
              <a:rPr lang="en-GB" dirty="0"/>
              <a:t>For now though, </a:t>
            </a:r>
            <a:br>
              <a:rPr lang="en-GB" dirty="0"/>
            </a:br>
            <a:r>
              <a:rPr lang="en-GB" dirty="0"/>
              <a:t>we assume that all elements of the array are populated and therefore ready to be processed.</a:t>
            </a:r>
          </a:p>
          <a:p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9DDDF2-8C10-DD96-8A0C-E1706F91A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5A1118-0B8D-6CC1-A6B4-6E7C190E658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3422271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 - Arrays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Arrays are structures that can store many values of the same type</a:t>
            </a:r>
          </a:p>
          <a:p>
            <a:r>
              <a:rPr lang="en-US" dirty="0"/>
              <a:t>Rule – Never lose input data</a:t>
            </a:r>
          </a:p>
          <a:p>
            <a:pPr lvl="1"/>
            <a:r>
              <a:rPr lang="en-US" dirty="0"/>
              <a:t>Arrays enable us to store the data efficiently </a:t>
            </a:r>
          </a:p>
          <a:p>
            <a:pPr lvl="1"/>
            <a:r>
              <a:rPr lang="en-US" dirty="0"/>
              <a:t>We can use loops with arrays</a:t>
            </a:r>
          </a:p>
          <a:p>
            <a:r>
              <a:rPr lang="en-US" dirty="0"/>
              <a:t>Arrays can store ANY type</a:t>
            </a:r>
          </a:p>
          <a:p>
            <a:r>
              <a:rPr lang="en-US" dirty="0"/>
              <a:t>Declaring arrays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952151" y="3422581"/>
            <a:ext cx="2499550" cy="113133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88" b="1" dirty="0"/>
              <a:t>int[] </a:t>
            </a:r>
            <a:r>
              <a:rPr lang="en-GB" sz="1688" b="1" dirty="0" err="1"/>
              <a:t>arryName</a:t>
            </a:r>
            <a:r>
              <a:rPr lang="en-GB" sz="1688" b="1" dirty="0"/>
              <a:t>;</a:t>
            </a:r>
            <a:br>
              <a:rPr lang="en-GB" sz="1688" b="1" dirty="0"/>
            </a:br>
            <a:r>
              <a:rPr lang="en-GB" sz="1688" b="1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GB" sz="1688" b="1" dirty="0" err="1">
                <a:solidFill>
                  <a:schemeClr val="bg1">
                    <a:lumMod val="50000"/>
                  </a:schemeClr>
                </a:solidFill>
              </a:rPr>
              <a:t>somecode</a:t>
            </a:r>
            <a:br>
              <a:rPr lang="en-GB" sz="1688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688" b="1" dirty="0" err="1"/>
              <a:t>arryName</a:t>
            </a:r>
            <a:r>
              <a:rPr lang="en-GB" sz="1688" b="1" dirty="0"/>
              <a:t> = new int[4];</a:t>
            </a:r>
            <a:endParaRPr lang="en-IE" sz="1688" b="1" dirty="0"/>
          </a:p>
          <a:p>
            <a:endParaRPr lang="en-GB" sz="1688" dirty="0"/>
          </a:p>
        </p:txBody>
      </p:sp>
      <p:sp>
        <p:nvSpPr>
          <p:cNvPr id="5" name="TextBox 4"/>
          <p:cNvSpPr txBox="1"/>
          <p:nvPr/>
        </p:nvSpPr>
        <p:spPr>
          <a:xfrm>
            <a:off x="5936686" y="3422581"/>
            <a:ext cx="3134162" cy="113133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sz="1688" dirty="0"/>
              <a:t>int[] </a:t>
            </a:r>
            <a:r>
              <a:rPr lang="en-GB" sz="1688" dirty="0" err="1"/>
              <a:t>arryName</a:t>
            </a:r>
            <a:r>
              <a:rPr lang="en-GB" sz="1688" dirty="0"/>
              <a:t>= new int[4];</a:t>
            </a:r>
            <a:br>
              <a:rPr lang="en-GB" sz="1688" dirty="0"/>
            </a:br>
            <a:br>
              <a:rPr lang="en-GB" sz="1688" dirty="0"/>
            </a:br>
            <a:endParaRPr lang="en-IE" sz="1688" dirty="0"/>
          </a:p>
          <a:p>
            <a:endParaRPr lang="en-GB" sz="1688" dirty="0"/>
          </a:p>
        </p:txBody>
      </p:sp>
      <p:sp>
        <p:nvSpPr>
          <p:cNvPr id="6" name="TextBox 5"/>
          <p:cNvSpPr txBox="1"/>
          <p:nvPr/>
        </p:nvSpPr>
        <p:spPr>
          <a:xfrm>
            <a:off x="5434625" y="3734203"/>
            <a:ext cx="506870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b="1" dirty="0"/>
              <a:t>OR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1C1EF2-215E-3E0A-EA3E-AF28513B4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1A338D-107F-20A6-F4D3-DD9363CF585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2515412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34456</TotalTime>
  <Words>2783</Words>
  <Application>Microsoft Macintosh PowerPoint</Application>
  <PresentationFormat>On-screen Show (16:9)</PresentationFormat>
  <Paragraphs>527</Paragraphs>
  <Slides>43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Times New Roman</vt:lpstr>
      <vt:lpstr>Trebuchet MS</vt:lpstr>
      <vt:lpstr>Wingdings</vt:lpstr>
      <vt:lpstr>White</vt:lpstr>
      <vt:lpstr>Programming Fundamentals 1</vt:lpstr>
      <vt:lpstr>PowerPoint Presentation</vt:lpstr>
      <vt:lpstr>Agenda</vt:lpstr>
      <vt:lpstr>Why Arrays?</vt:lpstr>
      <vt:lpstr>Why arrays? </vt:lpstr>
      <vt:lpstr>Adding 10 numbers </vt:lpstr>
      <vt:lpstr>Adding 10 numbers </vt:lpstr>
      <vt:lpstr>Adding 10 numbers </vt:lpstr>
      <vt:lpstr>Rule – Never lose input data </vt:lpstr>
      <vt:lpstr>Remembering the Numbers</vt:lpstr>
      <vt:lpstr>Remembering the Numbers</vt:lpstr>
      <vt:lpstr>Primitive Arrays</vt:lpstr>
      <vt:lpstr>Arrays (fixed-size collections)</vt:lpstr>
      <vt:lpstr>Primitive types</vt:lpstr>
      <vt:lpstr>Array Syntax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Declaring a primitive array</vt:lpstr>
      <vt:lpstr>Declaring a primitive array</vt:lpstr>
      <vt:lpstr>Returning to our method  that reads in, and sums, 10 numbers (typed in from the keyboard)…</vt:lpstr>
      <vt:lpstr>Version that doesn’t save the numbers</vt:lpstr>
      <vt:lpstr>Using arrays to remember numbers</vt:lpstr>
      <vt:lpstr>Using arrays to remember numbers</vt:lpstr>
      <vt:lpstr>Using arrays to remember numbers</vt:lpstr>
      <vt:lpstr>What if we wanted the user  to decide how many numbers  they wanted to sum?</vt:lpstr>
      <vt:lpstr>PowerPoint Presentation</vt:lpstr>
      <vt:lpstr>What type of data  can be stored  in a primitive array?</vt:lpstr>
      <vt:lpstr>PowerPoint Presentation</vt:lpstr>
      <vt:lpstr>Do we have to use  all the elements in the array?</vt:lpstr>
      <vt:lpstr>Do we have to use all elements in the array?</vt:lpstr>
      <vt:lpstr>Scenario – exam results and average grade</vt:lpstr>
      <vt:lpstr>We create an array of int  with a capacity of 15</vt:lpstr>
      <vt:lpstr>Do we have to use all elements in the array?</vt:lpstr>
      <vt:lpstr>Summary - Arrays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252</cp:revision>
  <dcterms:created xsi:type="dcterms:W3CDTF">2019-01-29T16:40:14Z</dcterms:created>
  <dcterms:modified xsi:type="dcterms:W3CDTF">2024-10-23T09:20:53Z</dcterms:modified>
</cp:coreProperties>
</file>