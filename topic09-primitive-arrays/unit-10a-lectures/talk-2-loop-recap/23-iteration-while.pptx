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465" r:id="rId3"/>
    <p:sldId id="346" r:id="rId4"/>
    <p:sldId id="777" r:id="rId5"/>
    <p:sldId id="363" r:id="rId6"/>
    <p:sldId id="372" r:id="rId7"/>
    <p:sldId id="391" r:id="rId8"/>
    <p:sldId id="373" r:id="rId9"/>
    <p:sldId id="778" r:id="rId10"/>
    <p:sldId id="364" r:id="rId11"/>
    <p:sldId id="382" r:id="rId12"/>
    <p:sldId id="383" r:id="rId13"/>
    <p:sldId id="384" r:id="rId14"/>
    <p:sldId id="386" r:id="rId15"/>
    <p:sldId id="390" r:id="rId16"/>
    <p:sldId id="393" r:id="rId17"/>
    <p:sldId id="273" r:id="rId18"/>
    <p:sldId id="305" r:id="rId19"/>
    <p:sldId id="298" r:id="rId20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4"/>
    <p:restoredTop sz="85442"/>
  </p:normalViewPr>
  <p:slideViewPr>
    <p:cSldViewPr snapToGrid="0" snapToObjects="1">
      <p:cViewPr varScale="1">
        <p:scale>
          <a:sx n="139" d="100"/>
          <a:sy n="139" d="100"/>
        </p:scale>
        <p:origin x="94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8/21/23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73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73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762EAF62-C546-4744-BC24-2CCA716ACD46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281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7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83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8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01264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D00790-568A-44AB-A948-643E31985A48}" type="slidenum">
              <a:rPr lang="en-GB"/>
              <a:pPr/>
              <a:t>11</a:t>
            </a:fld>
            <a:endParaRPr lang="en-GB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62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614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96C53C0E-6DE2-48FF-AFC8-5B6F7D1351EB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“update the LCV” should always update it so that the Boolean condition will eventually evaluation to false. </a:t>
            </a:r>
          </a:p>
        </p:txBody>
      </p:sp>
    </p:spTree>
    <p:extLst>
      <p:ext uri="{BB962C8B-B14F-4D97-AF65-F5344CB8AC3E}">
        <p14:creationId xmlns:p14="http://schemas.microsoft.com/office/powerpoint/2010/main" val="3967997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206F4-4E20-479E-ABC0-0EB3661565C0}" type="slidenum">
              <a:rPr lang="en-GB"/>
              <a:pPr/>
              <a:t>13</a:t>
            </a:fld>
            <a:endParaRPr lang="en-GB"/>
          </a:p>
        </p:txBody>
      </p:sp>
      <p:sp>
        <p:nvSpPr>
          <p:cNvPr id="160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77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04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  <p:sldLayoutId id="2147483674" r:id="rId5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Iteration in Programming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281" y="283805"/>
            <a:ext cx="2743744" cy="4374565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/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while loops &amp; loop control variables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r>
              <a:rPr lang="en-IE" sz="3200" dirty="0"/>
              <a:t>Repetition in Programming – Intro to looping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r>
              <a:rPr lang="en-IE" sz="3200" dirty="0"/>
              <a:t>Use of loops (while loops)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5245" y="301522"/>
            <a:ext cx="5409153" cy="1102519"/>
          </a:xfrm>
        </p:spPr>
        <p:txBody>
          <a:bodyPr/>
          <a:lstStyle/>
          <a:p>
            <a:pPr algn="ctr"/>
            <a:r>
              <a:rPr lang="en-IE" sz="3600" dirty="0"/>
              <a:t>Repetition in Programming Intro to looping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>
                <a:latin typeface="Monaco" pitchFamily="2" charset="77"/>
              </a:rPr>
              <a:t>boolean</a:t>
            </a:r>
            <a:r>
              <a:rPr lang="en-IE" dirty="0"/>
              <a:t> condition is an expression that evaluates to either true or false e.g.</a:t>
            </a:r>
          </a:p>
          <a:p>
            <a:pPr marL="0" indent="0">
              <a:buNone/>
            </a:pPr>
            <a:r>
              <a:rPr lang="en-IE" sz="21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IE" sz="21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x&lt;50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Boolean conditions can be used to control:</a:t>
            </a:r>
          </a:p>
          <a:p>
            <a:pPr lvl="1"/>
            <a:r>
              <a:rPr lang="en-IE" dirty="0"/>
              <a:t>Selection i.e. if statements and </a:t>
            </a:r>
          </a:p>
          <a:p>
            <a:pPr lvl="1"/>
            <a:r>
              <a:rPr lang="en-IE" dirty="0"/>
              <a:t>Iteration i.e. loops (we will look at these now)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040F1-838A-546F-EB15-27D306613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40675-8DDF-75EF-C9C2-2A654DF1115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789502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Repetition in Programming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843559"/>
            <a:ext cx="7772401" cy="3545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Computers are very good at repetition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calculate pay </a:t>
            </a:r>
            <a:r>
              <a:rPr lang="en-US" altLang="en-US" dirty="0"/>
              <a:t>for 1000 employees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You should use the same </a:t>
            </a:r>
            <a:r>
              <a:rPr lang="en-US" altLang="en-US" dirty="0">
                <a:solidFill>
                  <a:srgbClr val="FF0000"/>
                </a:solidFill>
              </a:rPr>
              <a:t>calculate pay </a:t>
            </a:r>
            <a:r>
              <a:rPr lang="en-US" altLang="en-US" dirty="0"/>
              <a:t>algorithm 1000 times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You don’t write the </a:t>
            </a:r>
            <a:r>
              <a:rPr lang="en-US" altLang="en-US" dirty="0">
                <a:solidFill>
                  <a:srgbClr val="FF0000"/>
                </a:solidFill>
              </a:rPr>
              <a:t>calculate pay </a:t>
            </a:r>
            <a:r>
              <a:rPr lang="en-US" altLang="en-US" dirty="0"/>
              <a:t>algorithm 1000 times; instead you include it in a loop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3A817E-9221-BC9F-BCAF-8C2CBB04E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97669E-3394-ADFE-CAA4-A14E9505DE3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5902962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Write the all the numbers between 1 and 5 inclusive</a:t>
            </a: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Without loop:</a:t>
            </a:r>
          </a:p>
          <a:p>
            <a:pPr marL="342900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None/>
            </a:pPr>
            <a:r>
              <a:rPr lang="en-IE" dirty="0" err="1">
                <a:latin typeface="Monaco" pitchFamily="2" charset="77"/>
              </a:rPr>
              <a:t>System.out.println</a:t>
            </a:r>
            <a:r>
              <a:rPr lang="en-IE" dirty="0">
                <a:latin typeface="Monaco" pitchFamily="2" charset="77"/>
              </a:rPr>
              <a:t>(1);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>
                <a:latin typeface="Monaco" pitchFamily="2" charset="77"/>
              </a:rPr>
              <a:t>System.out.println</a:t>
            </a:r>
            <a:r>
              <a:rPr lang="en-IE" dirty="0">
                <a:latin typeface="Monaco" pitchFamily="2" charset="77"/>
              </a:rPr>
              <a:t>(2);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>
                <a:latin typeface="Monaco" pitchFamily="2" charset="77"/>
              </a:rPr>
              <a:t>System.out.println</a:t>
            </a:r>
            <a:r>
              <a:rPr lang="en-IE" dirty="0">
                <a:latin typeface="Monaco" pitchFamily="2" charset="77"/>
              </a:rPr>
              <a:t>(3);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>
                <a:latin typeface="Monaco" pitchFamily="2" charset="77"/>
              </a:rPr>
              <a:t>System.out.println</a:t>
            </a:r>
            <a:r>
              <a:rPr lang="en-IE" dirty="0">
                <a:latin typeface="Monaco" pitchFamily="2" charset="77"/>
              </a:rPr>
              <a:t>(4);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>
                <a:latin typeface="Monaco" pitchFamily="2" charset="77"/>
              </a:rPr>
              <a:t>System.out.println</a:t>
            </a:r>
            <a:r>
              <a:rPr lang="en-IE" dirty="0">
                <a:latin typeface="Monaco" pitchFamily="2" charset="77"/>
              </a:rPr>
              <a:t>(5);</a:t>
            </a:r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E5335-9E26-8FA4-8995-47C1C9D0CA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7</a:t>
            </a:fld>
            <a:endParaRPr lang="en-I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B9285B-115C-815F-C082-E9CC15C23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2702601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Write the all the numbers between 1 and 5 inclusive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With a loop:</a:t>
            </a:r>
          </a:p>
          <a:p>
            <a:pPr lvl="1">
              <a:lnSpc>
                <a:spcPct val="90000"/>
              </a:lnSpc>
            </a:pPr>
            <a:endParaRPr lang="en-US" altLang="en-US" sz="1100" dirty="0"/>
          </a:p>
          <a:p>
            <a:pPr lvl="2">
              <a:lnSpc>
                <a:spcPct val="90000"/>
              </a:lnSpc>
            </a:pPr>
            <a:r>
              <a:rPr lang="en-US" altLang="en-US" sz="2800" dirty="0"/>
              <a:t>do this 5 times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825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	</a:t>
            </a:r>
            <a:r>
              <a:rPr lang="en-IE" dirty="0" err="1">
                <a:latin typeface="Monaco" pitchFamily="2" charset="77"/>
              </a:rPr>
              <a:t>System.out.println</a:t>
            </a:r>
            <a:r>
              <a:rPr lang="en-IE" dirty="0">
                <a:latin typeface="Monaco" pitchFamily="2" charset="77"/>
              </a:rPr>
              <a:t>(</a:t>
            </a:r>
            <a:r>
              <a:rPr lang="en-IE" dirty="0" err="1">
                <a:latin typeface="Monaco" pitchFamily="2" charset="77"/>
              </a:rPr>
              <a:t>i</a:t>
            </a:r>
            <a:r>
              <a:rPr lang="en-IE" dirty="0">
                <a:latin typeface="Monaco" pitchFamily="2" charset="77"/>
              </a:rPr>
              <a:t>);</a:t>
            </a:r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 algn="ctr">
              <a:lnSpc>
                <a:spcPct val="90000"/>
              </a:lnSpc>
              <a:buNone/>
            </a:pPr>
            <a:r>
              <a:rPr lang="en-IE" b="1" i="1" dirty="0">
                <a:solidFill>
                  <a:srgbClr val="0070C0"/>
                </a:solidFill>
              </a:rPr>
              <a:t>With the value of </a:t>
            </a:r>
            <a:r>
              <a:rPr lang="en-IE" b="1" i="1" dirty="0" err="1">
                <a:solidFill>
                  <a:srgbClr val="0070C0"/>
                </a:solidFill>
              </a:rPr>
              <a:t>i</a:t>
            </a:r>
            <a:r>
              <a:rPr lang="en-IE" b="1" i="1" dirty="0">
                <a:solidFill>
                  <a:srgbClr val="0070C0"/>
                </a:solidFill>
              </a:rPr>
              <a:t> going from 1 to 5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4226D-E8C8-8023-36C4-934F9BE48DF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7410F7-2E85-228F-6F96-75A5908F0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2843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8968" y="301522"/>
            <a:ext cx="2630581" cy="1102519"/>
          </a:xfrm>
        </p:spPr>
        <p:txBody>
          <a:bodyPr/>
          <a:lstStyle/>
          <a:p>
            <a:r>
              <a:rPr lang="en-IE" sz="3600" dirty="0"/>
              <a:t>Use of loops</a:t>
            </a:r>
            <a:br>
              <a:rPr lang="en-IE" sz="3600" dirty="0"/>
            </a:br>
            <a:r>
              <a:rPr lang="en-IE" sz="3600" dirty="0"/>
              <a:t>(while loops)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98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Loops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dirty="0"/>
              <a:t>There are three types of loop in (Java) programming:</a:t>
            </a:r>
          </a:p>
          <a:p>
            <a:endParaRPr lang="en-IE" sz="2800" dirty="0"/>
          </a:p>
          <a:p>
            <a:pPr lvl="1"/>
            <a:r>
              <a:rPr lang="en-IE" sz="2800" b="1" dirty="0">
                <a:solidFill>
                  <a:srgbClr val="1181F3"/>
                </a:solidFill>
                <a:latin typeface="Monaco" pitchFamily="2" charset="77"/>
              </a:rPr>
              <a:t>while</a:t>
            </a:r>
            <a:r>
              <a:rPr lang="en-IE" sz="2800" dirty="0"/>
              <a:t> loops</a:t>
            </a:r>
          </a:p>
          <a:p>
            <a:pPr lvl="1"/>
            <a:r>
              <a:rPr lang="en-IE" sz="2800" b="1" dirty="0">
                <a:solidFill>
                  <a:srgbClr val="1181F3"/>
                </a:solidFill>
                <a:latin typeface="Monaco" pitchFamily="2" charset="77"/>
              </a:rPr>
              <a:t>for</a:t>
            </a:r>
            <a:r>
              <a:rPr lang="en-IE" sz="2800" dirty="0"/>
              <a:t> loops</a:t>
            </a:r>
          </a:p>
          <a:p>
            <a:pPr lvl="1"/>
            <a:r>
              <a:rPr lang="en-IE" sz="2800" b="1" dirty="0">
                <a:solidFill>
                  <a:srgbClr val="1181F3"/>
                </a:solidFill>
                <a:latin typeface="Monaco" pitchFamily="2" charset="77"/>
              </a:rPr>
              <a:t>do while </a:t>
            </a:r>
            <a:r>
              <a:rPr lang="en-IE" sz="2800" dirty="0"/>
              <a:t>loops</a:t>
            </a:r>
          </a:p>
          <a:p>
            <a:pPr lvl="1"/>
            <a:endParaRPr lang="en-IE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7418B-E5D5-969F-0569-338163609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E05BD-132A-C4CA-EAF6-D0654C939D4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7448490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 </a:t>
            </a:r>
            <a:r>
              <a:rPr lang="en-US" dirty="0"/>
              <a:t>pseudo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0D77E6-2054-8C7F-8C2F-542CB246E8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55B766-8886-163D-0E65-C01A464FB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553462" y="2059687"/>
            <a:ext cx="257175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400" dirty="0">
                <a:latin typeface="Monaco" pitchFamily="2" charset="77"/>
              </a:rPr>
              <a:t>while(</a:t>
            </a:r>
            <a:r>
              <a:rPr lang="en-US" sz="1400" i="1" dirty="0">
                <a:latin typeface="Monaco" pitchFamily="2" charset="77"/>
              </a:rPr>
              <a:t>loop condition</a:t>
            </a:r>
            <a:r>
              <a:rPr lang="en-US" sz="1400" dirty="0">
                <a:latin typeface="Monaco" pitchFamily="2" charset="77"/>
              </a:rPr>
              <a:t>) {</a:t>
            </a:r>
          </a:p>
          <a:p>
            <a:pPr algn="l"/>
            <a:r>
              <a:rPr lang="en-US" sz="1400" dirty="0">
                <a:latin typeface="Monaco" pitchFamily="2" charset="77"/>
              </a:rPr>
              <a:t>    </a:t>
            </a:r>
            <a:r>
              <a:rPr lang="en-US" sz="1400" i="1" dirty="0">
                <a:latin typeface="Monaco" pitchFamily="2" charset="77"/>
              </a:rPr>
              <a:t>loop body</a:t>
            </a:r>
            <a:endParaRPr lang="en-US" sz="1400" dirty="0">
              <a:latin typeface="Monaco" pitchFamily="2" charset="77"/>
            </a:endParaRPr>
          </a:p>
          <a:p>
            <a:pPr algn="l"/>
            <a:r>
              <a:rPr lang="en-US" sz="1400" dirty="0">
                <a:latin typeface="Monaco" pitchFamily="2" charset="77"/>
              </a:rPr>
              <a:t>} 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279887" y="3878628"/>
            <a:ext cx="5795177" cy="35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88" dirty="0">
                <a:latin typeface="Trebuchet MS" pitchFamily="-32" charset="0"/>
              </a:rPr>
              <a:t>while we wish to continue, do the things in the loop body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4439412" y="1696212"/>
            <a:ext cx="1922528" cy="3429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88" dirty="0" err="1">
                <a:solidFill>
                  <a:srgbClr val="A57133"/>
                </a:solidFill>
                <a:latin typeface="Trebuchet MS" pitchFamily="-32" charset="0"/>
              </a:rPr>
              <a:t>boolean</a:t>
            </a:r>
            <a:r>
              <a:rPr lang="en-US" sz="1688" dirty="0">
                <a:solidFill>
                  <a:srgbClr val="A57133"/>
                </a:solidFill>
                <a:latin typeface="Trebuchet MS" pitchFamily="-32" charset="0"/>
              </a:rPr>
              <a:t> condition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3753612" y="1867662"/>
            <a:ext cx="6858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1353312" y="1467612"/>
            <a:ext cx="1428750" cy="3429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88">
                <a:solidFill>
                  <a:srgbClr val="A57133"/>
                </a:solidFill>
              </a:rPr>
              <a:t>while</a:t>
            </a:r>
            <a:r>
              <a:rPr lang="en-US" sz="1688">
                <a:solidFill>
                  <a:srgbClr val="A57133"/>
                </a:solidFill>
                <a:latin typeface="Times New Roman" pitchFamily="-32" charset="0"/>
              </a:rPr>
              <a:t> </a:t>
            </a:r>
            <a:r>
              <a:rPr lang="en-US" sz="1688">
                <a:solidFill>
                  <a:srgbClr val="A57133"/>
                </a:solidFill>
                <a:latin typeface="Trebuchet MS" pitchFamily="-32" charset="0"/>
              </a:rPr>
              <a:t>keyword</a:t>
            </a:r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2039112" y="1810512"/>
            <a:ext cx="6858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5191888" y="2464610"/>
            <a:ext cx="2722626" cy="34289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88" dirty="0">
                <a:solidFill>
                  <a:srgbClr val="A57133"/>
                </a:solidFill>
                <a:latin typeface="Trebuchet MS" pitchFamily="-32" charset="0"/>
              </a:rPr>
              <a:t>Statements to be repeated</a:t>
            </a: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4281736" y="2636056"/>
            <a:ext cx="742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2421304" y="3053201"/>
            <a:ext cx="3350419" cy="67692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1688" dirty="0">
                <a:solidFill>
                  <a:srgbClr val="A57133"/>
                </a:solidFill>
                <a:latin typeface="Trebuchet MS" pitchFamily="-32" charset="0"/>
              </a:rPr>
              <a:t>Pseudo-code expression of the actions of a while loop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2839211" y="1124712"/>
            <a:ext cx="2932511" cy="28575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88">
                <a:solidFill>
                  <a:srgbClr val="A57133"/>
                </a:solidFill>
                <a:latin typeface="Trebuchet MS" pitchFamily="-32" charset="0"/>
              </a:rPr>
              <a:t>General form of a while loop</a:t>
            </a:r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 flipH="1" flipV="1">
            <a:off x="1639062" y="2205971"/>
            <a:ext cx="782242" cy="675666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6047708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 animBg="1"/>
      <p:bldP spid="18440" grpId="0" animBg="1"/>
      <p:bldP spid="18442" grpId="0" animBg="1"/>
      <p:bldP spid="18443" grpId="0" animBg="1"/>
      <p:bldP spid="18445" grpId="0" animBg="1"/>
      <p:bldP spid="18446" grpId="0" animBg="1"/>
      <p:bldP spid="184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Construction of while loop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835" y="1053846"/>
            <a:ext cx="6470579" cy="280035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Declare and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dirty="0">
                <a:solidFill>
                  <a:srgbClr val="000000"/>
                </a:solidFill>
              </a:rPr>
              <a:t>do the job to be repeated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956479" y="4376909"/>
            <a:ext cx="184731" cy="352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endParaRPr lang="en-US" altLang="en-US" sz="1688"/>
          </a:p>
        </p:txBody>
      </p:sp>
      <p:sp>
        <p:nvSpPr>
          <p:cNvPr id="4" name="TextBox 3"/>
          <p:cNvSpPr txBox="1"/>
          <p:nvPr/>
        </p:nvSpPr>
        <p:spPr>
          <a:xfrm>
            <a:off x="1202436" y="4082796"/>
            <a:ext cx="58293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This structure should </a:t>
            </a:r>
            <a:r>
              <a:rPr lang="en-US" sz="2400" u="sng" dirty="0"/>
              <a:t>always</a:t>
            </a:r>
            <a:r>
              <a:rPr lang="en-US" sz="2400" dirty="0"/>
              <a:t> be used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68B32-B875-B861-0860-470817E98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F2D22-7123-616D-684A-01E9A49E28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4417024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81F3"/>
                </a:solidFill>
                <a:latin typeface="Monaco" pitchFamily="2" charset="77"/>
              </a:rPr>
              <a:t>while</a:t>
            </a:r>
            <a:r>
              <a:rPr lang="en-US" dirty="0"/>
              <a:t> loop Flowchart</a:t>
            </a:r>
          </a:p>
        </p:txBody>
      </p:sp>
      <p:grpSp>
        <p:nvGrpSpPr>
          <p:cNvPr id="159747" name="Group 3"/>
          <p:cNvGrpSpPr>
            <a:grpSpLocks/>
          </p:cNvGrpSpPr>
          <p:nvPr/>
        </p:nvGrpSpPr>
        <p:grpSpPr bwMode="auto">
          <a:xfrm>
            <a:off x="1412081" y="1177531"/>
            <a:ext cx="3093243" cy="3074194"/>
            <a:chOff x="1858" y="989"/>
            <a:chExt cx="2598" cy="2582"/>
          </a:xfrm>
        </p:grpSpPr>
        <p:sp>
          <p:nvSpPr>
            <p:cNvPr id="159748" name="Rectangle 4"/>
            <p:cNvSpPr>
              <a:spLocks noChangeArrowheads="1"/>
            </p:cNvSpPr>
            <p:nvPr/>
          </p:nvSpPr>
          <p:spPr bwMode="auto">
            <a:xfrm rot="2701371">
              <a:off x="1892" y="1677"/>
              <a:ext cx="829" cy="80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algn="ctr" defTabSz="366737" rtl="0" eaLnBrk="1" hangingPunct="1"/>
              <a:endParaRPr lang="en-US" sz="1688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3552" y="1968"/>
              <a:ext cx="904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sz="1688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59750" name="Text Box 6"/>
            <p:cNvSpPr txBox="1">
              <a:spLocks noChangeArrowheads="1"/>
            </p:cNvSpPr>
            <p:nvPr/>
          </p:nvSpPr>
          <p:spPr bwMode="auto">
            <a:xfrm>
              <a:off x="2974" y="1776"/>
              <a:ext cx="439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88"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59751" name="Line 7"/>
            <p:cNvSpPr>
              <a:spLocks noChangeShapeType="1"/>
            </p:cNvSpPr>
            <p:nvPr/>
          </p:nvSpPr>
          <p:spPr bwMode="auto">
            <a:xfrm>
              <a:off x="2313" y="2659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defTabSz="366737" rtl="0"/>
              <a:endParaRPr lang="en-US" sz="1688"/>
            </a:p>
          </p:txBody>
        </p:sp>
        <p:cxnSp>
          <p:nvCxnSpPr>
            <p:cNvPr id="159752" name="AutoShape 8"/>
            <p:cNvCxnSpPr>
              <a:cxnSpLocks noChangeShapeType="1"/>
            </p:cNvCxnSpPr>
            <p:nvPr/>
          </p:nvCxnSpPr>
          <p:spPr bwMode="auto">
            <a:xfrm rot="10800000">
              <a:off x="2352" y="1005"/>
              <a:ext cx="1704" cy="960"/>
            </a:xfrm>
            <a:prstGeom prst="bentConnector3">
              <a:avLst>
                <a:gd name="adj1" fmla="val 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159753" name="Line 9"/>
            <p:cNvSpPr>
              <a:spLocks noChangeShapeType="1"/>
            </p:cNvSpPr>
            <p:nvPr/>
          </p:nvSpPr>
          <p:spPr bwMode="auto">
            <a:xfrm>
              <a:off x="2297" y="989"/>
              <a:ext cx="0" cy="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defTabSz="366737" rtl="0"/>
              <a:endParaRPr lang="en-US" sz="1688"/>
            </a:p>
          </p:txBody>
        </p:sp>
        <p:sp>
          <p:nvSpPr>
            <p:cNvPr id="159754" name="Text Box 10"/>
            <p:cNvSpPr txBox="1">
              <a:spLocks noChangeArrowheads="1"/>
            </p:cNvSpPr>
            <p:nvPr/>
          </p:nvSpPr>
          <p:spPr bwMode="auto">
            <a:xfrm>
              <a:off x="1858" y="1820"/>
              <a:ext cx="928" cy="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88" dirty="0" err="1">
                  <a:latin typeface="Courier New" pitchFamily="28" charset="0"/>
                </a:rPr>
                <a:t>boolean</a:t>
              </a:r>
              <a:endParaRPr lang="en-US" sz="1688" dirty="0">
                <a:latin typeface="Courier New" pitchFamily="28" charset="0"/>
              </a:endParaRPr>
            </a:p>
            <a:p>
              <a:pPr eaLnBrk="1" hangingPunct="1"/>
              <a:r>
                <a:rPr lang="en-US" sz="1688" dirty="0"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159755" name="Text Box 11"/>
            <p:cNvSpPr txBox="1">
              <a:spLocks noChangeArrowheads="1"/>
            </p:cNvSpPr>
            <p:nvPr/>
          </p:nvSpPr>
          <p:spPr bwMode="auto">
            <a:xfrm>
              <a:off x="2393" y="2880"/>
              <a:ext cx="500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688"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 flipV="1">
              <a:off x="2928" y="21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defTabSz="366737" rtl="0"/>
              <a:endParaRPr lang="en-US" sz="1688"/>
            </a:p>
          </p:txBody>
        </p: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670821" y="1323918"/>
            <a:ext cx="4343393" cy="20313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l"/>
            <a:endParaRPr lang="en-IE" sz="1800" dirty="0">
              <a:latin typeface="Monaco" pitchFamily="2" charset="77"/>
            </a:endParaRPr>
          </a:p>
          <a:p>
            <a:pPr algn="l"/>
            <a:r>
              <a:rPr lang="en-IE" sz="1800" b="1" dirty="0">
                <a:solidFill>
                  <a:srgbClr val="FF0000"/>
                </a:solidFill>
                <a:latin typeface="Monaco" pitchFamily="2" charset="77"/>
              </a:rPr>
              <a:t>int </a:t>
            </a:r>
            <a:r>
              <a:rPr lang="en-IE" sz="1800" b="1" dirty="0" err="1">
                <a:solidFill>
                  <a:srgbClr val="FF0000"/>
                </a:solidFill>
                <a:latin typeface="Monaco" pitchFamily="2" charset="77"/>
              </a:rPr>
              <a:t>i</a:t>
            </a:r>
            <a:r>
              <a:rPr lang="en-IE" sz="1800" b="1" dirty="0">
                <a:solidFill>
                  <a:srgbClr val="FF0000"/>
                </a:solidFill>
                <a:latin typeface="Monaco" pitchFamily="2" charset="77"/>
              </a:rPr>
              <a:t> = 1;    	</a:t>
            </a:r>
            <a:r>
              <a:rPr lang="en-IE" sz="18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//</a:t>
            </a:r>
            <a:r>
              <a:rPr lang="en-IE" sz="1800" dirty="0" err="1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i</a:t>
            </a:r>
            <a:r>
              <a:rPr lang="en-IE" sz="18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 is the LCV</a:t>
            </a:r>
          </a:p>
          <a:p>
            <a:pPr algn="l"/>
            <a:r>
              <a:rPr lang="en-IE" sz="1800" dirty="0">
                <a:latin typeface="Monaco" pitchFamily="2" charset="77"/>
              </a:rPr>
              <a:t>while(</a:t>
            </a:r>
            <a:r>
              <a:rPr lang="en-IE" sz="1800" b="1" dirty="0" err="1">
                <a:solidFill>
                  <a:srgbClr val="FF0000"/>
                </a:solidFill>
                <a:latin typeface="Monaco" pitchFamily="2" charset="77"/>
              </a:rPr>
              <a:t>i</a:t>
            </a:r>
            <a:r>
              <a:rPr lang="en-IE" sz="1800" b="1" dirty="0">
                <a:solidFill>
                  <a:srgbClr val="FF0000"/>
                </a:solidFill>
                <a:latin typeface="Monaco" pitchFamily="2" charset="77"/>
              </a:rPr>
              <a:t> &lt;= 5</a:t>
            </a:r>
            <a:r>
              <a:rPr lang="en-IE" sz="1800" dirty="0">
                <a:latin typeface="Monaco" pitchFamily="2" charset="77"/>
              </a:rPr>
              <a:t>)</a:t>
            </a:r>
          </a:p>
          <a:p>
            <a:pPr algn="l"/>
            <a:r>
              <a:rPr lang="en-IE" sz="1800" dirty="0">
                <a:latin typeface="Monaco" pitchFamily="2" charset="77"/>
              </a:rPr>
              <a:t>{</a:t>
            </a:r>
          </a:p>
          <a:p>
            <a:pPr algn="l"/>
            <a:r>
              <a:rPr lang="en-IE" sz="1800" dirty="0">
                <a:latin typeface="Monaco" pitchFamily="2" charset="77"/>
              </a:rPr>
              <a:t>    </a:t>
            </a:r>
            <a:r>
              <a:rPr lang="en-IE" sz="1800" dirty="0" err="1">
                <a:latin typeface="Monaco" pitchFamily="2" charset="77"/>
              </a:rPr>
              <a:t>System.out.println</a:t>
            </a:r>
            <a:r>
              <a:rPr lang="en-IE" sz="1800" dirty="0">
                <a:latin typeface="Monaco" pitchFamily="2" charset="77"/>
              </a:rPr>
              <a:t>(</a:t>
            </a:r>
            <a:r>
              <a:rPr lang="en-IE" sz="1800" dirty="0" err="1">
                <a:latin typeface="Monaco" pitchFamily="2" charset="77"/>
              </a:rPr>
              <a:t>i</a:t>
            </a:r>
            <a:r>
              <a:rPr lang="en-IE" sz="1800" dirty="0">
                <a:latin typeface="Monaco" pitchFamily="2" charset="77"/>
              </a:rPr>
              <a:t>);</a:t>
            </a:r>
          </a:p>
          <a:p>
            <a:pPr algn="l"/>
            <a:r>
              <a:rPr lang="en-IE" sz="1800" b="1" dirty="0">
                <a:solidFill>
                  <a:srgbClr val="FF0000"/>
                </a:solidFill>
                <a:latin typeface="Monaco" pitchFamily="2" charset="77"/>
              </a:rPr>
              <a:t>     </a:t>
            </a:r>
            <a:r>
              <a:rPr lang="en-IE" sz="1800" b="1" dirty="0" err="1">
                <a:solidFill>
                  <a:srgbClr val="FF0000"/>
                </a:solidFill>
                <a:latin typeface="Monaco" pitchFamily="2" charset="77"/>
              </a:rPr>
              <a:t>i</a:t>
            </a:r>
            <a:r>
              <a:rPr lang="en-IE" sz="1800" b="1" dirty="0">
                <a:solidFill>
                  <a:srgbClr val="FF0000"/>
                </a:solidFill>
                <a:latin typeface="Monaco" pitchFamily="2" charset="77"/>
              </a:rPr>
              <a:t>++</a:t>
            </a:r>
            <a:r>
              <a:rPr lang="en-IE" sz="1800" dirty="0">
                <a:latin typeface="Monaco" pitchFamily="2" charset="77"/>
              </a:rPr>
              <a:t>;</a:t>
            </a:r>
          </a:p>
          <a:p>
            <a:pPr algn="l"/>
            <a:r>
              <a:rPr lang="en-IE" sz="1800" dirty="0">
                <a:latin typeface="Monaco" pitchFamily="2" charset="77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23BEB9-BA05-6B5B-4B6E-DDC0FE1F6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6213D-0307-CFA7-2045-0FDC5BA60C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5608289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340A5-AF2E-2842-BC7F-6AECDA075A66}"/>
              </a:ext>
            </a:extLst>
          </p:cNvPr>
          <p:cNvSpPr txBox="1"/>
          <p:nvPr/>
        </p:nvSpPr>
        <p:spPr>
          <a:xfrm>
            <a:off x="265177" y="1126998"/>
            <a:ext cx="3557005" cy="138499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E" sz="1400" dirty="0">
                <a:latin typeface="Monaco" pitchFamily="2" charset="77"/>
              </a:rPr>
              <a:t>int </a:t>
            </a:r>
            <a:r>
              <a:rPr lang="en-IE" sz="1400" dirty="0" err="1">
                <a:latin typeface="Monaco" pitchFamily="2" charset="77"/>
              </a:rPr>
              <a:t>i</a:t>
            </a:r>
            <a:r>
              <a:rPr lang="en-IE" sz="1400" dirty="0">
                <a:latin typeface="Monaco" pitchFamily="2" charset="77"/>
              </a:rPr>
              <a:t> = 1;      </a:t>
            </a:r>
            <a:r>
              <a:rPr lang="en-IE" sz="1400" i="1" dirty="0">
                <a:latin typeface="Monaco" pitchFamily="2" charset="77"/>
              </a:rPr>
              <a:t>//</a:t>
            </a:r>
            <a:r>
              <a:rPr lang="en-IE" sz="1400" i="1" dirty="0" err="1">
                <a:latin typeface="Monaco" pitchFamily="2" charset="77"/>
              </a:rPr>
              <a:t>i</a:t>
            </a:r>
            <a:r>
              <a:rPr lang="en-IE" sz="1400" i="1" dirty="0">
                <a:latin typeface="Monaco" pitchFamily="2" charset="77"/>
              </a:rPr>
              <a:t> is the LCV</a:t>
            </a:r>
            <a:br>
              <a:rPr lang="en-IE" sz="1400" i="1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while(</a:t>
            </a:r>
            <a:r>
              <a:rPr lang="en-IE" sz="1400" dirty="0" err="1">
                <a:latin typeface="Monaco" pitchFamily="2" charset="77"/>
              </a:rPr>
              <a:t>i</a:t>
            </a:r>
            <a:r>
              <a:rPr lang="en-IE" sz="1400" dirty="0">
                <a:latin typeface="Monaco" pitchFamily="2" charset="77"/>
              </a:rPr>
              <a:t> &lt;=5)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{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System.</a:t>
            </a:r>
            <a:r>
              <a:rPr lang="en-IE" sz="1400" i="1" dirty="0" err="1">
                <a:latin typeface="Monaco" pitchFamily="2" charset="77"/>
              </a:rPr>
              <a:t>out</a:t>
            </a:r>
            <a:r>
              <a:rPr lang="en-IE" sz="1400" dirty="0" err="1">
                <a:latin typeface="Monaco" pitchFamily="2" charset="77"/>
              </a:rPr>
              <a:t>.println</a:t>
            </a:r>
            <a:r>
              <a:rPr lang="en-IE" sz="1400" dirty="0">
                <a:latin typeface="Monaco" pitchFamily="2" charset="77"/>
              </a:rPr>
              <a:t>(</a:t>
            </a:r>
            <a:r>
              <a:rPr lang="en-IE" sz="1400" dirty="0" err="1">
                <a:latin typeface="Monaco" pitchFamily="2" charset="77"/>
              </a:rPr>
              <a:t>i</a:t>
            </a:r>
            <a:r>
              <a:rPr lang="en-IE" sz="1400" dirty="0">
                <a:latin typeface="Monaco" pitchFamily="2" charset="77"/>
              </a:rPr>
              <a:t>);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    </a:t>
            </a:r>
            <a:r>
              <a:rPr lang="en-IE" sz="1400" dirty="0" err="1">
                <a:latin typeface="Monaco" pitchFamily="2" charset="77"/>
              </a:rPr>
              <a:t>i</a:t>
            </a:r>
            <a:r>
              <a:rPr lang="en-IE" sz="1400" dirty="0">
                <a:latin typeface="Monaco" pitchFamily="2" charset="77"/>
              </a:rPr>
              <a:t>++;</a:t>
            </a:r>
            <a:br>
              <a:rPr lang="en-IE" sz="1400" dirty="0">
                <a:latin typeface="Monaco" pitchFamily="2" charset="77"/>
              </a:rPr>
            </a:br>
            <a:r>
              <a:rPr lang="en-IE" sz="1400" dirty="0">
                <a:latin typeface="Monaco" pitchFamily="2" charset="77"/>
              </a:rPr>
              <a:t>}</a:t>
            </a:r>
            <a:endParaRPr lang="en-US" sz="1400" dirty="0">
              <a:latin typeface="Monaco" pitchFamily="2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4D64D-4326-0C42-A7E7-B91C4B06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437" y="3701379"/>
            <a:ext cx="733425" cy="1095375"/>
          </a:xfrm>
          <a:prstGeom prst="rect">
            <a:avLst/>
          </a:prstGeom>
          <a:gradFill flip="none" rotWithShape="1">
            <a:gsLst>
              <a:gs pos="72002">
                <a:srgbClr val="B2C7E2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0108D2-451E-B648-8A11-EFA09CFFAD14}"/>
              </a:ext>
            </a:extLst>
          </p:cNvPr>
          <p:cNvCxnSpPr>
            <a:cxnSpLocks/>
          </p:cNvCxnSpPr>
          <p:nvPr/>
        </p:nvCxnSpPr>
        <p:spPr>
          <a:xfrm>
            <a:off x="2343150" y="2269998"/>
            <a:ext cx="0" cy="1371600"/>
          </a:xfrm>
          <a:prstGeom prst="straightConnector1">
            <a:avLst/>
          </a:prstGeom>
          <a:ln w="53975"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3">
            <a:extLst>
              <a:ext uri="{FF2B5EF4-FFF2-40B4-BE49-F238E27FC236}">
                <a16:creationId xmlns:a16="http://schemas.microsoft.com/office/drawing/2014/main" id="{D10C4780-5F86-884B-908B-C71EE4E07D49}"/>
              </a:ext>
            </a:extLst>
          </p:cNvPr>
          <p:cNvSpPr txBox="1">
            <a:spLocks noChangeArrowheads="1"/>
          </p:cNvSpPr>
          <p:nvPr/>
        </p:nvSpPr>
        <p:spPr>
          <a:xfrm>
            <a:off x="4114800" y="1012698"/>
            <a:ext cx="3714750" cy="17145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Declare and </a:t>
            </a:r>
            <a:r>
              <a:rPr lang="en-US" altLang="en-US" sz="1350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sz="1350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None/>
            </a:pP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sz="1350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sz="1350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sz="1350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None/>
            </a:pP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None/>
            </a:pP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sz="1350" dirty="0">
                <a:solidFill>
                  <a:srgbClr val="000000"/>
                </a:solidFill>
              </a:rPr>
              <a:t>do the job to be repeated</a:t>
            </a: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sz="135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sz="1350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sz="135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350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943A22-C741-104E-9354-EC6ACC06B9EE}"/>
              </a:ext>
            </a:extLst>
          </p:cNvPr>
          <p:cNvCxnSpPr>
            <a:cxnSpLocks/>
          </p:cNvCxnSpPr>
          <p:nvPr/>
        </p:nvCxnSpPr>
        <p:spPr>
          <a:xfrm flipH="1">
            <a:off x="1581912" y="1241298"/>
            <a:ext cx="2590038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C73813-14BA-2645-8D9F-D230A21687DC}"/>
              </a:ext>
            </a:extLst>
          </p:cNvPr>
          <p:cNvCxnSpPr>
            <a:cxnSpLocks/>
          </p:cNvCxnSpPr>
          <p:nvPr/>
        </p:nvCxnSpPr>
        <p:spPr>
          <a:xfrm flipH="1">
            <a:off x="1673352" y="1527048"/>
            <a:ext cx="2498598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36E783-2BE9-B148-8617-149026B76F4E}"/>
              </a:ext>
            </a:extLst>
          </p:cNvPr>
          <p:cNvCxnSpPr>
            <a:cxnSpLocks/>
          </p:cNvCxnSpPr>
          <p:nvPr/>
        </p:nvCxnSpPr>
        <p:spPr>
          <a:xfrm flipH="1">
            <a:off x="3214688" y="1956816"/>
            <a:ext cx="124301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CFB227-B8A3-484E-8B53-18E747A9A78F}"/>
              </a:ext>
            </a:extLst>
          </p:cNvPr>
          <p:cNvCxnSpPr>
            <a:cxnSpLocks/>
          </p:cNvCxnSpPr>
          <p:nvPr/>
        </p:nvCxnSpPr>
        <p:spPr>
          <a:xfrm flipH="1">
            <a:off x="1380744" y="2183130"/>
            <a:ext cx="3076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BF14F4-EEC3-10F4-D7BD-D562B1E24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B0704-5705-F0B6-14DE-D5F5B20AA89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055173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Some Study Exercises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3E0F0-86E7-1A5F-E323-224D4034C11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15</a:t>
            </a:fld>
            <a:endParaRPr lang="en-I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7A9AD-66EE-027C-8CC1-014EA207C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48CC93-7B76-4C16-BDEF-42550E0894EE}"/>
              </a:ext>
            </a:extLst>
          </p:cNvPr>
          <p:cNvSpPr txBox="1">
            <a:spLocks/>
          </p:cNvSpPr>
          <p:nvPr/>
        </p:nvSpPr>
        <p:spPr>
          <a:xfrm>
            <a:off x="2576021" y="895673"/>
            <a:ext cx="3429000" cy="10287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dirty="0"/>
              <a:t>This basic while loop, produces this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1DED4-B41A-4E2B-9131-DE340047536C}"/>
              </a:ext>
            </a:extLst>
          </p:cNvPr>
          <p:cNvSpPr/>
          <p:nvPr/>
        </p:nvSpPr>
        <p:spPr>
          <a:xfrm>
            <a:off x="146304" y="1943980"/>
            <a:ext cx="4489704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l"/>
            <a:r>
              <a:rPr lang="en-IE" sz="2000" dirty="0" err="1">
                <a:latin typeface="Monaco" pitchFamily="2" charset="77"/>
              </a:rPr>
              <a:t>int</a:t>
            </a:r>
            <a:r>
              <a:rPr lang="en-IE" sz="2000" dirty="0">
                <a:latin typeface="Monaco" pitchFamily="2" charset="77"/>
              </a:rPr>
              <a:t> </a:t>
            </a:r>
            <a:r>
              <a:rPr lang="en-IE" sz="2000" dirty="0" err="1">
                <a:latin typeface="Monaco" pitchFamily="2" charset="77"/>
              </a:rPr>
              <a:t>i</a:t>
            </a:r>
            <a:r>
              <a:rPr lang="en-IE" sz="2000" dirty="0">
                <a:latin typeface="Monaco" pitchFamily="2" charset="77"/>
              </a:rPr>
              <a:t> = 1;</a:t>
            </a:r>
          </a:p>
          <a:p>
            <a:pPr lvl="1" algn="l"/>
            <a:endParaRPr lang="en-IE" sz="2000" dirty="0">
              <a:latin typeface="Monaco" pitchFamily="2" charset="77"/>
            </a:endParaRPr>
          </a:p>
          <a:p>
            <a:pPr lvl="1" algn="l"/>
            <a:r>
              <a:rPr lang="en-IE" sz="2000" dirty="0">
                <a:latin typeface="Monaco" pitchFamily="2" charset="77"/>
              </a:rPr>
              <a:t>while (</a:t>
            </a:r>
            <a:r>
              <a:rPr lang="en-IE" sz="2000" dirty="0" err="1">
                <a:latin typeface="Monaco" pitchFamily="2" charset="77"/>
              </a:rPr>
              <a:t>i</a:t>
            </a:r>
            <a:r>
              <a:rPr lang="en-IE" sz="2000" dirty="0">
                <a:latin typeface="Monaco" pitchFamily="2" charset="77"/>
              </a:rPr>
              <a:t> &lt;=5)</a:t>
            </a:r>
          </a:p>
          <a:p>
            <a:pPr lvl="1" algn="l"/>
            <a:r>
              <a:rPr lang="en-IE" sz="2000" dirty="0">
                <a:latin typeface="Monaco" pitchFamily="2" charset="77"/>
              </a:rPr>
              <a:t>  {</a:t>
            </a:r>
          </a:p>
          <a:p>
            <a:pPr lvl="1" algn="l"/>
            <a:r>
              <a:rPr lang="en-IE" sz="2000" dirty="0">
                <a:latin typeface="Monaco" pitchFamily="2" charset="77"/>
              </a:rPr>
              <a:t>    </a:t>
            </a:r>
            <a:r>
              <a:rPr lang="en-IE" sz="2000" dirty="0" err="1">
                <a:latin typeface="Monaco" pitchFamily="2" charset="77"/>
              </a:rPr>
              <a:t>println</a:t>
            </a:r>
            <a:r>
              <a:rPr lang="en-IE" sz="2000" dirty="0">
                <a:latin typeface="Monaco" pitchFamily="2" charset="77"/>
              </a:rPr>
              <a:t>("Hello World");</a:t>
            </a:r>
          </a:p>
          <a:p>
            <a:pPr lvl="1" algn="l"/>
            <a:r>
              <a:rPr lang="en-IE" sz="2000" dirty="0">
                <a:latin typeface="Monaco" pitchFamily="2" charset="77"/>
              </a:rPr>
              <a:t>    </a:t>
            </a:r>
            <a:r>
              <a:rPr lang="en-IE" sz="2000" dirty="0" err="1">
                <a:latin typeface="Monaco" pitchFamily="2" charset="77"/>
              </a:rPr>
              <a:t>i</a:t>
            </a:r>
            <a:r>
              <a:rPr lang="en-IE" sz="2000" dirty="0">
                <a:latin typeface="Monaco" pitchFamily="2" charset="77"/>
              </a:rPr>
              <a:t>++;</a:t>
            </a:r>
          </a:p>
          <a:p>
            <a:pPr lvl="1" algn="l"/>
            <a:r>
              <a:rPr lang="en-IE" sz="2000" dirty="0">
                <a:latin typeface="Monaco" pitchFamily="2" charset="77"/>
              </a:rPr>
              <a:t> 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0A57B-33E4-4A35-92CE-914468E733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75555" r="75887" b="5556"/>
          <a:stretch/>
        </p:blipFill>
        <p:spPr>
          <a:xfrm>
            <a:off x="5644958" y="2552633"/>
            <a:ext cx="2134523" cy="1442643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718ADE5-6291-4684-8C1F-1B57D1E1A5F4}"/>
              </a:ext>
            </a:extLst>
          </p:cNvPr>
          <p:cNvSpPr/>
          <p:nvPr/>
        </p:nvSpPr>
        <p:spPr>
          <a:xfrm>
            <a:off x="4732844" y="3016779"/>
            <a:ext cx="857250" cy="51435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193742832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Some Study Exercises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en-IE" dirty="0"/>
              <a:t>Change the code so that “Hello World” is printed out 10 times. </a:t>
            </a:r>
          </a:p>
          <a:p>
            <a:pPr marL="385763" indent="-385763">
              <a:buFont typeface="+mj-lt"/>
              <a:buAutoNum type="arabicPeriod"/>
            </a:pPr>
            <a:r>
              <a:rPr lang="en-IE" dirty="0"/>
              <a:t>Change the code so that the numbers from 1 to 10 (inclusive) are printed out, one line at a time.</a:t>
            </a:r>
          </a:p>
          <a:p>
            <a:pPr marL="385763" indent="-385763">
              <a:buFont typeface="+mj-lt"/>
              <a:buAutoNum type="arabicPeriod"/>
            </a:pPr>
            <a:r>
              <a:rPr lang="en-IE" dirty="0"/>
              <a:t>Change the code so that the numbers from 10 to 1 are printed out. 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6DA21-051D-95F2-7310-454CB29222A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16</a:t>
            </a:fld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294C6-A266-1C9B-C792-389BA3AE2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894449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F0155-817F-F8BF-96D1-92406849A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C602C-AECB-2FA5-78EC-E7346B99B87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29010</TotalTime>
  <Words>876</Words>
  <Application>Microsoft Macintosh PowerPoint</Application>
  <PresentationFormat>On-screen Show (16:9)</PresentationFormat>
  <Paragraphs>181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4" baseType="lpstr">
      <vt:lpstr>Arial Unicode MS</vt:lpstr>
      <vt:lpstr>Arial</vt:lpstr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Times New Roman</vt:lpstr>
      <vt:lpstr>Trebuchet MS</vt:lpstr>
      <vt:lpstr>Wingdings</vt:lpstr>
      <vt:lpstr>White</vt:lpstr>
      <vt:lpstr>Programming Fundamentals 1</vt:lpstr>
      <vt:lpstr>PowerPoint Presentation</vt:lpstr>
      <vt:lpstr>Agenda</vt:lpstr>
      <vt:lpstr>Repetition in Programming Intro to looping</vt:lpstr>
      <vt:lpstr>Recap: Boolean conditions</vt:lpstr>
      <vt:lpstr>Repetition in Programming</vt:lpstr>
      <vt:lpstr>Form of loop</vt:lpstr>
      <vt:lpstr>Form of loop</vt:lpstr>
      <vt:lpstr>Use of loops (while loops)</vt:lpstr>
      <vt:lpstr>Loops in Programming</vt:lpstr>
      <vt:lpstr>while loop pseudo code</vt:lpstr>
      <vt:lpstr>Construction of while loop</vt:lpstr>
      <vt:lpstr>while loop Flowchart</vt:lpstr>
      <vt:lpstr>Processing Example 4.5</vt:lpstr>
      <vt:lpstr>Some Study Exercises </vt:lpstr>
      <vt:lpstr>Some Study Exercises </vt:lpstr>
      <vt:lpstr>Questions?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255</cp:revision>
  <dcterms:created xsi:type="dcterms:W3CDTF">2019-01-29T16:40:14Z</dcterms:created>
  <dcterms:modified xsi:type="dcterms:W3CDTF">2023-08-21T21:23:27Z</dcterms:modified>
</cp:coreProperties>
</file>