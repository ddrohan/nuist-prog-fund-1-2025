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65" r:id="rId3"/>
    <p:sldId id="346" r:id="rId4"/>
    <p:sldId id="777" r:id="rId5"/>
    <p:sldId id="616" r:id="rId6"/>
    <p:sldId id="606" r:id="rId7"/>
    <p:sldId id="605" r:id="rId8"/>
    <p:sldId id="610" r:id="rId9"/>
    <p:sldId id="611" r:id="rId10"/>
    <p:sldId id="614" r:id="rId11"/>
    <p:sldId id="778" r:id="rId12"/>
    <p:sldId id="652" r:id="rId13"/>
    <p:sldId id="618" r:id="rId14"/>
    <p:sldId id="619" r:id="rId15"/>
    <p:sldId id="620" r:id="rId16"/>
    <p:sldId id="623" r:id="rId17"/>
    <p:sldId id="621" r:id="rId18"/>
    <p:sldId id="624" r:id="rId19"/>
    <p:sldId id="622" r:id="rId20"/>
    <p:sldId id="779" r:id="rId21"/>
    <p:sldId id="653" r:id="rId22"/>
    <p:sldId id="638" r:id="rId23"/>
    <p:sldId id="628" r:id="rId24"/>
    <p:sldId id="641" r:id="rId25"/>
    <p:sldId id="642" r:id="rId26"/>
    <p:sldId id="634" r:id="rId27"/>
    <p:sldId id="305" r:id="rId28"/>
    <p:sldId id="298" r:id="rId29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6"/>
    <p:restoredTop sz="85442"/>
  </p:normalViewPr>
  <p:slideViewPr>
    <p:cSldViewPr snapToGrid="0" snapToObjects="1">
      <p:cViewPr varScale="1">
        <p:scale>
          <a:sx n="139" d="100"/>
          <a:sy n="139" d="100"/>
        </p:scale>
        <p:origin x="94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8/22/23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10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3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55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99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4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04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23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Should this be string </a:t>
            </a:r>
            <a:r>
              <a:rPr lang="en-GB"/>
              <a:t>object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279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8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  <p:sldLayoutId id="2147483675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Arrays, Classes &amp; Objects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281" y="287067"/>
            <a:ext cx="2743744" cy="436804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look at arrays of objects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r>
              <a:rPr lang="en-IE" sz="3200" dirty="0"/>
              <a:t>RECAP : Primitive Arrays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r>
              <a:rPr lang="en-IE" sz="3200" dirty="0">
                <a:latin typeface="Monaco" pitchFamily="2" charset="77"/>
              </a:rPr>
              <a:t>String</a:t>
            </a:r>
            <a:r>
              <a:rPr lang="en-IE" sz="3200" dirty="0"/>
              <a:t> Arrays</a:t>
            </a:r>
          </a:p>
          <a:p>
            <a:endParaRPr lang="en-IE" sz="3200" dirty="0"/>
          </a:p>
          <a:p>
            <a:r>
              <a:rPr lang="en-IE" sz="3200" dirty="0"/>
              <a:t>Arrays of Objects - </a:t>
            </a:r>
            <a:r>
              <a:rPr lang="en-IE" sz="3200" dirty="0">
                <a:latin typeface="Monaco" pitchFamily="2" charset="77"/>
              </a:rPr>
              <a:t>Product</a:t>
            </a:r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5245" y="420394"/>
            <a:ext cx="5409153" cy="1102519"/>
          </a:xfrm>
        </p:spPr>
        <p:txBody>
          <a:bodyPr/>
          <a:lstStyle/>
          <a:p>
            <a:r>
              <a:rPr lang="en-IE" sz="3600" dirty="0"/>
              <a:t>RECAP : Primitive Arrays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895053" y="215830"/>
            <a:ext cx="4686300" cy="45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1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511" y="3699222"/>
            <a:ext cx="4851008" cy="10618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100" dirty="0"/>
              <a:t>String[] words = new String[4];</a:t>
            </a:r>
          </a:p>
          <a:p>
            <a:endParaRPr lang="en-US" sz="2100" dirty="0"/>
          </a:p>
          <a:p>
            <a:r>
              <a:rPr lang="en-US" sz="21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1337693" y="1305307"/>
            <a:ext cx="4520789" cy="1708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100" dirty="0" err="1"/>
              <a:t>int</a:t>
            </a:r>
            <a:r>
              <a:rPr lang="en-US" sz="2100" dirty="0"/>
              <a:t> numbers[] = new </a:t>
            </a:r>
            <a:r>
              <a:rPr lang="en-US" sz="2100" dirty="0" err="1"/>
              <a:t>int</a:t>
            </a:r>
            <a:r>
              <a:rPr lang="en-US" sz="2100" dirty="0"/>
              <a:t>[10];</a:t>
            </a:r>
          </a:p>
          <a:p>
            <a:endParaRPr lang="en-US" sz="2100" dirty="0"/>
          </a:p>
          <a:p>
            <a:r>
              <a:rPr lang="en-US" sz="2100" dirty="0"/>
              <a:t>byte </a:t>
            </a:r>
            <a:r>
              <a:rPr lang="en-US" sz="2100" dirty="0" err="1"/>
              <a:t>smallNumbers</a:t>
            </a:r>
            <a:r>
              <a:rPr lang="en-US" sz="2100" dirty="0"/>
              <a:t>[] = new byte[4];</a:t>
            </a:r>
          </a:p>
          <a:p>
            <a:endParaRPr lang="en-US" sz="2100" dirty="0"/>
          </a:p>
          <a:p>
            <a:r>
              <a:rPr lang="en-US" sz="21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483535" y="971336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428750" y="3413471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143000" y="882218"/>
            <a:ext cx="2857500" cy="432018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5416962" y="1362456"/>
            <a:ext cx="1623917" cy="28575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313418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40340" y="1285450"/>
            <a:ext cx="2005677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 err="1"/>
              <a:t>int</a:t>
            </a:r>
            <a:r>
              <a:rPr lang="en-GB" sz="21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4993902" y="1768830"/>
            <a:ext cx="521298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88" dirty="0"/>
              <a:t>null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3FCE98-F584-1A5A-8DAB-FCEDBD76DC1F}"/>
              </a:ext>
            </a:extLst>
          </p:cNvPr>
          <p:cNvCxnSpPr>
            <a:cxnSpLocks/>
          </p:cNvCxnSpPr>
          <p:nvPr/>
        </p:nvCxnSpPr>
        <p:spPr>
          <a:xfrm>
            <a:off x="4224528" y="968710"/>
            <a:ext cx="0" cy="38318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4224528" y="968710"/>
            <a:ext cx="0" cy="38318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041286" y="2000250"/>
            <a:ext cx="293061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numbers = new </a:t>
            </a:r>
            <a:r>
              <a:rPr lang="en-GB" sz="2100" b="1" dirty="0" err="1"/>
              <a:t>int</a:t>
            </a:r>
            <a:r>
              <a:rPr lang="en-GB" sz="2100" b="1" dirty="0"/>
              <a:t>[4];</a:t>
            </a:r>
            <a:endParaRPr lang="en-IE" sz="21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6143625" y="3486150"/>
            <a:ext cx="542925" cy="392855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295786" y="2743200"/>
            <a:ext cx="2353529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numbers[2] = 18;</a:t>
            </a:r>
            <a:endParaRPr lang="en-IE" sz="21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121808" y="2000250"/>
            <a:ext cx="282962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197731" y="3339846"/>
            <a:ext cx="2753698" cy="137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We are directly accessing the element at index </a:t>
            </a:r>
            <a:r>
              <a:rPr lang="en-IE" sz="1800" b="1" dirty="0"/>
              <a:t>2</a:t>
            </a:r>
            <a:r>
              <a:rPr lang="en-IE" sz="1800" dirty="0"/>
              <a:t> and setting it to a value of </a:t>
            </a:r>
            <a:r>
              <a:rPr lang="en-IE" sz="1800" b="1" dirty="0"/>
              <a:t>18</a:t>
            </a:r>
            <a:r>
              <a:rPr lang="en-IE" sz="1800" dirty="0"/>
              <a:t>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2D117D-4C52-73E2-84A7-6B594A382F26}"/>
              </a:ext>
            </a:extLst>
          </p:cNvPr>
          <p:cNvCxnSpPr>
            <a:cxnSpLocks/>
          </p:cNvCxnSpPr>
          <p:nvPr/>
        </p:nvCxnSpPr>
        <p:spPr>
          <a:xfrm>
            <a:off x="4224528" y="968710"/>
            <a:ext cx="0" cy="38318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274188" y="3493785"/>
            <a:ext cx="2353529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numbers[0] = 12;</a:t>
            </a:r>
            <a:endParaRPr lang="en-IE" sz="21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121808" y="2000250"/>
            <a:ext cx="282962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319159" y="2743200"/>
            <a:ext cx="227658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E40A51-34F3-463B-A7BD-15C06077E7A1}"/>
              </a:ext>
            </a:extLst>
          </p:cNvPr>
          <p:cNvSpPr/>
          <p:nvPr/>
        </p:nvSpPr>
        <p:spPr>
          <a:xfrm>
            <a:off x="6115050" y="2800350"/>
            <a:ext cx="542925" cy="392855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203633" y="4130070"/>
            <a:ext cx="2603750" cy="85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We are setting the element at index </a:t>
            </a:r>
            <a:r>
              <a:rPr lang="en-IE" sz="1800" b="1" dirty="0"/>
              <a:t>0</a:t>
            </a:r>
            <a:r>
              <a:rPr lang="en-IE" sz="1800" dirty="0"/>
              <a:t> to a value of </a:t>
            </a:r>
            <a:r>
              <a:rPr lang="en-IE" sz="1800" b="1" dirty="0"/>
              <a:t>12</a:t>
            </a:r>
            <a:r>
              <a:rPr lang="en-IE" sz="1800" dirty="0"/>
              <a:t>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6E2E4-70E4-2478-47C3-515C47671FA7}"/>
              </a:ext>
            </a:extLst>
          </p:cNvPr>
          <p:cNvCxnSpPr>
            <a:cxnSpLocks/>
          </p:cNvCxnSpPr>
          <p:nvPr/>
        </p:nvCxnSpPr>
        <p:spPr>
          <a:xfrm>
            <a:off x="4224528" y="968710"/>
            <a:ext cx="0" cy="38318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an </a:t>
            </a:r>
            <a:r>
              <a:rPr lang="en-IE" b="1" dirty="0">
                <a:solidFill>
                  <a:srgbClr val="FF0000"/>
                </a:solidFill>
              </a:rPr>
              <a:t>int</a:t>
            </a:r>
            <a:r>
              <a:rPr lang="en-IE" dirty="0"/>
              <a:t>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55093" y="1285450"/>
            <a:ext cx="193514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numbers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5314951" y="2800350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18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5254549" y="1907329"/>
            <a:ext cx="889076" cy="8930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297561" y="3493785"/>
            <a:ext cx="227658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121808" y="2000250"/>
            <a:ext cx="282962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1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319159" y="2743200"/>
            <a:ext cx="227658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1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4851430" y="4244297"/>
            <a:ext cx="4110964" cy="85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Here we are printing the contents of index location 2 </a:t>
            </a:r>
            <a:br>
              <a:rPr lang="en-IE" sz="1800" dirty="0"/>
            </a:br>
            <a:r>
              <a:rPr lang="en-IE" sz="18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250701" y="4262229"/>
            <a:ext cx="2464137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print(numbers[2]);</a:t>
            </a:r>
            <a:endParaRPr lang="en-IE" sz="2100" b="1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DF7F76-128F-4003-87B4-11F6C4CEE431}"/>
              </a:ext>
            </a:extLst>
          </p:cNvPr>
          <p:cNvSpPr/>
          <p:nvPr/>
        </p:nvSpPr>
        <p:spPr>
          <a:xfrm>
            <a:off x="5086350" y="3448024"/>
            <a:ext cx="2228850" cy="392855"/>
          </a:xfrm>
          <a:prstGeom prst="ellipse">
            <a:avLst/>
          </a:prstGeom>
          <a:noFill/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B17264-521E-3EC9-3121-7D4B3B1D08D4}"/>
              </a:ext>
            </a:extLst>
          </p:cNvPr>
          <p:cNvCxnSpPr>
            <a:cxnSpLocks/>
          </p:cNvCxnSpPr>
          <p:nvPr/>
        </p:nvCxnSpPr>
        <p:spPr>
          <a:xfrm>
            <a:off x="4224528" y="968710"/>
            <a:ext cx="0" cy="38318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24" y="411250"/>
            <a:ext cx="3166795" cy="1102519"/>
          </a:xfrm>
        </p:spPr>
        <p:txBody>
          <a:bodyPr/>
          <a:lstStyle/>
          <a:p>
            <a:r>
              <a:rPr lang="en-IE" sz="3600" dirty="0">
                <a:latin typeface="Monaco" pitchFamily="2" charset="77"/>
              </a:rPr>
              <a:t>String</a:t>
            </a:r>
            <a:r>
              <a:rPr lang="en-IE" sz="3600" dirty="0"/>
              <a:t> Arrays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5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71651" y="144705"/>
            <a:ext cx="4686300" cy="45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1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511" y="3598638"/>
            <a:ext cx="4851008" cy="10618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100" dirty="0"/>
              <a:t>String[] words = new String[4];</a:t>
            </a:r>
          </a:p>
          <a:p>
            <a:endParaRPr lang="en-US" sz="2100" dirty="0"/>
          </a:p>
          <a:p>
            <a:r>
              <a:rPr lang="en-US" sz="21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1337693" y="1204723"/>
            <a:ext cx="4520789" cy="1708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100" dirty="0" err="1"/>
              <a:t>int</a:t>
            </a:r>
            <a:r>
              <a:rPr lang="en-US" sz="2100" dirty="0"/>
              <a:t> numbers[] = new </a:t>
            </a:r>
            <a:r>
              <a:rPr lang="en-US" sz="2100" dirty="0" err="1"/>
              <a:t>int</a:t>
            </a:r>
            <a:r>
              <a:rPr lang="en-US" sz="2100" dirty="0"/>
              <a:t>[10];</a:t>
            </a:r>
          </a:p>
          <a:p>
            <a:endParaRPr lang="en-US" sz="2100" dirty="0"/>
          </a:p>
          <a:p>
            <a:r>
              <a:rPr lang="en-US" sz="2100" dirty="0"/>
              <a:t>byte </a:t>
            </a:r>
            <a:r>
              <a:rPr lang="en-US" sz="2100" dirty="0" err="1"/>
              <a:t>smallNumbers</a:t>
            </a:r>
            <a:r>
              <a:rPr lang="en-US" sz="2100" dirty="0"/>
              <a:t>[] = new byte[4];</a:t>
            </a:r>
          </a:p>
          <a:p>
            <a:endParaRPr lang="en-US" sz="2100" dirty="0"/>
          </a:p>
          <a:p>
            <a:r>
              <a:rPr lang="en-US" sz="21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483535" y="870752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428750" y="3312887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057275" y="3268328"/>
            <a:ext cx="2857500" cy="432018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5847938" y="3655788"/>
            <a:ext cx="1387253" cy="28575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51477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4993902" y="1768830"/>
            <a:ext cx="521298" cy="352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688" dirty="0"/>
              <a:t>null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499C52-4E6C-0D80-9037-7BD396AD6D6B}"/>
              </a:ext>
            </a:extLst>
          </p:cNvPr>
          <p:cNvCxnSpPr>
            <a:cxnSpLocks/>
          </p:cNvCxnSpPr>
          <p:nvPr/>
        </p:nvCxnSpPr>
        <p:spPr>
          <a:xfrm>
            <a:off x="3886200" y="1085850"/>
            <a:ext cx="0" cy="35044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7377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</a:t>
            </a:r>
            <a:r>
              <a:rPr lang="en-IE" dirty="0"/>
              <a:t> 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3886200" y="1085850"/>
            <a:ext cx="0" cy="35044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EE58AEEF-1D90-435B-8AAA-3C77AE95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1B024A7-891F-471A-AE86-7C9072B48A56}"/>
              </a:ext>
            </a:extLst>
          </p:cNvPr>
          <p:cNvGraphicFramePr>
            <a:graphicFrameLocks noGrp="1"/>
          </p:cNvGraphicFramePr>
          <p:nvPr/>
        </p:nvGraphicFramePr>
        <p:xfrm>
          <a:off x="4286251" y="2593181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1AE63D-0C46-41DC-9511-3C84E8262E47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114925" y="1926820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222CAC-4172-4D78-BE9B-A6AEA8BD9431}"/>
              </a:ext>
            </a:extLst>
          </p:cNvPr>
          <p:cNvSpPr/>
          <p:nvPr/>
        </p:nvSpPr>
        <p:spPr>
          <a:xfrm>
            <a:off x="677861" y="2016834"/>
            <a:ext cx="3025188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words = new String[4];</a:t>
            </a:r>
            <a:endParaRPr lang="en-IE" sz="2100" b="1" dirty="0"/>
          </a:p>
        </p:txBody>
      </p:sp>
    </p:spTree>
    <p:extLst>
      <p:ext uri="{BB962C8B-B14F-4D97-AF65-F5344CB8AC3E}">
        <p14:creationId xmlns:p14="http://schemas.microsoft.com/office/powerpoint/2010/main" val="73510348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071078" y="2743201"/>
            <a:ext cx="244971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words[1] = “Dog”;</a:t>
            </a:r>
            <a:endParaRPr lang="en-IE" sz="21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DB9F77-CB76-41CE-B64F-0C424EFD3881}"/>
              </a:ext>
            </a:extLst>
          </p:cNvPr>
          <p:cNvSpPr/>
          <p:nvPr/>
        </p:nvSpPr>
        <p:spPr>
          <a:xfrm>
            <a:off x="673118" y="2021378"/>
            <a:ext cx="3025188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4286251" y="2593181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114925" y="1926820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6748166" y="2987577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372101" y="3086101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042250-8BB3-67DD-D6B1-F5E3C22B9191}"/>
              </a:ext>
            </a:extLst>
          </p:cNvPr>
          <p:cNvCxnSpPr>
            <a:cxnSpLocks/>
          </p:cNvCxnSpPr>
          <p:nvPr/>
        </p:nvCxnSpPr>
        <p:spPr>
          <a:xfrm>
            <a:off x="3886200" y="1085850"/>
            <a:ext cx="0" cy="35044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0501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941836" y="3360076"/>
            <a:ext cx="2735410" cy="128736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We are directly accessing the element at index </a:t>
            </a:r>
            <a:r>
              <a:rPr lang="en-IE" sz="1800" b="1" dirty="0"/>
              <a:t>1</a:t>
            </a:r>
            <a:r>
              <a:rPr lang="en-IE" sz="1800" dirty="0"/>
              <a:t> and setting it to a value of </a:t>
            </a:r>
            <a:r>
              <a:rPr lang="en-IE" sz="1800" b="1" dirty="0"/>
              <a:t>“Dog”</a:t>
            </a:r>
            <a:r>
              <a:rPr lang="en-IE" sz="18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4286251" y="2593181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114925" y="1926820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6748166" y="2987577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372101" y="3086101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267D1D-78B0-3C62-BF86-C9616062E207}"/>
              </a:ext>
            </a:extLst>
          </p:cNvPr>
          <p:cNvCxnSpPr>
            <a:cxnSpLocks/>
          </p:cNvCxnSpPr>
          <p:nvPr/>
        </p:nvCxnSpPr>
        <p:spPr>
          <a:xfrm>
            <a:off x="3886200" y="1085850"/>
            <a:ext cx="0" cy="35044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F68B152-3280-9BEA-2290-0A4B40F395A4}"/>
              </a:ext>
            </a:extLst>
          </p:cNvPr>
          <p:cNvSpPr/>
          <p:nvPr/>
        </p:nvSpPr>
        <p:spPr>
          <a:xfrm>
            <a:off x="1071078" y="2743201"/>
            <a:ext cx="244971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words[1] = “Dog”;</a:t>
            </a:r>
            <a:endParaRPr lang="en-IE" sz="21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BA7EA-9315-6777-4698-91B8DE873D70}"/>
              </a:ext>
            </a:extLst>
          </p:cNvPr>
          <p:cNvSpPr/>
          <p:nvPr/>
        </p:nvSpPr>
        <p:spPr>
          <a:xfrm>
            <a:off x="673118" y="2021378"/>
            <a:ext cx="3025188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3778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073679" y="2743200"/>
            <a:ext cx="244971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4286251" y="2593181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114925" y="1926820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6748166" y="2987577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372101" y="3086101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5738-CB5F-4BE9-A931-A6FAFD6C3095}"/>
              </a:ext>
            </a:extLst>
          </p:cNvPr>
          <p:cNvSpPr/>
          <p:nvPr/>
        </p:nvSpPr>
        <p:spPr>
          <a:xfrm>
            <a:off x="1170301" y="3374179"/>
            <a:ext cx="235994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words[3] = “Cat”;</a:t>
            </a:r>
            <a:endParaRPr lang="en-IE" sz="21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6748166" y="3714751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372101" y="3813276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D0D2BE-A175-179A-0F40-9CA1B5D3C86F}"/>
              </a:ext>
            </a:extLst>
          </p:cNvPr>
          <p:cNvCxnSpPr>
            <a:cxnSpLocks/>
          </p:cNvCxnSpPr>
          <p:nvPr/>
        </p:nvCxnSpPr>
        <p:spPr>
          <a:xfrm>
            <a:off x="3886200" y="1085850"/>
            <a:ext cx="0" cy="350443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7B55533-0360-42DB-1BF8-CDC8B5F0C915}"/>
              </a:ext>
            </a:extLst>
          </p:cNvPr>
          <p:cNvSpPr/>
          <p:nvPr/>
        </p:nvSpPr>
        <p:spPr>
          <a:xfrm>
            <a:off x="673118" y="2021378"/>
            <a:ext cx="3025188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22346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3886200" y="1085850"/>
            <a:ext cx="0" cy="41374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170301" y="3975354"/>
            <a:ext cx="2506945" cy="8001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The element at index </a:t>
            </a:r>
            <a:r>
              <a:rPr lang="en-IE" sz="1800" b="1" dirty="0"/>
              <a:t>3 </a:t>
            </a:r>
            <a:r>
              <a:rPr lang="en-IE" sz="1800" dirty="0"/>
              <a:t>is set to </a:t>
            </a:r>
            <a:r>
              <a:rPr lang="en-IE" sz="1800" b="1" dirty="0"/>
              <a:t>“Cat”</a:t>
            </a:r>
            <a:r>
              <a:rPr lang="en-IE" sz="18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62D96-5059-43C3-948F-21CCA36CCEBD}"/>
              </a:ext>
            </a:extLst>
          </p:cNvPr>
          <p:cNvSpPr/>
          <p:nvPr/>
        </p:nvSpPr>
        <p:spPr>
          <a:xfrm>
            <a:off x="1419643" y="1285450"/>
            <a:ext cx="2100255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String[]  words;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1E1BB62-6F06-4D35-94B2-E3776B86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20" name="Text Box 11">
            <a:extLst>
              <a:ext uri="{FF2B5EF4-FFF2-40B4-BE49-F238E27FC236}">
                <a16:creationId xmlns:a16="http://schemas.microsoft.com/office/drawing/2014/main" id="{B8E0D2B7-B388-4F97-894F-975AC9CD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694" y="1298816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words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4F3F4E2-B98E-4824-8898-2FE413B78E7B}"/>
              </a:ext>
            </a:extLst>
          </p:cNvPr>
          <p:cNvCxnSpPr/>
          <p:nvPr/>
        </p:nvCxnSpPr>
        <p:spPr>
          <a:xfrm>
            <a:off x="3886200" y="1085850"/>
            <a:ext cx="0" cy="413742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5">
            <a:extLst>
              <a:ext uri="{FF2B5EF4-FFF2-40B4-BE49-F238E27FC236}">
                <a16:creationId xmlns:a16="http://schemas.microsoft.com/office/drawing/2014/main" id="{2E9FE0F6-E9CF-4620-A351-A31E333B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00" y="1707305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50EC56E-09B6-4B94-82C5-4E05BD63335D}"/>
              </a:ext>
            </a:extLst>
          </p:cNvPr>
          <p:cNvGraphicFramePr>
            <a:graphicFrameLocks noGrp="1"/>
          </p:cNvGraphicFramePr>
          <p:nvPr/>
        </p:nvGraphicFramePr>
        <p:xfrm>
          <a:off x="4286251" y="2593181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7D23A6-939D-476A-9929-8DA1544254D2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5114925" y="1926820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1538433-DE46-4B77-A1A6-AA9740438E22}"/>
              </a:ext>
            </a:extLst>
          </p:cNvPr>
          <p:cNvSpPr/>
          <p:nvPr/>
        </p:nvSpPr>
        <p:spPr>
          <a:xfrm>
            <a:off x="6748166" y="2987577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“Dog”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F8EFA1-488F-45ED-B6B9-4CF5D585D002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372101" y="3086101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7ED7B-87B8-477D-A072-D77A87AB3940}"/>
              </a:ext>
            </a:extLst>
          </p:cNvPr>
          <p:cNvSpPr/>
          <p:nvPr/>
        </p:nvSpPr>
        <p:spPr>
          <a:xfrm>
            <a:off x="6748166" y="3714751"/>
            <a:ext cx="924223" cy="58281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800" dirty="0"/>
              <a:t>“Cat”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D1BFE1-5776-4AD4-91A3-C7811BBE3D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372101" y="3813276"/>
            <a:ext cx="1376065" cy="192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67DA6C6-4799-BC80-2A92-2CE47E31EF0A}"/>
              </a:ext>
            </a:extLst>
          </p:cNvPr>
          <p:cNvSpPr/>
          <p:nvPr/>
        </p:nvSpPr>
        <p:spPr>
          <a:xfrm>
            <a:off x="1073679" y="2743200"/>
            <a:ext cx="244971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words[1] = “Dog”;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C627A0-F07C-E38D-21E8-4A84762DE1BB}"/>
              </a:ext>
            </a:extLst>
          </p:cNvPr>
          <p:cNvSpPr/>
          <p:nvPr/>
        </p:nvSpPr>
        <p:spPr>
          <a:xfrm>
            <a:off x="1170301" y="3374179"/>
            <a:ext cx="2359941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words[3] = “Cat”;</a:t>
            </a:r>
            <a:endParaRPr lang="en-IE" sz="21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698DC-6101-BA39-DDD4-BEE1DA0F2942}"/>
              </a:ext>
            </a:extLst>
          </p:cNvPr>
          <p:cNvSpPr/>
          <p:nvPr/>
        </p:nvSpPr>
        <p:spPr>
          <a:xfrm>
            <a:off x="673118" y="2021378"/>
            <a:ext cx="3025188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words = new String[4];</a:t>
            </a:r>
            <a:endParaRPr lang="en-IE" sz="21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3763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String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C6EEC-0018-44F9-94E2-EC04875A3D13}"/>
              </a:ext>
            </a:extLst>
          </p:cNvPr>
          <p:cNvSpPr/>
          <p:nvPr/>
        </p:nvSpPr>
        <p:spPr>
          <a:xfrm>
            <a:off x="219456" y="1072134"/>
            <a:ext cx="5285232" cy="313932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IE" sz="1800" dirty="0">
                <a:latin typeface="Monaco" pitchFamily="2" charset="77"/>
              </a:rPr>
              <a:t>String words[];</a:t>
            </a:r>
          </a:p>
          <a:p>
            <a:pPr algn="l"/>
            <a:endParaRPr lang="en-IE" sz="1800" dirty="0">
              <a:latin typeface="Monaco" pitchFamily="2" charset="77"/>
            </a:endParaRPr>
          </a:p>
          <a:p>
            <a:pPr algn="l"/>
            <a:r>
              <a:rPr lang="en-IE" sz="1800" dirty="0">
                <a:latin typeface="Monaco" pitchFamily="2" charset="77"/>
              </a:rPr>
              <a:t>words = new String[4];</a:t>
            </a:r>
          </a:p>
          <a:p>
            <a:pPr algn="l"/>
            <a:endParaRPr lang="en-IE" sz="1800" dirty="0">
              <a:latin typeface="Monaco" pitchFamily="2" charset="77"/>
            </a:endParaRPr>
          </a:p>
          <a:p>
            <a:pPr algn="l"/>
            <a:r>
              <a:rPr lang="en-IE" sz="1800" dirty="0">
                <a:latin typeface="Monaco" pitchFamily="2" charset="77"/>
              </a:rPr>
              <a:t>words[1] = "Dog";</a:t>
            </a:r>
          </a:p>
          <a:p>
            <a:pPr algn="l"/>
            <a:r>
              <a:rPr lang="en-IE" sz="1800" dirty="0">
                <a:latin typeface="Monaco" pitchFamily="2" charset="77"/>
              </a:rPr>
              <a:t>words[3] = "Cat";</a:t>
            </a:r>
          </a:p>
          <a:p>
            <a:pPr algn="l"/>
            <a:endParaRPr lang="en-IE" sz="1800" dirty="0">
              <a:latin typeface="Monaco" pitchFamily="2" charset="77"/>
            </a:endParaRPr>
          </a:p>
          <a:p>
            <a:pPr algn="l"/>
            <a:r>
              <a:rPr lang="en-IE" sz="1800" dirty="0">
                <a:latin typeface="Monaco" pitchFamily="2" charset="77"/>
              </a:rPr>
              <a:t>for (int </a:t>
            </a:r>
            <a:r>
              <a:rPr lang="en-IE" sz="1800" dirty="0" err="1">
                <a:latin typeface="Monaco" pitchFamily="2" charset="77"/>
              </a:rPr>
              <a:t>i</a:t>
            </a:r>
            <a:r>
              <a:rPr lang="en-IE" sz="1800" dirty="0">
                <a:latin typeface="Monaco" pitchFamily="2" charset="77"/>
              </a:rPr>
              <a:t>=0; </a:t>
            </a:r>
            <a:r>
              <a:rPr lang="en-IE" sz="1800" dirty="0" err="1">
                <a:latin typeface="Monaco" pitchFamily="2" charset="77"/>
              </a:rPr>
              <a:t>i</a:t>
            </a:r>
            <a:r>
              <a:rPr lang="en-IE" sz="1800" dirty="0">
                <a:latin typeface="Monaco" pitchFamily="2" charset="77"/>
              </a:rPr>
              <a:t> &lt; </a:t>
            </a:r>
            <a:r>
              <a:rPr lang="en-IE" sz="1800" dirty="0" err="1">
                <a:latin typeface="Monaco" pitchFamily="2" charset="77"/>
              </a:rPr>
              <a:t>words.length</a:t>
            </a:r>
            <a:r>
              <a:rPr lang="en-IE" sz="1800" dirty="0">
                <a:latin typeface="Monaco" pitchFamily="2" charset="77"/>
              </a:rPr>
              <a:t>; </a:t>
            </a:r>
            <a:r>
              <a:rPr lang="en-IE" sz="1800" dirty="0" err="1">
                <a:latin typeface="Monaco" pitchFamily="2" charset="77"/>
              </a:rPr>
              <a:t>i</a:t>
            </a:r>
            <a:r>
              <a:rPr lang="en-IE" sz="1800" dirty="0">
                <a:latin typeface="Monaco" pitchFamily="2" charset="77"/>
              </a:rPr>
              <a:t>++)</a:t>
            </a:r>
          </a:p>
          <a:p>
            <a:pPr algn="l"/>
            <a:r>
              <a:rPr lang="en-IE" sz="1800" dirty="0">
                <a:latin typeface="Monaco" pitchFamily="2" charset="77"/>
              </a:rPr>
              <a:t>{</a:t>
            </a:r>
          </a:p>
          <a:p>
            <a:pPr algn="l"/>
            <a:r>
              <a:rPr lang="en-IE" sz="1800" dirty="0">
                <a:latin typeface="Monaco" pitchFamily="2" charset="77"/>
              </a:rPr>
              <a:t>    </a:t>
            </a:r>
            <a:r>
              <a:rPr lang="en-IE" sz="1800" dirty="0" err="1">
                <a:latin typeface="Monaco" pitchFamily="2" charset="77"/>
              </a:rPr>
              <a:t>System.out.println</a:t>
            </a:r>
            <a:r>
              <a:rPr lang="en-IE" sz="1800" dirty="0">
                <a:latin typeface="Monaco" pitchFamily="2" charset="77"/>
              </a:rPr>
              <a:t>(words[</a:t>
            </a:r>
            <a:r>
              <a:rPr lang="en-IE" sz="1800" dirty="0" err="1">
                <a:latin typeface="Monaco" pitchFamily="2" charset="77"/>
              </a:rPr>
              <a:t>i</a:t>
            </a:r>
            <a:r>
              <a:rPr lang="en-IE" sz="1800" dirty="0">
                <a:latin typeface="Monaco" pitchFamily="2" charset="77"/>
              </a:rPr>
              <a:t>]);</a:t>
            </a:r>
          </a:p>
          <a:p>
            <a:pPr algn="l"/>
            <a:r>
              <a:rPr lang="en-IE" sz="1800" dirty="0">
                <a:latin typeface="Monaco" pitchFamily="2" charset="77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AF522C-324C-4244-BC08-38B2D643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724" y="1773937"/>
            <a:ext cx="1200150" cy="162242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06F276C-9020-447B-8C45-23F4BE50216C}"/>
              </a:ext>
            </a:extLst>
          </p:cNvPr>
          <p:cNvSpPr/>
          <p:nvPr/>
        </p:nvSpPr>
        <p:spPr>
          <a:xfrm>
            <a:off x="5616702" y="2288286"/>
            <a:ext cx="1085850" cy="74295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177957536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48" y="402106"/>
            <a:ext cx="5983147" cy="1102519"/>
          </a:xfrm>
        </p:spPr>
        <p:txBody>
          <a:bodyPr/>
          <a:lstStyle/>
          <a:p>
            <a:r>
              <a:rPr lang="en-IE" sz="3600" dirty="0"/>
              <a:t>Arrays of Objects - </a:t>
            </a:r>
            <a:r>
              <a:rPr lang="en-IE" sz="3600" dirty="0">
                <a:latin typeface="Monaco" pitchFamily="2" charset="77"/>
              </a:rPr>
              <a:t>Product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259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909732" y="176653"/>
            <a:ext cx="4686300" cy="4597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1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511" y="3644358"/>
            <a:ext cx="4851008" cy="10618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100" dirty="0"/>
              <a:t>String[] words = new String[4];</a:t>
            </a:r>
          </a:p>
          <a:p>
            <a:endParaRPr lang="en-US" sz="2100" dirty="0"/>
          </a:p>
          <a:p>
            <a:r>
              <a:rPr lang="en-US" sz="21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1337693" y="1250443"/>
            <a:ext cx="4520789" cy="17081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100" dirty="0" err="1"/>
              <a:t>int</a:t>
            </a:r>
            <a:r>
              <a:rPr lang="en-US" sz="2100" dirty="0"/>
              <a:t> numbers[] = new </a:t>
            </a:r>
            <a:r>
              <a:rPr lang="en-US" sz="2100" dirty="0" err="1"/>
              <a:t>int</a:t>
            </a:r>
            <a:r>
              <a:rPr lang="en-US" sz="2100" dirty="0"/>
              <a:t>[10];</a:t>
            </a:r>
          </a:p>
          <a:p>
            <a:endParaRPr lang="en-US" sz="2100" dirty="0"/>
          </a:p>
          <a:p>
            <a:r>
              <a:rPr lang="en-US" sz="2100" dirty="0"/>
              <a:t>byte </a:t>
            </a:r>
            <a:r>
              <a:rPr lang="en-US" sz="2100" dirty="0" err="1"/>
              <a:t>smallNumbers</a:t>
            </a:r>
            <a:r>
              <a:rPr lang="en-US" sz="2100" dirty="0"/>
              <a:t>[] = new byte[4];</a:t>
            </a:r>
          </a:p>
          <a:p>
            <a:endParaRPr lang="en-US" sz="2100" dirty="0"/>
          </a:p>
          <a:p>
            <a:r>
              <a:rPr lang="en-US" sz="21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483535" y="916472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428750" y="3358607"/>
            <a:ext cx="2114550" cy="3429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1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057275" y="3304904"/>
            <a:ext cx="2857500" cy="432018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6211057" y="4345567"/>
            <a:ext cx="1387253" cy="28575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1485900" y="1011611"/>
            <a:ext cx="165735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b="1" dirty="0"/>
              <a:t>Object</a:t>
            </a:r>
            <a:r>
              <a:rPr lang="en-IE" sz="1800" dirty="0"/>
              <a:t> Type/ </a:t>
            </a:r>
            <a:r>
              <a:rPr lang="en-IE" sz="1800" b="1" dirty="0"/>
              <a:t>Class</a:t>
            </a:r>
            <a:r>
              <a:rPr lang="en-IE" sz="18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1513703" y="3593035"/>
            <a:ext cx="21717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Fields</a:t>
            </a:r>
            <a:r>
              <a:rPr lang="en-IE" sz="1800" dirty="0"/>
              <a:t> </a:t>
            </a:r>
            <a:br>
              <a:rPr lang="en-IE" sz="1800" dirty="0"/>
            </a:br>
            <a:r>
              <a:rPr lang="en-IE" sz="18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1485900" y="2035161"/>
            <a:ext cx="21717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800" b="1" dirty="0"/>
              <a:t>Methods</a:t>
            </a:r>
            <a:r>
              <a:rPr lang="en-IE" sz="1800" dirty="0"/>
              <a:t> </a:t>
            </a:r>
            <a:br>
              <a:rPr lang="en-IE" sz="1800" dirty="0"/>
            </a:br>
            <a:r>
              <a:rPr lang="en-IE" sz="18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748769"/>
            <a:ext cx="9377916" cy="3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688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>
                <a:latin typeface="Monaco" pitchFamily="2" charset="77"/>
              </a:rPr>
              <a:t>Product</a:t>
            </a:r>
            <a:r>
              <a:rPr lang="en-IE" dirty="0"/>
              <a:t> Class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49CED-7842-4BA2-B14B-FC72F80A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98" y="1004245"/>
            <a:ext cx="3325561" cy="3474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143250" y="1092708"/>
            <a:ext cx="1257300" cy="2420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3657600" y="1207008"/>
            <a:ext cx="742950" cy="234949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 sz="1688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3685403" y="3593036"/>
            <a:ext cx="623244" cy="84571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 sz="1688"/>
          </a:p>
        </p:txBody>
      </p: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375233" y="1285450"/>
            <a:ext cx="2706190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Product[]  products;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4482846" y="1085850"/>
            <a:ext cx="0" cy="34678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314450" y="1279015"/>
            <a:ext cx="2857500" cy="432018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AA76EA-4E49-3280-6EF7-2A00C13A7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C00EFBDF-8B5D-FEC7-8184-C49467644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78" y="1285450"/>
            <a:ext cx="153224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products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0B5B4DB-2F37-D1A4-139D-9FFCF8C7D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B24C0EE-7436-6D8F-E9D7-1DCC62942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26124-3F17-52ED-5AA4-6BEA5E13C2CA}"/>
              </a:ext>
            </a:extLst>
          </p:cNvPr>
          <p:cNvSpPr txBox="1"/>
          <p:nvPr/>
        </p:nvSpPr>
        <p:spPr>
          <a:xfrm>
            <a:off x="5886505" y="1703011"/>
            <a:ext cx="461665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1382245" y="1285450"/>
            <a:ext cx="2630849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77" y="1285450"/>
            <a:ext cx="152309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products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148773"/>
              </p:ext>
            </p:extLst>
          </p:nvPr>
        </p:nvGraphicFramePr>
        <p:xfrm>
          <a:off x="5126335" y="2579815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5955009" y="1913454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198224" y="2000251"/>
            <a:ext cx="3140603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800" b="1" dirty="0"/>
              <a:t>products = new Product[4];</a:t>
            </a:r>
            <a:endParaRPr lang="en-IE" sz="1800" b="1" dirty="0"/>
          </a:p>
        </p:txBody>
      </p:sp>
      <p:sp>
        <p:nvSpPr>
          <p:cNvPr id="16" name="Donut 15"/>
          <p:cNvSpPr/>
          <p:nvPr/>
        </p:nvSpPr>
        <p:spPr>
          <a:xfrm>
            <a:off x="1298490" y="1943100"/>
            <a:ext cx="2857500" cy="500085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26BFA9-D5DA-E76C-50C7-51C163EF4A34}"/>
              </a:ext>
            </a:extLst>
          </p:cNvPr>
          <p:cNvCxnSpPr>
            <a:cxnSpLocks/>
          </p:cNvCxnSpPr>
          <p:nvPr/>
        </p:nvCxnSpPr>
        <p:spPr>
          <a:xfrm>
            <a:off x="4482846" y="1085850"/>
            <a:ext cx="0" cy="34678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F551BFC0-3363-ECF1-D4AB-885AB0C71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20A3C8FD-FDEF-E949-380B-4143D4750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777" y="1285450"/>
            <a:ext cx="152309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100" dirty="0">
                <a:latin typeface="Courier New" pitchFamily="-32" charset="0"/>
              </a:rPr>
              <a:t>products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65FBF1-57DB-2815-8A68-A3998C266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AD1DBC6-4793-E79F-26E7-AC3513633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884" y="1693939"/>
            <a:ext cx="571500" cy="4000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 sz="1688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898F09-B70A-4F14-07AF-DA2EDDB63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835105"/>
              </p:ext>
            </p:extLst>
          </p:nvPr>
        </p:nvGraphicFramePr>
        <p:xfrm>
          <a:off x="5126335" y="2579815"/>
          <a:ext cx="1657351" cy="1371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 rtl="0"/>
                      <a:endParaRPr lang="en-IE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800" b="1" dirty="0"/>
                        <a:t>null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5539D2-6FA2-3C73-5075-6DFA2C4BC5B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955009" y="1913454"/>
            <a:ext cx="142875" cy="6663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BB50E-498C-408C-8BB5-F3FD1F203054}"/>
              </a:ext>
            </a:extLst>
          </p:cNvPr>
          <p:cNvSpPr/>
          <p:nvPr/>
        </p:nvSpPr>
        <p:spPr>
          <a:xfrm>
            <a:off x="6990566" y="1221320"/>
            <a:ext cx="2048281" cy="17716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66737" rtl="0"/>
            <a:endParaRPr lang="en-IE" sz="18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</p:cNvCxnSpPr>
          <p:nvPr/>
        </p:nvCxnSpPr>
        <p:spPr>
          <a:xfrm flipV="1">
            <a:off x="6327648" y="2089146"/>
            <a:ext cx="832657" cy="10289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421415-A837-43D5-A794-3FBB984DD20A}"/>
              </a:ext>
            </a:extLst>
          </p:cNvPr>
          <p:cNvSpPr/>
          <p:nvPr/>
        </p:nvSpPr>
        <p:spPr>
          <a:xfrm>
            <a:off x="7165731" y="1433673"/>
            <a:ext cx="1133861" cy="260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50" b="1" dirty="0" err="1"/>
              <a:t>productName</a:t>
            </a:r>
            <a:endParaRPr lang="en-IE" sz="1050" b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000228" y="4220459"/>
            <a:ext cx="6563015" cy="415498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/>
              <a:t>products[1] =  new Product(“TV”, 123, 12.99, true);</a:t>
            </a:r>
            <a:endParaRPr lang="en-IE" sz="2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02807-3480-4C80-98A9-9CA8876A967C}"/>
              </a:ext>
            </a:extLst>
          </p:cNvPr>
          <p:cNvSpPr txBox="1"/>
          <p:nvPr/>
        </p:nvSpPr>
        <p:spPr>
          <a:xfrm>
            <a:off x="8358217" y="1406330"/>
            <a:ext cx="55947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“TV”</a:t>
            </a:r>
          </a:p>
        </p:txBody>
      </p:sp>
      <p:sp>
        <p:nvSpPr>
          <p:cNvPr id="24" name="Donut 23"/>
          <p:cNvSpPr/>
          <p:nvPr/>
        </p:nvSpPr>
        <p:spPr>
          <a:xfrm>
            <a:off x="1142999" y="4100512"/>
            <a:ext cx="6172200" cy="617690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8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1382245" y="1285450"/>
            <a:ext cx="2630849" cy="4154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1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198224" y="2000251"/>
            <a:ext cx="3140603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800" b="1" dirty="0">
                <a:solidFill>
                  <a:schemeClr val="bg1">
                    <a:lumMod val="65000"/>
                  </a:schemeClr>
                </a:solidFill>
              </a:rPr>
              <a:t>products = new Product[4];</a:t>
            </a:r>
            <a:endParaRPr lang="en-IE" sz="1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2CC5A-9E2D-440F-A8BD-3BFC4BEBD72A}"/>
              </a:ext>
            </a:extLst>
          </p:cNvPr>
          <p:cNvSpPr/>
          <p:nvPr/>
        </p:nvSpPr>
        <p:spPr>
          <a:xfrm>
            <a:off x="7209058" y="1783162"/>
            <a:ext cx="1045719" cy="207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50" b="1" dirty="0" err="1"/>
              <a:t>productCode</a:t>
            </a:r>
            <a:endParaRPr lang="en-IE" sz="105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E34246-716F-420B-8073-C35F36698815}"/>
              </a:ext>
            </a:extLst>
          </p:cNvPr>
          <p:cNvSpPr txBox="1"/>
          <p:nvPr/>
        </p:nvSpPr>
        <p:spPr>
          <a:xfrm>
            <a:off x="8333944" y="1744219"/>
            <a:ext cx="500063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BA3F1A-7FE7-4A91-B6BF-32970F8CDC86}"/>
              </a:ext>
            </a:extLst>
          </p:cNvPr>
          <p:cNvSpPr/>
          <p:nvPr/>
        </p:nvSpPr>
        <p:spPr>
          <a:xfrm>
            <a:off x="7260336" y="2089146"/>
            <a:ext cx="914400" cy="216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50" b="1" dirty="0" err="1"/>
              <a:t>unitCost</a:t>
            </a:r>
            <a:endParaRPr lang="en-IE" sz="105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B87EE-CDD6-4067-AF4C-6ECC77027AAE}"/>
              </a:ext>
            </a:extLst>
          </p:cNvPr>
          <p:cNvSpPr txBox="1"/>
          <p:nvPr/>
        </p:nvSpPr>
        <p:spPr>
          <a:xfrm>
            <a:off x="8333944" y="2061803"/>
            <a:ext cx="66291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12.99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3C7491-A235-4F39-9B44-03668014CD0C}"/>
              </a:ext>
            </a:extLst>
          </p:cNvPr>
          <p:cNvSpPr/>
          <p:nvPr/>
        </p:nvSpPr>
        <p:spPr>
          <a:xfrm>
            <a:off x="7202290" y="2377345"/>
            <a:ext cx="1028214" cy="350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600" b="1" dirty="0" err="1"/>
              <a:t>inCurrentProductLine</a:t>
            </a:r>
            <a:endParaRPr lang="en-IE" sz="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BC190-CD28-4CA7-BDD3-0AD482A389E9}"/>
              </a:ext>
            </a:extLst>
          </p:cNvPr>
          <p:cNvSpPr txBox="1"/>
          <p:nvPr/>
        </p:nvSpPr>
        <p:spPr>
          <a:xfrm>
            <a:off x="8299567" y="2425508"/>
            <a:ext cx="500063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2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105" y="879742"/>
            <a:ext cx="6000750" cy="311623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8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18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800" dirty="0" err="1">
                <a:solidFill>
                  <a:srgbClr val="00627A"/>
                </a:solidFill>
                <a:latin typeface="JetBrains Mono"/>
              </a:rPr>
              <a:t>listProducts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18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8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8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18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8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8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18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1800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1800" dirty="0">
                <a:solidFill>
                  <a:srgbClr val="067D17"/>
                </a:solidFill>
                <a:latin typeface="JetBrains Mono"/>
              </a:rPr>
              <a:t>": " 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VI" altLang="en-VI" sz="1800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en-GB" altLang="en-VI" sz="1800" dirty="0">
                <a:solidFill>
                  <a:srgbClr val="080808"/>
                </a:solidFill>
                <a:latin typeface="JetBrains Mono"/>
              </a:rPr>
              <a:t>.</a:t>
            </a:r>
            <a:r>
              <a:rPr lang="en-GB" altLang="en-VI" sz="1800" dirty="0" err="1">
                <a:solidFill>
                  <a:srgbClr val="080808"/>
                </a:solidFill>
                <a:latin typeface="JetBrains Mono"/>
              </a:rPr>
              <a:t>toString</a:t>
            </a:r>
            <a:r>
              <a:rPr lang="en-GB" altLang="en-VI" sz="1800" dirty="0">
                <a:solidFill>
                  <a:srgbClr val="080808"/>
                </a:solidFill>
                <a:latin typeface="JetBrains Mono"/>
              </a:rPr>
              <a:t>()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800" dirty="0">
                <a:solidFill>
                  <a:srgbClr val="0037A6"/>
                </a:solidFill>
                <a:latin typeface="JetBrains Mono"/>
              </a:rPr>
              <a:t>\n</a:t>
            </a:r>
            <a:r>
              <a:rPr lang="en-VI" altLang="en-VI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18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8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18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8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8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405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1388268" y="4198692"/>
            <a:ext cx="6460423" cy="3231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1500" dirty="0"/>
              <a:t>Returns a String containing all the products stored in the primitive array.  </a:t>
            </a:r>
            <a:endParaRPr lang="en-VI" sz="15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27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29067</TotalTime>
  <Words>1159</Words>
  <Application>Microsoft Macintosh PowerPoint</Application>
  <PresentationFormat>On-screen Show (16:9)</PresentationFormat>
  <Paragraphs>301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JetBrains Mono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Times New Roman</vt:lpstr>
      <vt:lpstr>Wingdings</vt:lpstr>
      <vt:lpstr>White</vt:lpstr>
      <vt:lpstr>Programming Fundamentals 1</vt:lpstr>
      <vt:lpstr>PowerPoint Presentation</vt:lpstr>
      <vt:lpstr>Agenda</vt:lpstr>
      <vt:lpstr>RECAP : Primitive Arrays</vt:lpstr>
      <vt:lpstr>PowerPoint Presentation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Structure of an int primitive array</vt:lpstr>
      <vt:lpstr>String Arrays</vt:lpstr>
      <vt:lpstr>PowerPoint Presentation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Structure of a String object array</vt:lpstr>
      <vt:lpstr>Arrays of Objects - Product</vt:lpstr>
      <vt:lpstr>PowerPoint Presentation</vt:lpstr>
      <vt:lpstr>Product Class </vt:lpstr>
      <vt:lpstr>Structure of a Product Object array</vt:lpstr>
      <vt:lpstr>Structure of a Product Object array</vt:lpstr>
      <vt:lpstr>Structure of a Product Object array</vt:lpstr>
      <vt:lpstr>Example using a Product Object array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258</cp:revision>
  <dcterms:created xsi:type="dcterms:W3CDTF">2019-01-29T16:40:14Z</dcterms:created>
  <dcterms:modified xsi:type="dcterms:W3CDTF">2023-08-22T17:11:15Z</dcterms:modified>
</cp:coreProperties>
</file>