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65" r:id="rId3"/>
    <p:sldId id="346" r:id="rId4"/>
    <p:sldId id="777" r:id="rId5"/>
    <p:sldId id="408" r:id="rId6"/>
    <p:sldId id="409" r:id="rId7"/>
    <p:sldId id="778" r:id="rId8"/>
    <p:sldId id="395" r:id="rId9"/>
    <p:sldId id="397" r:id="rId10"/>
    <p:sldId id="396" r:id="rId11"/>
    <p:sldId id="398" r:id="rId12"/>
    <p:sldId id="413" r:id="rId13"/>
    <p:sldId id="400" r:id="rId14"/>
    <p:sldId id="399" r:id="rId15"/>
    <p:sldId id="401" r:id="rId16"/>
    <p:sldId id="405" r:id="rId17"/>
    <p:sldId id="402" r:id="rId18"/>
    <p:sldId id="410" r:id="rId19"/>
    <p:sldId id="414" r:id="rId20"/>
    <p:sldId id="406" r:id="rId21"/>
    <p:sldId id="415" r:id="rId22"/>
    <p:sldId id="417" r:id="rId23"/>
    <p:sldId id="416" r:id="rId24"/>
    <p:sldId id="407" r:id="rId25"/>
    <p:sldId id="411" r:id="rId26"/>
    <p:sldId id="305" r:id="rId27"/>
    <p:sldId id="298" r:id="rId28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4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94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10/21/23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prevent any other class from being able to change the field values</a:t>
            </a:r>
            <a:r>
              <a:rPr lang="en-GB" baseline="0" dirty="0"/>
              <a:t> </a:t>
            </a:r>
            <a:r>
              <a:rPr lang="mr-IN" baseline="0" dirty="0"/>
              <a:t>–</a:t>
            </a:r>
            <a:r>
              <a:rPr lang="en-GB" baseline="0" dirty="0"/>
              <a:t> must use getter / setter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6397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prevent any other class from being able to change the field values</a:t>
            </a:r>
            <a:r>
              <a:rPr lang="en-GB" baseline="0" dirty="0"/>
              <a:t> </a:t>
            </a:r>
            <a:r>
              <a:rPr lang="mr-IN" baseline="0" dirty="0"/>
              <a:t>–</a:t>
            </a:r>
            <a:r>
              <a:rPr lang="en-GB" baseline="0" dirty="0"/>
              <a:t> must use getter / setter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9179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public String toString</a:t>
            </a:r>
            <a:r>
              <a:rPr lang="en-GB" dirty="0"/>
              <a:t>(){</a:t>
            </a:r>
          </a:p>
          <a:p>
            <a:r>
              <a:rPr lang="en-GB" baseline="0" dirty="0"/>
              <a:t>    return “total: ” + total + “ \n” + </a:t>
            </a:r>
            <a:r>
              <a:rPr lang="en-GB" baseline="0" dirty="0" err="1"/>
              <a:t>this.listProducts</a:t>
            </a:r>
            <a:r>
              <a:rPr lang="en-GB" baseline="0" dirty="0"/>
              <a:t>();</a:t>
            </a:r>
            <a:endParaRPr lang="en-GB" dirty="0"/>
          </a:p>
          <a:p>
            <a:r>
              <a:rPr lang="en-GB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5284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4530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5161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4309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3113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4242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421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2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  <p:sldLayoutId id="2147483675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8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8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SHOP V2.0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6463" y="287067"/>
            <a:ext cx="2731379" cy="436804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Array of 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Monaco" pitchFamily="2" charset="77"/>
              </a:rPr>
              <a:t>Product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r>
              <a:rPr lang="en-IE" sz="3200" dirty="0"/>
              <a:t>RECAP : SHOP V1.0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r>
              <a:rPr lang="en-IE" sz="3200" dirty="0"/>
              <a:t>SHOP V2.0</a:t>
            </a:r>
          </a:p>
          <a:p>
            <a:endParaRPr lang="en-IE" sz="3200" dirty="0"/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496" y="411250"/>
            <a:ext cx="4300651" cy="1102519"/>
          </a:xfrm>
        </p:spPr>
        <p:txBody>
          <a:bodyPr/>
          <a:lstStyle/>
          <a:p>
            <a:r>
              <a:rPr lang="en-IE" sz="3600" dirty="0"/>
              <a:t>RECAP : SHOP V1.0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</a:t>
            </a:r>
            <a:r>
              <a:rPr lang="en-IE" u="sng" dirty="0"/>
              <a:t>Shop V1.0 </a:t>
            </a:r>
            <a:r>
              <a:rPr lang="en-IE" dirty="0"/>
              <a:t>- </a:t>
            </a:r>
            <a:r>
              <a:rPr lang="en-IE" b="1" dirty="0"/>
              <a:t>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16" y="939547"/>
            <a:ext cx="3815660" cy="3394472"/>
          </a:xfrm>
        </p:spPr>
        <p:txBody>
          <a:bodyPr/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rgbClr val="FF0000"/>
                </a:solidFill>
              </a:rPr>
              <a:t>Product</a:t>
            </a:r>
            <a:r>
              <a:rPr lang="en-IE" sz="2800" dirty="0"/>
              <a:t> class stores </a:t>
            </a:r>
            <a:r>
              <a:rPr lang="en-IE" sz="2800" b="1" dirty="0"/>
              <a:t>details</a:t>
            </a:r>
            <a:r>
              <a:rPr lang="en-IE" sz="2800" dirty="0"/>
              <a:t> about a </a:t>
            </a:r>
            <a:r>
              <a:rPr lang="en-IE" sz="2800" b="1" dirty="0"/>
              <a:t>product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29818" y="1067562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372868" y="1467612"/>
            <a:ext cx="828675" cy="18288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2276856" y="3296412"/>
            <a:ext cx="1696212" cy="8001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</a:t>
            </a:r>
            <a:r>
              <a:rPr lang="en-IE" u="sng" dirty="0"/>
              <a:t>Shop V1.0</a:t>
            </a:r>
            <a:r>
              <a:rPr lang="en-IE" dirty="0"/>
              <a:t> - </a:t>
            </a:r>
            <a:r>
              <a:rPr lang="en-IE" b="1" dirty="0"/>
              <a:t>Driver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48" y="893826"/>
            <a:ext cx="5086350" cy="3829050"/>
          </a:xfrm>
        </p:spPr>
        <p:txBody>
          <a:bodyPr>
            <a:norm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chemeClr val="accent6"/>
                </a:solidFill>
              </a:rPr>
              <a:t>Driver</a:t>
            </a:r>
            <a:r>
              <a:rPr lang="en-IE" sz="2800" dirty="0">
                <a:solidFill>
                  <a:schemeClr val="accent6"/>
                </a:solidFill>
              </a:rPr>
              <a:t> </a:t>
            </a:r>
            <a:r>
              <a:rPr lang="en-IE" sz="2800" dirty="0"/>
              <a:t>class </a:t>
            </a:r>
          </a:p>
          <a:p>
            <a:pPr lvl="1"/>
            <a:r>
              <a:rPr lang="en-IE" dirty="0"/>
              <a:t>has the </a:t>
            </a:r>
            <a:r>
              <a:rPr lang="en-IE" b="1" dirty="0"/>
              <a:t>main()</a:t>
            </a:r>
            <a:r>
              <a:rPr lang="en-IE" dirty="0"/>
              <a:t> method.  </a:t>
            </a:r>
          </a:p>
          <a:p>
            <a:pPr lvl="1"/>
            <a:r>
              <a:rPr lang="en-IE" b="1" dirty="0"/>
              <a:t>reads</a:t>
            </a:r>
            <a:r>
              <a:rPr lang="en-IE" dirty="0"/>
              <a:t> the product details from the user (via the console)</a:t>
            </a:r>
          </a:p>
          <a:p>
            <a:pPr lvl="1"/>
            <a:r>
              <a:rPr lang="en-IE" b="1" dirty="0"/>
              <a:t>creates</a:t>
            </a:r>
            <a:r>
              <a:rPr lang="en-IE" dirty="0"/>
              <a:t> a new Product object.  </a:t>
            </a:r>
          </a:p>
          <a:p>
            <a:pPr lvl="1"/>
            <a:r>
              <a:rPr lang="en-IE" b="1" dirty="0"/>
              <a:t>prints</a:t>
            </a:r>
            <a:r>
              <a:rPr lang="en-IE" dirty="0"/>
              <a:t> the product object</a:t>
            </a:r>
            <a:br>
              <a:rPr lang="en-IE" dirty="0"/>
            </a:br>
            <a:r>
              <a:rPr lang="en-IE" dirty="0"/>
              <a:t>(to the console)</a:t>
            </a:r>
            <a:br>
              <a:rPr lang="en-IE" dirty="0"/>
            </a:br>
            <a:endParaRPr lang="en-I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5566410" y="1013960"/>
            <a:ext cx="1543050" cy="8001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880860" y="3511296"/>
            <a:ext cx="1677924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7109460" y="1414010"/>
            <a:ext cx="610362" cy="209728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5253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0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16126"/>
            <a:ext cx="8236400" cy="4299943"/>
          </a:xfrm>
        </p:spPr>
        <p:txBody>
          <a:bodyPr>
            <a:normAutofit/>
          </a:bodyPr>
          <a:lstStyle/>
          <a:p>
            <a:r>
              <a:rPr lang="en-IE" dirty="0"/>
              <a:t>New</a:t>
            </a:r>
            <a:r>
              <a:rPr lang="en-IE" b="1" dirty="0"/>
              <a:t> </a:t>
            </a:r>
            <a:r>
              <a:rPr lang="en-IE" b="1" dirty="0">
                <a:solidFill>
                  <a:srgbClr val="FF40FF"/>
                </a:solidFill>
              </a:rPr>
              <a:t>Store</a:t>
            </a:r>
            <a:r>
              <a:rPr lang="en-IE" dirty="0">
                <a:solidFill>
                  <a:srgbClr val="FF40FF"/>
                </a:solidFill>
              </a:rPr>
              <a:t> </a:t>
            </a:r>
            <a:r>
              <a:rPr lang="en-IE" dirty="0"/>
              <a:t>class is responsible for maintaining a collection of Products </a:t>
            </a:r>
          </a:p>
          <a:p>
            <a:pPr lvl="1"/>
            <a:r>
              <a:rPr lang="en-IE" sz="2000" dirty="0"/>
              <a:t>i.e. an </a:t>
            </a:r>
            <a:r>
              <a:rPr lang="en-IE" sz="2000" b="1" dirty="0"/>
              <a:t>array of Products</a:t>
            </a:r>
            <a:r>
              <a:rPr lang="en-IE" sz="2000" dirty="0"/>
              <a:t>.  </a:t>
            </a:r>
          </a:p>
          <a:p>
            <a:r>
              <a:rPr lang="en-IE" b="1" dirty="0">
                <a:solidFill>
                  <a:srgbClr val="F79646"/>
                </a:solidFill>
              </a:rPr>
              <a:t>Driver</a:t>
            </a:r>
            <a:r>
              <a:rPr lang="en-IE" b="1" dirty="0">
                <a:solidFill>
                  <a:srgbClr val="FF0000"/>
                </a:solidFill>
              </a:rPr>
              <a:t> </a:t>
            </a:r>
            <a:r>
              <a:rPr lang="en-IE" dirty="0"/>
              <a:t>will now allow the user to decide </a:t>
            </a:r>
            <a:r>
              <a:rPr lang="en-IE" b="1" dirty="0"/>
              <a:t>how many product </a:t>
            </a:r>
            <a:r>
              <a:rPr lang="en-IE" dirty="0"/>
              <a:t>details they want to store. 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926080" y="2776752"/>
            <a:ext cx="1339597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7303770" y="4206907"/>
            <a:ext cx="1738834" cy="62865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620994" y="3894164"/>
            <a:ext cx="1543049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4882159" y="3443355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4265677" y="3107622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</a:t>
            </a:r>
            <a:r>
              <a:rPr lang="en-IE" b="1" dirty="0"/>
              <a:t>V2.0</a:t>
            </a:r>
            <a:r>
              <a:rPr lang="en-IE" dirty="0"/>
              <a:t>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changes</a:t>
            </a:r>
            <a:r>
              <a:rPr lang="en-IE" dirty="0"/>
              <a:t> to classes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1776339" y="1869736"/>
            <a:ext cx="1276210" cy="327578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Some</a:t>
            </a:r>
            <a:r>
              <a:rPr lang="en-IE" sz="2100" dirty="0"/>
              <a:t> changes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B01D25-63AE-43E3-9549-7E0C06EFE8F2}"/>
              </a:ext>
            </a:extLst>
          </p:cNvPr>
          <p:cNvSpPr txBox="1">
            <a:spLocks/>
          </p:cNvSpPr>
          <p:nvPr/>
        </p:nvSpPr>
        <p:spPr>
          <a:xfrm>
            <a:off x="3714750" y="2743127"/>
            <a:ext cx="1738835" cy="711610"/>
          </a:xfrm>
          <a:prstGeom prst="rect">
            <a:avLst/>
          </a:prstGeom>
          <a:solidFill>
            <a:srgbClr val="FF40F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dirty="0"/>
              <a:t>This is a </a:t>
            </a:r>
            <a:r>
              <a:rPr lang="en-IE" sz="2100" b="1" dirty="0"/>
              <a:t>new</a:t>
            </a:r>
            <a:endParaRPr lang="en-IE" sz="21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E" sz="2100" b="1" dirty="0">
                <a:solidFill>
                  <a:schemeClr val="bg1"/>
                </a:solidFill>
              </a:rPr>
              <a:t>Store</a:t>
            </a:r>
            <a:r>
              <a:rPr lang="en-IE" sz="2100" b="1" dirty="0">
                <a:solidFill>
                  <a:srgbClr val="FF40FF"/>
                </a:solidFill>
              </a:rPr>
              <a:t> </a:t>
            </a:r>
            <a:r>
              <a:rPr lang="en-IE" sz="2100" dirty="0">
                <a:solidFill>
                  <a:schemeClr val="tx1"/>
                </a:solidFill>
              </a:rPr>
              <a:t>class</a:t>
            </a:r>
            <a:endParaRPr lang="en-IE" sz="2100" dirty="0">
              <a:solidFill>
                <a:srgbClr val="FF40FF"/>
              </a:solidFill>
            </a:endParaRPr>
          </a:p>
          <a:p>
            <a:pPr marL="0" indent="0" algn="ctr">
              <a:buNone/>
            </a:pPr>
            <a:endParaRPr lang="en-IE" sz="2100" dirty="0"/>
          </a:p>
        </p:txBody>
      </p:sp>
      <p:sp>
        <p:nvSpPr>
          <p:cNvPr id="12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709928" y="1079902"/>
            <a:ext cx="1388341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127217" y="2500913"/>
            <a:ext cx="1738834" cy="62865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4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453586" y="2197315"/>
            <a:ext cx="1416583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714750" y="1746505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16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098267" y="1410771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6282665" y="3226005"/>
            <a:ext cx="1485900" cy="29215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No</a:t>
            </a:r>
            <a:r>
              <a:rPr lang="en-IE" sz="2100" dirty="0"/>
              <a:t> changes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135" y="3553927"/>
            <a:ext cx="1536065" cy="91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720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496D39-FC4F-4E47-A92A-F8D00A2F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209631"/>
            <a:ext cx="4168379" cy="3537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3028950" y="1721358"/>
            <a:ext cx="3116174" cy="33442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3028950" y="3923622"/>
            <a:ext cx="3116174" cy="74180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8" name="TextBox 7"/>
          <p:cNvSpPr txBox="1"/>
          <p:nvPr/>
        </p:nvSpPr>
        <p:spPr>
          <a:xfrm>
            <a:off x="1294896" y="1723477"/>
            <a:ext cx="1257300" cy="3231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constructor</a:t>
            </a:r>
            <a:r>
              <a:rPr lang="en-IE" sz="1500" dirty="0"/>
              <a:t>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2552196" y="1864233"/>
            <a:ext cx="476754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0083" y="4099311"/>
            <a:ext cx="125730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2497149" y="4249353"/>
            <a:ext cx="51435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4896" y="2340750"/>
            <a:ext cx="1257300" cy="55399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private methods</a:t>
            </a:r>
            <a:endParaRPr lang="en-IE" sz="1500" dirty="0"/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2552197" y="2488370"/>
            <a:ext cx="498022" cy="2421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94897" y="3061341"/>
            <a:ext cx="1252487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setter</a:t>
            </a:r>
            <a:endParaRPr lang="en-IE" sz="1500" dirty="0"/>
          </a:p>
        </p:txBody>
      </p:sp>
      <p:cxnSp>
        <p:nvCxnSpPr>
          <p:cNvPr id="15" name="Straight Arrow Connector 14"/>
          <p:cNvCxnSpPr>
            <a:cxnSpLocks/>
            <a:stCxn id="14" idx="3"/>
            <a:endCxn id="19" idx="1"/>
          </p:cNvCxnSpPr>
          <p:nvPr/>
        </p:nvCxnSpPr>
        <p:spPr>
          <a:xfrm flipV="1">
            <a:off x="2547384" y="3198058"/>
            <a:ext cx="481567" cy="2486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28951" y="2031724"/>
            <a:ext cx="3121982" cy="913292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28951" y="2986288"/>
            <a:ext cx="3121982" cy="42354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0" name="TextBox 19"/>
          <p:cNvSpPr txBox="1"/>
          <p:nvPr/>
        </p:nvSpPr>
        <p:spPr>
          <a:xfrm>
            <a:off x="1290085" y="3505306"/>
            <a:ext cx="1252487" cy="55399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Like </a:t>
            </a:r>
            <a:r>
              <a:rPr lang="en-IE" sz="1500" b="1" dirty="0" err="1"/>
              <a:t>toString</a:t>
            </a:r>
            <a:endParaRPr lang="en-IE" sz="1500" dirty="0"/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V="1">
            <a:off x="2537148" y="3648433"/>
            <a:ext cx="481567" cy="1332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3028951" y="3403224"/>
            <a:ext cx="3121982" cy="42354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896" y="68388"/>
            <a:ext cx="1536065" cy="918439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  <p:sp>
        <p:nvSpPr>
          <p:cNvPr id="2" name="Rectangle: Rounded Corners 3">
            <a:extLst>
              <a:ext uri="{FF2B5EF4-FFF2-40B4-BE49-F238E27FC236}">
                <a16:creationId xmlns:a16="http://schemas.microsoft.com/office/drawing/2014/main" id="{E682849B-DF1C-2770-6A55-716AFBCC2614}"/>
              </a:ext>
            </a:extLst>
          </p:cNvPr>
          <p:cNvSpPr/>
          <p:nvPr/>
        </p:nvSpPr>
        <p:spPr>
          <a:xfrm>
            <a:off x="5815584" y="144967"/>
            <a:ext cx="2286000" cy="971550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Store</a:t>
            </a:r>
            <a:r>
              <a:rPr lang="en-IE" sz="3000" dirty="0"/>
              <a:t> – new class</a:t>
            </a:r>
          </a:p>
        </p:txBody>
      </p:sp>
    </p:spTree>
    <p:extLst>
      <p:ext uri="{BB962C8B-B14F-4D97-AF65-F5344CB8AC3E}">
        <p14:creationId xmlns:p14="http://schemas.microsoft.com/office/powerpoint/2010/main" val="40096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  <p:bldP spid="14" grpId="0" animBg="1"/>
      <p:bldP spid="18" grpId="0" animBg="1"/>
      <p:bldP spid="19" grpId="0" animBg="1"/>
      <p:bldP spid="20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CAFBB-0114-AA89-77BC-70CA7FE2C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1785108"/>
            <a:ext cx="5815584" cy="292650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Product[]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88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//other methods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33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1" y="285751"/>
            <a:ext cx="2229121" cy="1891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896" y="68388"/>
            <a:ext cx="1536065" cy="918439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610661" y="2686699"/>
            <a:ext cx="1200422" cy="55399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/>
              <a:t>Why </a:t>
            </a:r>
            <a:r>
              <a:rPr lang="en-IE" sz="1500" dirty="0"/>
              <a:t>private?</a:t>
            </a:r>
          </a:p>
        </p:txBody>
      </p:sp>
      <p:pic>
        <p:nvPicPr>
          <p:cNvPr id="18" name="Picture 17" descr="Image result for questi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87" y="2237710"/>
            <a:ext cx="625772" cy="50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BCE26-D4B3-392F-A110-284BB7679549}"/>
              </a:ext>
            </a:extLst>
          </p:cNvPr>
          <p:cNvSpPr txBox="1"/>
          <p:nvPr/>
        </p:nvSpPr>
        <p:spPr>
          <a:xfrm>
            <a:off x="4452242" y="2459103"/>
            <a:ext cx="125730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</a:p>
        </p:txBody>
      </p:sp>
      <p:sp>
        <p:nvSpPr>
          <p:cNvPr id="4" name="Rectangle: Rounded Corners 8">
            <a:extLst>
              <a:ext uri="{FF2B5EF4-FFF2-40B4-BE49-F238E27FC236}">
                <a16:creationId xmlns:a16="http://schemas.microsoft.com/office/drawing/2014/main" id="{DE0475FA-0E0C-B988-DB11-AB0F3F3F7F70}"/>
              </a:ext>
            </a:extLst>
          </p:cNvPr>
          <p:cNvSpPr/>
          <p:nvPr/>
        </p:nvSpPr>
        <p:spPr>
          <a:xfrm>
            <a:off x="5753863" y="1696213"/>
            <a:ext cx="2038932" cy="45021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0F59FD-29F3-8B06-6477-5C0A9C4E43D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310052" y="1921322"/>
            <a:ext cx="1443811" cy="519208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FA28A2CC-E642-D4DE-818D-E6FEF8A8732E}"/>
              </a:ext>
            </a:extLst>
          </p:cNvPr>
          <p:cNvSpPr/>
          <p:nvPr/>
        </p:nvSpPr>
        <p:spPr>
          <a:xfrm>
            <a:off x="644652" y="2342724"/>
            <a:ext cx="3607308" cy="55592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368163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  <p:bldP spid="4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D04CDE-064E-2616-886E-D42AF6FF2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1785108"/>
            <a:ext cx="5815584" cy="292650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Product[]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88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//other methods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33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1" y="285751"/>
            <a:ext cx="2229121" cy="1891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5772150" y="514350"/>
            <a:ext cx="1973174" cy="2286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0" name="TextBox 9"/>
          <p:cNvSpPr txBox="1"/>
          <p:nvPr/>
        </p:nvSpPr>
        <p:spPr>
          <a:xfrm>
            <a:off x="6086611" y="3415851"/>
            <a:ext cx="1257300" cy="3231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constructor</a:t>
            </a:r>
            <a:r>
              <a:rPr lang="en-IE" sz="15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2242" y="2459103"/>
            <a:ext cx="125730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4389634" y="742950"/>
            <a:ext cx="1382516" cy="2302002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5753863" y="1696213"/>
            <a:ext cx="2038932" cy="45021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14" name="Straight Arrow Connector 13"/>
          <p:cNvCxnSpPr>
            <a:cxnSpLocks/>
            <a:stCxn id="12" idx="1"/>
          </p:cNvCxnSpPr>
          <p:nvPr/>
        </p:nvCxnSpPr>
        <p:spPr>
          <a:xfrm flipH="1">
            <a:off x="4310052" y="1921322"/>
            <a:ext cx="1443811" cy="519208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644652" y="2342724"/>
            <a:ext cx="3607308" cy="55592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20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644652" y="3109094"/>
            <a:ext cx="5225796" cy="83439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896" y="68388"/>
            <a:ext cx="1536065" cy="918439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610661" y="2686699"/>
            <a:ext cx="1200422" cy="55399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/>
              <a:t>Why </a:t>
            </a:r>
            <a:r>
              <a:rPr lang="en-IE" sz="1500" dirty="0"/>
              <a:t>private?</a:t>
            </a:r>
          </a:p>
        </p:txBody>
      </p:sp>
      <p:pic>
        <p:nvPicPr>
          <p:cNvPr id="18" name="Picture 17" descr="Image result for questi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87" y="2237710"/>
            <a:ext cx="625772" cy="50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66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56E41A1-8747-4CDA-B7A3-6843BCBE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86" y="112989"/>
            <a:ext cx="5591915" cy="47447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altLang="en-US" sz="1688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88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altLang="en-US" sz="1688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88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add(Product product){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product;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en-US" sz="33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311" y="49449"/>
            <a:ext cx="2229121" cy="1891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6187611" y="536897"/>
            <a:ext cx="1978982" cy="655551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21" name="TextBox 20"/>
          <p:cNvSpPr txBox="1"/>
          <p:nvPr/>
        </p:nvSpPr>
        <p:spPr>
          <a:xfrm>
            <a:off x="6363556" y="3690047"/>
            <a:ext cx="2000520" cy="1015663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set</a:t>
            </a:r>
            <a:r>
              <a:rPr lang="en-IE" sz="1500" dirty="0"/>
              <a:t>ter</a:t>
            </a:r>
            <a:r>
              <a:rPr lang="en-IE" sz="1500" b="1" dirty="0"/>
              <a:t> </a:t>
            </a:r>
          </a:p>
          <a:p>
            <a:r>
              <a:rPr lang="en-IE" sz="1500" b="1" dirty="0"/>
              <a:t>add()</a:t>
            </a:r>
            <a:r>
              <a:rPr lang="en-IE" sz="1500" dirty="0"/>
              <a:t> makes use of private method </a:t>
            </a:r>
            <a:r>
              <a:rPr lang="en-IE" sz="1500" b="1" dirty="0" err="1"/>
              <a:t>isFull</a:t>
            </a:r>
            <a:r>
              <a:rPr lang="en-IE" sz="1500" b="1"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3556" y="2047304"/>
            <a:ext cx="2000520" cy="147732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get</a:t>
            </a:r>
            <a:r>
              <a:rPr lang="en-IE" sz="1500" dirty="0"/>
              <a:t>ters</a:t>
            </a:r>
          </a:p>
          <a:p>
            <a:r>
              <a:rPr lang="en-IE" sz="1500" b="1" dirty="0" err="1"/>
              <a:t>isFull</a:t>
            </a:r>
            <a:r>
              <a:rPr lang="en-IE" sz="1500" b="1" dirty="0"/>
              <a:t>()</a:t>
            </a:r>
            <a:r>
              <a:rPr lang="en-IE" sz="1500" dirty="0"/>
              <a:t> &amp; </a:t>
            </a:r>
            <a:r>
              <a:rPr lang="en-IE" sz="1500" b="1" dirty="0" err="1"/>
              <a:t>isEmpty</a:t>
            </a:r>
            <a:r>
              <a:rPr lang="en-IE" sz="1500" b="1" dirty="0"/>
              <a:t>()</a:t>
            </a:r>
            <a:r>
              <a:rPr lang="en-IE" sz="1500" dirty="0"/>
              <a:t> return state of fields.</a:t>
            </a:r>
          </a:p>
          <a:p>
            <a:br>
              <a:rPr lang="en-IE" sz="1500" dirty="0"/>
            </a:br>
            <a:r>
              <a:rPr lang="en-IE" sz="1500" dirty="0"/>
              <a:t>They are private member methods</a:t>
            </a:r>
          </a:p>
        </p:txBody>
      </p:sp>
    </p:spTree>
    <p:extLst>
      <p:ext uri="{BB962C8B-B14F-4D97-AF65-F5344CB8AC3E}">
        <p14:creationId xmlns:p14="http://schemas.microsoft.com/office/powerpoint/2010/main" val="19110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6794C-EC2E-4787-98D6-728E07249857}"/>
              </a:ext>
            </a:extLst>
          </p:cNvPr>
          <p:cNvSpPr/>
          <p:nvPr/>
        </p:nvSpPr>
        <p:spPr>
          <a:xfrm>
            <a:off x="134206" y="423820"/>
            <a:ext cx="6229350" cy="398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88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 products"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88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88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en-US" sz="1688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altLang="en-US" sz="1688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sz="1688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E" sz="1688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5481F-A5F2-20FE-8139-615004C9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311" y="49449"/>
            <a:ext cx="2229121" cy="1891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6212725" y="1206082"/>
            <a:ext cx="1978982" cy="258297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9" name="TextBox 8"/>
          <p:cNvSpPr txBox="1"/>
          <p:nvPr/>
        </p:nvSpPr>
        <p:spPr>
          <a:xfrm>
            <a:off x="5273725" y="3350964"/>
            <a:ext cx="3254739" cy="78483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dirty="0" err="1"/>
              <a:t>toString</a:t>
            </a:r>
            <a:r>
              <a:rPr lang="en-IE" sz="1500" b="1" dirty="0"/>
              <a:t> </a:t>
            </a:r>
            <a:r>
              <a:rPr lang="en-IE" sz="1500" dirty="0"/>
              <a:t>type method</a:t>
            </a:r>
            <a:r>
              <a:rPr lang="en-IE" sz="1500" b="1" dirty="0"/>
              <a:t> </a:t>
            </a:r>
            <a:r>
              <a:rPr lang="en-IE" sz="1500" b="1" dirty="0" err="1"/>
              <a:t>listProducts</a:t>
            </a:r>
            <a:r>
              <a:rPr lang="en-IE" sz="1500" b="1" dirty="0"/>
              <a:t>() </a:t>
            </a:r>
            <a:r>
              <a:rPr lang="en-IE" sz="1500" dirty="0"/>
              <a:t>makes use of private method </a:t>
            </a:r>
            <a:r>
              <a:rPr lang="en-IE" sz="1500" b="1" dirty="0" err="1"/>
              <a:t>isEmpty</a:t>
            </a:r>
            <a:r>
              <a:rPr lang="en-IE" sz="15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613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5D8F36-428E-4282-A102-A6A7707EB2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2555112" y="1080289"/>
            <a:ext cx="4541534" cy="2750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5A8B5E-5846-43EE-8746-0FE1E2081B35}"/>
              </a:ext>
            </a:extLst>
          </p:cNvPr>
          <p:cNvSpPr/>
          <p:nvPr/>
        </p:nvSpPr>
        <p:spPr>
          <a:xfrm>
            <a:off x="2566198" y="3943547"/>
            <a:ext cx="2243537" cy="85725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1) Product</a:t>
            </a:r>
            <a:r>
              <a:rPr lang="en-IE" sz="1500" dirty="0"/>
              <a:t> object removed and replaced with </a:t>
            </a:r>
            <a:r>
              <a:rPr lang="en-IE" sz="1500" b="1" dirty="0"/>
              <a:t>Store</a:t>
            </a:r>
            <a:r>
              <a:rPr lang="en-IE" sz="1500" dirty="0"/>
              <a:t> object.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321256" y="3639312"/>
            <a:ext cx="1840968" cy="1170629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dirty="0"/>
              <a:t>3) New method, </a:t>
            </a:r>
            <a:r>
              <a:rPr lang="en-IE" sz="1500" b="1" dirty="0" err="1"/>
              <a:t>processOrder</a:t>
            </a:r>
            <a:r>
              <a:rPr lang="en-IE" sz="1500" b="1" dirty="0"/>
              <a:t>()</a:t>
            </a:r>
            <a:r>
              <a:rPr lang="en-IE" sz="1500" dirty="0"/>
              <a:t>, reads in products from the user.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F49B5D-4EB0-4E8C-8A08-5D0D661A587B}"/>
              </a:ext>
            </a:extLst>
          </p:cNvPr>
          <p:cNvSpPr/>
          <p:nvPr/>
        </p:nvSpPr>
        <p:spPr>
          <a:xfrm>
            <a:off x="357058" y="974624"/>
            <a:ext cx="1827119" cy="1260873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2) </a:t>
            </a:r>
            <a:r>
              <a:rPr lang="en-IE" sz="1500" b="1" dirty="0" err="1"/>
              <a:t>addProduct</a:t>
            </a:r>
            <a:r>
              <a:rPr lang="en-IE" sz="1500" b="1" dirty="0"/>
              <a:t>()</a:t>
            </a:r>
            <a:r>
              <a:rPr lang="en-IE" sz="1500" dirty="0"/>
              <a:t> changed to add the entered product to the array.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AAFA16-C0D0-456E-91C1-D111CE7FDAB0}"/>
              </a:ext>
            </a:extLst>
          </p:cNvPr>
          <p:cNvSpPr/>
          <p:nvPr/>
        </p:nvSpPr>
        <p:spPr>
          <a:xfrm>
            <a:off x="343208" y="2429463"/>
            <a:ext cx="1840968" cy="1052461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5) </a:t>
            </a:r>
            <a:r>
              <a:rPr lang="en-IE" sz="1500" b="1" dirty="0" err="1"/>
              <a:t>printProduct</a:t>
            </a:r>
            <a:r>
              <a:rPr lang="en-IE" sz="1500" b="1" dirty="0"/>
              <a:t>()</a:t>
            </a:r>
            <a:r>
              <a:rPr lang="en-IE" sz="1500" dirty="0"/>
              <a:t> changed to print out all products in the array.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7027444" y="786790"/>
            <a:ext cx="1363358" cy="327578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5 changes</a:t>
            </a:r>
          </a:p>
          <a:p>
            <a:pPr marL="0" indent="0" algn="ctr">
              <a:buNone/>
            </a:pPr>
            <a:endParaRPr lang="en-IE" sz="2100" dirty="0"/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7022592" y="42232"/>
            <a:ext cx="1363358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357058" y="37708"/>
            <a:ext cx="1827119" cy="742950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4) main() </a:t>
            </a:r>
            <a:r>
              <a:rPr lang="en-IE" sz="1500" dirty="0"/>
              <a:t>changed to call </a:t>
            </a:r>
            <a:r>
              <a:rPr lang="en-IE" sz="1500" b="1" dirty="0" err="1"/>
              <a:t>processOrder</a:t>
            </a:r>
            <a:r>
              <a:rPr lang="en-IE" sz="1500" b="1" dirty="0"/>
              <a:t>()</a:t>
            </a:r>
            <a:r>
              <a:rPr lang="en-IE" sz="1500" dirty="0"/>
              <a:t> 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 flipH="1" flipV="1">
            <a:off x="2135685" y="762703"/>
            <a:ext cx="930734" cy="801590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 flipV="1">
            <a:off x="2184177" y="1330712"/>
            <a:ext cx="882242" cy="607816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H="1">
            <a:off x="2184176" y="2372868"/>
            <a:ext cx="882243" cy="189516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2162225" y="2770632"/>
            <a:ext cx="904194" cy="1023424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3150108" y="3481924"/>
            <a:ext cx="0" cy="440852"/>
          </a:xfrm>
          <a:prstGeom prst="straightConnector1">
            <a:avLst/>
          </a:prstGeom>
          <a:ln w="3492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95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2" grpId="0" animBg="1"/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5543551" y="114301"/>
            <a:ext cx="2395667" cy="1450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5657850" y="1314450"/>
            <a:ext cx="1885950" cy="153566"/>
          </a:xfrm>
          <a:prstGeom prst="roundRect">
            <a:avLst/>
          </a:prstGeom>
          <a:noFill/>
          <a:ln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CA0D8-AE1F-43BE-8D4F-AE9FD47F3413}"/>
              </a:ext>
            </a:extLst>
          </p:cNvPr>
          <p:cNvSpPr/>
          <p:nvPr/>
        </p:nvSpPr>
        <p:spPr>
          <a:xfrm>
            <a:off x="1204782" y="1453120"/>
            <a:ext cx="6890004" cy="24300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sz="1688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sz="1688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</a:t>
            </a:r>
            <a:r>
              <a:rPr lang="en-US" altLang="en-US" sz="1688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88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//code omitted</a:t>
            </a:r>
          </a:p>
          <a:p>
            <a:pPr algn="l"/>
            <a:r>
              <a:rPr 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E" sz="1688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8DE4A2-1B55-4B91-8010-D108B12D2DB4}"/>
              </a:ext>
            </a:extLst>
          </p:cNvPr>
          <p:cNvSpPr/>
          <p:nvPr/>
        </p:nvSpPr>
        <p:spPr>
          <a:xfrm>
            <a:off x="1709928" y="2775204"/>
            <a:ext cx="2633472" cy="285750"/>
          </a:xfrm>
          <a:prstGeom prst="roundRect">
            <a:avLst/>
          </a:prstGeom>
          <a:noFill/>
          <a:ln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085A8B5E-5846-43EE-8746-0FE1E2081B35}"/>
              </a:ext>
            </a:extLst>
          </p:cNvPr>
          <p:cNvSpPr/>
          <p:nvPr/>
        </p:nvSpPr>
        <p:spPr>
          <a:xfrm>
            <a:off x="5143499" y="3805047"/>
            <a:ext cx="2286001" cy="85725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1) Product</a:t>
            </a:r>
            <a:r>
              <a:rPr lang="en-IE" sz="1500" dirty="0"/>
              <a:t> object removed and replaced with </a:t>
            </a:r>
            <a:r>
              <a:rPr lang="en-IE" sz="1500" b="1" dirty="0"/>
              <a:t>Store</a:t>
            </a:r>
            <a:r>
              <a:rPr lang="en-IE" sz="1500" dirty="0"/>
              <a:t> object.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 flipV="1">
            <a:off x="4343401" y="3033522"/>
            <a:ext cx="1191620" cy="914400"/>
          </a:xfrm>
          <a:prstGeom prst="straightConnector1">
            <a:avLst/>
          </a:prstGeom>
          <a:ln w="3492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283173" y="50292"/>
            <a:ext cx="891563" cy="771869"/>
            <a:chOff x="7370436" y="-60829"/>
            <a:chExt cx="1701613" cy="1412539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68580" tIns="34290" rIns="68580" bIns="34290" rtlCol="0" anchor="ctr">
              <a:normAutofit fontScale="47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100" b="1" dirty="0"/>
                <a:t>Change - 1</a:t>
              </a:r>
            </a:p>
          </p:txBody>
        </p:sp>
        <p:sp>
          <p:nvSpPr>
            <p:cNvPr id="13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-60829"/>
              <a:ext cx="1701613" cy="882321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688" b="1" dirty="0"/>
                <a:t>Driver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69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52DCC10-5650-40B3-92F8-46CC11C26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307" y="1640144"/>
            <a:ext cx="6615543" cy="21698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//find out from the user how many products they would like to order</a:t>
            </a:r>
            <a:b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05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05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"How many Products would you like to have in your Store? "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05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05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05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//ask the user for the details of the products and add them to the order</a:t>
            </a:r>
            <a:b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05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05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05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05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05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0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2700" dirty="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5543551" y="114301"/>
            <a:ext cx="2395667" cy="1450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5657850" y="914400"/>
            <a:ext cx="1885950" cy="17145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385457" y="74155"/>
            <a:ext cx="1840968" cy="1170629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dirty="0"/>
              <a:t>2) New method, </a:t>
            </a:r>
            <a:r>
              <a:rPr lang="en-IE" sz="1500" b="1" dirty="0" err="1"/>
              <a:t>processOrder</a:t>
            </a:r>
            <a:r>
              <a:rPr lang="en-IE" sz="1500" b="1" dirty="0"/>
              <a:t>()</a:t>
            </a:r>
            <a:r>
              <a:rPr lang="en-IE" sz="1500" dirty="0"/>
              <a:t>, reads in products from the user. </a:t>
            </a:r>
          </a:p>
        </p:txBody>
      </p:sp>
      <p:cxnSp>
        <p:nvCxnSpPr>
          <p:cNvPr id="9" name="Straight Arrow Connector 8"/>
          <p:cNvCxnSpPr>
            <a:cxnSpLocks/>
            <a:stCxn id="8" idx="2"/>
          </p:cNvCxnSpPr>
          <p:nvPr/>
        </p:nvCxnSpPr>
        <p:spPr>
          <a:xfrm>
            <a:off x="2305941" y="1244785"/>
            <a:ext cx="265809" cy="385310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4819370" y="3734641"/>
            <a:ext cx="3327934" cy="984437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57175" indent="-257175">
              <a:buFont typeface="Arial" charset="0"/>
              <a:buChar char="•"/>
            </a:pPr>
            <a:r>
              <a:rPr lang="en-IE" sz="1500" dirty="0"/>
              <a:t>Asks how many?</a:t>
            </a:r>
          </a:p>
          <a:p>
            <a:pPr marL="257175" indent="-257175">
              <a:buFont typeface="Arial" charset="0"/>
              <a:buChar char="•"/>
            </a:pPr>
            <a:r>
              <a:rPr lang="en-IE" sz="1500" dirty="0"/>
              <a:t>Pass into Store constructor to initialise an array to that size</a:t>
            </a:r>
          </a:p>
          <a:p>
            <a:pPr marL="257175" indent="-257175">
              <a:buFont typeface="Arial" charset="0"/>
              <a:buChar char="•"/>
            </a:pPr>
            <a:r>
              <a:rPr lang="en-IE" sz="1500" dirty="0"/>
              <a:t>Calls </a:t>
            </a:r>
            <a:r>
              <a:rPr lang="en-IE" sz="1500" dirty="0" err="1"/>
              <a:t>addProduct</a:t>
            </a:r>
            <a:r>
              <a:rPr lang="en-IE" sz="1500" dirty="0"/>
              <a:t>() for each one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1D4BD0-8902-62A6-3D51-5BF3AD65F8F9}"/>
              </a:ext>
            </a:extLst>
          </p:cNvPr>
          <p:cNvSpPr txBox="1">
            <a:spLocks/>
          </p:cNvSpPr>
          <p:nvPr/>
        </p:nvSpPr>
        <p:spPr>
          <a:xfrm>
            <a:off x="7283173" y="583491"/>
            <a:ext cx="891563" cy="238670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Change - 2</a:t>
            </a:r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253E5A0D-8898-F677-528D-CE8BC52DCBA7}"/>
              </a:ext>
            </a:extLst>
          </p:cNvPr>
          <p:cNvSpPr/>
          <p:nvPr/>
        </p:nvSpPr>
        <p:spPr>
          <a:xfrm>
            <a:off x="7283173" y="50292"/>
            <a:ext cx="891563" cy="482136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b="1" dirty="0"/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31073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5543551" y="114301"/>
            <a:ext cx="2395667" cy="1450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5657850" y="914400"/>
            <a:ext cx="1885950" cy="17145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04B4F9-E514-47EE-8647-286E3AD82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736" y="1972819"/>
            <a:ext cx="3857467" cy="99257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Driver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driver.processOrder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driver.printProduct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3000" dirty="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2857500" y="2380190"/>
            <a:ext cx="2371460" cy="232698"/>
          </a:xfrm>
          <a:prstGeom prst="roundRect">
            <a:avLst/>
          </a:prstGeom>
          <a:noFill/>
          <a:ln w="38100"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9" name="Straight Arrow Connector 8"/>
          <p:cNvCxnSpPr>
            <a:cxnSpLocks/>
            <a:stCxn id="11" idx="2"/>
          </p:cNvCxnSpPr>
          <p:nvPr/>
        </p:nvCxnSpPr>
        <p:spPr>
          <a:xfrm>
            <a:off x="2065925" y="990970"/>
            <a:ext cx="968644" cy="1389220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097280" y="248020"/>
            <a:ext cx="1937289" cy="742950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3) main() </a:t>
            </a:r>
            <a:r>
              <a:rPr lang="en-IE" sz="1500" dirty="0"/>
              <a:t>changed to call </a:t>
            </a:r>
            <a:r>
              <a:rPr lang="en-IE" sz="1500" b="1" dirty="0" err="1"/>
              <a:t>processOrder</a:t>
            </a:r>
            <a:r>
              <a:rPr lang="en-IE" sz="1500" b="1" dirty="0"/>
              <a:t>()</a:t>
            </a:r>
            <a:r>
              <a:rPr lang="en-IE" sz="1500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80E851-9D0A-4F4E-A1F9-2E23294D0F3C}"/>
              </a:ext>
            </a:extLst>
          </p:cNvPr>
          <p:cNvSpPr txBox="1">
            <a:spLocks/>
          </p:cNvSpPr>
          <p:nvPr/>
        </p:nvSpPr>
        <p:spPr>
          <a:xfrm>
            <a:off x="7283173" y="583491"/>
            <a:ext cx="891563" cy="238670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Change - 3</a:t>
            </a:r>
          </a:p>
        </p:txBody>
      </p:sp>
      <p:sp>
        <p:nvSpPr>
          <p:cNvPr id="13" name="Rectangle: Rounded Corners 3">
            <a:extLst>
              <a:ext uri="{FF2B5EF4-FFF2-40B4-BE49-F238E27FC236}">
                <a16:creationId xmlns:a16="http://schemas.microsoft.com/office/drawing/2014/main" id="{C9742311-6124-D779-CAC0-75240AA99D0B}"/>
              </a:ext>
            </a:extLst>
          </p:cNvPr>
          <p:cNvSpPr/>
          <p:nvPr/>
        </p:nvSpPr>
        <p:spPr>
          <a:xfrm>
            <a:off x="7283173" y="50292"/>
            <a:ext cx="891563" cy="482136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b="1" dirty="0"/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125499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044BBA6-9870-4C6F-98D5-92D723C87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696" y="2112839"/>
            <a:ext cx="3593592" cy="266675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1688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88" dirty="0">
                <a:solidFill>
                  <a:srgbClr val="00627A"/>
                </a:solidFill>
                <a:latin typeface="JetBrains Mono"/>
              </a:rPr>
              <a:t>add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88" dirty="0">
                <a:solidFill>
                  <a:srgbClr val="000000"/>
                </a:solidFill>
                <a:latin typeface="JetBrains Mono"/>
              </a:rPr>
              <a:t>Product 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product){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88" dirty="0" err="1">
                <a:solidFill>
                  <a:srgbClr val="080808"/>
                </a:solidFill>
                <a:latin typeface="JetBrains Mono"/>
              </a:rPr>
              <a:t>isFull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()){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return false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88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1688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] = product;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88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++;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88" dirty="0">
                <a:solidFill>
                  <a:srgbClr val="0033B3"/>
                </a:solidFill>
                <a:latin typeface="JetBrains Mono"/>
              </a:rPr>
              <a:t>return true</a:t>
            </a: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88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88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3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3">
            <a:extLst>
              <a:ext uri="{FF2B5EF4-FFF2-40B4-BE49-F238E27FC236}">
                <a16:creationId xmlns:a16="http://schemas.microsoft.com/office/drawing/2014/main" id="{543A53CE-88A2-4C2B-A822-C55A06EE0612}"/>
              </a:ext>
            </a:extLst>
          </p:cNvPr>
          <p:cNvSpPr/>
          <p:nvPr/>
        </p:nvSpPr>
        <p:spPr>
          <a:xfrm>
            <a:off x="610491" y="998414"/>
            <a:ext cx="3712335" cy="222885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Store</a:t>
            </a:r>
          </a:p>
          <a:p>
            <a:pPr algn="ctr"/>
            <a:endParaRPr lang="en-IE" sz="1500" b="1" dirty="0"/>
          </a:p>
          <a:p>
            <a:pPr algn="ctr"/>
            <a:r>
              <a:rPr lang="en-IE" sz="1500" dirty="0"/>
              <a:t>If there is space in the Array, the Product, passed as a parameter is added to the Primitive Array.</a:t>
            </a:r>
          </a:p>
          <a:p>
            <a:pPr algn="ctr"/>
            <a:endParaRPr lang="en-IE" sz="1500" dirty="0"/>
          </a:p>
          <a:p>
            <a:pPr algn="ctr"/>
            <a:r>
              <a:rPr lang="en-IE" sz="1500" dirty="0"/>
              <a:t>A </a:t>
            </a:r>
            <a:r>
              <a:rPr lang="en-IE" sz="1500" dirty="0" err="1"/>
              <a:t>boolean</a:t>
            </a:r>
            <a:r>
              <a:rPr lang="en-IE" sz="1500" dirty="0"/>
              <a:t> result is returned indicating whether the product was added successfully or not.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AFDBFE-EDA6-4D4D-BC52-289F1278A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3" y="91412"/>
            <a:ext cx="2229121" cy="1891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Rectangle: Rounded Corners 20">
            <a:extLst>
              <a:ext uri="{FF2B5EF4-FFF2-40B4-BE49-F238E27FC236}">
                <a16:creationId xmlns:a16="http://schemas.microsoft.com/office/drawing/2014/main" id="{118E52C7-0D21-4A57-A52C-5F70999C3FB3}"/>
              </a:ext>
            </a:extLst>
          </p:cNvPr>
          <p:cNvSpPr/>
          <p:nvPr/>
        </p:nvSpPr>
        <p:spPr>
          <a:xfrm>
            <a:off x="5971033" y="1005811"/>
            <a:ext cx="1978982" cy="258297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33328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36"/>
          <a:stretch/>
        </p:blipFill>
        <p:spPr>
          <a:xfrm>
            <a:off x="5369815" y="114301"/>
            <a:ext cx="2395667" cy="1450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5484114" y="510252"/>
            <a:ext cx="1885950" cy="175548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2DF49B5D-4EB0-4E8C-8A08-5D0D661A587B}"/>
              </a:ext>
            </a:extLst>
          </p:cNvPr>
          <p:cNvSpPr/>
          <p:nvPr/>
        </p:nvSpPr>
        <p:spPr>
          <a:xfrm>
            <a:off x="1257301" y="112514"/>
            <a:ext cx="2016251" cy="1260873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4) </a:t>
            </a:r>
            <a:r>
              <a:rPr lang="en-IE" sz="1500" b="1" dirty="0" err="1"/>
              <a:t>addProduct</a:t>
            </a:r>
            <a:r>
              <a:rPr lang="en-IE" sz="1500" b="1" dirty="0"/>
              <a:t>()</a:t>
            </a:r>
            <a:r>
              <a:rPr lang="en-IE" sz="1500" dirty="0"/>
              <a:t> changed to add the entered product to the array.</a:t>
            </a:r>
          </a:p>
        </p:txBody>
      </p:sp>
      <p:sp>
        <p:nvSpPr>
          <p:cNvPr id="29" name="Rectangle: Rounded Corners 3">
            <a:extLst>
              <a:ext uri="{FF2B5EF4-FFF2-40B4-BE49-F238E27FC236}">
                <a16:creationId xmlns:a16="http://schemas.microsoft.com/office/drawing/2014/main" id="{ABEFBEAE-A9AE-4945-9408-4C94363DEA5E}"/>
              </a:ext>
            </a:extLst>
          </p:cNvPr>
          <p:cNvSpPr/>
          <p:nvPr/>
        </p:nvSpPr>
        <p:spPr>
          <a:xfrm>
            <a:off x="2286000" y="1961063"/>
            <a:ext cx="5532120" cy="22288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Driver</a:t>
            </a:r>
          </a:p>
          <a:p>
            <a:endParaRPr lang="en-IE" sz="1500" b="1" dirty="0"/>
          </a:p>
          <a:p>
            <a:r>
              <a:rPr lang="en-IE" sz="1500" dirty="0"/>
              <a:t>The </a:t>
            </a:r>
            <a:r>
              <a:rPr lang="en-IE" sz="1500" dirty="0" err="1"/>
              <a:t>addProduct</a:t>
            </a:r>
            <a:r>
              <a:rPr lang="en-IE" sz="1500" dirty="0"/>
              <a:t>() method needs to be updated to:</a:t>
            </a:r>
          </a:p>
          <a:p>
            <a:endParaRPr lang="en-IE" sz="1500" dirty="0"/>
          </a:p>
          <a:p>
            <a:pPr marL="342900" indent="-342900" algn="l">
              <a:buAutoNum type="arabicPeriod"/>
            </a:pPr>
            <a:r>
              <a:rPr lang="en-IE" sz="1500" dirty="0"/>
              <a:t>Add the product object to the array of products in Store</a:t>
            </a:r>
          </a:p>
          <a:p>
            <a:pPr marL="342900" indent="-342900" algn="l">
              <a:buAutoNum type="arabicPeriod"/>
            </a:pPr>
            <a:r>
              <a:rPr lang="en-IE" sz="1500" dirty="0"/>
              <a:t>Interrogate the Boolean result returned to let the user know if the update was successful or not.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B0F30F-8010-3778-9A06-221FE21D9C85}"/>
              </a:ext>
            </a:extLst>
          </p:cNvPr>
          <p:cNvSpPr txBox="1">
            <a:spLocks/>
          </p:cNvSpPr>
          <p:nvPr/>
        </p:nvSpPr>
        <p:spPr>
          <a:xfrm>
            <a:off x="7283173" y="583491"/>
            <a:ext cx="891563" cy="238670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Change - 4</a:t>
            </a:r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3501D7BE-AF42-47A3-B26E-022FBA4EAFAC}"/>
              </a:ext>
            </a:extLst>
          </p:cNvPr>
          <p:cNvSpPr/>
          <p:nvPr/>
        </p:nvSpPr>
        <p:spPr>
          <a:xfrm>
            <a:off x="7283173" y="50292"/>
            <a:ext cx="891563" cy="482136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b="1" dirty="0"/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11879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18" y="171651"/>
            <a:ext cx="6856685" cy="468589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2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33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18" y="171651"/>
            <a:ext cx="6856685" cy="468589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2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9" name="Right Bracket 18"/>
          <p:cNvSpPr/>
          <p:nvPr/>
        </p:nvSpPr>
        <p:spPr>
          <a:xfrm>
            <a:off x="4339927" y="802548"/>
            <a:ext cx="86666" cy="331702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0" name="TextBox 19"/>
          <p:cNvSpPr txBox="1"/>
          <p:nvPr/>
        </p:nvSpPr>
        <p:spPr>
          <a:xfrm>
            <a:off x="4610515" y="820674"/>
            <a:ext cx="1741182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Read in a </a:t>
            </a:r>
            <a:r>
              <a:rPr lang="en-GB" sz="1688" b="1" dirty="0">
                <a:solidFill>
                  <a:srgbClr val="0070C0"/>
                </a:solidFill>
              </a:rPr>
              <a:t>string</a:t>
            </a:r>
          </a:p>
        </p:txBody>
      </p:sp>
      <p:sp>
        <p:nvSpPr>
          <p:cNvPr id="21" name="Right Bracket 20"/>
          <p:cNvSpPr/>
          <p:nvPr/>
        </p:nvSpPr>
        <p:spPr>
          <a:xfrm>
            <a:off x="4319211" y="1167200"/>
            <a:ext cx="107383" cy="327742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2" name="TextBox 21"/>
          <p:cNvSpPr txBox="1"/>
          <p:nvPr/>
        </p:nvSpPr>
        <p:spPr>
          <a:xfrm>
            <a:off x="4655676" y="1142858"/>
            <a:ext cx="1535998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Read in an </a:t>
            </a:r>
            <a:r>
              <a:rPr lang="en-GB" sz="1688" b="1" dirty="0" err="1">
                <a:solidFill>
                  <a:srgbClr val="0070C0"/>
                </a:solidFill>
              </a:rPr>
              <a:t>int</a:t>
            </a:r>
            <a:endParaRPr lang="en-GB" sz="1688" b="1" dirty="0">
              <a:solidFill>
                <a:srgbClr val="0070C0"/>
              </a:solidFill>
            </a:endParaRPr>
          </a:p>
        </p:txBody>
      </p:sp>
      <p:sp>
        <p:nvSpPr>
          <p:cNvPr id="23" name="Right Bracket 22"/>
          <p:cNvSpPr/>
          <p:nvPr/>
        </p:nvSpPr>
        <p:spPr>
          <a:xfrm>
            <a:off x="4319211" y="1516818"/>
            <a:ext cx="79749" cy="352084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4" name="TextBox 23"/>
          <p:cNvSpPr txBox="1"/>
          <p:nvPr/>
        </p:nvSpPr>
        <p:spPr>
          <a:xfrm>
            <a:off x="4639414" y="1465043"/>
            <a:ext cx="1874231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Read in a </a:t>
            </a:r>
            <a:r>
              <a:rPr lang="en-GB" sz="1688" b="1" dirty="0">
                <a:solidFill>
                  <a:srgbClr val="0070C0"/>
                </a:solidFill>
              </a:rPr>
              <a:t>double</a:t>
            </a:r>
          </a:p>
        </p:txBody>
      </p:sp>
      <p:sp>
        <p:nvSpPr>
          <p:cNvPr id="25" name="Right Bracket 24"/>
          <p:cNvSpPr/>
          <p:nvPr/>
        </p:nvSpPr>
        <p:spPr>
          <a:xfrm>
            <a:off x="5254327" y="2257256"/>
            <a:ext cx="49193" cy="352084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6" name="TextBox 25"/>
          <p:cNvSpPr txBox="1"/>
          <p:nvPr/>
        </p:nvSpPr>
        <p:spPr>
          <a:xfrm>
            <a:off x="5378791" y="2256961"/>
            <a:ext cx="1625766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Read in a </a:t>
            </a:r>
            <a:r>
              <a:rPr lang="en-GB" sz="1688" b="1" dirty="0">
                <a:solidFill>
                  <a:srgbClr val="0070C0"/>
                </a:solidFill>
              </a:rPr>
              <a:t>char</a:t>
            </a:r>
          </a:p>
        </p:txBody>
      </p:sp>
      <p:sp>
        <p:nvSpPr>
          <p:cNvPr id="27" name="Right Bracket 26"/>
          <p:cNvSpPr/>
          <p:nvPr/>
        </p:nvSpPr>
        <p:spPr>
          <a:xfrm>
            <a:off x="4667048" y="2609045"/>
            <a:ext cx="131389" cy="527771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8" name="TextBox 27"/>
          <p:cNvSpPr txBox="1"/>
          <p:nvPr/>
        </p:nvSpPr>
        <p:spPr>
          <a:xfrm>
            <a:off x="4884874" y="2755188"/>
            <a:ext cx="3792782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88" dirty="0">
                <a:solidFill>
                  <a:srgbClr val="0070C0"/>
                </a:solidFill>
              </a:rPr>
              <a:t>Set </a:t>
            </a:r>
            <a:r>
              <a:rPr lang="en-GB" sz="1688" b="1" dirty="0" err="1">
                <a:solidFill>
                  <a:srgbClr val="0070C0"/>
                </a:solidFill>
              </a:rPr>
              <a:t>boolean</a:t>
            </a:r>
            <a:r>
              <a:rPr lang="en-GB" sz="1688" dirty="0">
                <a:solidFill>
                  <a:srgbClr val="0070C0"/>
                </a:solidFill>
              </a:rPr>
              <a:t> based on char value</a:t>
            </a:r>
            <a:endParaRPr lang="en-GB" sz="1688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89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18" y="171651"/>
            <a:ext cx="6856685" cy="468589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2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2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21" name="Right Bracket 20"/>
          <p:cNvSpPr/>
          <p:nvPr/>
        </p:nvSpPr>
        <p:spPr>
          <a:xfrm>
            <a:off x="4672864" y="3568157"/>
            <a:ext cx="107383" cy="436915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2" name="TextBox 21"/>
          <p:cNvSpPr txBox="1"/>
          <p:nvPr/>
        </p:nvSpPr>
        <p:spPr>
          <a:xfrm>
            <a:off x="4801556" y="3580391"/>
            <a:ext cx="4104009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Console response if add was successful</a:t>
            </a:r>
            <a:endParaRPr lang="en-GB" sz="1688" b="1" dirty="0">
              <a:solidFill>
                <a:srgbClr val="0070C0"/>
              </a:solidFill>
            </a:endParaRPr>
          </a:p>
        </p:txBody>
      </p:sp>
      <p:sp>
        <p:nvSpPr>
          <p:cNvPr id="23" name="Right Bracket 22"/>
          <p:cNvSpPr/>
          <p:nvPr/>
        </p:nvSpPr>
        <p:spPr>
          <a:xfrm>
            <a:off x="4672864" y="4208826"/>
            <a:ext cx="107383" cy="352084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24" name="TextBox 23"/>
          <p:cNvSpPr txBox="1"/>
          <p:nvPr/>
        </p:nvSpPr>
        <p:spPr>
          <a:xfrm>
            <a:off x="4772703" y="4202771"/>
            <a:ext cx="4344459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Console response if add was unsuccessful</a:t>
            </a:r>
            <a:endParaRPr lang="en-GB" sz="1688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D62C7-6683-4265-8F72-C5B7E42A8352}"/>
              </a:ext>
            </a:extLst>
          </p:cNvPr>
          <p:cNvSpPr txBox="1"/>
          <p:nvPr/>
        </p:nvSpPr>
        <p:spPr>
          <a:xfrm>
            <a:off x="6848165" y="784618"/>
            <a:ext cx="2057400" cy="16508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88" dirty="0"/>
              <a:t>The Store add method is called to add the product to the primitive array, if space is available.</a:t>
            </a:r>
            <a:endParaRPr lang="en-VI" sz="1688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297705-B5C3-40FF-B92B-882B8BA6ECA6}"/>
              </a:ext>
            </a:extLst>
          </p:cNvPr>
          <p:cNvCxnSpPr>
            <a:cxnSpLocks/>
          </p:cNvCxnSpPr>
          <p:nvPr/>
        </p:nvCxnSpPr>
        <p:spPr>
          <a:xfrm flipH="1">
            <a:off x="5020056" y="2155599"/>
            <a:ext cx="2052974" cy="114226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2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 animBg="1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5397247" y="114301"/>
            <a:ext cx="2395667" cy="14508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5511546" y="681702"/>
            <a:ext cx="1885950" cy="232698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02DA6-C0BE-4861-B538-84F6810F213E}"/>
              </a:ext>
            </a:extLst>
          </p:cNvPr>
          <p:cNvSpPr/>
          <p:nvPr/>
        </p:nvSpPr>
        <p:spPr>
          <a:xfrm>
            <a:off x="2057400" y="2562606"/>
            <a:ext cx="5486400" cy="1650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en-US" sz="1688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algn="l"/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688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88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en-US" sz="1688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.listProducts</a:t>
            </a:r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88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88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E" sz="1688" dirty="0"/>
          </a:p>
        </p:txBody>
      </p:sp>
      <p:sp>
        <p:nvSpPr>
          <p:cNvPr id="7" name="Rectangle: Rounded Corners 16">
            <a:extLst>
              <a:ext uri="{FF2B5EF4-FFF2-40B4-BE49-F238E27FC236}">
                <a16:creationId xmlns:a16="http://schemas.microsoft.com/office/drawing/2014/main" id="{48AAFA16-C0D0-456E-91C1-D111CE7FDAB0}"/>
              </a:ext>
            </a:extLst>
          </p:cNvPr>
          <p:cNvSpPr/>
          <p:nvPr/>
        </p:nvSpPr>
        <p:spPr>
          <a:xfrm>
            <a:off x="267866" y="930057"/>
            <a:ext cx="1840968" cy="1052461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500" b="1" dirty="0"/>
              <a:t>5) </a:t>
            </a:r>
            <a:r>
              <a:rPr lang="en-IE" sz="1500" b="1" dirty="0" err="1"/>
              <a:t>printProduct</a:t>
            </a:r>
            <a:r>
              <a:rPr lang="en-IE" sz="1500" b="1" dirty="0"/>
              <a:t>()</a:t>
            </a:r>
            <a:r>
              <a:rPr lang="en-IE" sz="1500" dirty="0"/>
              <a:t> changed to print out all products in the array.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1651266" y="1982518"/>
            <a:ext cx="561582" cy="1092971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2108834" y="3075489"/>
            <a:ext cx="5370957" cy="375861"/>
          </a:xfrm>
          <a:prstGeom prst="roundRect">
            <a:avLst/>
          </a:prstGeom>
          <a:noFill/>
          <a:ln w="38100"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7AD1C-657A-2BD2-359D-8D9DD6C5E0B2}"/>
              </a:ext>
            </a:extLst>
          </p:cNvPr>
          <p:cNvSpPr txBox="1">
            <a:spLocks/>
          </p:cNvSpPr>
          <p:nvPr/>
        </p:nvSpPr>
        <p:spPr>
          <a:xfrm>
            <a:off x="7283173" y="583491"/>
            <a:ext cx="891563" cy="238670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Change - 5</a:t>
            </a:r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51E04BE8-6CDF-C4C8-52C6-BA9286C8E299}"/>
              </a:ext>
            </a:extLst>
          </p:cNvPr>
          <p:cNvSpPr/>
          <p:nvPr/>
        </p:nvSpPr>
        <p:spPr>
          <a:xfrm>
            <a:off x="7283173" y="50292"/>
            <a:ext cx="891563" cy="482136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b="1" dirty="0"/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379798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540" y="205980"/>
            <a:ext cx="6172200" cy="571813"/>
          </a:xfrm>
        </p:spPr>
        <p:txBody>
          <a:bodyPr/>
          <a:lstStyle/>
          <a:p>
            <a:pPr algn="r"/>
            <a:r>
              <a:rPr lang="en-IE" b="1" dirty="0"/>
              <a:t>Summary</a:t>
            </a:r>
            <a:r>
              <a:rPr lang="en-IE" dirty="0"/>
              <a:t>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057" y="3011541"/>
            <a:ext cx="6229350" cy="3394472"/>
          </a:xfrm>
        </p:spPr>
        <p:txBody>
          <a:bodyPr>
            <a:normAutofit/>
          </a:bodyPr>
          <a:lstStyle/>
          <a:p>
            <a:r>
              <a:rPr lang="en-IE" sz="1800" b="1" dirty="0">
                <a:solidFill>
                  <a:srgbClr val="FF40FF"/>
                </a:solidFill>
              </a:rPr>
              <a:t>Store</a:t>
            </a:r>
            <a:r>
              <a:rPr lang="en-IE" sz="1800" dirty="0">
                <a:solidFill>
                  <a:srgbClr val="FF40FF"/>
                </a:solidFill>
              </a:rPr>
              <a:t> </a:t>
            </a:r>
            <a:r>
              <a:rPr lang="en-IE" sz="1800" dirty="0"/>
              <a:t>class maintains a collection of Products</a:t>
            </a:r>
            <a:br>
              <a:rPr lang="en-IE" sz="1800" dirty="0"/>
            </a:br>
            <a:r>
              <a:rPr lang="en-IE" sz="1800" dirty="0"/>
              <a:t>i.e. an </a:t>
            </a:r>
            <a:r>
              <a:rPr lang="en-IE" sz="1800" b="1" dirty="0"/>
              <a:t>array of Products</a:t>
            </a:r>
            <a:r>
              <a:rPr lang="en-IE" sz="1800" dirty="0"/>
              <a:t>;  </a:t>
            </a:r>
            <a:r>
              <a:rPr lang="en-IE" sz="1800" dirty="0" err="1"/>
              <a:t>store.Products</a:t>
            </a:r>
            <a:r>
              <a:rPr lang="en-IE" sz="1800" dirty="0"/>
              <a:t>[]</a:t>
            </a:r>
            <a:br>
              <a:rPr lang="en-IE" sz="1800" dirty="0"/>
            </a:br>
            <a:endParaRPr lang="en-IE" sz="1800" dirty="0"/>
          </a:p>
          <a:p>
            <a:r>
              <a:rPr lang="en-IE" sz="1800" b="1" dirty="0">
                <a:solidFill>
                  <a:srgbClr val="F79646"/>
                </a:solidFill>
              </a:rPr>
              <a:t>Driver</a:t>
            </a:r>
            <a:r>
              <a:rPr lang="en-IE" sz="1800" b="1" dirty="0">
                <a:solidFill>
                  <a:srgbClr val="FF0000"/>
                </a:solidFill>
              </a:rPr>
              <a:t> </a:t>
            </a:r>
            <a:r>
              <a:rPr lang="en-IE" sz="1800" dirty="0"/>
              <a:t>allows the user to decide </a:t>
            </a:r>
            <a:r>
              <a:rPr lang="en-IE" sz="1800" b="1" dirty="0"/>
              <a:t>how many product </a:t>
            </a:r>
            <a:r>
              <a:rPr lang="en-IE" sz="1800" dirty="0"/>
              <a:t>details they want to store. Methods updated to work with this new </a:t>
            </a:r>
            <a:r>
              <a:rPr lang="en-IE" sz="1800" b="1" dirty="0" err="1"/>
              <a:t>store.Products</a:t>
            </a:r>
            <a:r>
              <a:rPr lang="en-IE" sz="1800" b="1" dirty="0"/>
              <a:t>[]</a:t>
            </a:r>
            <a:r>
              <a:rPr lang="en-IE" sz="1800" dirty="0"/>
              <a:t> array</a:t>
            </a:r>
          </a:p>
          <a:p>
            <a:pPr marL="0" indent="0">
              <a:buNone/>
            </a:pPr>
            <a:endParaRPr lang="en-IE" sz="1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485900" y="400050"/>
            <a:ext cx="1311368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5826216" y="1821061"/>
            <a:ext cx="1635287" cy="62865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152584" y="1517462"/>
            <a:ext cx="1491276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413749" y="1066653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2797268" y="730920"/>
            <a:ext cx="1485899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1505520" y="1135912"/>
            <a:ext cx="1276210" cy="327578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Some(5)</a:t>
            </a:r>
            <a:r>
              <a:rPr lang="en-IE" sz="2100" dirty="0"/>
              <a:t> changes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B01D25-63AE-43E3-9549-7E0C06EFE8F2}"/>
              </a:ext>
            </a:extLst>
          </p:cNvPr>
          <p:cNvSpPr txBox="1">
            <a:spLocks/>
          </p:cNvSpPr>
          <p:nvPr/>
        </p:nvSpPr>
        <p:spPr>
          <a:xfrm>
            <a:off x="3413749" y="2037706"/>
            <a:ext cx="1738835" cy="711610"/>
          </a:xfrm>
          <a:prstGeom prst="rect">
            <a:avLst/>
          </a:prstGeom>
          <a:solidFill>
            <a:srgbClr val="FF40F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dirty="0"/>
              <a:t>This is a </a:t>
            </a:r>
            <a:r>
              <a:rPr lang="en-IE" sz="2100" b="1" dirty="0"/>
              <a:t>new</a:t>
            </a:r>
            <a:endParaRPr lang="en-IE" sz="21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E" sz="2100" b="1" dirty="0">
                <a:solidFill>
                  <a:schemeClr val="bg1"/>
                </a:solidFill>
              </a:rPr>
              <a:t>Store</a:t>
            </a:r>
            <a:r>
              <a:rPr lang="en-IE" sz="2100" b="1" dirty="0">
                <a:solidFill>
                  <a:srgbClr val="FF40FF"/>
                </a:solidFill>
              </a:rPr>
              <a:t> </a:t>
            </a:r>
            <a:r>
              <a:rPr lang="en-IE" sz="2100" dirty="0">
                <a:solidFill>
                  <a:schemeClr val="tx1"/>
                </a:solidFill>
              </a:rPr>
              <a:t>class</a:t>
            </a:r>
            <a:endParaRPr lang="en-IE" sz="2100" dirty="0">
              <a:solidFill>
                <a:srgbClr val="FF40FF"/>
              </a:solidFill>
            </a:endParaRPr>
          </a:p>
          <a:p>
            <a:pPr marL="0" indent="0" algn="ctr">
              <a:buNone/>
            </a:pPr>
            <a:endParaRPr lang="en-IE" sz="21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5945089" y="2517652"/>
            <a:ext cx="1485900" cy="29215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100" b="1" dirty="0"/>
              <a:t>No</a:t>
            </a:r>
            <a:r>
              <a:rPr lang="en-IE" sz="2100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11220903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30268</TotalTime>
  <Words>1930</Words>
  <Application>Microsoft Macintosh PowerPoint</Application>
  <PresentationFormat>On-screen Show (16:9)</PresentationFormat>
  <Paragraphs>165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JetBrains Mono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RECAP : SHOP V1.0</vt:lpstr>
      <vt:lpstr>Recap: Shop V1.0 - Product</vt:lpstr>
      <vt:lpstr>Recap: Shop V1.0 - Driver</vt:lpstr>
      <vt:lpstr>SHOP V2.0</vt:lpstr>
      <vt:lpstr>Shop V2.0</vt:lpstr>
      <vt:lpstr>Shop V2.0 – changes to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Shop V2.0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268</cp:revision>
  <dcterms:created xsi:type="dcterms:W3CDTF">2019-01-29T16:40:14Z</dcterms:created>
  <dcterms:modified xsi:type="dcterms:W3CDTF">2023-10-20T23:56:33Z</dcterms:modified>
</cp:coreProperties>
</file>