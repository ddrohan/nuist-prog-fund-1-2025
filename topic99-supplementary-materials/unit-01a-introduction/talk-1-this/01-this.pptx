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465" r:id="rId3"/>
    <p:sldId id="555" r:id="rId4"/>
    <p:sldId id="644" r:id="rId5"/>
    <p:sldId id="645" r:id="rId6"/>
    <p:sldId id="556" r:id="rId7"/>
    <p:sldId id="647" r:id="rId8"/>
    <p:sldId id="646" r:id="rId9"/>
    <p:sldId id="554" r:id="rId10"/>
    <p:sldId id="347" r:id="rId11"/>
    <p:sldId id="520" r:id="rId12"/>
    <p:sldId id="298" r:id="rId13"/>
  </p:sldIdLst>
  <p:sldSz cx="9144000" cy="5143500" type="screen16x9"/>
  <p:notesSz cx="6858000" cy="9144000"/>
  <p:defaultTextStyle>
    <a:lvl1pPr algn="ctr" defTabSz="366737">
      <a:defRPr sz="2250">
        <a:latin typeface="+mn-lt"/>
        <a:ea typeface="+mn-ea"/>
        <a:cs typeface="+mn-cs"/>
        <a:sym typeface="Helvetica Light"/>
      </a:defRPr>
    </a:lvl1pPr>
    <a:lvl2pPr indent="143505" algn="ctr" defTabSz="366737">
      <a:defRPr sz="2250">
        <a:latin typeface="+mn-lt"/>
        <a:ea typeface="+mn-ea"/>
        <a:cs typeface="+mn-cs"/>
        <a:sym typeface="Helvetica Light"/>
      </a:defRPr>
    </a:lvl2pPr>
    <a:lvl3pPr indent="287012" algn="ctr" defTabSz="366737">
      <a:defRPr sz="2250">
        <a:latin typeface="+mn-lt"/>
        <a:ea typeface="+mn-ea"/>
        <a:cs typeface="+mn-cs"/>
        <a:sym typeface="Helvetica Light"/>
      </a:defRPr>
    </a:lvl3pPr>
    <a:lvl4pPr indent="430517" algn="ctr" defTabSz="366737">
      <a:defRPr sz="2250">
        <a:latin typeface="+mn-lt"/>
        <a:ea typeface="+mn-ea"/>
        <a:cs typeface="+mn-cs"/>
        <a:sym typeface="Helvetica Light"/>
      </a:defRPr>
    </a:lvl4pPr>
    <a:lvl5pPr indent="574022" algn="ctr" defTabSz="366737">
      <a:defRPr sz="2250">
        <a:latin typeface="+mn-lt"/>
        <a:ea typeface="+mn-ea"/>
        <a:cs typeface="+mn-cs"/>
        <a:sym typeface="Helvetica Light"/>
      </a:defRPr>
    </a:lvl5pPr>
    <a:lvl6pPr indent="717528" algn="ctr" defTabSz="366737">
      <a:defRPr sz="2250">
        <a:latin typeface="+mn-lt"/>
        <a:ea typeface="+mn-ea"/>
        <a:cs typeface="+mn-cs"/>
        <a:sym typeface="Helvetica Light"/>
      </a:defRPr>
    </a:lvl6pPr>
    <a:lvl7pPr indent="861034" algn="ctr" defTabSz="366737">
      <a:defRPr sz="2250">
        <a:latin typeface="+mn-lt"/>
        <a:ea typeface="+mn-ea"/>
        <a:cs typeface="+mn-cs"/>
        <a:sym typeface="Helvetica Light"/>
      </a:defRPr>
    </a:lvl7pPr>
    <a:lvl8pPr indent="1004539" algn="ctr" defTabSz="366737">
      <a:defRPr sz="2250">
        <a:latin typeface="+mn-lt"/>
        <a:ea typeface="+mn-ea"/>
        <a:cs typeface="+mn-cs"/>
        <a:sym typeface="Helvetica Light"/>
      </a:defRPr>
    </a:lvl8pPr>
    <a:lvl9pPr indent="1148045" algn="ctr" defTabSz="366737">
      <a:defRPr sz="2250"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81F3"/>
    <a:srgbClr val="0368FF"/>
    <a:srgbClr val="598CBE"/>
    <a:srgbClr val="0E9647"/>
    <a:srgbClr val="2F486B"/>
    <a:srgbClr val="194699"/>
    <a:srgbClr val="1F33AB"/>
    <a:srgbClr val="84AEFF"/>
    <a:srgbClr val="FDE111"/>
    <a:srgbClr val="ED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00882B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17"/>
    <p:restoredTop sz="85442"/>
  </p:normalViewPr>
  <p:slideViewPr>
    <p:cSldViewPr snapToGrid="0" snapToObjects="1">
      <p:cViewPr varScale="1">
        <p:scale>
          <a:sx n="112" d="100"/>
          <a:sy n="112" d="100"/>
        </p:scale>
        <p:origin x="200" y="61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149E08-5597-3E45-8582-EEB58189C482}" type="datetimeFigureOut">
              <a:rPr lang="en-US" smtClean="0"/>
              <a:t>9/14/23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69502-A57F-A84E-93AF-100B756C63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7028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pPr lvl="0"/>
            <a:endParaRPr dirty="0"/>
          </a:p>
        </p:txBody>
      </p:sp>
      <p:sp>
        <p:nvSpPr>
          <p:cNvPr id="73" name="Shape 7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19514939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1pPr>
    <a:lvl2pPr indent="143505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2pPr>
    <a:lvl3pPr indent="287012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3pPr>
    <a:lvl4pPr indent="430517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4pPr>
    <a:lvl5pPr indent="574022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5pPr>
    <a:lvl6pPr indent="717528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6pPr>
    <a:lvl7pPr indent="861034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7pPr>
    <a:lvl8pPr indent="1004539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8pPr>
    <a:lvl9pPr indent="1148045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287012" rtl="0">
              <a:lnSpc>
                <a:spcPct val="125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40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75424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hyperlink" Target="mailto:ddrohan@wit.ie" TargetMode="Externa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 close-up of a metal structure&#10;&#10;Description automatically generated with low confidence">
            <a:extLst>
              <a:ext uri="{FF2B5EF4-FFF2-40B4-BE49-F238E27FC236}">
                <a16:creationId xmlns:a16="http://schemas.microsoft.com/office/drawing/2014/main" id="{14F6341F-72F0-BFA6-6798-9AC71A86B3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5096" t="1189" r="36524" b="51187"/>
          <a:stretch/>
        </p:blipFill>
        <p:spPr>
          <a:xfrm>
            <a:off x="-6264" y="-6182"/>
            <a:ext cx="9150263" cy="5147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</p:pic>
      <p:sp>
        <p:nvSpPr>
          <p:cNvPr id="12" name="Shape 33">
            <a:extLst>
              <a:ext uri="{FF2B5EF4-FFF2-40B4-BE49-F238E27FC236}">
                <a16:creationId xmlns:a16="http://schemas.microsoft.com/office/drawing/2014/main" id="{EAD08510-7D5A-594A-AAEC-59C7087561FC}"/>
              </a:ext>
            </a:extLst>
          </p:cNvPr>
          <p:cNvSpPr/>
          <p:nvPr userDrawn="1"/>
        </p:nvSpPr>
        <p:spPr>
          <a:xfrm>
            <a:off x="3778568" y="2059379"/>
            <a:ext cx="4846151" cy="0"/>
          </a:xfrm>
          <a:prstGeom prst="line">
            <a:avLst/>
          </a:prstGeom>
          <a:ln w="3175">
            <a:solidFill>
              <a:schemeClr val="tx1"/>
            </a:solidFill>
            <a:miter lim="400000"/>
          </a:ln>
        </p:spPr>
        <p:txBody>
          <a:bodyPr lIns="0" tIns="0" rIns="0" bIns="0" anchor="ctr"/>
          <a:lstStyle/>
          <a:p>
            <a:pPr lvl="0" algn="l" defTabSz="286973" rtl="0">
              <a:defRPr sz="1100">
                <a:latin typeface="Helvetica"/>
                <a:ea typeface="Helvetica"/>
                <a:cs typeface="Helvetica"/>
                <a:sym typeface="Helvetica"/>
              </a:defRPr>
            </a:pPr>
            <a:endParaRPr sz="825" dirty="0"/>
          </a:p>
        </p:txBody>
      </p:sp>
      <p:sp>
        <p:nvSpPr>
          <p:cNvPr id="13" name="Shape 34">
            <a:extLst>
              <a:ext uri="{FF2B5EF4-FFF2-40B4-BE49-F238E27FC236}">
                <a16:creationId xmlns:a16="http://schemas.microsoft.com/office/drawing/2014/main" id="{BB2C258E-D81B-5B4E-8B1B-562CE71165EB}"/>
              </a:ext>
            </a:extLst>
          </p:cNvPr>
          <p:cNvSpPr/>
          <p:nvPr userDrawn="1"/>
        </p:nvSpPr>
        <p:spPr>
          <a:xfrm>
            <a:off x="3613319" y="2299116"/>
            <a:ext cx="1208664" cy="590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 lvl="0" algn="r">
              <a:lnSpc>
                <a:spcPct val="80000"/>
              </a:lnSpc>
              <a:defRPr sz="1800"/>
            </a:pPr>
            <a:r>
              <a:rPr sz="2400" b="1" i="0" baseline="0" dirty="0">
                <a:solidFill>
                  <a:schemeClr val="bg1">
                    <a:lumMod val="85000"/>
                  </a:schemeClr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rPr>
              <a:t>Produced</a:t>
            </a:r>
          </a:p>
          <a:p>
            <a:pPr lvl="0" algn="r">
              <a:lnSpc>
                <a:spcPct val="80000"/>
              </a:lnSpc>
              <a:defRPr sz="1800"/>
            </a:pPr>
            <a:r>
              <a:rPr sz="2400" b="1" i="0" baseline="0" dirty="0">
                <a:solidFill>
                  <a:schemeClr val="bg1">
                    <a:lumMod val="85000"/>
                  </a:schemeClr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rPr>
              <a:t>by</a:t>
            </a:r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885F7572-8BDA-2441-A5EC-7D945A8A5010}"/>
              </a:ext>
            </a:extLst>
          </p:cNvPr>
          <p:cNvSpPr/>
          <p:nvPr/>
        </p:nvSpPr>
        <p:spPr>
          <a:xfrm>
            <a:off x="4970252" y="3114062"/>
            <a:ext cx="3241478" cy="5453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numCol="1" anchor="ctr">
            <a:noAutofit/>
          </a:bodyPr>
          <a:lstStyle/>
          <a:p>
            <a:pPr lvl="0" algn="l">
              <a:lnSpc>
                <a:spcPct val="120000"/>
              </a:lnSpc>
              <a:defRPr sz="1800"/>
            </a:pPr>
            <a:r>
              <a:rPr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Department of Computing &amp; Mathematics</a:t>
            </a:r>
          </a:p>
          <a:p>
            <a:pPr lvl="0" algn="l">
              <a:lnSpc>
                <a:spcPct val="120000"/>
              </a:lnSpc>
              <a:defRPr sz="1800"/>
            </a:pPr>
            <a: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South East Technological University</a:t>
            </a:r>
            <a:b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Waterford, Ireland</a:t>
            </a:r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F323B0CE-A19A-E748-98EC-D40F56CC33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187903" y="4360424"/>
            <a:ext cx="730559" cy="730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65E7D44-1D07-9340-B610-CE9A2D7BB0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58289" y="188773"/>
            <a:ext cx="560173" cy="63879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0A583B1-550B-C14A-A9E9-8D176BDC6F6E}"/>
              </a:ext>
            </a:extLst>
          </p:cNvPr>
          <p:cNvSpPr txBox="1"/>
          <p:nvPr userDrawn="1"/>
        </p:nvSpPr>
        <p:spPr>
          <a:xfrm>
            <a:off x="4721847" y="4551298"/>
            <a:ext cx="3425984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r" fontAlgn="auto"/>
            <a:r>
              <a:rPr lang="en-IE" sz="1600" b="1" i="0" u="none" strike="noStrike" baseline="0" dirty="0" err="1">
                <a:solidFill>
                  <a:schemeClr val="bg1">
                    <a:lumMod val="85000"/>
                  </a:schemeClr>
                </a:solidFill>
                <a:effectLst/>
                <a:latin typeface="+mn-lt"/>
                <a:ea typeface="+mn-ea"/>
                <a:cs typeface="+mn-cs"/>
                <a:sym typeface="Helvetica Light"/>
              </a:rPr>
              <a:t>setu.ie</a:t>
            </a:r>
            <a:endParaRPr lang="en-IE" sz="1600" b="1" i="0" u="none" strike="noStrike" baseline="0" dirty="0">
              <a:solidFill>
                <a:schemeClr val="bg1">
                  <a:lumMod val="85000"/>
                </a:schemeClr>
              </a:solidFill>
              <a:effectLst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1" name="Shape 35">
            <a:extLst>
              <a:ext uri="{FF2B5EF4-FFF2-40B4-BE49-F238E27FC236}">
                <a16:creationId xmlns:a16="http://schemas.microsoft.com/office/drawing/2014/main" id="{1EC3B031-7C7C-5846-BACC-8C65A8064D86}"/>
              </a:ext>
            </a:extLst>
          </p:cNvPr>
          <p:cNvSpPr/>
          <p:nvPr userDrawn="1"/>
        </p:nvSpPr>
        <p:spPr>
          <a:xfrm>
            <a:off x="4963941" y="2144699"/>
            <a:ext cx="4072483" cy="10468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numCol="1" anchor="ctr">
            <a:noAutofit/>
          </a:bodyPr>
          <a:lstStyle/>
          <a:p>
            <a:pPr algn="l"/>
            <a:r>
              <a:rPr lang="en-IE" sz="1800" b="1" i="0" baseline="0" dirty="0"/>
              <a:t>Mr. Dave Drohan </a:t>
            </a:r>
            <a:r>
              <a:rPr lang="en-IE" sz="1600" b="1" i="0" baseline="0" dirty="0"/>
              <a:t>(</a:t>
            </a:r>
            <a:r>
              <a:rPr lang="en-IE" sz="1600" b="1" i="0" baseline="0" dirty="0">
                <a:solidFill>
                  <a:srgbClr val="006699"/>
                </a:solidFill>
                <a:uFill>
                  <a:solidFill>
                    <a:srgbClr val="006699"/>
                  </a:solidFill>
                </a:uFill>
                <a:hlinkClick r:id="rId5"/>
              </a:rPr>
              <a:t>david.drohan@setu.ie</a:t>
            </a:r>
            <a:r>
              <a:rPr lang="en-IE" sz="1600" b="1" i="0" baseline="0" dirty="0"/>
              <a:t>)</a:t>
            </a:r>
            <a:br>
              <a:rPr lang="en-IE" sz="1600" b="1" i="0" baseline="0" dirty="0"/>
            </a:br>
            <a:r>
              <a:rPr lang="en-IE" sz="1800" dirty="0" err="1">
                <a:solidFill>
                  <a:schemeClr val="tx1"/>
                </a:solidFill>
              </a:rPr>
              <a:t>Dr.</a:t>
            </a:r>
            <a:r>
              <a:rPr lang="en-IE" sz="1800" dirty="0">
                <a:solidFill>
                  <a:schemeClr val="tx1"/>
                </a:solidFill>
              </a:rPr>
              <a:t> </a:t>
            </a:r>
            <a:r>
              <a:rPr lang="en-IE" sz="1800" dirty="0" err="1">
                <a:solidFill>
                  <a:schemeClr val="tx1"/>
                </a:solidFill>
              </a:rPr>
              <a:t>Siobhán</a:t>
            </a:r>
            <a:r>
              <a:rPr lang="en-IE" sz="1800" dirty="0">
                <a:solidFill>
                  <a:schemeClr val="tx1"/>
                </a:solidFill>
              </a:rPr>
              <a:t> </a:t>
            </a:r>
            <a:r>
              <a:rPr lang="en-IE" sz="1800" dirty="0" err="1">
                <a:solidFill>
                  <a:schemeClr val="tx1"/>
                </a:solidFill>
              </a:rPr>
              <a:t>Drohan</a:t>
            </a:r>
            <a:endParaRPr lang="en-IE" sz="1800" dirty="0">
              <a:solidFill>
                <a:schemeClr val="tx1"/>
              </a:solidFill>
            </a:endParaRPr>
          </a:p>
          <a:p>
            <a:pPr algn="l"/>
            <a:r>
              <a:rPr lang="en-IE" sz="1800" dirty="0">
                <a:solidFill>
                  <a:schemeClr val="tx1"/>
                </a:solidFill>
              </a:rPr>
              <a:t>Ms. Mairead Meagher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BBD13589-119E-31F3-037B-F798E38525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9399" y="1324611"/>
            <a:ext cx="7893844" cy="542479"/>
          </a:xfrm>
        </p:spPr>
        <p:txBody>
          <a:bodyPr/>
          <a:lstStyle>
            <a:lvl1pPr>
              <a:defRPr sz="2800" b="1"/>
            </a:lvl1pPr>
          </a:lstStyle>
          <a:p>
            <a:pPr algn="r" defTabSz="366688" rtl="0"/>
            <a:r>
              <a:rPr lang="en-US" dirty="0"/>
              <a:t>Programming Fundamentals 1</a:t>
            </a:r>
          </a:p>
        </p:txBody>
      </p:sp>
    </p:spTree>
    <p:extLst>
      <p:ext uri="{BB962C8B-B14F-4D97-AF65-F5344CB8AC3E}">
        <p14:creationId xmlns:p14="http://schemas.microsoft.com/office/powerpoint/2010/main" val="3124422196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200" baseline="0"/>
            </a:lvl1pPr>
          </a:lstStyle>
          <a:p>
            <a:pPr lvl="0">
              <a:defRPr sz="1800"/>
            </a:pPr>
            <a:r>
              <a:rPr sz="2775" dirty="0"/>
              <a:t>Title Text</a:t>
            </a:r>
          </a:p>
        </p:txBody>
      </p:sp>
      <p:sp>
        <p:nvSpPr>
          <p:cNvPr id="49" name="Shape 4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rgbClr val="194699"/>
              </a:buClr>
              <a:defRPr/>
            </a:lvl1pPr>
            <a:lvl2pPr>
              <a:buClr>
                <a:srgbClr val="194699"/>
              </a:buClr>
              <a:defRPr/>
            </a:lvl2pPr>
            <a:lvl3pPr>
              <a:buClr>
                <a:srgbClr val="194699"/>
              </a:buClr>
              <a:defRPr/>
            </a:lvl3pPr>
            <a:lvl4pPr>
              <a:buClr>
                <a:srgbClr val="194699"/>
              </a:buClr>
              <a:defRPr/>
            </a:lvl4pPr>
            <a:lvl5pPr>
              <a:buClr>
                <a:srgbClr val="194699"/>
              </a:buClr>
              <a:defRPr/>
            </a:lvl5pPr>
          </a:lstStyle>
          <a:p>
            <a:pPr lvl="0">
              <a:defRPr sz="1800"/>
            </a:pPr>
            <a:r>
              <a:rPr sz="2400" dirty="0"/>
              <a:t>Body Level One</a:t>
            </a:r>
          </a:p>
          <a:p>
            <a:pPr lvl="1">
              <a:defRPr sz="1800"/>
            </a:pPr>
            <a:r>
              <a:rPr sz="2400" dirty="0"/>
              <a:t>Body Level Two</a:t>
            </a:r>
          </a:p>
          <a:p>
            <a:pPr lvl="2">
              <a:defRPr sz="1800"/>
            </a:pPr>
            <a:r>
              <a:rPr sz="2400" dirty="0"/>
              <a:t>Body Level Three</a:t>
            </a:r>
          </a:p>
          <a:p>
            <a:pPr lvl="3">
              <a:defRPr sz="1800"/>
            </a:pPr>
            <a:r>
              <a:rPr sz="2400" dirty="0"/>
              <a:t>Body Level Four</a:t>
            </a:r>
          </a:p>
          <a:p>
            <a:pPr lvl="4">
              <a:defRPr sz="1800"/>
            </a:pPr>
            <a:r>
              <a:rPr sz="2400" dirty="0"/>
              <a:t>Body Level Five</a:t>
            </a:r>
          </a:p>
        </p:txBody>
      </p:sp>
      <p:sp>
        <p:nvSpPr>
          <p:cNvPr id="50" name="Shape 50"/>
          <p:cNvSpPr>
            <a:spLocks noGrp="1"/>
          </p:cNvSpPr>
          <p:nvPr>
            <p:ph type="sldNum" sz="quarter" idx="2"/>
          </p:nvPr>
        </p:nvSpPr>
        <p:spPr>
          <a:xfrm>
            <a:off x="6553201" y="4875912"/>
            <a:ext cx="1905000" cy="283023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/>
              <a:t>‹#›</a:t>
            </a:fld>
            <a:endParaRPr dirty="0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14688" y="4895886"/>
            <a:ext cx="2430270" cy="241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526" tIns="38263" rIns="76526" bIns="38263" numCol="1" anchor="b" anchorCtr="0" compatLnSpc="1">
            <a:prstTxWarp prst="textNoShape">
              <a:avLst/>
            </a:prstTxWarp>
          </a:bodyPr>
          <a:lstStyle>
            <a:lvl1pPr algn="ctr">
              <a:defRPr sz="1125" b="0" i="0">
                <a:latin typeface="Helvetica Neue Light"/>
                <a:cs typeface="Helvetica Neue Light"/>
              </a:defRPr>
            </a:lvl1pPr>
          </a:lstStyle>
          <a:p>
            <a:r>
              <a:rPr lang="en-IE"/>
              <a:t>https://www.java.com</a:t>
            </a:r>
            <a:endParaRPr lang="en-IE"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FE51DA-9AF5-F835-204E-B5376FB7A7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46552-8ABC-2684-8EA3-A12C826FB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AC3EAD-3ACD-68D9-A159-986D3E0E55D6}"/>
              </a:ext>
            </a:extLst>
          </p:cNvPr>
          <p:cNvSpPr/>
          <p:nvPr userDrawn="1"/>
        </p:nvSpPr>
        <p:spPr>
          <a:xfrm>
            <a:off x="375385" y="683393"/>
            <a:ext cx="7324826" cy="327259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64145168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457200" y="108585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182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1" y="4902399"/>
            <a:ext cx="9143989" cy="241102"/>
          </a:xfrm>
          <a:prstGeom prst="rect">
            <a:avLst/>
          </a:prstGeom>
          <a:solidFill>
            <a:srgbClr val="598C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defTabSz="366737" rtl="0"/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21" y="4867339"/>
            <a:ext cx="9143978" cy="35060"/>
          </a:xfrm>
          <a:prstGeom prst="rect">
            <a:avLst/>
          </a:prstGeom>
          <a:solidFill>
            <a:srgbClr val="2F4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4418" tIns="54418" rIns="54418" bIns="54418" anchor="b"/>
          <a:lstStyle/>
          <a:p>
            <a:pPr lvl="0">
              <a:defRPr sz="1800"/>
            </a:pPr>
            <a:r>
              <a:rPr sz="2775" dirty="0"/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395536" y="843558"/>
            <a:ext cx="7772401" cy="4299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4418" tIns="54418" rIns="54418" bIns="54418"/>
          <a:lstStyle/>
          <a:p>
            <a:pPr lvl="0">
              <a:defRPr sz="1800"/>
            </a:pPr>
            <a:r>
              <a:rPr sz="2400" dirty="0"/>
              <a:t>Body Level One</a:t>
            </a:r>
          </a:p>
          <a:p>
            <a:pPr lvl="1">
              <a:defRPr sz="1800"/>
            </a:pPr>
            <a:r>
              <a:rPr sz="2400" dirty="0"/>
              <a:t>Body Level Two</a:t>
            </a:r>
          </a:p>
          <a:p>
            <a:pPr lvl="2">
              <a:defRPr sz="1800"/>
            </a:pPr>
            <a:r>
              <a:rPr sz="2400" dirty="0"/>
              <a:t>Body Level Three</a:t>
            </a:r>
          </a:p>
          <a:p>
            <a:pPr lvl="3">
              <a:defRPr sz="1800"/>
            </a:pPr>
            <a:r>
              <a:rPr sz="2400" dirty="0"/>
              <a:t>Body Level Four</a:t>
            </a:r>
          </a:p>
          <a:p>
            <a:pPr lvl="4">
              <a:defRPr sz="1800"/>
            </a:pPr>
            <a:r>
              <a:rPr sz="2400" dirty="0"/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6553201" y="4847061"/>
            <a:ext cx="1905000" cy="283023"/>
          </a:xfrm>
          <a:prstGeom prst="rect">
            <a:avLst/>
          </a:prstGeom>
          <a:ln w="12700">
            <a:miter lim="400000"/>
          </a:ln>
        </p:spPr>
        <p:txBody>
          <a:bodyPr lIns="54418" tIns="54418" rIns="54418" bIns="54418" anchor="b">
            <a:spAutoFit/>
          </a:bodyPr>
          <a:lstStyle>
            <a:lvl1pPr algn="r" defTabSz="573946">
              <a:defRPr sz="1125">
                <a:solidFill>
                  <a:srgbClr val="FFFFFF"/>
                </a:solidFill>
                <a:latin typeface="+mn-lt"/>
                <a:ea typeface="Tahoma"/>
                <a:cs typeface="Tahoma"/>
                <a:sym typeface="Tahoma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hape 5"/>
          <p:cNvSpPr/>
          <p:nvPr/>
        </p:nvSpPr>
        <p:spPr>
          <a:xfrm>
            <a:off x="467545" y="789552"/>
            <a:ext cx="7128792" cy="1"/>
          </a:xfrm>
          <a:prstGeom prst="line">
            <a:avLst/>
          </a:prstGeom>
          <a:ln w="12700">
            <a:solidFill>
              <a:srgbClr val="94BBE7"/>
            </a:solidFill>
          </a:ln>
          <a:effectLst>
            <a:outerShdw blurRad="101600" dist="12700" dir="2700000" rotWithShape="0">
              <a:srgbClr val="003D62">
                <a:alpha val="20000"/>
              </a:srgbClr>
            </a:outerShdw>
          </a:effectLst>
        </p:spPr>
        <p:txBody>
          <a:bodyPr lIns="40814" tIns="40814" rIns="40814" bIns="40814"/>
          <a:lstStyle/>
          <a:p>
            <a:pPr lvl="0" algn="l" defTabSz="286973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 sz="1200" dirty="0"/>
          </a:p>
        </p:txBody>
      </p:sp>
      <p:sp>
        <p:nvSpPr>
          <p:cNvPr id="10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14688" y="4888982"/>
            <a:ext cx="2430270" cy="241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526" tIns="38263" rIns="76526" bIns="38263" numCol="1" anchor="b" anchorCtr="0" compatLnSpc="1">
            <a:prstTxWarp prst="textNoShape">
              <a:avLst/>
            </a:prstTxWarp>
          </a:bodyPr>
          <a:lstStyle>
            <a:lvl1pPr algn="ctr">
              <a:defRPr sz="1125" b="0" i="0">
                <a:solidFill>
                  <a:schemeClr val="bg1"/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en-IE"/>
              <a:t>https://www.java.com</a:t>
            </a:r>
            <a:endParaRPr lang="en-I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3B9B00-B977-E94D-8CAA-76ABE98D04E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47621" y="5935"/>
            <a:ext cx="741809" cy="68672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3" r:id="rId2"/>
    <p:sldLayoutId id="2147483668" r:id="rId3"/>
    <p:sldLayoutId id="2147483671" r:id="rId4"/>
  </p:sldLayoutIdLst>
  <p:transition spd="med"/>
  <p:hf hdr="0" dt="0"/>
  <p:txStyles>
    <p:titleStyle>
      <a:lvl1pPr>
        <a:defRPr sz="2800">
          <a:latin typeface="Helvetica Neue Light"/>
          <a:ea typeface="Helvetica Neue Light"/>
          <a:cs typeface="Helvetica Neue Light"/>
          <a:sym typeface="Helvetica Neue Light"/>
        </a:defRPr>
      </a:lvl1pPr>
      <a:lvl2pPr>
        <a:defRPr sz="2775">
          <a:latin typeface="Helvetica Neue Light"/>
          <a:ea typeface="Helvetica Neue Light"/>
          <a:cs typeface="Helvetica Neue Light"/>
          <a:sym typeface="Helvetica Neue Light"/>
        </a:defRPr>
      </a:lvl2pPr>
      <a:lvl3pPr>
        <a:defRPr sz="2775">
          <a:latin typeface="Helvetica Neue Light"/>
          <a:ea typeface="Helvetica Neue Light"/>
          <a:cs typeface="Helvetica Neue Light"/>
          <a:sym typeface="Helvetica Neue Light"/>
        </a:defRPr>
      </a:lvl3pPr>
      <a:lvl4pPr>
        <a:defRPr sz="2775">
          <a:latin typeface="Helvetica Neue Light"/>
          <a:ea typeface="Helvetica Neue Light"/>
          <a:cs typeface="Helvetica Neue Light"/>
          <a:sym typeface="Helvetica Neue Light"/>
        </a:defRPr>
      </a:lvl4pPr>
      <a:lvl5pPr>
        <a:defRPr sz="2775">
          <a:latin typeface="Helvetica Neue Light"/>
          <a:ea typeface="Helvetica Neue Light"/>
          <a:cs typeface="Helvetica Neue Light"/>
          <a:sym typeface="Helvetica Neue Light"/>
        </a:defRPr>
      </a:lvl5pPr>
      <a:lvl6pPr indent="286973">
        <a:defRPr sz="2775">
          <a:latin typeface="Helvetica Neue Light"/>
          <a:ea typeface="Helvetica Neue Light"/>
          <a:cs typeface="Helvetica Neue Light"/>
          <a:sym typeface="Helvetica Neue Light"/>
        </a:defRPr>
      </a:lvl6pPr>
      <a:lvl7pPr indent="573946">
        <a:defRPr sz="2775">
          <a:latin typeface="Helvetica Neue Light"/>
          <a:ea typeface="Helvetica Neue Light"/>
          <a:cs typeface="Helvetica Neue Light"/>
          <a:sym typeface="Helvetica Neue Light"/>
        </a:defRPr>
      </a:lvl7pPr>
      <a:lvl8pPr indent="860919">
        <a:defRPr sz="2775">
          <a:latin typeface="Helvetica Neue Light"/>
          <a:ea typeface="Helvetica Neue Light"/>
          <a:cs typeface="Helvetica Neue Light"/>
          <a:sym typeface="Helvetica Neue Light"/>
        </a:defRPr>
      </a:lvl8pPr>
      <a:lvl9pPr indent="1147892">
        <a:defRPr sz="2775">
          <a:latin typeface="Helvetica Neue Light"/>
          <a:ea typeface="Helvetica Neue Light"/>
          <a:cs typeface="Helvetica Neue Light"/>
          <a:sym typeface="Helvetica Neue Light"/>
        </a:defRPr>
      </a:lvl9pPr>
    </p:titleStyle>
    <p:bodyStyle>
      <a:lvl1pPr marL="292097" indent="-292097">
        <a:spcBef>
          <a:spcPts val="377"/>
        </a:spcBef>
        <a:buClr>
          <a:srgbClr val="008000"/>
        </a:buClr>
        <a:buSzPct val="100000"/>
        <a:buFont typeface="Wingdings"/>
        <a:buChar char="❑"/>
        <a:defRPr sz="2400">
          <a:latin typeface="Helvetica Neue Light"/>
          <a:ea typeface="Helvetica Neue Light"/>
          <a:cs typeface="Helvetica Neue Light"/>
          <a:sym typeface="Helvetica Neue Light"/>
        </a:defRPr>
      </a:lvl1pPr>
      <a:lvl2pPr marL="570956" indent="-283984">
        <a:spcBef>
          <a:spcPts val="377"/>
        </a:spcBef>
        <a:buClr>
          <a:srgbClr val="008000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2pPr>
      <a:lvl3pPr marL="846570" indent="-272624">
        <a:spcBef>
          <a:spcPts val="377"/>
        </a:spcBef>
        <a:buClr>
          <a:srgbClr val="008000"/>
        </a:buClr>
        <a:buSzPct val="95000"/>
        <a:buFont typeface="Wingdings"/>
        <a:buChar char="⬥"/>
        <a:defRPr sz="2400">
          <a:latin typeface="Helvetica Neue Light"/>
          <a:ea typeface="Helvetica Neue Light"/>
          <a:cs typeface="Helvetica Neue Light"/>
          <a:sym typeface="Helvetica Neue Light"/>
        </a:defRPr>
      </a:lvl3pPr>
      <a:lvl4pPr marL="1163835" indent="-302916">
        <a:spcBef>
          <a:spcPts val="377"/>
        </a:spcBef>
        <a:buClr>
          <a:srgbClr val="008000"/>
        </a:buClr>
        <a:buSzPct val="65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4pPr>
      <a:lvl5pPr marL="1450808" indent="-302916">
        <a:spcBef>
          <a:spcPts val="377"/>
        </a:spcBef>
        <a:buClr>
          <a:srgbClr val="008000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5pPr>
      <a:lvl6pPr marL="1737781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6pPr>
      <a:lvl7pPr marL="2024754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7pPr>
      <a:lvl8pPr marL="2311727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8pPr>
      <a:lvl9pPr marL="2598700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9pPr>
    </p:bodyStyle>
    <p:otherStyle>
      <a:lvl1pPr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1pPr>
      <a:lvl2pPr indent="286973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2pPr>
      <a:lvl3pPr indent="573946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3pPr>
      <a:lvl4pPr indent="860919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4pPr>
      <a:lvl5pPr indent="1147892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5pPr>
      <a:lvl6pPr indent="1434865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6pPr>
      <a:lvl7pPr indent="1721838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7pPr>
      <a:lvl8pPr indent="2008811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8pPr>
      <a:lvl9pPr indent="2295784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6A5DAE-8FD5-49CE-E28B-6EDA2BB14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defTabSz="366688" rtl="0"/>
            <a:r>
              <a:rPr lang="en-US" sz="3200" dirty="0"/>
              <a:t>Programming Fundamentals 1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5F8875-BE14-6F78-797D-7623587C6E38}"/>
              </a:ext>
            </a:extLst>
          </p:cNvPr>
          <p:cNvCxnSpPr/>
          <p:nvPr/>
        </p:nvCxnSpPr>
        <p:spPr>
          <a:xfrm>
            <a:off x="192024" y="2240280"/>
            <a:ext cx="8705088" cy="0"/>
          </a:xfrm>
          <a:prstGeom prst="line">
            <a:avLst/>
          </a:prstGeom>
          <a:noFill/>
          <a:ln w="15875" cap="flat">
            <a:solidFill>
              <a:srgbClr val="84AEFF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Title 2">
            <a:extLst>
              <a:ext uri="{FF2B5EF4-FFF2-40B4-BE49-F238E27FC236}">
                <a16:creationId xmlns:a16="http://schemas.microsoft.com/office/drawing/2014/main" id="{F3D22CC2-63B9-5CB6-174A-205E5A7B9B8B}"/>
              </a:ext>
            </a:extLst>
          </p:cNvPr>
          <p:cNvSpPr txBox="1">
            <a:spLocks/>
          </p:cNvSpPr>
          <p:nvPr/>
        </p:nvSpPr>
        <p:spPr>
          <a:xfrm>
            <a:off x="192024" y="1269402"/>
            <a:ext cx="7772401" cy="1063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286973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573946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860919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1147892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algn="l" defTabSz="914400"/>
            <a:endParaRPr lang="en-IE" sz="2800" dirty="0">
              <a:solidFill>
                <a:schemeClr val="tx1"/>
              </a:solidFill>
            </a:endParaRPr>
          </a:p>
          <a:p>
            <a:pPr algn="l" defTabSz="914400"/>
            <a:r>
              <a:rPr lang="en-IE" sz="2800" dirty="0">
                <a:solidFill>
                  <a:schemeClr val="tx1"/>
                </a:solidFill>
              </a:rPr>
              <a:t>The </a:t>
            </a:r>
            <a:r>
              <a:rPr lang="en-IE" sz="2800" dirty="0">
                <a:solidFill>
                  <a:srgbClr val="1181F3"/>
                </a:solidFill>
                <a:latin typeface="Monaco" pitchFamily="2" charset="77"/>
              </a:rPr>
              <a:t>this</a:t>
            </a:r>
            <a:r>
              <a:rPr lang="en-IE" sz="2800" dirty="0">
                <a:solidFill>
                  <a:schemeClr val="tx1"/>
                </a:solidFill>
              </a:rPr>
              <a:t> Keyword in Java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8C56AC-B899-2568-9517-5FD54D9A74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06463" y="313298"/>
            <a:ext cx="2731379" cy="4315578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92B49638-F999-2A91-FA44-4A9EC7335E24}"/>
              </a:ext>
            </a:extLst>
          </p:cNvPr>
          <p:cNvSpPr txBox="1">
            <a:spLocks/>
          </p:cNvSpPr>
          <p:nvPr/>
        </p:nvSpPr>
        <p:spPr>
          <a:xfrm>
            <a:off x="192024" y="2262468"/>
            <a:ext cx="7772401" cy="161162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286973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573946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860919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1147892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algn="l"/>
            <a:r>
              <a:rPr lang="en-IE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Why and How we use it</a:t>
            </a:r>
            <a:endParaRPr lang="en-IE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94E400-A0C7-BE1B-44A0-8F17F3B22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BDE2ED-9613-EC3D-7D95-0004F92FA4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553201" y="4884769"/>
            <a:ext cx="1905000" cy="283023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49061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solidFill>
                  <a:srgbClr val="1181F3"/>
                </a:solidFill>
                <a:latin typeface="Monaco" pitchFamily="2" charset="77"/>
              </a:rPr>
              <a:t>this</a:t>
            </a:r>
            <a:r>
              <a:rPr lang="en-IE" dirty="0"/>
              <a:t> keyword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Examine a class called </a:t>
            </a:r>
            <a:r>
              <a:rPr lang="en-IE" b="1" dirty="0"/>
              <a:t>Spot</a:t>
            </a:r>
            <a:r>
              <a:rPr lang="en-IE" dirty="0"/>
              <a:t> – it contains many fields e.g.:</a:t>
            </a:r>
          </a:p>
          <a:p>
            <a:pPr lvl="1"/>
            <a:r>
              <a:rPr lang="en-IE" dirty="0" err="1"/>
              <a:t>xCoord</a:t>
            </a:r>
            <a:r>
              <a:rPr lang="en-IE" dirty="0"/>
              <a:t>, </a:t>
            </a:r>
            <a:r>
              <a:rPr lang="en-IE" dirty="0" err="1"/>
              <a:t>yCoord</a:t>
            </a:r>
            <a:r>
              <a:rPr lang="en-IE" dirty="0"/>
              <a:t>, diameter</a:t>
            </a:r>
          </a:p>
          <a:p>
            <a:pPr marL="342900" lvl="1" indent="0">
              <a:buNone/>
            </a:pPr>
            <a:endParaRPr lang="en-IE" dirty="0"/>
          </a:p>
        </p:txBody>
      </p:sp>
      <p:sp>
        <p:nvSpPr>
          <p:cNvPr id="2" name="Rectangle 1"/>
          <p:cNvSpPr/>
          <p:nvPr/>
        </p:nvSpPr>
        <p:spPr>
          <a:xfrm>
            <a:off x="4670298" y="1842168"/>
            <a:ext cx="4231328" cy="29495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IE" sz="1688" dirty="0"/>
              <a:t>class Spot{</a:t>
            </a:r>
          </a:p>
          <a:p>
            <a:pPr algn="l"/>
            <a:r>
              <a:rPr lang="en-IE" sz="1688" b="1" dirty="0">
                <a:solidFill>
                  <a:srgbClr val="00B050"/>
                </a:solidFill>
              </a:rPr>
              <a:t>  </a:t>
            </a:r>
            <a:r>
              <a:rPr lang="en-IE" sz="1688" dirty="0">
                <a:solidFill>
                  <a:srgbClr val="00B050"/>
                </a:solidFill>
              </a:rPr>
              <a:t>float</a:t>
            </a:r>
            <a:r>
              <a:rPr lang="en-IE" sz="1688" b="1" dirty="0">
                <a:solidFill>
                  <a:srgbClr val="00B050"/>
                </a:solidFill>
              </a:rPr>
              <a:t> </a:t>
            </a:r>
            <a:r>
              <a:rPr lang="en-IE" sz="1688" b="1" dirty="0" err="1">
                <a:solidFill>
                  <a:srgbClr val="00B050"/>
                </a:solidFill>
              </a:rPr>
              <a:t>xCoord</a:t>
            </a:r>
            <a:r>
              <a:rPr lang="en-IE" sz="1688" b="1" dirty="0">
                <a:solidFill>
                  <a:srgbClr val="00B050"/>
                </a:solidFill>
              </a:rPr>
              <a:t>, </a:t>
            </a:r>
            <a:r>
              <a:rPr lang="en-IE" sz="1688" b="1" dirty="0" err="1">
                <a:solidFill>
                  <a:srgbClr val="00B050"/>
                </a:solidFill>
              </a:rPr>
              <a:t>yCoord</a:t>
            </a:r>
            <a:r>
              <a:rPr lang="en-IE" sz="1688" b="1" dirty="0">
                <a:solidFill>
                  <a:srgbClr val="00B050"/>
                </a:solidFill>
              </a:rPr>
              <a:t>;</a:t>
            </a:r>
          </a:p>
          <a:p>
            <a:pPr algn="l"/>
            <a:r>
              <a:rPr lang="en-IE" sz="1688" b="1" dirty="0">
                <a:solidFill>
                  <a:srgbClr val="00B050"/>
                </a:solidFill>
              </a:rPr>
              <a:t>  </a:t>
            </a:r>
            <a:r>
              <a:rPr lang="en-IE" sz="1688" dirty="0">
                <a:solidFill>
                  <a:srgbClr val="00B050"/>
                </a:solidFill>
              </a:rPr>
              <a:t>float</a:t>
            </a:r>
            <a:r>
              <a:rPr lang="en-IE" sz="1688" b="1" dirty="0">
                <a:solidFill>
                  <a:srgbClr val="00B050"/>
                </a:solidFill>
              </a:rPr>
              <a:t> diameter;</a:t>
            </a:r>
          </a:p>
          <a:p>
            <a:pPr algn="l"/>
            <a:r>
              <a:rPr lang="en-IE" sz="1688" dirty="0"/>
              <a:t>  </a:t>
            </a:r>
            <a:r>
              <a:rPr lang="en-IE" sz="1688" dirty="0" err="1"/>
              <a:t>int</a:t>
            </a:r>
            <a:r>
              <a:rPr lang="en-IE" sz="1688" dirty="0"/>
              <a:t> red, green, blue;</a:t>
            </a:r>
          </a:p>
          <a:p>
            <a:pPr algn="l"/>
            <a:endParaRPr lang="en-IE" sz="1688" dirty="0"/>
          </a:p>
          <a:p>
            <a:pPr algn="l"/>
            <a:r>
              <a:rPr lang="en-IE" sz="1688" dirty="0"/>
              <a:t>  Spot(float </a:t>
            </a:r>
            <a:r>
              <a:rPr lang="en-IE" sz="1688" dirty="0" err="1"/>
              <a:t>xPos</a:t>
            </a:r>
            <a:r>
              <a:rPr lang="en-IE" sz="1688" dirty="0"/>
              <a:t>, float </a:t>
            </a:r>
            <a:r>
              <a:rPr lang="en-IE" sz="1688" dirty="0" err="1"/>
              <a:t>yPos</a:t>
            </a:r>
            <a:r>
              <a:rPr lang="en-IE" sz="1688" dirty="0"/>
              <a:t>, float </a:t>
            </a:r>
            <a:r>
              <a:rPr lang="en-IE" sz="1688" dirty="0" err="1"/>
              <a:t>diamtr</a:t>
            </a:r>
            <a:r>
              <a:rPr lang="en-IE" sz="1688" dirty="0"/>
              <a:t>)</a:t>
            </a:r>
          </a:p>
          <a:p>
            <a:pPr algn="l"/>
            <a:r>
              <a:rPr lang="en-IE" sz="1688" dirty="0"/>
              <a:t>  {</a:t>
            </a:r>
          </a:p>
          <a:p>
            <a:pPr algn="l"/>
            <a:r>
              <a:rPr lang="en-IE" sz="1688" dirty="0"/>
              <a:t>      </a:t>
            </a:r>
            <a:r>
              <a:rPr lang="en-IE" sz="1688" dirty="0" err="1"/>
              <a:t>xCoord</a:t>
            </a:r>
            <a:r>
              <a:rPr lang="en-IE" sz="1688" dirty="0"/>
              <a:t> = </a:t>
            </a:r>
            <a:r>
              <a:rPr lang="en-IE" sz="1688" dirty="0" err="1"/>
              <a:t>xPos</a:t>
            </a:r>
            <a:r>
              <a:rPr lang="en-IE" sz="1688" dirty="0"/>
              <a:t>;</a:t>
            </a:r>
          </a:p>
          <a:p>
            <a:pPr algn="l"/>
            <a:r>
              <a:rPr lang="en-IE" sz="1688" dirty="0"/>
              <a:t>      </a:t>
            </a:r>
            <a:r>
              <a:rPr lang="en-IE" sz="1688" dirty="0" err="1"/>
              <a:t>yCoord</a:t>
            </a:r>
            <a:r>
              <a:rPr lang="en-IE" sz="1688" dirty="0"/>
              <a:t> = </a:t>
            </a:r>
            <a:r>
              <a:rPr lang="en-IE" sz="1688" dirty="0" err="1"/>
              <a:t>yPos</a:t>
            </a:r>
            <a:r>
              <a:rPr lang="en-IE" sz="1688" dirty="0"/>
              <a:t>;</a:t>
            </a:r>
          </a:p>
          <a:p>
            <a:pPr algn="l"/>
            <a:r>
              <a:rPr lang="en-IE" sz="1688" dirty="0"/>
              <a:t>      diameter = </a:t>
            </a:r>
            <a:r>
              <a:rPr lang="en-IE" sz="1688" dirty="0" err="1"/>
              <a:t>diamtr</a:t>
            </a:r>
            <a:r>
              <a:rPr lang="en-IE" sz="1688" dirty="0"/>
              <a:t>;</a:t>
            </a:r>
          </a:p>
          <a:p>
            <a:pPr algn="l"/>
            <a:r>
              <a:rPr lang="en-IE" sz="1688" dirty="0"/>
              <a:t>  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E9584-32C8-A003-339C-4D2D16138E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3EFBE6-9A6F-CBE0-888F-2BDBBEBBF7F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87184794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solidFill>
                  <a:srgbClr val="1181F3"/>
                </a:solidFill>
                <a:latin typeface="Monaco" pitchFamily="2" charset="77"/>
              </a:rPr>
              <a:t>this</a:t>
            </a:r>
            <a:r>
              <a:rPr lang="en-IE" dirty="0"/>
              <a:t> keyword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One of the Spot constructors takes three parameters:</a:t>
            </a:r>
          </a:p>
          <a:p>
            <a:pPr lvl="1"/>
            <a:r>
              <a:rPr lang="en-IE" dirty="0" err="1"/>
              <a:t>xPos</a:t>
            </a:r>
            <a:r>
              <a:rPr lang="en-IE" dirty="0"/>
              <a:t>, </a:t>
            </a:r>
            <a:r>
              <a:rPr lang="en-IE" dirty="0" err="1"/>
              <a:t>yPos</a:t>
            </a:r>
            <a:r>
              <a:rPr lang="en-IE" dirty="0"/>
              <a:t>, </a:t>
            </a:r>
            <a:r>
              <a:rPr lang="en-IE" dirty="0" err="1"/>
              <a:t>diamtr</a:t>
            </a:r>
            <a:endParaRPr lang="en-IE" dirty="0"/>
          </a:p>
          <a:p>
            <a:pPr lvl="1"/>
            <a:endParaRPr lang="en-IE" dirty="0"/>
          </a:p>
        </p:txBody>
      </p:sp>
      <p:sp>
        <p:nvSpPr>
          <p:cNvPr id="2" name="Rectangle 1"/>
          <p:cNvSpPr/>
          <p:nvPr/>
        </p:nvSpPr>
        <p:spPr>
          <a:xfrm>
            <a:off x="4672584" y="1842168"/>
            <a:ext cx="4231328" cy="29495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IE" sz="1688" dirty="0"/>
              <a:t>class Spot{</a:t>
            </a:r>
          </a:p>
          <a:p>
            <a:pPr algn="l"/>
            <a:r>
              <a:rPr lang="en-IE" sz="1688" dirty="0"/>
              <a:t>  float </a:t>
            </a:r>
            <a:r>
              <a:rPr lang="en-IE" sz="1688" dirty="0" err="1"/>
              <a:t>xCoord</a:t>
            </a:r>
            <a:r>
              <a:rPr lang="en-IE" sz="1688" dirty="0"/>
              <a:t>, </a:t>
            </a:r>
            <a:r>
              <a:rPr lang="en-IE" sz="1688" dirty="0" err="1"/>
              <a:t>yCoord</a:t>
            </a:r>
            <a:r>
              <a:rPr lang="en-IE" sz="1688" dirty="0"/>
              <a:t>;</a:t>
            </a:r>
          </a:p>
          <a:p>
            <a:pPr algn="l"/>
            <a:r>
              <a:rPr lang="en-IE" sz="1688" dirty="0"/>
              <a:t>  float diameter;</a:t>
            </a:r>
          </a:p>
          <a:p>
            <a:pPr algn="l"/>
            <a:r>
              <a:rPr lang="en-IE" sz="1688" dirty="0"/>
              <a:t>  </a:t>
            </a:r>
            <a:r>
              <a:rPr lang="en-IE" sz="1688" dirty="0" err="1"/>
              <a:t>int</a:t>
            </a:r>
            <a:r>
              <a:rPr lang="en-IE" sz="1688" dirty="0"/>
              <a:t> red, green, blue;</a:t>
            </a:r>
          </a:p>
          <a:p>
            <a:pPr algn="l"/>
            <a:endParaRPr lang="en-IE" sz="1688" dirty="0"/>
          </a:p>
          <a:p>
            <a:pPr algn="l"/>
            <a:r>
              <a:rPr lang="en-IE" sz="1688" dirty="0"/>
              <a:t>  Spot (</a:t>
            </a:r>
            <a:r>
              <a:rPr lang="en-IE" sz="1688" dirty="0">
                <a:solidFill>
                  <a:srgbClr val="00B050"/>
                </a:solidFill>
              </a:rPr>
              <a:t>float</a:t>
            </a:r>
            <a:r>
              <a:rPr lang="en-IE" sz="1688" b="1" dirty="0">
                <a:solidFill>
                  <a:srgbClr val="00B050"/>
                </a:solidFill>
              </a:rPr>
              <a:t> </a:t>
            </a:r>
            <a:r>
              <a:rPr lang="en-IE" sz="1688" b="1" dirty="0" err="1">
                <a:solidFill>
                  <a:srgbClr val="00B050"/>
                </a:solidFill>
              </a:rPr>
              <a:t>xPos</a:t>
            </a:r>
            <a:r>
              <a:rPr lang="en-IE" sz="1688" b="1" dirty="0">
                <a:solidFill>
                  <a:srgbClr val="00B050"/>
                </a:solidFill>
              </a:rPr>
              <a:t>, </a:t>
            </a:r>
            <a:r>
              <a:rPr lang="en-IE" sz="1688" dirty="0">
                <a:solidFill>
                  <a:srgbClr val="00B050"/>
                </a:solidFill>
              </a:rPr>
              <a:t>float</a:t>
            </a:r>
            <a:r>
              <a:rPr lang="en-IE" sz="1688" b="1" dirty="0">
                <a:solidFill>
                  <a:srgbClr val="00B050"/>
                </a:solidFill>
              </a:rPr>
              <a:t> </a:t>
            </a:r>
            <a:r>
              <a:rPr lang="en-IE" sz="1688" b="1" dirty="0" err="1">
                <a:solidFill>
                  <a:srgbClr val="00B050"/>
                </a:solidFill>
              </a:rPr>
              <a:t>yPos</a:t>
            </a:r>
            <a:r>
              <a:rPr lang="en-IE" sz="1688" b="1" dirty="0">
                <a:solidFill>
                  <a:srgbClr val="00B050"/>
                </a:solidFill>
              </a:rPr>
              <a:t>, </a:t>
            </a:r>
            <a:r>
              <a:rPr lang="en-IE" sz="1688" dirty="0">
                <a:solidFill>
                  <a:srgbClr val="00B050"/>
                </a:solidFill>
              </a:rPr>
              <a:t>float</a:t>
            </a:r>
            <a:r>
              <a:rPr lang="en-IE" sz="1688" b="1" dirty="0">
                <a:solidFill>
                  <a:srgbClr val="00B050"/>
                </a:solidFill>
              </a:rPr>
              <a:t> </a:t>
            </a:r>
            <a:r>
              <a:rPr lang="en-IE" sz="1688" b="1" dirty="0" err="1">
                <a:solidFill>
                  <a:srgbClr val="00B050"/>
                </a:solidFill>
              </a:rPr>
              <a:t>diamtr</a:t>
            </a:r>
            <a:r>
              <a:rPr lang="en-IE" sz="1688" dirty="0"/>
              <a:t>)</a:t>
            </a:r>
          </a:p>
          <a:p>
            <a:pPr algn="l"/>
            <a:r>
              <a:rPr lang="en-IE" sz="1688" dirty="0"/>
              <a:t>  {</a:t>
            </a:r>
          </a:p>
          <a:p>
            <a:pPr algn="l"/>
            <a:r>
              <a:rPr lang="en-IE" sz="1688" dirty="0"/>
              <a:t>      </a:t>
            </a:r>
            <a:r>
              <a:rPr lang="en-IE" sz="1688" dirty="0" err="1"/>
              <a:t>xCoord</a:t>
            </a:r>
            <a:r>
              <a:rPr lang="en-IE" sz="1688" dirty="0"/>
              <a:t> = </a:t>
            </a:r>
            <a:r>
              <a:rPr lang="en-IE" sz="1688" dirty="0" err="1"/>
              <a:t>xPos</a:t>
            </a:r>
            <a:r>
              <a:rPr lang="en-IE" sz="1688" dirty="0"/>
              <a:t>;</a:t>
            </a:r>
          </a:p>
          <a:p>
            <a:pPr algn="l"/>
            <a:r>
              <a:rPr lang="en-IE" sz="1688" dirty="0"/>
              <a:t>      </a:t>
            </a:r>
            <a:r>
              <a:rPr lang="en-IE" sz="1688" dirty="0" err="1"/>
              <a:t>yCoord</a:t>
            </a:r>
            <a:r>
              <a:rPr lang="en-IE" sz="1688" dirty="0"/>
              <a:t> = </a:t>
            </a:r>
            <a:r>
              <a:rPr lang="en-IE" sz="1688" dirty="0" err="1"/>
              <a:t>yPos</a:t>
            </a:r>
            <a:r>
              <a:rPr lang="en-IE" sz="1688" dirty="0"/>
              <a:t>;</a:t>
            </a:r>
          </a:p>
          <a:p>
            <a:pPr algn="l"/>
            <a:r>
              <a:rPr lang="en-IE" sz="1688" dirty="0"/>
              <a:t>      diameter = </a:t>
            </a:r>
            <a:r>
              <a:rPr lang="en-IE" sz="1688" dirty="0" err="1"/>
              <a:t>diamtr</a:t>
            </a:r>
            <a:r>
              <a:rPr lang="en-IE" sz="1688" dirty="0"/>
              <a:t>;</a:t>
            </a:r>
          </a:p>
          <a:p>
            <a:pPr algn="l"/>
            <a:r>
              <a:rPr lang="en-IE" sz="1688" dirty="0"/>
              <a:t>  }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0858A98-9728-9162-A641-14BE0E307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0AFA82-1F32-1C1A-E720-1DFF7C43172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4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8044156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solidFill>
                  <a:srgbClr val="1181F3"/>
                </a:solidFill>
                <a:latin typeface="Monaco" pitchFamily="2" charset="77"/>
              </a:rPr>
              <a:t>this</a:t>
            </a:r>
            <a:r>
              <a:rPr lang="en-IE" dirty="0"/>
              <a:t> keyword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It would be nice to name the parameters passed into the Spot constructor the </a:t>
            </a:r>
            <a:r>
              <a:rPr lang="en-IE" b="1" dirty="0"/>
              <a:t>same names as the instance fields</a:t>
            </a:r>
            <a:endParaRPr lang="en-IE" dirty="0"/>
          </a:p>
          <a:p>
            <a:endParaRPr lang="en-IE" dirty="0"/>
          </a:p>
          <a:p>
            <a:r>
              <a:rPr lang="en-IE" dirty="0"/>
              <a:t>This is called </a:t>
            </a:r>
            <a:br>
              <a:rPr lang="en-IE" dirty="0"/>
            </a:br>
            <a:r>
              <a:rPr lang="en-IE" b="1" dirty="0">
                <a:solidFill>
                  <a:srgbClr val="FF0000"/>
                </a:solidFill>
              </a:rPr>
              <a:t>name overloading</a:t>
            </a:r>
            <a:br>
              <a:rPr lang="en-IE" dirty="0"/>
            </a:br>
            <a:endParaRPr lang="en-IE" dirty="0"/>
          </a:p>
          <a:p>
            <a:r>
              <a:rPr lang="en-IE" dirty="0"/>
              <a:t>But how will Java</a:t>
            </a:r>
            <a:br>
              <a:rPr lang="en-IE" dirty="0"/>
            </a:br>
            <a:r>
              <a:rPr lang="en-IE" dirty="0"/>
              <a:t>know which variable</a:t>
            </a:r>
            <a:br>
              <a:rPr lang="en-IE" dirty="0"/>
            </a:br>
            <a:r>
              <a:rPr lang="en-IE" dirty="0"/>
              <a:t>we are referring to?</a:t>
            </a:r>
          </a:p>
        </p:txBody>
      </p:sp>
      <p:sp>
        <p:nvSpPr>
          <p:cNvPr id="2" name="Rectangle 1"/>
          <p:cNvSpPr/>
          <p:nvPr/>
        </p:nvSpPr>
        <p:spPr>
          <a:xfrm>
            <a:off x="4670298" y="1842168"/>
            <a:ext cx="4233614" cy="29495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IE" sz="1688" dirty="0"/>
              <a:t>class Spot{</a:t>
            </a:r>
          </a:p>
          <a:p>
            <a:pPr algn="l"/>
            <a:r>
              <a:rPr lang="en-IE" sz="1688" dirty="0"/>
              <a:t>  float </a:t>
            </a:r>
            <a:r>
              <a:rPr lang="en-IE" sz="1688" b="1" dirty="0" err="1">
                <a:solidFill>
                  <a:srgbClr val="00B050"/>
                </a:solidFill>
              </a:rPr>
              <a:t>xCoord</a:t>
            </a:r>
            <a:r>
              <a:rPr lang="en-IE" sz="1688" dirty="0"/>
              <a:t>, </a:t>
            </a:r>
            <a:r>
              <a:rPr lang="en-IE" sz="1688" b="1" dirty="0" err="1">
                <a:solidFill>
                  <a:srgbClr val="FF0000"/>
                </a:solidFill>
              </a:rPr>
              <a:t>yCoord</a:t>
            </a:r>
            <a:r>
              <a:rPr lang="en-IE" sz="1688" dirty="0"/>
              <a:t>;</a:t>
            </a:r>
          </a:p>
          <a:p>
            <a:pPr algn="l"/>
            <a:r>
              <a:rPr lang="en-IE" sz="1688" dirty="0"/>
              <a:t>  float </a:t>
            </a:r>
            <a:r>
              <a:rPr lang="en-IE" sz="1688" b="1" dirty="0">
                <a:solidFill>
                  <a:srgbClr val="0070C0"/>
                </a:solidFill>
              </a:rPr>
              <a:t>diameter</a:t>
            </a:r>
            <a:r>
              <a:rPr lang="en-IE" sz="1688" dirty="0"/>
              <a:t>;</a:t>
            </a:r>
          </a:p>
          <a:p>
            <a:pPr algn="l"/>
            <a:r>
              <a:rPr lang="en-IE" sz="1688" dirty="0"/>
              <a:t>  </a:t>
            </a:r>
            <a:r>
              <a:rPr lang="en-IE" sz="1688" dirty="0" err="1"/>
              <a:t>int</a:t>
            </a:r>
            <a:r>
              <a:rPr lang="en-IE" sz="1688" dirty="0"/>
              <a:t> red, green, blue;</a:t>
            </a:r>
          </a:p>
          <a:p>
            <a:pPr algn="l"/>
            <a:endParaRPr lang="en-IE" sz="1688" dirty="0"/>
          </a:p>
          <a:p>
            <a:pPr algn="l"/>
            <a:r>
              <a:rPr lang="en-IE" sz="1688" dirty="0"/>
              <a:t>  Spot(float </a:t>
            </a:r>
            <a:r>
              <a:rPr lang="en-IE" sz="1688" b="1" dirty="0" err="1">
                <a:solidFill>
                  <a:srgbClr val="00B050"/>
                </a:solidFill>
              </a:rPr>
              <a:t>xPos</a:t>
            </a:r>
            <a:r>
              <a:rPr lang="en-IE" sz="1688" dirty="0"/>
              <a:t>, float </a:t>
            </a:r>
            <a:r>
              <a:rPr lang="en-IE" sz="1688" b="1" dirty="0" err="1">
                <a:solidFill>
                  <a:srgbClr val="FF0000"/>
                </a:solidFill>
              </a:rPr>
              <a:t>yPos</a:t>
            </a:r>
            <a:r>
              <a:rPr lang="en-IE" sz="1688" dirty="0"/>
              <a:t>, float </a:t>
            </a:r>
            <a:r>
              <a:rPr lang="en-IE" sz="1688" b="1" dirty="0" err="1">
                <a:solidFill>
                  <a:srgbClr val="0070C0"/>
                </a:solidFill>
              </a:rPr>
              <a:t>diamtr</a:t>
            </a:r>
            <a:r>
              <a:rPr lang="en-IE" sz="1688" dirty="0"/>
              <a:t>)</a:t>
            </a:r>
          </a:p>
          <a:p>
            <a:pPr algn="l"/>
            <a:r>
              <a:rPr lang="en-IE" sz="1688" dirty="0"/>
              <a:t>  {</a:t>
            </a:r>
          </a:p>
          <a:p>
            <a:pPr algn="l"/>
            <a:r>
              <a:rPr lang="en-IE" sz="1688" dirty="0"/>
              <a:t>      </a:t>
            </a:r>
            <a:r>
              <a:rPr lang="en-IE" sz="1688" dirty="0" err="1"/>
              <a:t>xCoord</a:t>
            </a:r>
            <a:r>
              <a:rPr lang="en-IE" sz="1688" dirty="0"/>
              <a:t> = </a:t>
            </a:r>
            <a:r>
              <a:rPr lang="en-IE" sz="1688" dirty="0" err="1"/>
              <a:t>xPos</a:t>
            </a:r>
            <a:r>
              <a:rPr lang="en-IE" sz="1688" dirty="0"/>
              <a:t>;</a:t>
            </a:r>
          </a:p>
          <a:p>
            <a:pPr algn="l"/>
            <a:r>
              <a:rPr lang="en-IE" sz="1688" dirty="0"/>
              <a:t>      </a:t>
            </a:r>
            <a:r>
              <a:rPr lang="en-IE" sz="1688" dirty="0" err="1"/>
              <a:t>yCoord</a:t>
            </a:r>
            <a:r>
              <a:rPr lang="en-IE" sz="1688" dirty="0"/>
              <a:t> = </a:t>
            </a:r>
            <a:r>
              <a:rPr lang="en-IE" sz="1688" dirty="0" err="1"/>
              <a:t>yPos</a:t>
            </a:r>
            <a:r>
              <a:rPr lang="en-IE" sz="1688" dirty="0"/>
              <a:t>;</a:t>
            </a:r>
          </a:p>
          <a:p>
            <a:pPr algn="l"/>
            <a:r>
              <a:rPr lang="en-IE" sz="1688" dirty="0"/>
              <a:t>      diameter = </a:t>
            </a:r>
            <a:r>
              <a:rPr lang="en-IE" sz="1688" dirty="0" err="1"/>
              <a:t>diamtr</a:t>
            </a:r>
            <a:r>
              <a:rPr lang="en-IE" sz="1688" dirty="0"/>
              <a:t>;</a:t>
            </a:r>
          </a:p>
          <a:p>
            <a:pPr algn="l"/>
            <a:r>
              <a:rPr lang="en-IE" sz="1688" dirty="0"/>
              <a:t>  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C67D51-3F94-2FD1-CCD0-09BB4D522D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C2E7F4-1F33-08BA-89A8-3B2D6B28CF7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5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5524428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solidFill>
                  <a:srgbClr val="1181F3"/>
                </a:solidFill>
                <a:latin typeface="Monaco" pitchFamily="2" charset="77"/>
              </a:rPr>
              <a:t>this</a:t>
            </a:r>
            <a:r>
              <a:rPr lang="en-IE" dirty="0"/>
              <a:t> keyword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2914650" y="1995679"/>
            <a:ext cx="4457700" cy="26314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IE" sz="1500" dirty="0"/>
              <a:t>class Spot{</a:t>
            </a:r>
          </a:p>
          <a:p>
            <a:pPr algn="l"/>
            <a:r>
              <a:rPr lang="en-IE" sz="1500" dirty="0"/>
              <a:t>  float </a:t>
            </a:r>
            <a:r>
              <a:rPr lang="en-IE" sz="1500" b="1" dirty="0" err="1">
                <a:solidFill>
                  <a:srgbClr val="00B050"/>
                </a:solidFill>
              </a:rPr>
              <a:t>xCoord</a:t>
            </a:r>
            <a:r>
              <a:rPr lang="en-IE" sz="1500" dirty="0"/>
              <a:t>, </a:t>
            </a:r>
            <a:r>
              <a:rPr lang="en-IE" sz="1500" b="1" dirty="0" err="1">
                <a:solidFill>
                  <a:srgbClr val="FF0000"/>
                </a:solidFill>
              </a:rPr>
              <a:t>yCoord</a:t>
            </a:r>
            <a:r>
              <a:rPr lang="en-IE" sz="1500" dirty="0"/>
              <a:t>;</a:t>
            </a:r>
          </a:p>
          <a:p>
            <a:pPr algn="l"/>
            <a:r>
              <a:rPr lang="en-IE" sz="1500" dirty="0"/>
              <a:t>  float </a:t>
            </a:r>
            <a:r>
              <a:rPr lang="en-IE" sz="1500" b="1" dirty="0">
                <a:solidFill>
                  <a:srgbClr val="0070C0"/>
                </a:solidFill>
              </a:rPr>
              <a:t>diameter</a:t>
            </a:r>
            <a:r>
              <a:rPr lang="en-IE" sz="1500" dirty="0"/>
              <a:t>;</a:t>
            </a:r>
          </a:p>
          <a:p>
            <a:pPr algn="l"/>
            <a:r>
              <a:rPr lang="en-IE" sz="1500" dirty="0"/>
              <a:t>  </a:t>
            </a:r>
            <a:r>
              <a:rPr lang="en-IE" sz="1500" dirty="0" err="1"/>
              <a:t>int</a:t>
            </a:r>
            <a:r>
              <a:rPr lang="en-IE" sz="1500" dirty="0"/>
              <a:t> red, green, blue;</a:t>
            </a:r>
          </a:p>
          <a:p>
            <a:pPr algn="l"/>
            <a:endParaRPr lang="en-IE" sz="1500" dirty="0"/>
          </a:p>
          <a:p>
            <a:pPr algn="l"/>
            <a:r>
              <a:rPr lang="en-IE" sz="1500" dirty="0"/>
              <a:t> Spot(float </a:t>
            </a:r>
            <a:r>
              <a:rPr lang="en-IE" sz="1500" dirty="0" err="1"/>
              <a:t>xCoord</a:t>
            </a:r>
            <a:r>
              <a:rPr lang="en-IE" sz="1500" dirty="0"/>
              <a:t>, float </a:t>
            </a:r>
            <a:r>
              <a:rPr lang="en-IE" sz="1500" dirty="0" err="1"/>
              <a:t>yCoord</a:t>
            </a:r>
            <a:r>
              <a:rPr lang="en-IE" sz="1500" dirty="0"/>
              <a:t>, float diameter)</a:t>
            </a:r>
          </a:p>
          <a:p>
            <a:pPr algn="l"/>
            <a:r>
              <a:rPr lang="en-IE" sz="1500" dirty="0"/>
              <a:t> {</a:t>
            </a:r>
          </a:p>
          <a:p>
            <a:pPr algn="l"/>
            <a:r>
              <a:rPr lang="en-IE" sz="1500" dirty="0"/>
              <a:t>    </a:t>
            </a:r>
            <a:r>
              <a:rPr lang="en-IE" sz="1500" b="1" dirty="0" err="1">
                <a:solidFill>
                  <a:srgbClr val="00B050"/>
                </a:solidFill>
              </a:rPr>
              <a:t>this.xCoord</a:t>
            </a:r>
            <a:r>
              <a:rPr lang="en-IE" sz="1500" b="1" dirty="0">
                <a:solidFill>
                  <a:srgbClr val="00B050"/>
                </a:solidFill>
              </a:rPr>
              <a:t>       </a:t>
            </a:r>
            <a:r>
              <a:rPr lang="en-IE" sz="1500" dirty="0"/>
              <a:t>= </a:t>
            </a:r>
            <a:r>
              <a:rPr lang="en-IE" sz="1500" dirty="0" err="1"/>
              <a:t>xCoord</a:t>
            </a:r>
            <a:r>
              <a:rPr lang="en-IE" sz="1500" dirty="0"/>
              <a:t>;</a:t>
            </a:r>
          </a:p>
          <a:p>
            <a:pPr algn="l"/>
            <a:r>
              <a:rPr lang="en-IE" sz="1500" b="1" dirty="0">
                <a:solidFill>
                  <a:srgbClr val="FF0000"/>
                </a:solidFill>
              </a:rPr>
              <a:t>    </a:t>
            </a:r>
            <a:r>
              <a:rPr lang="en-IE" sz="1500" b="1" dirty="0" err="1">
                <a:solidFill>
                  <a:srgbClr val="FF0000"/>
                </a:solidFill>
              </a:rPr>
              <a:t>this.yCoord</a:t>
            </a:r>
            <a:r>
              <a:rPr lang="en-IE" sz="1500" b="1" dirty="0">
                <a:solidFill>
                  <a:srgbClr val="FF0000"/>
                </a:solidFill>
              </a:rPr>
              <a:t>        </a:t>
            </a:r>
            <a:r>
              <a:rPr lang="en-IE" sz="1500" dirty="0"/>
              <a:t>= </a:t>
            </a:r>
            <a:r>
              <a:rPr lang="en-IE" sz="1500" dirty="0" err="1"/>
              <a:t>yCoord</a:t>
            </a:r>
            <a:r>
              <a:rPr lang="en-IE" sz="1500" dirty="0"/>
              <a:t>;</a:t>
            </a:r>
          </a:p>
          <a:p>
            <a:pPr algn="l"/>
            <a:r>
              <a:rPr lang="en-IE" sz="1500" dirty="0"/>
              <a:t>    </a:t>
            </a:r>
            <a:r>
              <a:rPr lang="en-IE" sz="1500" b="1" dirty="0" err="1">
                <a:solidFill>
                  <a:srgbClr val="0070C0"/>
                </a:solidFill>
              </a:rPr>
              <a:t>this.diameter</a:t>
            </a:r>
            <a:r>
              <a:rPr lang="en-IE" sz="1500" b="1" dirty="0">
                <a:solidFill>
                  <a:srgbClr val="0070C0"/>
                </a:solidFill>
              </a:rPr>
              <a:t>   </a:t>
            </a:r>
            <a:r>
              <a:rPr lang="en-IE" sz="1500" dirty="0"/>
              <a:t>= diameter;</a:t>
            </a:r>
          </a:p>
          <a:p>
            <a:pPr algn="l"/>
            <a:r>
              <a:rPr lang="en-IE" sz="1500" dirty="0"/>
              <a:t>  }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9A1B1CBF-15B8-488C-96B8-36FB1A5BC20E}"/>
              </a:ext>
            </a:extLst>
          </p:cNvPr>
          <p:cNvSpPr txBox="1">
            <a:spLocks/>
          </p:cNvSpPr>
          <p:nvPr/>
        </p:nvSpPr>
        <p:spPr>
          <a:xfrm>
            <a:off x="1485900" y="852680"/>
            <a:ext cx="3943350" cy="10286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68580" tIns="34290" rIns="68580" bIns="3429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E" sz="2400" dirty="0"/>
              <a:t>We can use the </a:t>
            </a:r>
            <a:r>
              <a:rPr lang="en-IE" sz="2400" dirty="0">
                <a:solidFill>
                  <a:srgbClr val="FF0000"/>
                </a:solidFill>
              </a:rPr>
              <a:t>this</a:t>
            </a:r>
            <a:r>
              <a:rPr lang="en-IE" sz="2400" dirty="0"/>
              <a:t> keyword to distinguish between them</a:t>
            </a:r>
          </a:p>
          <a:p>
            <a:pPr marL="0" indent="0">
              <a:buNone/>
            </a:pPr>
            <a:endParaRPr lang="en-IE" sz="24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0FA4E06-345E-4A77-9A65-7817076CD0F4}"/>
              </a:ext>
            </a:extLst>
          </p:cNvPr>
          <p:cNvSpPr/>
          <p:nvPr/>
        </p:nvSpPr>
        <p:spPr>
          <a:xfrm>
            <a:off x="3086100" y="3385566"/>
            <a:ext cx="1257300" cy="125265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39BC1ED-6FF8-42C7-AF4B-2CD98F14A2D9}"/>
              </a:ext>
            </a:extLst>
          </p:cNvPr>
          <p:cNvCxnSpPr>
            <a:cxnSpLocks/>
          </p:cNvCxnSpPr>
          <p:nvPr/>
        </p:nvCxnSpPr>
        <p:spPr>
          <a:xfrm>
            <a:off x="2000250" y="1715413"/>
            <a:ext cx="1273302" cy="173187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BA6770C-0906-B9FA-7ABD-8730FBFE30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84ACD8C-85E7-3C36-2A69-3D1F3030D90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6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29588532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DD3D52B-2550-C5A1-5F5D-01184994FB23}"/>
              </a:ext>
            </a:extLst>
          </p:cNvPr>
          <p:cNvSpPr/>
          <p:nvPr/>
        </p:nvSpPr>
        <p:spPr>
          <a:xfrm>
            <a:off x="2914650" y="1995679"/>
            <a:ext cx="4457700" cy="26314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IE" sz="1500" dirty="0"/>
              <a:t>class Spot{</a:t>
            </a:r>
          </a:p>
          <a:p>
            <a:pPr algn="l"/>
            <a:r>
              <a:rPr lang="en-IE" sz="1500" dirty="0"/>
              <a:t>  float </a:t>
            </a:r>
            <a:r>
              <a:rPr lang="en-IE" sz="1500" b="1" dirty="0" err="1">
                <a:solidFill>
                  <a:srgbClr val="00B050"/>
                </a:solidFill>
              </a:rPr>
              <a:t>xCoord</a:t>
            </a:r>
            <a:r>
              <a:rPr lang="en-IE" sz="1500" dirty="0"/>
              <a:t>, </a:t>
            </a:r>
            <a:r>
              <a:rPr lang="en-IE" sz="1500" b="1" dirty="0" err="1">
                <a:solidFill>
                  <a:srgbClr val="FF0000"/>
                </a:solidFill>
              </a:rPr>
              <a:t>yCoord</a:t>
            </a:r>
            <a:r>
              <a:rPr lang="en-IE" sz="1500" dirty="0"/>
              <a:t>;</a:t>
            </a:r>
          </a:p>
          <a:p>
            <a:pPr algn="l"/>
            <a:r>
              <a:rPr lang="en-IE" sz="1500" dirty="0"/>
              <a:t>  float </a:t>
            </a:r>
            <a:r>
              <a:rPr lang="en-IE" sz="1500" b="1" dirty="0">
                <a:solidFill>
                  <a:srgbClr val="0070C0"/>
                </a:solidFill>
              </a:rPr>
              <a:t>diameter</a:t>
            </a:r>
            <a:r>
              <a:rPr lang="en-IE" sz="1500" dirty="0"/>
              <a:t>;</a:t>
            </a:r>
          </a:p>
          <a:p>
            <a:pPr algn="l"/>
            <a:r>
              <a:rPr lang="en-IE" sz="1500" dirty="0"/>
              <a:t>  </a:t>
            </a:r>
            <a:r>
              <a:rPr lang="en-IE" sz="1500" dirty="0" err="1"/>
              <a:t>int</a:t>
            </a:r>
            <a:r>
              <a:rPr lang="en-IE" sz="1500" dirty="0"/>
              <a:t> red, green, blue;</a:t>
            </a:r>
          </a:p>
          <a:p>
            <a:pPr algn="l"/>
            <a:endParaRPr lang="en-IE" sz="1500" dirty="0"/>
          </a:p>
          <a:p>
            <a:pPr algn="l"/>
            <a:r>
              <a:rPr lang="en-IE" sz="1500" dirty="0"/>
              <a:t> Spot(float </a:t>
            </a:r>
            <a:r>
              <a:rPr lang="en-IE" sz="1500" dirty="0" err="1"/>
              <a:t>xCoord</a:t>
            </a:r>
            <a:r>
              <a:rPr lang="en-IE" sz="1500" dirty="0"/>
              <a:t>, float </a:t>
            </a:r>
            <a:r>
              <a:rPr lang="en-IE" sz="1500" dirty="0" err="1"/>
              <a:t>yCoord</a:t>
            </a:r>
            <a:r>
              <a:rPr lang="en-IE" sz="1500" dirty="0"/>
              <a:t>, float diameter)</a:t>
            </a:r>
          </a:p>
          <a:p>
            <a:pPr algn="l"/>
            <a:r>
              <a:rPr lang="en-IE" sz="1500" dirty="0"/>
              <a:t> {</a:t>
            </a:r>
          </a:p>
          <a:p>
            <a:pPr algn="l"/>
            <a:r>
              <a:rPr lang="en-IE" sz="1500" dirty="0"/>
              <a:t>    </a:t>
            </a:r>
            <a:r>
              <a:rPr lang="en-IE" sz="1500" b="1" dirty="0" err="1">
                <a:solidFill>
                  <a:srgbClr val="00B050"/>
                </a:solidFill>
              </a:rPr>
              <a:t>this.xCoord</a:t>
            </a:r>
            <a:r>
              <a:rPr lang="en-IE" sz="1500" b="1" dirty="0">
                <a:solidFill>
                  <a:srgbClr val="00B050"/>
                </a:solidFill>
              </a:rPr>
              <a:t>       </a:t>
            </a:r>
            <a:r>
              <a:rPr lang="en-IE" sz="1500" dirty="0"/>
              <a:t>= </a:t>
            </a:r>
            <a:r>
              <a:rPr lang="en-IE" sz="1500" dirty="0" err="1"/>
              <a:t>xCoord</a:t>
            </a:r>
            <a:r>
              <a:rPr lang="en-IE" sz="1500" dirty="0"/>
              <a:t>;</a:t>
            </a:r>
          </a:p>
          <a:p>
            <a:pPr algn="l"/>
            <a:r>
              <a:rPr lang="en-IE" sz="1500" b="1" dirty="0">
                <a:solidFill>
                  <a:srgbClr val="FF0000"/>
                </a:solidFill>
              </a:rPr>
              <a:t>    </a:t>
            </a:r>
            <a:r>
              <a:rPr lang="en-IE" sz="1500" b="1" dirty="0" err="1">
                <a:solidFill>
                  <a:srgbClr val="FF0000"/>
                </a:solidFill>
              </a:rPr>
              <a:t>this.yCoord</a:t>
            </a:r>
            <a:r>
              <a:rPr lang="en-IE" sz="1500" b="1" dirty="0">
                <a:solidFill>
                  <a:srgbClr val="FF0000"/>
                </a:solidFill>
              </a:rPr>
              <a:t>        </a:t>
            </a:r>
            <a:r>
              <a:rPr lang="en-IE" sz="1500" dirty="0"/>
              <a:t>= </a:t>
            </a:r>
            <a:r>
              <a:rPr lang="en-IE" sz="1500" dirty="0" err="1"/>
              <a:t>yCoord</a:t>
            </a:r>
            <a:r>
              <a:rPr lang="en-IE" sz="1500" dirty="0"/>
              <a:t>;</a:t>
            </a:r>
          </a:p>
          <a:p>
            <a:pPr algn="l"/>
            <a:r>
              <a:rPr lang="en-IE" sz="1500" dirty="0"/>
              <a:t>    </a:t>
            </a:r>
            <a:r>
              <a:rPr lang="en-IE" sz="1500" b="1" dirty="0" err="1">
                <a:solidFill>
                  <a:srgbClr val="0070C0"/>
                </a:solidFill>
              </a:rPr>
              <a:t>this.diameter</a:t>
            </a:r>
            <a:r>
              <a:rPr lang="en-IE" sz="1500" b="1" dirty="0">
                <a:solidFill>
                  <a:srgbClr val="0070C0"/>
                </a:solidFill>
              </a:rPr>
              <a:t>   </a:t>
            </a:r>
            <a:r>
              <a:rPr lang="en-IE" sz="1500" dirty="0"/>
              <a:t>= diameter;</a:t>
            </a:r>
          </a:p>
          <a:p>
            <a:pPr algn="l"/>
            <a:r>
              <a:rPr lang="en-IE" sz="1500" dirty="0"/>
              <a:t>  }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solidFill>
                  <a:srgbClr val="1181F3"/>
                </a:solidFill>
                <a:latin typeface="Monaco" pitchFamily="2" charset="77"/>
              </a:rPr>
              <a:t>this</a:t>
            </a:r>
            <a:r>
              <a:rPr lang="en-IE" dirty="0"/>
              <a:t> keyword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78DAC35-5C64-4C32-BE63-995FE898D74A}"/>
              </a:ext>
            </a:extLst>
          </p:cNvPr>
          <p:cNvSpPr txBox="1">
            <a:spLocks/>
          </p:cNvSpPr>
          <p:nvPr/>
        </p:nvSpPr>
        <p:spPr>
          <a:xfrm>
            <a:off x="1485900" y="839877"/>
            <a:ext cx="3543300" cy="9660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68580" tIns="34290" rIns="68580" bIns="3429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E" sz="2400" dirty="0">
                <a:solidFill>
                  <a:srgbClr val="FF0000"/>
                </a:solidFill>
              </a:rPr>
              <a:t>this</a:t>
            </a:r>
            <a:r>
              <a:rPr lang="en-IE" sz="2400" dirty="0"/>
              <a:t> refers to the current object fields.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D77A3E8-3D33-4CA9-8DC8-4631CB4ACA14}"/>
              </a:ext>
            </a:extLst>
          </p:cNvPr>
          <p:cNvSpPr/>
          <p:nvPr/>
        </p:nvSpPr>
        <p:spPr>
          <a:xfrm>
            <a:off x="2752344" y="2159362"/>
            <a:ext cx="2370582" cy="62955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039992D-3705-48B7-9BC4-54EF3409AB1D}"/>
              </a:ext>
            </a:extLst>
          </p:cNvPr>
          <p:cNvCxnSpPr>
            <a:cxnSpLocks/>
          </p:cNvCxnSpPr>
          <p:nvPr/>
        </p:nvCxnSpPr>
        <p:spPr>
          <a:xfrm>
            <a:off x="3257550" y="1787653"/>
            <a:ext cx="272034" cy="35342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F156FBB-B882-0D3F-186A-91850D3CF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8FC0F0D-8BD4-E2A5-E788-E68E1EDCD67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7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98465312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84394C2-54F2-923B-AE46-A67317C3FA17}"/>
              </a:ext>
            </a:extLst>
          </p:cNvPr>
          <p:cNvSpPr/>
          <p:nvPr/>
        </p:nvSpPr>
        <p:spPr>
          <a:xfrm>
            <a:off x="2914650" y="1995679"/>
            <a:ext cx="4457700" cy="26314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IE" sz="1500" dirty="0"/>
              <a:t>class Spot{</a:t>
            </a:r>
          </a:p>
          <a:p>
            <a:pPr algn="l"/>
            <a:r>
              <a:rPr lang="en-IE" sz="1500" dirty="0"/>
              <a:t>  float </a:t>
            </a:r>
            <a:r>
              <a:rPr lang="en-IE" sz="1500" b="1" dirty="0" err="1">
                <a:solidFill>
                  <a:srgbClr val="00B050"/>
                </a:solidFill>
              </a:rPr>
              <a:t>xCoord</a:t>
            </a:r>
            <a:r>
              <a:rPr lang="en-IE" sz="1500" dirty="0"/>
              <a:t>, </a:t>
            </a:r>
            <a:r>
              <a:rPr lang="en-IE" sz="1500" b="1" dirty="0" err="1">
                <a:solidFill>
                  <a:srgbClr val="FF0000"/>
                </a:solidFill>
              </a:rPr>
              <a:t>yCoord</a:t>
            </a:r>
            <a:r>
              <a:rPr lang="en-IE" sz="1500" dirty="0"/>
              <a:t>;</a:t>
            </a:r>
          </a:p>
          <a:p>
            <a:pPr algn="l"/>
            <a:r>
              <a:rPr lang="en-IE" sz="1500" dirty="0"/>
              <a:t>  float </a:t>
            </a:r>
            <a:r>
              <a:rPr lang="en-IE" sz="1500" b="1" dirty="0">
                <a:solidFill>
                  <a:srgbClr val="0070C0"/>
                </a:solidFill>
              </a:rPr>
              <a:t>diameter</a:t>
            </a:r>
            <a:r>
              <a:rPr lang="en-IE" sz="1500" dirty="0"/>
              <a:t>;</a:t>
            </a:r>
          </a:p>
          <a:p>
            <a:pPr algn="l"/>
            <a:r>
              <a:rPr lang="en-IE" sz="1500" dirty="0"/>
              <a:t>  </a:t>
            </a:r>
            <a:r>
              <a:rPr lang="en-IE" sz="1500" dirty="0" err="1"/>
              <a:t>int</a:t>
            </a:r>
            <a:r>
              <a:rPr lang="en-IE" sz="1500" dirty="0"/>
              <a:t> red, green, blue;</a:t>
            </a:r>
          </a:p>
          <a:p>
            <a:pPr algn="l"/>
            <a:endParaRPr lang="en-IE" sz="1500" dirty="0"/>
          </a:p>
          <a:p>
            <a:pPr algn="l"/>
            <a:r>
              <a:rPr lang="en-IE" sz="1500" dirty="0"/>
              <a:t> Spot(float </a:t>
            </a:r>
            <a:r>
              <a:rPr lang="en-IE" sz="1500" dirty="0" err="1"/>
              <a:t>xCoord</a:t>
            </a:r>
            <a:r>
              <a:rPr lang="en-IE" sz="1500" dirty="0"/>
              <a:t>, float </a:t>
            </a:r>
            <a:r>
              <a:rPr lang="en-IE" sz="1500" dirty="0" err="1"/>
              <a:t>yCoord</a:t>
            </a:r>
            <a:r>
              <a:rPr lang="en-IE" sz="1500" dirty="0"/>
              <a:t>, float diameter)</a:t>
            </a:r>
          </a:p>
          <a:p>
            <a:pPr algn="l"/>
            <a:r>
              <a:rPr lang="en-IE" sz="1500" dirty="0"/>
              <a:t> {</a:t>
            </a:r>
          </a:p>
          <a:p>
            <a:pPr algn="l"/>
            <a:r>
              <a:rPr lang="en-IE" sz="1500" dirty="0"/>
              <a:t>    </a:t>
            </a:r>
            <a:r>
              <a:rPr lang="en-IE" sz="1500" b="1" dirty="0" err="1">
                <a:solidFill>
                  <a:srgbClr val="00B050"/>
                </a:solidFill>
              </a:rPr>
              <a:t>this.xCoord</a:t>
            </a:r>
            <a:r>
              <a:rPr lang="en-IE" sz="1500" b="1" dirty="0">
                <a:solidFill>
                  <a:srgbClr val="00B050"/>
                </a:solidFill>
              </a:rPr>
              <a:t>       </a:t>
            </a:r>
            <a:r>
              <a:rPr lang="en-IE" sz="1500" dirty="0"/>
              <a:t>= </a:t>
            </a:r>
            <a:r>
              <a:rPr lang="en-IE" sz="1500" dirty="0" err="1"/>
              <a:t>xCoord</a:t>
            </a:r>
            <a:r>
              <a:rPr lang="en-IE" sz="1500" dirty="0"/>
              <a:t>;</a:t>
            </a:r>
          </a:p>
          <a:p>
            <a:pPr algn="l"/>
            <a:r>
              <a:rPr lang="en-IE" sz="1500" b="1" dirty="0">
                <a:solidFill>
                  <a:srgbClr val="FF0000"/>
                </a:solidFill>
              </a:rPr>
              <a:t>    </a:t>
            </a:r>
            <a:r>
              <a:rPr lang="en-IE" sz="1500" b="1" dirty="0" err="1">
                <a:solidFill>
                  <a:srgbClr val="FF0000"/>
                </a:solidFill>
              </a:rPr>
              <a:t>this.yCoord</a:t>
            </a:r>
            <a:r>
              <a:rPr lang="en-IE" sz="1500" b="1" dirty="0">
                <a:solidFill>
                  <a:srgbClr val="FF0000"/>
                </a:solidFill>
              </a:rPr>
              <a:t>        </a:t>
            </a:r>
            <a:r>
              <a:rPr lang="en-IE" sz="1500" dirty="0"/>
              <a:t>= </a:t>
            </a:r>
            <a:r>
              <a:rPr lang="en-IE" sz="1500" dirty="0" err="1"/>
              <a:t>yCoord</a:t>
            </a:r>
            <a:r>
              <a:rPr lang="en-IE" sz="1500" dirty="0"/>
              <a:t>;</a:t>
            </a:r>
          </a:p>
          <a:p>
            <a:pPr algn="l"/>
            <a:r>
              <a:rPr lang="en-IE" sz="1500" dirty="0"/>
              <a:t>    </a:t>
            </a:r>
            <a:r>
              <a:rPr lang="en-IE" sz="1500" b="1" dirty="0" err="1">
                <a:solidFill>
                  <a:srgbClr val="0070C0"/>
                </a:solidFill>
              </a:rPr>
              <a:t>this.diameter</a:t>
            </a:r>
            <a:r>
              <a:rPr lang="en-IE" sz="1500" b="1" dirty="0">
                <a:solidFill>
                  <a:srgbClr val="0070C0"/>
                </a:solidFill>
              </a:rPr>
              <a:t>   </a:t>
            </a:r>
            <a:r>
              <a:rPr lang="en-IE" sz="1500" dirty="0"/>
              <a:t>= diameter;</a:t>
            </a:r>
          </a:p>
          <a:p>
            <a:pPr algn="l"/>
            <a:r>
              <a:rPr lang="en-IE" sz="1500" dirty="0"/>
              <a:t>  }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solidFill>
                  <a:srgbClr val="1181F3"/>
                </a:solidFill>
                <a:latin typeface="Monaco" pitchFamily="2" charset="77"/>
              </a:rPr>
              <a:t>this</a:t>
            </a:r>
            <a:r>
              <a:rPr lang="en-IE" dirty="0"/>
              <a:t> keyword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type="body" idx="1"/>
          </p:nvPr>
        </p:nvSpPr>
        <p:spPr>
          <a:xfrm>
            <a:off x="395537" y="843559"/>
            <a:ext cx="7312856" cy="93701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IE" dirty="0"/>
              <a:t>These are local fields that are destroyed as soon as the Spot constructor finishes executing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A1B3703-9FAF-43E4-9B70-4AC72C64D3F4}"/>
              </a:ext>
            </a:extLst>
          </p:cNvPr>
          <p:cNvSpPr/>
          <p:nvPr/>
        </p:nvSpPr>
        <p:spPr>
          <a:xfrm>
            <a:off x="2914650" y="2991384"/>
            <a:ext cx="4153662" cy="58392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50A5E0D-7DDB-4AE9-8A8B-CAEE9ABE5FD7}"/>
              </a:ext>
            </a:extLst>
          </p:cNvPr>
          <p:cNvCxnSpPr>
            <a:cxnSpLocks/>
          </p:cNvCxnSpPr>
          <p:nvPr/>
        </p:nvCxnSpPr>
        <p:spPr>
          <a:xfrm flipH="1">
            <a:off x="6025896" y="1664208"/>
            <a:ext cx="557784" cy="132717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B98DCB8-81FF-1DD0-6254-3651A90991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7959665-448F-B6ED-B57F-43D27D2BDFA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8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86873396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solidFill>
                  <a:srgbClr val="1181F3"/>
                </a:solidFill>
                <a:latin typeface="Monaco" pitchFamily="2" charset="77"/>
              </a:rPr>
              <a:t>this</a:t>
            </a:r>
            <a:r>
              <a:rPr lang="en-IE" dirty="0"/>
              <a:t> keyword – other examples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type="body" idx="1"/>
          </p:nvPr>
        </p:nvSpPr>
        <p:spPr>
          <a:xfrm>
            <a:off x="219456" y="934999"/>
            <a:ext cx="3595937" cy="3490697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E" dirty="0"/>
              <a:t>To </a:t>
            </a:r>
            <a:r>
              <a:rPr lang="en-IE" dirty="0" err="1"/>
              <a:t>clairfy</a:t>
            </a:r>
            <a:r>
              <a:rPr lang="en-IE" dirty="0"/>
              <a:t>, in the statement:</a:t>
            </a:r>
            <a:br>
              <a:rPr lang="en-IE" b="1" dirty="0"/>
            </a:br>
            <a:br>
              <a:rPr lang="en-IE" b="1" dirty="0"/>
            </a:br>
            <a:r>
              <a:rPr lang="en-IE" b="1" dirty="0"/>
              <a:t>	</a:t>
            </a:r>
            <a:r>
              <a:rPr lang="en-IE" b="1" dirty="0" err="1"/>
              <a:t>this.x</a:t>
            </a:r>
            <a:r>
              <a:rPr lang="en-IE" dirty="0"/>
              <a:t> = </a:t>
            </a:r>
            <a:r>
              <a:rPr lang="en-IE" b="1" dirty="0"/>
              <a:t>x;</a:t>
            </a: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dirty="0"/>
              <a:t>Where </a:t>
            </a:r>
            <a:r>
              <a:rPr lang="en-IE" b="1" dirty="0" err="1"/>
              <a:t>this.x</a:t>
            </a:r>
            <a:r>
              <a:rPr lang="en-IE" dirty="0"/>
              <a:t> refers to the object’s property / field</a:t>
            </a: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dirty="0"/>
              <a:t>and </a:t>
            </a:r>
            <a:r>
              <a:rPr lang="en-IE" b="1" dirty="0"/>
              <a:t>x</a:t>
            </a:r>
            <a:r>
              <a:rPr lang="en-IE" dirty="0"/>
              <a:t> on it’s own is the parameter passed in to the method</a:t>
            </a:r>
            <a:br>
              <a:rPr lang="en-IE" dirty="0"/>
            </a:br>
            <a:br>
              <a:rPr lang="en-IE" dirty="0"/>
            </a:br>
            <a:r>
              <a:rPr lang="en-IE" dirty="0"/>
              <a:t>substitute x for any property/field</a:t>
            </a:r>
          </a:p>
          <a:p>
            <a:pPr marL="0" indent="0">
              <a:buNone/>
            </a:pPr>
            <a:endParaRPr lang="en-IE" b="1" dirty="0"/>
          </a:p>
          <a:p>
            <a:pPr marL="0" indent="0">
              <a:buNone/>
            </a:pPr>
            <a:r>
              <a:rPr lang="en-IE" dirty="0"/>
              <a:t>This describes </a:t>
            </a:r>
            <a:r>
              <a:rPr lang="en-IE" b="1" dirty="0"/>
              <a:t>name overloading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242064" y="1083565"/>
            <a:ext cx="4286250" cy="34163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IE" sz="1800" dirty="0"/>
              <a:t> void </a:t>
            </a:r>
            <a:r>
              <a:rPr lang="en-IE" sz="1800" b="1" dirty="0"/>
              <a:t>colour</a:t>
            </a:r>
            <a:r>
              <a:rPr lang="en-IE" sz="1800" dirty="0"/>
              <a:t> (</a:t>
            </a:r>
            <a:r>
              <a:rPr lang="en-IE" sz="1800" dirty="0" err="1"/>
              <a:t>int</a:t>
            </a:r>
            <a:r>
              <a:rPr lang="en-IE" sz="1800" dirty="0"/>
              <a:t> red, </a:t>
            </a:r>
            <a:r>
              <a:rPr lang="en-IE" sz="1800" dirty="0" err="1"/>
              <a:t>int</a:t>
            </a:r>
            <a:r>
              <a:rPr lang="en-IE" sz="1800" dirty="0"/>
              <a:t> green, </a:t>
            </a:r>
            <a:r>
              <a:rPr lang="en-IE" sz="1800" dirty="0" err="1"/>
              <a:t>int</a:t>
            </a:r>
            <a:r>
              <a:rPr lang="en-IE" sz="1800" dirty="0"/>
              <a:t> blue)</a:t>
            </a:r>
          </a:p>
          <a:p>
            <a:pPr algn="l"/>
            <a:r>
              <a:rPr lang="en-IE" sz="1800" dirty="0"/>
              <a:t>  {</a:t>
            </a:r>
          </a:p>
          <a:p>
            <a:pPr algn="l"/>
            <a:r>
              <a:rPr lang="en-IE" sz="1800" dirty="0"/>
              <a:t>    </a:t>
            </a:r>
            <a:r>
              <a:rPr lang="en-IE" sz="1800" dirty="0" err="1"/>
              <a:t>this.red</a:t>
            </a:r>
            <a:r>
              <a:rPr lang="en-IE" sz="1800" dirty="0"/>
              <a:t> = red;</a:t>
            </a:r>
          </a:p>
          <a:p>
            <a:pPr algn="l"/>
            <a:r>
              <a:rPr lang="en-IE" sz="1800" dirty="0"/>
              <a:t>    </a:t>
            </a:r>
            <a:r>
              <a:rPr lang="en-IE" sz="1800" dirty="0" err="1"/>
              <a:t>this.green</a:t>
            </a:r>
            <a:r>
              <a:rPr lang="en-IE" sz="1800" dirty="0"/>
              <a:t> = green;</a:t>
            </a:r>
          </a:p>
          <a:p>
            <a:pPr algn="l"/>
            <a:r>
              <a:rPr lang="en-IE" sz="1800" dirty="0"/>
              <a:t>    </a:t>
            </a:r>
            <a:r>
              <a:rPr lang="en-IE" sz="1800" dirty="0" err="1"/>
              <a:t>this.blue</a:t>
            </a:r>
            <a:r>
              <a:rPr lang="en-IE" sz="1800" dirty="0"/>
              <a:t> = blue;</a:t>
            </a:r>
          </a:p>
          <a:p>
            <a:pPr algn="l"/>
            <a:r>
              <a:rPr lang="en-IE" sz="1800" dirty="0"/>
              <a:t>    fill (red, green, blue);</a:t>
            </a:r>
          </a:p>
          <a:p>
            <a:pPr algn="l"/>
            <a:r>
              <a:rPr lang="en-IE" sz="1800" dirty="0"/>
              <a:t>  }</a:t>
            </a:r>
          </a:p>
          <a:p>
            <a:pPr algn="l"/>
            <a:endParaRPr lang="en-IE" sz="1800" dirty="0"/>
          </a:p>
          <a:p>
            <a:pPr algn="l"/>
            <a:r>
              <a:rPr lang="en-IE" sz="1800" dirty="0"/>
              <a:t>  void </a:t>
            </a:r>
            <a:r>
              <a:rPr lang="en-IE" sz="1800" b="1" dirty="0"/>
              <a:t>colour</a:t>
            </a:r>
            <a:r>
              <a:rPr lang="en-IE" sz="1800" dirty="0"/>
              <a:t> (</a:t>
            </a:r>
            <a:r>
              <a:rPr lang="en-IE" sz="1800" dirty="0" err="1"/>
              <a:t>int</a:t>
            </a:r>
            <a:r>
              <a:rPr lang="en-IE" sz="1800" dirty="0"/>
              <a:t> </a:t>
            </a:r>
            <a:r>
              <a:rPr lang="en-IE" sz="1800" dirty="0" err="1"/>
              <a:t>gray</a:t>
            </a:r>
            <a:r>
              <a:rPr lang="en-IE" sz="1800" dirty="0"/>
              <a:t>){</a:t>
            </a:r>
          </a:p>
          <a:p>
            <a:pPr algn="l"/>
            <a:r>
              <a:rPr lang="en-IE" sz="1800" dirty="0"/>
              <a:t>    </a:t>
            </a:r>
            <a:r>
              <a:rPr lang="en-IE" sz="1800" dirty="0" err="1"/>
              <a:t>this.gray</a:t>
            </a:r>
            <a:r>
              <a:rPr lang="en-IE" sz="1800" dirty="0"/>
              <a:t> = </a:t>
            </a:r>
            <a:r>
              <a:rPr lang="en-IE" sz="1800" dirty="0" err="1"/>
              <a:t>gray</a:t>
            </a:r>
            <a:r>
              <a:rPr lang="en-IE" sz="1800" dirty="0"/>
              <a:t>;</a:t>
            </a:r>
          </a:p>
          <a:p>
            <a:pPr algn="l"/>
            <a:r>
              <a:rPr lang="en-IE" sz="1800" dirty="0"/>
              <a:t>    fill (</a:t>
            </a:r>
            <a:r>
              <a:rPr lang="en-IE" sz="1800" dirty="0" err="1"/>
              <a:t>this.gray</a:t>
            </a:r>
            <a:r>
              <a:rPr lang="en-IE" sz="1800" dirty="0"/>
              <a:t>);</a:t>
            </a:r>
          </a:p>
          <a:p>
            <a:pPr algn="l"/>
            <a:r>
              <a:rPr lang="en-IE" sz="1800" dirty="0"/>
              <a:t>  }</a:t>
            </a:r>
          </a:p>
        </p:txBody>
      </p:sp>
      <p:sp>
        <p:nvSpPr>
          <p:cNvPr id="6" name="Donut 5"/>
          <p:cNvSpPr/>
          <p:nvPr/>
        </p:nvSpPr>
        <p:spPr>
          <a:xfrm>
            <a:off x="4085082" y="1454950"/>
            <a:ext cx="2686050" cy="1707401"/>
          </a:xfrm>
          <a:prstGeom prst="donut">
            <a:avLst>
              <a:gd name="adj" fmla="val 57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8">
              <a:solidFill>
                <a:schemeClr val="tx1"/>
              </a:solidFill>
            </a:endParaRPr>
          </a:p>
        </p:txBody>
      </p:sp>
      <p:sp>
        <p:nvSpPr>
          <p:cNvPr id="7" name="Donut 6"/>
          <p:cNvSpPr/>
          <p:nvPr/>
        </p:nvSpPr>
        <p:spPr>
          <a:xfrm>
            <a:off x="4224702" y="3551821"/>
            <a:ext cx="2057400" cy="614453"/>
          </a:xfrm>
          <a:prstGeom prst="donut">
            <a:avLst>
              <a:gd name="adj" fmla="val 57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8">
              <a:solidFill>
                <a:schemeClr val="tx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53935A-5599-CF4E-39CF-8CE5FBF83A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C0A8F1-25B0-ACB6-0C57-A8E2CBEAE75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9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58495752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0" y="1543051"/>
            <a:ext cx="3257550" cy="263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2AB64A-997E-2251-EFAE-63C55CB424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8C847-B85F-76F9-C1DA-20CAD10415E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10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81550328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 err="1"/>
              <a:t>Reas</a:t>
            </a:r>
            <a:r>
              <a:rPr lang="en-IE" dirty="0"/>
              <a:t>, C. &amp; Fry, B. (2014) Processing – A Programming Handbook for Visual Designers and Artists, 2</a:t>
            </a:r>
            <a:r>
              <a:rPr lang="en-IE" baseline="30000" dirty="0"/>
              <a:t>nd</a:t>
            </a:r>
            <a:r>
              <a:rPr lang="en-IE" dirty="0"/>
              <a:t> Edition, MIT Press, London.</a:t>
            </a:r>
          </a:p>
          <a:p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A44ADF-5A0C-55FD-17C2-D368248E69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FB264-1584-DD8B-E854-4798EDB6B71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11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45501137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3;&#10;&#13;&#10;Description automatically generated">
            <a:extLst>
              <a:ext uri="{FF2B5EF4-FFF2-40B4-BE49-F238E27FC236}">
                <a16:creationId xmlns:a16="http://schemas.microsoft.com/office/drawing/2014/main" id="{64886AB6-DCB6-9645-8125-CA11F57910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2" r="1" b="1"/>
          <a:stretch/>
        </p:blipFill>
        <p:spPr>
          <a:xfrm>
            <a:off x="1347374" y="473974"/>
            <a:ext cx="5821443" cy="4007299"/>
          </a:xfrm>
          <a:custGeom>
            <a:avLst/>
            <a:gdLst>
              <a:gd name="connsiteX0" fmla="*/ 3025687 w 7761924"/>
              <a:gd name="connsiteY0" fmla="*/ 76 h 5343065"/>
              <a:gd name="connsiteX1" fmla="*/ 3372722 w 7761924"/>
              <a:gd name="connsiteY1" fmla="*/ 16088 h 5343065"/>
              <a:gd name="connsiteX2" fmla="*/ 7761924 w 7761924"/>
              <a:gd name="connsiteY2" fmla="*/ 3316816 h 5343065"/>
              <a:gd name="connsiteX3" fmla="*/ 3701109 w 7761924"/>
              <a:gd name="connsiteY3" fmla="*/ 5320611 h 5343065"/>
              <a:gd name="connsiteX4" fmla="*/ 36290 w 7761924"/>
              <a:gd name="connsiteY4" fmla="*/ 2696959 h 5343065"/>
              <a:gd name="connsiteX5" fmla="*/ 3025687 w 7761924"/>
              <a:gd name="connsiteY5" fmla="*/ 76 h 53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61924" h="5343065">
                <a:moveTo>
                  <a:pt x="3025687" y="76"/>
                </a:moveTo>
                <a:cubicBezTo>
                  <a:pt x="3140786" y="756"/>
                  <a:pt x="3256631" y="6055"/>
                  <a:pt x="3372722" y="16088"/>
                </a:cubicBezTo>
                <a:cubicBezTo>
                  <a:pt x="5230178" y="176616"/>
                  <a:pt x="7761924" y="1424594"/>
                  <a:pt x="7761924" y="3316816"/>
                </a:cubicBezTo>
                <a:cubicBezTo>
                  <a:pt x="7646022" y="5237647"/>
                  <a:pt x="4988715" y="5423921"/>
                  <a:pt x="3701109" y="5320611"/>
                </a:cubicBezTo>
                <a:cubicBezTo>
                  <a:pt x="2413504" y="5217301"/>
                  <a:pt x="351800" y="4486992"/>
                  <a:pt x="36290" y="2696959"/>
                </a:cubicBezTo>
                <a:cubicBezTo>
                  <a:pt x="-259500" y="1018804"/>
                  <a:pt x="1299198" y="-10133"/>
                  <a:pt x="3025687" y="76"/>
                </a:cubicBezTo>
                <a:close/>
              </a:path>
            </a:pathLst>
          </a:custGeom>
          <a:solidFill>
            <a:srgbClr val="FDE111"/>
          </a:solidFill>
          <a:ln>
            <a:noFill/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EEA231-6D6B-5147-A9A7-1A48939EB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pic>
        <p:nvPicPr>
          <p:cNvPr id="7" name="Picture 6" descr="A close up of a toy&#13;&#10;&#13;&#10;Description automatically generated">
            <a:extLst>
              <a:ext uri="{FF2B5EF4-FFF2-40B4-BE49-F238E27FC236}">
                <a16:creationId xmlns:a16="http://schemas.microsoft.com/office/drawing/2014/main" id="{2D47C071-A929-7E49-8327-BB4D84AA98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9971" y="4095032"/>
            <a:ext cx="628034" cy="7724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79B5407-EB5B-AF48-8192-C2BB3AEC3F33}"/>
              </a:ext>
            </a:extLst>
          </p:cNvPr>
          <p:cNvSpPr/>
          <p:nvPr/>
        </p:nvSpPr>
        <p:spPr>
          <a:xfrm>
            <a:off x="11" y="4902399"/>
            <a:ext cx="9143989" cy="241102"/>
          </a:xfrm>
          <a:prstGeom prst="rect">
            <a:avLst/>
          </a:prstGeom>
          <a:solidFill>
            <a:srgbClr val="598C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9025A5-5106-3945-8404-F8F73E40F972}"/>
              </a:ext>
            </a:extLst>
          </p:cNvPr>
          <p:cNvSpPr/>
          <p:nvPr/>
        </p:nvSpPr>
        <p:spPr>
          <a:xfrm>
            <a:off x="21" y="4867339"/>
            <a:ext cx="9143978" cy="35060"/>
          </a:xfrm>
          <a:prstGeom prst="rect">
            <a:avLst/>
          </a:prstGeom>
          <a:solidFill>
            <a:srgbClr val="2F4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E905818B-C982-6824-2D72-82CAA50EB15F}"/>
              </a:ext>
            </a:extLst>
          </p:cNvPr>
          <p:cNvSpPr/>
          <p:nvPr/>
        </p:nvSpPr>
        <p:spPr>
          <a:xfrm>
            <a:off x="3119770" y="246781"/>
            <a:ext cx="4825046" cy="4363451"/>
          </a:xfrm>
          <a:custGeom>
            <a:avLst/>
            <a:gdLst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  <a:gd name="connsiteX2" fmla="*/ 4294291 w 4825046"/>
              <a:gd name="connsiteY2" fmla="*/ 2181726 h 4363451"/>
              <a:gd name="connsiteX3" fmla="*/ 3835912 w 4825046"/>
              <a:gd name="connsiteY3" fmla="*/ 2181726 h 4363451"/>
              <a:gd name="connsiteX4" fmla="*/ 3401657 w 4825046"/>
              <a:gd name="connsiteY4" fmla="*/ 2181726 h 4363451"/>
              <a:gd name="connsiteX5" fmla="*/ 2895028 w 4825046"/>
              <a:gd name="connsiteY5" fmla="*/ 2181726 h 4363451"/>
              <a:gd name="connsiteX6" fmla="*/ 2412523 w 4825046"/>
              <a:gd name="connsiteY6" fmla="*/ 2181726 h 4363451"/>
              <a:gd name="connsiteX7" fmla="*/ 2412523 w 4825046"/>
              <a:gd name="connsiteY7" fmla="*/ 1592660 h 4363451"/>
              <a:gd name="connsiteX8" fmla="*/ 2412523 w 4825046"/>
              <a:gd name="connsiteY8" fmla="*/ 1003594 h 4363451"/>
              <a:gd name="connsiteX9" fmla="*/ 2412523 w 4825046"/>
              <a:gd name="connsiteY9" fmla="*/ 0 h 4363451"/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25046" h="4363451" stroke="0" extrusionOk="0">
                <a:moveTo>
                  <a:pt x="2412523" y="0"/>
                </a:moveTo>
                <a:cubicBezTo>
                  <a:pt x="3628794" y="-71631"/>
                  <a:pt x="4778611" y="994220"/>
                  <a:pt x="4825046" y="2181726"/>
                </a:cubicBezTo>
                <a:cubicBezTo>
                  <a:pt x="4648381" y="2216667"/>
                  <a:pt x="4555722" y="2178687"/>
                  <a:pt x="4294291" y="2181726"/>
                </a:cubicBezTo>
                <a:cubicBezTo>
                  <a:pt x="4032860" y="2184765"/>
                  <a:pt x="3930079" y="2128263"/>
                  <a:pt x="3835912" y="2181726"/>
                </a:cubicBezTo>
                <a:cubicBezTo>
                  <a:pt x="3741745" y="2235189"/>
                  <a:pt x="3611727" y="2130904"/>
                  <a:pt x="3401657" y="2181726"/>
                </a:cubicBezTo>
                <a:cubicBezTo>
                  <a:pt x="3191588" y="2232548"/>
                  <a:pt x="3023759" y="2129332"/>
                  <a:pt x="2895028" y="2181726"/>
                </a:cubicBezTo>
                <a:cubicBezTo>
                  <a:pt x="2766297" y="2234120"/>
                  <a:pt x="2573145" y="2144605"/>
                  <a:pt x="2412523" y="2181726"/>
                </a:cubicBezTo>
                <a:cubicBezTo>
                  <a:pt x="2399089" y="2048791"/>
                  <a:pt x="2438220" y="1759814"/>
                  <a:pt x="2412523" y="1592660"/>
                </a:cubicBezTo>
                <a:cubicBezTo>
                  <a:pt x="2386826" y="1425506"/>
                  <a:pt x="2428532" y="1262217"/>
                  <a:pt x="2412523" y="1003594"/>
                </a:cubicBezTo>
                <a:cubicBezTo>
                  <a:pt x="2396514" y="744971"/>
                  <a:pt x="2425062" y="317837"/>
                  <a:pt x="2412523" y="0"/>
                </a:cubicBezTo>
                <a:close/>
              </a:path>
              <a:path w="4825046" h="4363451" fill="none" extrusionOk="0">
                <a:moveTo>
                  <a:pt x="2412523" y="0"/>
                </a:moveTo>
                <a:cubicBezTo>
                  <a:pt x="3893069" y="220530"/>
                  <a:pt x="4841856" y="1150891"/>
                  <a:pt x="4825046" y="2181726"/>
                </a:cubicBezTo>
              </a:path>
              <a:path w="4825046" h="4363451" fill="none" stroke="0" extrusionOk="0">
                <a:moveTo>
                  <a:pt x="2412523" y="0"/>
                </a:moveTo>
                <a:cubicBezTo>
                  <a:pt x="3594218" y="-24376"/>
                  <a:pt x="4991083" y="1112579"/>
                  <a:pt x="4825046" y="2181726"/>
                </a:cubicBezTo>
              </a:path>
            </a:pathLst>
          </a:custGeom>
          <a:ln w="161925">
            <a:solidFill>
              <a:srgbClr val="598CBE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0E12D8E3-B5EB-1F63-44BF-C8DFC4B7792B}"/>
              </a:ext>
            </a:extLst>
          </p:cNvPr>
          <p:cNvSpPr/>
          <p:nvPr/>
        </p:nvSpPr>
        <p:spPr>
          <a:xfrm rot="10800000">
            <a:off x="1199184" y="241101"/>
            <a:ext cx="4825046" cy="4363451"/>
          </a:xfrm>
          <a:custGeom>
            <a:avLst/>
            <a:gdLst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  <a:gd name="connsiteX2" fmla="*/ 4294291 w 4825046"/>
              <a:gd name="connsiteY2" fmla="*/ 2181726 h 4363451"/>
              <a:gd name="connsiteX3" fmla="*/ 3835912 w 4825046"/>
              <a:gd name="connsiteY3" fmla="*/ 2181726 h 4363451"/>
              <a:gd name="connsiteX4" fmla="*/ 3401657 w 4825046"/>
              <a:gd name="connsiteY4" fmla="*/ 2181726 h 4363451"/>
              <a:gd name="connsiteX5" fmla="*/ 2895028 w 4825046"/>
              <a:gd name="connsiteY5" fmla="*/ 2181726 h 4363451"/>
              <a:gd name="connsiteX6" fmla="*/ 2412523 w 4825046"/>
              <a:gd name="connsiteY6" fmla="*/ 2181726 h 4363451"/>
              <a:gd name="connsiteX7" fmla="*/ 2412523 w 4825046"/>
              <a:gd name="connsiteY7" fmla="*/ 1592660 h 4363451"/>
              <a:gd name="connsiteX8" fmla="*/ 2412523 w 4825046"/>
              <a:gd name="connsiteY8" fmla="*/ 1003594 h 4363451"/>
              <a:gd name="connsiteX9" fmla="*/ 2412523 w 4825046"/>
              <a:gd name="connsiteY9" fmla="*/ 0 h 4363451"/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25046" h="4363451" stroke="0" extrusionOk="0">
                <a:moveTo>
                  <a:pt x="2412523" y="0"/>
                </a:moveTo>
                <a:cubicBezTo>
                  <a:pt x="3628794" y="-71631"/>
                  <a:pt x="4778611" y="994220"/>
                  <a:pt x="4825046" y="2181726"/>
                </a:cubicBezTo>
                <a:cubicBezTo>
                  <a:pt x="4648381" y="2216667"/>
                  <a:pt x="4555722" y="2178687"/>
                  <a:pt x="4294291" y="2181726"/>
                </a:cubicBezTo>
                <a:cubicBezTo>
                  <a:pt x="4032860" y="2184765"/>
                  <a:pt x="3930079" y="2128263"/>
                  <a:pt x="3835912" y="2181726"/>
                </a:cubicBezTo>
                <a:cubicBezTo>
                  <a:pt x="3741745" y="2235189"/>
                  <a:pt x="3611727" y="2130904"/>
                  <a:pt x="3401657" y="2181726"/>
                </a:cubicBezTo>
                <a:cubicBezTo>
                  <a:pt x="3191588" y="2232548"/>
                  <a:pt x="3023759" y="2129332"/>
                  <a:pt x="2895028" y="2181726"/>
                </a:cubicBezTo>
                <a:cubicBezTo>
                  <a:pt x="2766297" y="2234120"/>
                  <a:pt x="2573145" y="2144605"/>
                  <a:pt x="2412523" y="2181726"/>
                </a:cubicBezTo>
                <a:cubicBezTo>
                  <a:pt x="2399089" y="2048791"/>
                  <a:pt x="2438220" y="1759814"/>
                  <a:pt x="2412523" y="1592660"/>
                </a:cubicBezTo>
                <a:cubicBezTo>
                  <a:pt x="2386826" y="1425506"/>
                  <a:pt x="2428532" y="1262217"/>
                  <a:pt x="2412523" y="1003594"/>
                </a:cubicBezTo>
                <a:cubicBezTo>
                  <a:pt x="2396514" y="744971"/>
                  <a:pt x="2425062" y="317837"/>
                  <a:pt x="2412523" y="0"/>
                </a:cubicBezTo>
                <a:close/>
              </a:path>
              <a:path w="4825046" h="4363451" fill="none" extrusionOk="0">
                <a:moveTo>
                  <a:pt x="2412523" y="0"/>
                </a:moveTo>
                <a:cubicBezTo>
                  <a:pt x="3893069" y="220530"/>
                  <a:pt x="4841856" y="1150891"/>
                  <a:pt x="4825046" y="2181726"/>
                </a:cubicBezTo>
              </a:path>
              <a:path w="4825046" h="4363451" fill="none" stroke="0" extrusionOk="0">
                <a:moveTo>
                  <a:pt x="2412523" y="0"/>
                </a:moveTo>
                <a:cubicBezTo>
                  <a:pt x="3594218" y="-24376"/>
                  <a:pt x="4991083" y="1112579"/>
                  <a:pt x="4825046" y="2181726"/>
                </a:cubicBezTo>
              </a:path>
            </a:pathLst>
          </a:custGeom>
          <a:ln w="161925">
            <a:solidFill>
              <a:srgbClr val="598CBE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BA07139-B4B0-117B-EC27-2D34964457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68529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38728</TotalTime>
  <Words>714</Words>
  <Application>Microsoft Macintosh PowerPoint</Application>
  <PresentationFormat>On-screen Show (16:9)</PresentationFormat>
  <Paragraphs>133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Arial</vt:lpstr>
      <vt:lpstr>Avenir</vt:lpstr>
      <vt:lpstr>Calibri</vt:lpstr>
      <vt:lpstr>Helvetica</vt:lpstr>
      <vt:lpstr>Helvetica Light</vt:lpstr>
      <vt:lpstr>Helvetica Neue</vt:lpstr>
      <vt:lpstr>Helvetica Neue Light</vt:lpstr>
      <vt:lpstr>Helvetica Neue UltraLight</vt:lpstr>
      <vt:lpstr>Monaco</vt:lpstr>
      <vt:lpstr>Wingdings</vt:lpstr>
      <vt:lpstr>White</vt:lpstr>
      <vt:lpstr>Programming Fundamentals 1</vt:lpstr>
      <vt:lpstr>PowerPoint Presentation</vt:lpstr>
      <vt:lpstr>this keyword</vt:lpstr>
      <vt:lpstr>this keyword</vt:lpstr>
      <vt:lpstr>this keyword</vt:lpstr>
      <vt:lpstr>this keyword</vt:lpstr>
      <vt:lpstr>this keyword</vt:lpstr>
      <vt:lpstr>this keyword</vt:lpstr>
      <vt:lpstr>this keyword – other examples</vt:lpstr>
      <vt:lpstr>Questions?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Application Development</dc:title>
  <dc:creator>David Drohan</dc:creator>
  <cp:lastModifiedBy>David Drohan</cp:lastModifiedBy>
  <cp:revision>277</cp:revision>
  <dcterms:created xsi:type="dcterms:W3CDTF">2019-01-29T16:40:14Z</dcterms:created>
  <dcterms:modified xsi:type="dcterms:W3CDTF">2023-09-14T09:21:43Z</dcterms:modified>
</cp:coreProperties>
</file>