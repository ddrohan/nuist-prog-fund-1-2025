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65" r:id="rId3"/>
    <p:sldId id="346" r:id="rId4"/>
    <p:sldId id="778" r:id="rId5"/>
    <p:sldId id="408" r:id="rId6"/>
    <p:sldId id="395" r:id="rId7"/>
    <p:sldId id="780" r:id="rId8"/>
    <p:sldId id="417" r:id="rId9"/>
    <p:sldId id="418" r:id="rId10"/>
    <p:sldId id="419" r:id="rId11"/>
    <p:sldId id="781" r:id="rId12"/>
    <p:sldId id="414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782" r:id="rId21"/>
    <p:sldId id="449" r:id="rId22"/>
    <p:sldId id="332" r:id="rId23"/>
    <p:sldId id="335" r:id="rId24"/>
    <p:sldId id="783" r:id="rId25"/>
    <p:sldId id="415" r:id="rId26"/>
    <p:sldId id="416" r:id="rId27"/>
    <p:sldId id="429" r:id="rId28"/>
    <p:sldId id="427" r:id="rId29"/>
    <p:sldId id="431" r:id="rId30"/>
    <p:sldId id="432" r:id="rId31"/>
    <p:sldId id="430" r:id="rId32"/>
    <p:sldId id="433" r:id="rId33"/>
    <p:sldId id="434" r:id="rId34"/>
    <p:sldId id="435" r:id="rId35"/>
    <p:sldId id="437" r:id="rId36"/>
    <p:sldId id="305" r:id="rId37"/>
    <p:sldId id="298" r:id="rId38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81F3"/>
    <a:srgbClr val="0368FF"/>
    <a:srgbClr val="598CBE"/>
    <a:srgbClr val="0E9647"/>
    <a:srgbClr val="2F486B"/>
    <a:srgbClr val="194699"/>
    <a:srgbClr val="1F33AB"/>
    <a:srgbClr val="84AEFF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86"/>
    <p:restoredTop sz="85471"/>
  </p:normalViewPr>
  <p:slideViewPr>
    <p:cSldViewPr snapToGrid="0" snapToObjects="1">
      <p:cViewPr varScale="1">
        <p:scale>
          <a:sx n="114" d="100"/>
          <a:sy n="114" d="100"/>
        </p:scale>
        <p:origin x="26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9/12/23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6963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991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774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1290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076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8118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5924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6036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4072483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9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71" r:id="rId4"/>
    <p:sldLayoutId id="2147483674" r:id="rId5"/>
    <p:sldLayoutId id="2147483675" r:id="rId6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SHOP V2.2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06463" y="313298"/>
            <a:ext cx="2731379" cy="431557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/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Array of 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Monaco" pitchFamily="2" charset="77"/>
              </a:rPr>
              <a:t>Product</a:t>
            </a:r>
            <a:r>
              <a:rPr lang="en-IE" sz="2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 + a </a:t>
            </a:r>
            <a:r>
              <a:rPr lang="en-IE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Menu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2"/>
            <a:ext cx="8382703" cy="3911321"/>
          </a:xfrm>
        </p:spPr>
        <p:txBody>
          <a:bodyPr/>
          <a:lstStyle/>
          <a:p>
            <a:r>
              <a:rPr lang="en-IE" sz="3200" dirty="0"/>
              <a:t>RECAP : SHOP V2.0</a:t>
            </a:r>
          </a:p>
          <a:p>
            <a:endParaRPr lang="en-IE" sz="3200" dirty="0"/>
          </a:p>
          <a:p>
            <a:r>
              <a:rPr lang="en-IE" sz="3200" dirty="0"/>
              <a:t>SHOP V2.1</a:t>
            </a:r>
          </a:p>
          <a:p>
            <a:endParaRPr lang="en-IE" sz="3200" dirty="0"/>
          </a:p>
          <a:p>
            <a:r>
              <a:rPr lang="en-IE" sz="3200" dirty="0"/>
              <a:t>SHOP V2.2</a:t>
            </a:r>
          </a:p>
          <a:p>
            <a:endParaRPr lang="en-IE" sz="3200" dirty="0"/>
          </a:p>
          <a:p>
            <a:pPr marL="0" indent="0" algn="l" rtl="0">
              <a:buClr>
                <a:srgbClr val="194699"/>
              </a:buClr>
              <a:buNone/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8743" y="301522"/>
            <a:ext cx="4246514" cy="1102519"/>
          </a:xfrm>
        </p:spPr>
        <p:txBody>
          <a:bodyPr/>
          <a:lstStyle/>
          <a:p>
            <a:r>
              <a:rPr lang="en-IE" sz="3600" dirty="0"/>
              <a:t>RECAP : SHOP V2.0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306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V2.0 - Product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006" y="892281"/>
            <a:ext cx="2567589" cy="3394472"/>
          </a:xfrm>
        </p:spPr>
        <p:txBody>
          <a:bodyPr/>
          <a:lstStyle/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Product</a:t>
            </a:r>
            <a:r>
              <a:rPr lang="en-IE" dirty="0"/>
              <a:t> class stores </a:t>
            </a:r>
            <a:r>
              <a:rPr lang="en-IE" b="1" dirty="0"/>
              <a:t>details</a:t>
            </a:r>
            <a:r>
              <a:rPr lang="en-IE" dirty="0"/>
              <a:t> about a product</a:t>
            </a:r>
          </a:p>
          <a:p>
            <a:pPr lvl="1"/>
            <a:r>
              <a:rPr lang="en-IE" dirty="0"/>
              <a:t>name, code, unit cost, in the current product line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071AF-98B4-4EBE-8E67-CE6E481360A3}"/>
              </a:ext>
            </a:extLst>
          </p:cNvPr>
          <p:cNvSpPr/>
          <p:nvPr/>
        </p:nvSpPr>
        <p:spPr>
          <a:xfrm>
            <a:off x="219456" y="1386864"/>
            <a:ext cx="1376173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175E9D-F40B-48F0-9A76-3AB9431931F3}"/>
              </a:ext>
            </a:extLst>
          </p:cNvPr>
          <p:cNvSpPr/>
          <p:nvPr/>
        </p:nvSpPr>
        <p:spPr>
          <a:xfrm>
            <a:off x="4624578" y="2807875"/>
            <a:ext cx="1641022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8BD30C7-9DCD-4111-ADBB-747FD768695F}"/>
              </a:ext>
            </a:extLst>
          </p:cNvPr>
          <p:cNvCxnSpPr>
            <a:cxnSpLocks/>
            <a:stCxn id="11" idx="3"/>
            <a:endCxn id="8" idx="0"/>
          </p:cNvCxnSpPr>
          <p:nvPr/>
        </p:nvCxnSpPr>
        <p:spPr>
          <a:xfrm>
            <a:off x="3950946" y="2504276"/>
            <a:ext cx="1494143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F189AD-4A26-4501-AB33-B84FF5D835A7}"/>
              </a:ext>
            </a:extLst>
          </p:cNvPr>
          <p:cNvSpPr/>
          <p:nvPr/>
        </p:nvSpPr>
        <p:spPr>
          <a:xfrm>
            <a:off x="2212111" y="2053467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1B331A5-1930-42F5-8C9D-26359EB4DD9A}"/>
              </a:ext>
            </a:extLst>
          </p:cNvPr>
          <p:cNvCxnSpPr>
            <a:cxnSpLocks/>
            <a:stCxn id="7" idx="3"/>
            <a:endCxn id="11" idx="0"/>
          </p:cNvCxnSpPr>
          <p:nvPr/>
        </p:nvCxnSpPr>
        <p:spPr>
          <a:xfrm>
            <a:off x="1595629" y="1717734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3572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 - Shop </a:t>
            </a:r>
            <a:r>
              <a:rPr lang="en-IE" b="1" dirty="0"/>
              <a:t>V2.0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556440" cy="4299943"/>
          </a:xfrm>
        </p:spPr>
        <p:txBody>
          <a:bodyPr>
            <a:normAutofit/>
          </a:bodyPr>
          <a:lstStyle/>
          <a:p>
            <a:r>
              <a:rPr lang="en-IE" sz="2100" dirty="0"/>
              <a:t>New</a:t>
            </a:r>
            <a:r>
              <a:rPr lang="en-IE" sz="2100" b="1" dirty="0"/>
              <a:t> </a:t>
            </a:r>
            <a:r>
              <a:rPr lang="en-IE" sz="2100" b="1" dirty="0">
                <a:solidFill>
                  <a:srgbClr val="FF40FF"/>
                </a:solidFill>
              </a:rPr>
              <a:t>Store</a:t>
            </a:r>
            <a:r>
              <a:rPr lang="en-IE" sz="2100" dirty="0">
                <a:solidFill>
                  <a:srgbClr val="FF40FF"/>
                </a:solidFill>
              </a:rPr>
              <a:t> </a:t>
            </a:r>
            <a:r>
              <a:rPr lang="en-IE" sz="2100" dirty="0"/>
              <a:t>class is responsible for maintaining a collection of Products </a:t>
            </a:r>
          </a:p>
          <a:p>
            <a:pPr lvl="1"/>
            <a:r>
              <a:rPr lang="en-IE" sz="1800" dirty="0"/>
              <a:t>i.e. an </a:t>
            </a:r>
            <a:r>
              <a:rPr lang="en-IE" sz="1800" b="1" dirty="0"/>
              <a:t>array of Products</a:t>
            </a:r>
            <a:r>
              <a:rPr lang="en-IE" sz="1800" dirty="0"/>
              <a:t>.  </a:t>
            </a:r>
          </a:p>
          <a:p>
            <a:r>
              <a:rPr lang="en-IE" sz="2100" b="1" dirty="0">
                <a:solidFill>
                  <a:srgbClr val="F79646"/>
                </a:solidFill>
              </a:rPr>
              <a:t>Driver</a:t>
            </a:r>
            <a:r>
              <a:rPr lang="en-IE" sz="2100" b="1" dirty="0">
                <a:solidFill>
                  <a:srgbClr val="FF0000"/>
                </a:solidFill>
              </a:rPr>
              <a:t> </a:t>
            </a:r>
            <a:r>
              <a:rPr lang="en-IE" sz="2100" dirty="0"/>
              <a:t>will now allow the user to decide </a:t>
            </a:r>
            <a:r>
              <a:rPr lang="en-IE" sz="2100" b="1" dirty="0"/>
              <a:t>how many product </a:t>
            </a:r>
            <a:r>
              <a:rPr lang="en-IE" sz="2100" dirty="0"/>
              <a:t>details they want to store. </a:t>
            </a:r>
          </a:p>
          <a:p>
            <a:pPr marL="0" indent="0">
              <a:buNone/>
            </a:pPr>
            <a:endParaRPr lang="en-IE" sz="21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700784" y="2484144"/>
            <a:ext cx="1385317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115050" y="3905155"/>
            <a:ext cx="1738834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441418" y="3601556"/>
            <a:ext cx="1543049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702583" y="3150747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086101" y="2815014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2083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V2.1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 fontScale="92500"/>
          </a:bodyPr>
          <a:lstStyle/>
          <a:p>
            <a:r>
              <a:rPr lang="en-IE" dirty="0"/>
              <a:t>Version Developed in Lab Exercises</a:t>
            </a:r>
          </a:p>
        </p:txBody>
      </p:sp>
    </p:spTree>
    <p:extLst>
      <p:ext uri="{BB962C8B-B14F-4D97-AF65-F5344CB8AC3E}">
        <p14:creationId xmlns:p14="http://schemas.microsoft.com/office/powerpoint/2010/main" val="6375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002" y="877825"/>
            <a:ext cx="6115050" cy="39311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7048201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1335204"/>
            <a:ext cx="5063465" cy="32550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093B557-E25B-4568-A987-346D0DB4E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670" y="905436"/>
            <a:ext cx="3371850" cy="266611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class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endParaRPr lang="en-GB" altLang="en-VI" sz="12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825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  //code omitted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45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br>
              <a:rPr lang="en-VI" altLang="en-VI" sz="750" dirty="0">
                <a:solidFill>
                  <a:srgbClr val="080808"/>
                </a:solidFill>
                <a:latin typeface="JetBrains Mono"/>
              </a:rPr>
            </a:br>
            <a:r>
              <a:rPr lang="en-GB" altLang="en-VI" sz="7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//code omitted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7463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V2.1 – Lab Exercises</a:t>
            </a:r>
          </a:p>
        </p:txBody>
      </p:sp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5002913D-5A94-456D-AE69-F8108FD1F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290" y="1972387"/>
            <a:ext cx="4248150" cy="273095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97151F-F49D-48DB-A779-C78192E6FF5C}"/>
              </a:ext>
            </a:extLst>
          </p:cNvPr>
          <p:cNvSpPr txBox="1"/>
          <p:nvPr/>
        </p:nvSpPr>
        <p:spPr>
          <a:xfrm>
            <a:off x="479464" y="905436"/>
            <a:ext cx="3589615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Our users have no control of the system; they cannot </a:t>
            </a:r>
            <a:r>
              <a:rPr lang="en-IE" sz="1800" b="1" dirty="0">
                <a:solidFill>
                  <a:srgbClr val="FF0000"/>
                </a:solidFill>
              </a:rPr>
              <a:t>choose</a:t>
            </a:r>
            <a:r>
              <a:rPr lang="en-IE" sz="1800" dirty="0"/>
              <a:t> to do anything!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C79003-6FC4-90AA-654C-7992D04C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670" y="905436"/>
            <a:ext cx="3371850" cy="266611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class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{</a:t>
            </a:r>
            <a:endParaRPr lang="en-GB" altLang="en-VI" sz="1200" dirty="0">
              <a:solidFill>
                <a:srgbClr val="080808"/>
              </a:solidFill>
              <a:latin typeface="JetBrains Mono"/>
            </a:endParaRP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825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   //code omitted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</a:p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VI" altLang="en-VI" sz="45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br>
              <a:rPr lang="en-VI" altLang="en-VI" sz="750" dirty="0">
                <a:solidFill>
                  <a:srgbClr val="080808"/>
                </a:solidFill>
                <a:latin typeface="JetBrains Mono"/>
              </a:rPr>
            </a:br>
            <a:r>
              <a:rPr lang="en-GB" altLang="en-VI" sz="7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chemeClr val="bg1">
                    <a:lumMod val="50000"/>
                  </a:schemeClr>
                </a:solidFill>
                <a:latin typeface="JetBrains Mono"/>
              </a:rPr>
              <a:t> //code omitted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7704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Adding a Menu System</a:t>
            </a:r>
          </a:p>
        </p:txBody>
      </p:sp>
    </p:spTree>
    <p:extLst>
      <p:ext uri="{BB962C8B-B14F-4D97-AF65-F5344CB8AC3E}">
        <p14:creationId xmlns:p14="http://schemas.microsoft.com/office/powerpoint/2010/main" val="193654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53891-F112-41B8-BFAA-25F37061F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815" y="852678"/>
            <a:ext cx="4891619" cy="3943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26246D-1F3E-4F9C-BF71-41C8A79BDD6E}"/>
              </a:ext>
            </a:extLst>
          </p:cNvPr>
          <p:cNvSpPr/>
          <p:nvPr/>
        </p:nvSpPr>
        <p:spPr>
          <a:xfrm>
            <a:off x="1200151" y="3138678"/>
            <a:ext cx="4891620" cy="16573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7" y="1138428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We are going to add a simple menu that will allow us to view details about the entered products.</a:t>
            </a:r>
          </a:p>
        </p:txBody>
      </p:sp>
    </p:spTree>
    <p:extLst>
      <p:ext uri="{BB962C8B-B14F-4D97-AF65-F5344CB8AC3E}">
        <p14:creationId xmlns:p14="http://schemas.microsoft.com/office/powerpoint/2010/main" val="205415400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48A2C6-3E92-4070-B470-21D85CC7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1" y="1771650"/>
            <a:ext cx="6639172" cy="24166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43EE101-4A08-420A-A4F5-0B16A777141A}"/>
              </a:ext>
            </a:extLst>
          </p:cNvPr>
          <p:cNvSpPr/>
          <p:nvPr/>
        </p:nvSpPr>
        <p:spPr>
          <a:xfrm rot="18365811">
            <a:off x="5355385" y="2271846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7" y="1485901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1: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the products</a:t>
            </a:r>
          </a:p>
        </p:txBody>
      </p:sp>
    </p:spTree>
    <p:extLst>
      <p:ext uri="{BB962C8B-B14F-4D97-AF65-F5344CB8AC3E}">
        <p14:creationId xmlns:p14="http://schemas.microsoft.com/office/powerpoint/2010/main" val="394645483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CE6870-0A17-4859-BEB5-CBF185B32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13" y="1771651"/>
            <a:ext cx="6612287" cy="22859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18365811">
            <a:off x="5355385" y="2271846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47586" y="1485901"/>
            <a:ext cx="2771701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2: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the </a:t>
            </a:r>
            <a:r>
              <a:rPr lang="en-IE" sz="1800" b="1" dirty="0"/>
              <a:t>current </a:t>
            </a:r>
            <a:r>
              <a:rPr lang="en-IE" sz="1800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48110474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A2AB1-0279-4D60-ADA6-56F7D6493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918070"/>
            <a:ext cx="5702585" cy="2684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5821806" y="3096752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78675" y="3728629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3: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Display average cost</a:t>
            </a:r>
          </a:p>
        </p:txBody>
      </p:sp>
    </p:spTree>
    <p:extLst>
      <p:ext uri="{BB962C8B-B14F-4D97-AF65-F5344CB8AC3E}">
        <p14:creationId xmlns:p14="http://schemas.microsoft.com/office/powerpoint/2010/main" val="313555713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F5CAF3-EAAE-4D96-B21B-23A4964D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690" y="1074048"/>
            <a:ext cx="5697511" cy="27460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4586118" y="3404604"/>
            <a:ext cx="1200150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278675" y="3673765"/>
            <a:ext cx="2514600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4: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Display cheapest product</a:t>
            </a:r>
          </a:p>
        </p:txBody>
      </p:sp>
    </p:spTree>
    <p:extLst>
      <p:ext uri="{BB962C8B-B14F-4D97-AF65-F5344CB8AC3E}">
        <p14:creationId xmlns:p14="http://schemas.microsoft.com/office/powerpoint/2010/main" val="228828995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99F0B3-A50C-4483-8456-728EB849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546" y="1091819"/>
            <a:ext cx="6515100" cy="21337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 rot="2239627">
            <a:off x="3794341" y="3080915"/>
            <a:ext cx="1664585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4997196" y="2971452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5: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List products that are more expensive than a given price</a:t>
            </a:r>
          </a:p>
        </p:txBody>
      </p:sp>
    </p:spTree>
    <p:extLst>
      <p:ext uri="{BB962C8B-B14F-4D97-AF65-F5344CB8AC3E}">
        <p14:creationId xmlns:p14="http://schemas.microsoft.com/office/powerpoint/2010/main" val="156446862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EDCDA5-3DFA-466B-86C4-73D5BF72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833" y="1032415"/>
            <a:ext cx="4991228" cy="23288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239938" y="2768346"/>
            <a:ext cx="1417913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143500" y="2882646"/>
            <a:ext cx="2514600" cy="147732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Invalid Option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Menu is redisplayed once you press the enter key.</a:t>
            </a:r>
          </a:p>
        </p:txBody>
      </p:sp>
    </p:spTree>
    <p:extLst>
      <p:ext uri="{BB962C8B-B14F-4D97-AF65-F5344CB8AC3E}">
        <p14:creationId xmlns:p14="http://schemas.microsoft.com/office/powerpoint/2010/main" val="419555645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7A42DF-7C72-4E79-AB7B-EE0FAAD25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1055828"/>
            <a:ext cx="5024736" cy="2789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Arrow: Left 5">
            <a:extLst>
              <a:ext uri="{FF2B5EF4-FFF2-40B4-BE49-F238E27FC236}">
                <a16:creationId xmlns:a16="http://schemas.microsoft.com/office/drawing/2014/main" id="{28FD9664-FD64-4653-B4FA-90857BCAFB7C}"/>
              </a:ext>
            </a:extLst>
          </p:cNvPr>
          <p:cNvSpPr/>
          <p:nvPr/>
        </p:nvSpPr>
        <p:spPr>
          <a:xfrm>
            <a:off x="4239938" y="2932938"/>
            <a:ext cx="1417913" cy="80010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 – Control with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08D49-0B1C-4873-84E8-F9EF336DC608}"/>
              </a:ext>
            </a:extLst>
          </p:cNvPr>
          <p:cNvSpPr txBox="1"/>
          <p:nvPr/>
        </p:nvSpPr>
        <p:spPr>
          <a:xfrm>
            <a:off x="5143500" y="3047239"/>
            <a:ext cx="2514600" cy="9233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800" dirty="0"/>
              <a:t>Option 0: </a:t>
            </a:r>
          </a:p>
          <a:p>
            <a:pPr algn="ctr"/>
            <a:endParaRPr lang="en-IE" sz="1800" dirty="0"/>
          </a:p>
          <a:p>
            <a:pPr algn="ctr"/>
            <a:r>
              <a:rPr lang="en-IE" sz="1800" dirty="0"/>
              <a:t>Exit the system</a:t>
            </a:r>
          </a:p>
        </p:txBody>
      </p:sp>
    </p:spTree>
    <p:extLst>
      <p:ext uri="{BB962C8B-B14F-4D97-AF65-F5344CB8AC3E}">
        <p14:creationId xmlns:p14="http://schemas.microsoft.com/office/powerpoint/2010/main" val="150422575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6124" y="402105"/>
            <a:ext cx="4527395" cy="1102519"/>
          </a:xfrm>
        </p:spPr>
        <p:txBody>
          <a:bodyPr/>
          <a:lstStyle/>
          <a:p>
            <a:r>
              <a:rPr lang="en-IE" sz="3600" dirty="0"/>
              <a:t>The Switch Statement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F8C15EEE-6074-3F53-BEA9-ADDA5BA536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0453" y="1736801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 brief introduction (more later..)</a:t>
            </a:r>
          </a:p>
        </p:txBody>
      </p:sp>
    </p:spTree>
    <p:extLst>
      <p:ext uri="{BB962C8B-B14F-4D97-AF65-F5344CB8AC3E}">
        <p14:creationId xmlns:p14="http://schemas.microsoft.com/office/powerpoint/2010/main" val="269021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E" sz="1400" dirty="0"/>
          </a:p>
          <a:p>
            <a:r>
              <a:rPr lang="en-GB" altLang="en-US" sz="2800" dirty="0"/>
              <a:t>The </a:t>
            </a:r>
            <a:r>
              <a:rPr lang="en-GB" altLang="en-US" sz="2800" dirty="0">
                <a:latin typeface="Monaco" pitchFamily="2" charset="77"/>
              </a:rPr>
              <a:t>switch</a:t>
            </a:r>
            <a:r>
              <a:rPr lang="en-GB" altLang="en-US" sz="2800" dirty="0"/>
              <a:t> statement works in exactly the same way as a </a:t>
            </a:r>
            <a:r>
              <a:rPr lang="en-GB" altLang="en-US" sz="2800" b="1" dirty="0"/>
              <a:t>set of </a:t>
            </a:r>
            <a:r>
              <a:rPr lang="en-GB" altLang="en-US" sz="2800" b="1" dirty="0">
                <a:latin typeface="Monaco" pitchFamily="2" charset="77"/>
              </a:rPr>
              <a:t>if</a:t>
            </a:r>
            <a:r>
              <a:rPr lang="en-GB" altLang="en-US" sz="2800" b="1" dirty="0"/>
              <a:t> </a:t>
            </a:r>
            <a:r>
              <a:rPr lang="en-GB" altLang="en-US" sz="2800" dirty="0"/>
              <a:t>statements, but is more compact and readable</a:t>
            </a:r>
          </a:p>
          <a:p>
            <a:endParaRPr lang="en-IE" sz="2800" dirty="0"/>
          </a:p>
          <a:p>
            <a:r>
              <a:rPr lang="en-IE" sz="2800" dirty="0"/>
              <a:t>The </a:t>
            </a:r>
            <a:r>
              <a:rPr lang="en-GB" altLang="en-US" sz="2800" dirty="0">
                <a:latin typeface="Monaco" pitchFamily="2" charset="77"/>
              </a:rPr>
              <a:t>switch</a:t>
            </a:r>
            <a:r>
              <a:rPr lang="en-IE" sz="2800" i="1" dirty="0"/>
              <a:t> statement switches</a:t>
            </a:r>
            <a:r>
              <a:rPr lang="en-IE" sz="2800" dirty="0"/>
              <a:t> on a single </a:t>
            </a:r>
            <a:r>
              <a:rPr lang="en-IE" sz="2800" b="1" dirty="0"/>
              <a:t>value</a:t>
            </a:r>
            <a:r>
              <a:rPr lang="en-IE" sz="2800" dirty="0"/>
              <a:t> to one of an arbitrary number of </a:t>
            </a:r>
            <a:r>
              <a:rPr lang="en-IE" sz="2800" b="1" dirty="0"/>
              <a:t>cases</a:t>
            </a:r>
            <a:r>
              <a:rPr lang="en-IE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512637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The </a:t>
            </a:r>
            <a:r>
              <a:rPr lang="en-IE" b="1" dirty="0"/>
              <a:t>switch</a:t>
            </a:r>
            <a:r>
              <a:rPr lang="en-IE" dirty="0"/>
              <a:t> statement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95" y="55755"/>
            <a:ext cx="3543300" cy="47517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30018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switch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135147" cy="4299943"/>
          </a:xfrm>
        </p:spPr>
        <p:txBody>
          <a:bodyPr>
            <a:normAutofit/>
          </a:bodyPr>
          <a:lstStyle/>
          <a:p>
            <a:r>
              <a:rPr lang="en-IE" sz="2800" dirty="0"/>
              <a:t>A </a:t>
            </a:r>
            <a:r>
              <a:rPr lang="en-IE" sz="2800" i="1" dirty="0"/>
              <a:t>switch </a:t>
            </a:r>
            <a:r>
              <a:rPr lang="en-IE" sz="2800" dirty="0"/>
              <a:t>statement can have any number of </a:t>
            </a:r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case</a:t>
            </a:r>
            <a:r>
              <a:rPr lang="en-IE" sz="2800" b="1" dirty="0"/>
              <a:t> </a:t>
            </a:r>
            <a:r>
              <a:rPr lang="en-IE" sz="2800" dirty="0"/>
              <a:t>labels.</a:t>
            </a:r>
          </a:p>
          <a:p>
            <a:r>
              <a:rPr lang="en-IE" sz="2800" dirty="0"/>
              <a:t>The </a:t>
            </a:r>
            <a:r>
              <a:rPr lang="en-IE" sz="2800" b="1" dirty="0">
                <a:solidFill>
                  <a:srgbClr val="1181F3"/>
                </a:solidFill>
                <a:latin typeface="Monaco" pitchFamily="2" charset="77"/>
              </a:rPr>
              <a:t>default</a:t>
            </a:r>
            <a:r>
              <a:rPr lang="en-IE" sz="2800" b="1" dirty="0"/>
              <a:t> </a:t>
            </a:r>
            <a:r>
              <a:rPr lang="en-IE" sz="2800" dirty="0"/>
              <a:t>case is optional; if no default is given, it may happen that no case is executed.</a:t>
            </a:r>
          </a:p>
          <a:p>
            <a:r>
              <a:rPr lang="en-IE" sz="2800" dirty="0"/>
              <a:t>Can </a:t>
            </a:r>
            <a:r>
              <a:rPr lang="en-IE" sz="2800" i="1" dirty="0"/>
              <a:t>switch</a:t>
            </a:r>
            <a:r>
              <a:rPr lang="en-IE" sz="2800" dirty="0"/>
              <a:t> on </a:t>
            </a:r>
            <a:r>
              <a:rPr lang="en-IE" sz="2800" b="1" dirty="0">
                <a:solidFill>
                  <a:srgbClr val="C00000"/>
                </a:solidFill>
              </a:rPr>
              <a:t>int</a:t>
            </a:r>
            <a:r>
              <a:rPr lang="en-IE" sz="2800" dirty="0"/>
              <a:t>, </a:t>
            </a:r>
            <a:r>
              <a:rPr lang="en-IE" sz="2800" b="1" dirty="0">
                <a:solidFill>
                  <a:srgbClr val="C00000"/>
                </a:solidFill>
              </a:rPr>
              <a:t>char</a:t>
            </a:r>
            <a:r>
              <a:rPr lang="en-IE" sz="2800" dirty="0"/>
              <a:t> or </a:t>
            </a:r>
            <a:r>
              <a:rPr lang="en-IE" sz="2800" b="1" dirty="0">
                <a:solidFill>
                  <a:srgbClr val="C00000"/>
                </a:solidFill>
              </a:rPr>
              <a:t>String</a:t>
            </a:r>
            <a:r>
              <a:rPr lang="en-IE" sz="2800" dirty="0"/>
              <a:t>.</a:t>
            </a:r>
          </a:p>
          <a:p>
            <a:endParaRPr lang="en-IE" sz="2800" dirty="0"/>
          </a:p>
          <a:p>
            <a:r>
              <a:rPr lang="en-IE" sz="2800" dirty="0"/>
              <a:t>Let’s use this now in ShopV2.2</a:t>
            </a:r>
          </a:p>
          <a:p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86768166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134" y="402106"/>
            <a:ext cx="2411376" cy="1102519"/>
          </a:xfrm>
        </p:spPr>
        <p:txBody>
          <a:bodyPr/>
          <a:lstStyle/>
          <a:p>
            <a:r>
              <a:rPr lang="en-IE" sz="3600" dirty="0"/>
              <a:t>SHOP V2.2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4532" y="1660137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FF4995A3-F134-AC90-1230-F1C62DBFC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6" y="953365"/>
            <a:ext cx="1903088" cy="1292344"/>
          </a:xfrm>
        </p:spPr>
        <p:txBody>
          <a:bodyPr anchor="ctr">
            <a:normAutofit/>
          </a:bodyPr>
          <a:lstStyle/>
          <a:p>
            <a:r>
              <a:rPr lang="en-IE" dirty="0"/>
              <a:t>Adding the Menu System</a:t>
            </a:r>
          </a:p>
        </p:txBody>
      </p:sp>
    </p:spTree>
    <p:extLst>
      <p:ext uri="{BB962C8B-B14F-4D97-AF65-F5344CB8AC3E}">
        <p14:creationId xmlns:p14="http://schemas.microsoft.com/office/powerpoint/2010/main" val="2580378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4F-25E0-4FBC-AA95-B1EADD8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SHOP V2.2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78F51-A6C3-4DFC-8DDB-3489B717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8536591" cy="4299943"/>
          </a:xfrm>
        </p:spPr>
        <p:txBody>
          <a:bodyPr>
            <a:norm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Product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F40FF"/>
                </a:solidFill>
              </a:rPr>
              <a:t>Store</a:t>
            </a:r>
            <a:r>
              <a:rPr lang="en-IE" sz="2800" dirty="0"/>
              <a:t> – no changes</a:t>
            </a:r>
          </a:p>
          <a:p>
            <a:r>
              <a:rPr lang="en-IE" sz="2800" b="1" dirty="0">
                <a:solidFill>
                  <a:srgbClr val="F79646"/>
                </a:solidFill>
              </a:rPr>
              <a:t>Driver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will be changed to allow the user to choose options from a menu.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48EAA3-F50D-4307-B4CB-4A28736D5065}"/>
              </a:ext>
            </a:extLst>
          </p:cNvPr>
          <p:cNvSpPr/>
          <p:nvPr/>
        </p:nvSpPr>
        <p:spPr>
          <a:xfrm>
            <a:off x="1962613" y="2750880"/>
            <a:ext cx="1391116" cy="661739"/>
          </a:xfrm>
          <a:prstGeom prst="roundRect">
            <a:avLst/>
          </a:prstGeom>
          <a:ln w="635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Driver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92F55B-1604-4D99-A22D-1190EB809A71}"/>
              </a:ext>
            </a:extLst>
          </p:cNvPr>
          <p:cNvSpPr/>
          <p:nvPr/>
        </p:nvSpPr>
        <p:spPr>
          <a:xfrm>
            <a:off x="6382677" y="4171891"/>
            <a:ext cx="1738835" cy="628650"/>
          </a:xfrm>
          <a:prstGeom prst="roundRect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b="1" dirty="0"/>
              <a:t>Product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11C9948-2B5E-4D2E-9333-9172083D4EDA}"/>
              </a:ext>
            </a:extLst>
          </p:cNvPr>
          <p:cNvCxnSpPr>
            <a:cxnSpLocks/>
            <a:stCxn id="7" idx="3"/>
            <a:endCxn id="5" idx="0"/>
          </p:cNvCxnSpPr>
          <p:nvPr/>
        </p:nvCxnSpPr>
        <p:spPr>
          <a:xfrm>
            <a:off x="5709046" y="3868292"/>
            <a:ext cx="1543049" cy="3035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2A054C1-33CC-4C1E-8322-FBD58ACACEF3}"/>
              </a:ext>
            </a:extLst>
          </p:cNvPr>
          <p:cNvSpPr/>
          <p:nvPr/>
        </p:nvSpPr>
        <p:spPr>
          <a:xfrm>
            <a:off x="3970211" y="3417483"/>
            <a:ext cx="1738835" cy="901618"/>
          </a:xfrm>
          <a:prstGeom prst="roundRect">
            <a:avLst/>
          </a:prstGeom>
          <a:ln w="44450"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000" dirty="0"/>
              <a:t>Store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A0AEBB43-905A-41A4-BF93-53084BD3F5DF}"/>
              </a:ext>
            </a:extLst>
          </p:cNvPr>
          <p:cNvCxnSpPr>
            <a:cxnSpLocks/>
            <a:stCxn id="4" idx="3"/>
            <a:endCxn id="7" idx="0"/>
          </p:cNvCxnSpPr>
          <p:nvPr/>
        </p:nvCxnSpPr>
        <p:spPr>
          <a:xfrm>
            <a:off x="3353729" y="3081750"/>
            <a:ext cx="1485900" cy="33573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4950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22" y="325160"/>
            <a:ext cx="6266168" cy="697835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225">
                <a:solidFill>
                  <a:srgbClr val="FFFFFF"/>
                </a:solidFill>
              </a:rPr>
              <a:t>Shop V2.1   				Shop V2.2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8B52FE-FAA3-781A-0E31-7605F9B03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1363393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2456-06AF-47B3-A6E3-9CEB0AD94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22" y="325160"/>
            <a:ext cx="6266168" cy="697835"/>
          </a:xfrm>
        </p:spPr>
        <p:txBody>
          <a:bodyPr vert="horz" lIns="68580" tIns="34290" rIns="68580" bIns="3429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3225" dirty="0">
                <a:solidFill>
                  <a:srgbClr val="FFFFFF"/>
                </a:solidFill>
              </a:rPr>
              <a:t>Shop V2.1   				Shop V2.2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F7457C-28C9-4979-9CDF-685F19904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775" y="1151257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E90AF7-3E29-402B-BAC1-F362B8E05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787F2FB4-ABD0-4DCB-94A0-F82537323471}"/>
              </a:ext>
            </a:extLst>
          </p:cNvPr>
          <p:cNvSpPr/>
          <p:nvPr/>
        </p:nvSpPr>
        <p:spPr>
          <a:xfrm>
            <a:off x="6018035" y="1356620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A4F5F2A3-ECAC-4D9A-A759-38F59643D807}"/>
              </a:ext>
            </a:extLst>
          </p:cNvPr>
          <p:cNvSpPr/>
          <p:nvPr/>
        </p:nvSpPr>
        <p:spPr>
          <a:xfrm>
            <a:off x="6565282" y="1866443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93BD2CEA-4987-4F86-94C0-FF467ABBFFF4}"/>
              </a:ext>
            </a:extLst>
          </p:cNvPr>
          <p:cNvSpPr/>
          <p:nvPr/>
        </p:nvSpPr>
        <p:spPr>
          <a:xfrm>
            <a:off x="6565282" y="2037893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D1559D9B-1011-494C-96C6-F984E5D3EA80}"/>
              </a:ext>
            </a:extLst>
          </p:cNvPr>
          <p:cNvSpPr/>
          <p:nvPr/>
        </p:nvSpPr>
        <p:spPr>
          <a:xfrm>
            <a:off x="6679582" y="1580693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446947758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1530AE-DAD2-033C-D930-95B85E446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FCC1CC8E-229F-4487-B1FD-DE8DABBDF4D8}"/>
              </a:ext>
            </a:extLst>
          </p:cNvPr>
          <p:cNvSpPr/>
          <p:nvPr/>
        </p:nvSpPr>
        <p:spPr>
          <a:xfrm>
            <a:off x="3284036" y="1409237"/>
            <a:ext cx="514350" cy="1714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VI" sz="1688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702229-810C-4B34-8FE4-1D0CF6BFA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822999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pic>
        <p:nvPicPr>
          <p:cNvPr id="13" name="Picture 12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0265D1D-2C7E-4700-B688-B90AA9DC8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871788"/>
            <a:ext cx="3333750" cy="21431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F903FBC-BD73-4050-A61F-40BAED5377DA}"/>
              </a:ext>
            </a:extLst>
          </p:cNvPr>
          <p:cNvSpPr/>
          <p:nvPr/>
        </p:nvSpPr>
        <p:spPr>
          <a:xfrm>
            <a:off x="2400301" y="4375987"/>
            <a:ext cx="2061590" cy="5572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88" dirty="0"/>
              <a:t>Console Output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CDB829-6C78-4687-A98E-5F2637460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13670-E9C1-4211-8B21-453CD7E7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576450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Shop V2.1 – main method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52B970C-FADA-438D-81F0-3BE76750CF7E}"/>
              </a:ext>
            </a:extLst>
          </p:cNvPr>
          <p:cNvSpPr/>
          <p:nvPr/>
        </p:nvSpPr>
        <p:spPr>
          <a:xfrm rot="18932632">
            <a:off x="3562040" y="3177305"/>
            <a:ext cx="2505768" cy="14039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500" dirty="0"/>
              <a:t>These methods will be in a menu system in </a:t>
            </a:r>
            <a:r>
              <a:rPr lang="en-IE" sz="1500" b="1" dirty="0">
                <a:solidFill>
                  <a:srgbClr val="FFFF00"/>
                </a:solidFill>
              </a:rPr>
              <a:t>V2.2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7D7AB7-5274-4D00-A878-AE81CEA4D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971550"/>
            <a:ext cx="2894921" cy="173124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20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0E6DF8-28B8-4205-8A64-F97916997564}"/>
              </a:ext>
            </a:extLst>
          </p:cNvPr>
          <p:cNvSpPr/>
          <p:nvPr/>
        </p:nvSpPr>
        <p:spPr>
          <a:xfrm>
            <a:off x="4743450" y="1570813"/>
            <a:ext cx="2457450" cy="1000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4D568-D8D2-EA5B-FC80-74E2C6A5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54" y="1151258"/>
            <a:ext cx="2767120" cy="2523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060219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78F2-2850-4C54-9666-C01EA6EC046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05112" y="3086101"/>
            <a:ext cx="2400300" cy="1943099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IE" sz="2400" b="1" dirty="0">
                <a:solidFill>
                  <a:srgbClr val="FF0000"/>
                </a:solidFill>
              </a:rPr>
              <a:t>Shop V2.2:</a:t>
            </a:r>
            <a:br>
              <a:rPr lang="en-IE" sz="2400" b="1" dirty="0">
                <a:solidFill>
                  <a:srgbClr val="FF0000"/>
                </a:solidFill>
              </a:rPr>
            </a:br>
            <a:r>
              <a:rPr lang="en-IE" sz="2400" b="1" dirty="0">
                <a:solidFill>
                  <a:srgbClr val="FF0000"/>
                </a:solidFill>
              </a:rPr>
              <a:t>- </a:t>
            </a:r>
            <a:r>
              <a:rPr lang="en-IE" sz="2400" dirty="0"/>
              <a:t>new Driver   </a:t>
            </a:r>
            <a:br>
              <a:rPr lang="en-IE" sz="2400" dirty="0"/>
            </a:br>
            <a:r>
              <a:rPr lang="en-IE" sz="2400" dirty="0"/>
              <a:t>   constructor</a:t>
            </a:r>
            <a:br>
              <a:rPr lang="en-IE" sz="2400" dirty="0"/>
            </a:br>
            <a:r>
              <a:rPr lang="en-IE" sz="2400" b="1" dirty="0">
                <a:solidFill>
                  <a:srgbClr val="FF0000"/>
                </a:solidFill>
              </a:rPr>
              <a:t>- </a:t>
            </a:r>
            <a:r>
              <a:rPr lang="en-IE" sz="2400" dirty="0"/>
              <a:t>changes to the     </a:t>
            </a:r>
            <a:br>
              <a:rPr lang="en-IE" sz="2400" dirty="0"/>
            </a:br>
            <a:r>
              <a:rPr lang="en-IE" sz="2400" dirty="0"/>
              <a:t>   main method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B164D-FEA4-4049-9206-31B9459C3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5" y="1885950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B24E43E3-4A1C-4B5C-A669-3C2D30503940}"/>
              </a:ext>
            </a:extLst>
          </p:cNvPr>
          <p:cNvSpPr/>
          <p:nvPr/>
        </p:nvSpPr>
        <p:spPr>
          <a:xfrm>
            <a:off x="6410315" y="2091314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41132E47-BE34-46BD-9876-833FFA764F28}"/>
              </a:ext>
            </a:extLst>
          </p:cNvPr>
          <p:cNvSpPr/>
          <p:nvPr/>
        </p:nvSpPr>
        <p:spPr>
          <a:xfrm>
            <a:off x="6957563" y="260113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22F4B50-48E2-4486-B514-CD9E8AD382F1}"/>
              </a:ext>
            </a:extLst>
          </p:cNvPr>
          <p:cNvSpPr/>
          <p:nvPr/>
        </p:nvSpPr>
        <p:spPr>
          <a:xfrm>
            <a:off x="6957563" y="277258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4618B9D9-460D-45DE-B7ED-0D4750C57A5F}"/>
              </a:ext>
            </a:extLst>
          </p:cNvPr>
          <p:cNvSpPr/>
          <p:nvPr/>
        </p:nvSpPr>
        <p:spPr>
          <a:xfrm>
            <a:off x="7071863" y="2315387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99F1DB4-3993-4B9E-898E-BE00DE0B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447" y="195687"/>
            <a:ext cx="3857467" cy="154657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runMenu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static void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altLang="en-US" sz="12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2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Driver();</a:t>
            </a:r>
            <a:b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950" dirty="0">
              <a:latin typeface="Arial" panose="020B060402020202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E4EB23-AEF3-4A5E-A694-868338C17611}"/>
              </a:ext>
            </a:extLst>
          </p:cNvPr>
          <p:cNvSpPr/>
          <p:nvPr/>
        </p:nvSpPr>
        <p:spPr>
          <a:xfrm>
            <a:off x="3700010" y="4142654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1</a:t>
            </a:r>
            <a:endParaRPr lang="en-IE" sz="1688" dirty="0"/>
          </a:p>
        </p:txBody>
      </p:sp>
    </p:spTree>
    <p:extLst>
      <p:ext uri="{BB962C8B-B14F-4D97-AF65-F5344CB8AC3E}">
        <p14:creationId xmlns:p14="http://schemas.microsoft.com/office/powerpoint/2010/main" val="1817139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1305112" y="3943351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b="1" dirty="0">
                <a:solidFill>
                  <a:srgbClr val="FF0000"/>
                </a:solidFill>
              </a:rPr>
              <a:t>Shop V2.2 </a:t>
            </a:r>
            <a:r>
              <a:rPr lang="en-IE" sz="2400" dirty="0"/>
              <a:t>– new </a:t>
            </a:r>
            <a:r>
              <a:rPr lang="en-IE" sz="2400" b="1" i="1" dirty="0" err="1"/>
              <a:t>mainMenu</a:t>
            </a:r>
            <a:r>
              <a:rPr lang="en-IE" sz="2400" b="1" i="1" dirty="0"/>
              <a:t> </a:t>
            </a:r>
            <a:r>
              <a:rPr lang="en-IE" sz="24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3700010" y="4142654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2</a:t>
            </a:r>
            <a:endParaRPr lang="en-IE" sz="168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CAD6DA-F39C-45F5-9884-E59E0AB4F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684" y="109155"/>
            <a:ext cx="4296689" cy="265457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int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"""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Shop Menu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---------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1) List the Products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2) List the current products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3) Display average product unit cost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4) Display cheapest product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5) List products that are more expensive than a given price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   0) Exit</a:t>
            </a:r>
            <a:br>
              <a:rPr lang="en-VI" altLang="en-VI" sz="1200" dirty="0">
                <a:solidFill>
                  <a:srgbClr val="067D17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          ==&gt;&gt; """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option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.nextInt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return </a:t>
            </a:r>
            <a:r>
              <a:rPr lang="en-VI" altLang="en-VI" sz="1200" dirty="0">
                <a:solidFill>
                  <a:srgbClr val="000000"/>
                </a:solidFill>
                <a:latin typeface="JetBrains Mono"/>
              </a:rPr>
              <a:t>option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3C97-DA76-40FE-AADB-53E4D4C10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5" y="1885950"/>
            <a:ext cx="2971796" cy="31904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F1559208-FC1F-4B7D-933D-0F3D313F2F79}"/>
              </a:ext>
            </a:extLst>
          </p:cNvPr>
          <p:cNvSpPr/>
          <p:nvPr/>
        </p:nvSpPr>
        <p:spPr>
          <a:xfrm>
            <a:off x="6410315" y="2091314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C0442656-1492-474B-A9E2-BBD8AC7A7298}"/>
              </a:ext>
            </a:extLst>
          </p:cNvPr>
          <p:cNvSpPr/>
          <p:nvPr/>
        </p:nvSpPr>
        <p:spPr>
          <a:xfrm>
            <a:off x="6957563" y="260113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A0293FC-DEA5-49F9-9874-EF4464E0E063}"/>
              </a:ext>
            </a:extLst>
          </p:cNvPr>
          <p:cNvSpPr/>
          <p:nvPr/>
        </p:nvSpPr>
        <p:spPr>
          <a:xfrm>
            <a:off x="6957563" y="2772587"/>
            <a:ext cx="342900" cy="17145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FD5C0D30-D745-4DCE-A811-06EE1EF543A0}"/>
              </a:ext>
            </a:extLst>
          </p:cNvPr>
          <p:cNvSpPr/>
          <p:nvPr/>
        </p:nvSpPr>
        <p:spPr>
          <a:xfrm>
            <a:off x="7071863" y="2315387"/>
            <a:ext cx="342900" cy="171450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</p:spTree>
    <p:extLst>
      <p:ext uri="{BB962C8B-B14F-4D97-AF65-F5344CB8AC3E}">
        <p14:creationId xmlns:p14="http://schemas.microsoft.com/office/powerpoint/2010/main" val="8403219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5C4330A-3E1E-42A4-AD74-BF981B8DA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543550" y="4000501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b="1" dirty="0">
                <a:solidFill>
                  <a:srgbClr val="FF0000"/>
                </a:solidFill>
              </a:rPr>
              <a:t>Shop V2.2 </a:t>
            </a:r>
            <a:r>
              <a:rPr lang="en-IE" sz="2400" dirty="0"/>
              <a:t>– new </a:t>
            </a:r>
            <a:r>
              <a:rPr lang="en-IE" sz="2400" b="1" dirty="0" err="1"/>
              <a:t>runMenu</a:t>
            </a:r>
            <a:r>
              <a:rPr lang="en-IE" sz="2400" b="1" dirty="0"/>
              <a:t> </a:t>
            </a:r>
            <a:r>
              <a:rPr lang="en-IE" sz="2400" dirty="0"/>
              <a:t>method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94E52E4-ECD0-4F74-A2DA-79C4E8EFF207}"/>
              </a:ext>
            </a:extLst>
          </p:cNvPr>
          <p:cNvSpPr/>
          <p:nvPr/>
        </p:nvSpPr>
        <p:spPr>
          <a:xfrm>
            <a:off x="7230106" y="3486150"/>
            <a:ext cx="685800" cy="6872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3600" dirty="0"/>
              <a:t>3</a:t>
            </a:r>
            <a:endParaRPr lang="en-IE" sz="1688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E40E39-A37C-421E-A7E7-F03734002E38}"/>
              </a:ext>
            </a:extLst>
          </p:cNvPr>
          <p:cNvSpPr txBox="1"/>
          <p:nvPr/>
        </p:nvSpPr>
        <p:spPr>
          <a:xfrm>
            <a:off x="6463706" y="65795"/>
            <a:ext cx="685800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803369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CA6E9505-B63F-46E3-B1EB-48C93914A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6257226" y="3744024"/>
            <a:ext cx="2400300" cy="108584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Loop Control Variable is </a:t>
            </a:r>
            <a:r>
              <a:rPr lang="en-IE" sz="2400" b="1" dirty="0">
                <a:solidFill>
                  <a:srgbClr val="FF0000"/>
                </a:solidFill>
              </a:rPr>
              <a:t>option</a:t>
            </a:r>
            <a:endParaRPr lang="en-IE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C77606-1A40-415C-A639-BD4D45226A6C}"/>
              </a:ext>
            </a:extLst>
          </p:cNvPr>
          <p:cNvSpPr txBox="1"/>
          <p:nvPr/>
        </p:nvSpPr>
        <p:spPr>
          <a:xfrm>
            <a:off x="4804313" y="285750"/>
            <a:ext cx="1558440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initialised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0011A-7843-4AAB-8015-A9CF97666A6D}"/>
              </a:ext>
            </a:extLst>
          </p:cNvPr>
          <p:cNvSpPr txBox="1"/>
          <p:nvPr/>
        </p:nvSpPr>
        <p:spPr>
          <a:xfrm>
            <a:off x="4988847" y="685800"/>
            <a:ext cx="1258679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tested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03246B-F66A-49B9-AAEA-2960720AB58D}"/>
              </a:ext>
            </a:extLst>
          </p:cNvPr>
          <p:cNvSpPr txBox="1"/>
          <p:nvPr/>
        </p:nvSpPr>
        <p:spPr>
          <a:xfrm>
            <a:off x="3946153" y="3701199"/>
            <a:ext cx="1521571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E" sz="1688" dirty="0"/>
              <a:t>LCV changed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7F8F3E7-DC3C-4A89-879B-FEF1C282A8F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971801" y="461792"/>
            <a:ext cx="1832512" cy="1009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9B38DA-72F2-4B51-963F-75C6B4F9FB91}"/>
              </a:ext>
            </a:extLst>
          </p:cNvPr>
          <p:cNvCxnSpPr>
            <a:cxnSpLocks/>
          </p:cNvCxnSpPr>
          <p:nvPr/>
        </p:nvCxnSpPr>
        <p:spPr>
          <a:xfrm flipH="1">
            <a:off x="2686050" y="857250"/>
            <a:ext cx="2312541" cy="1055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B33945-2E68-416C-8FFF-602422585D1A}"/>
              </a:ext>
            </a:extLst>
          </p:cNvPr>
          <p:cNvCxnSpPr>
            <a:cxnSpLocks/>
          </p:cNvCxnSpPr>
          <p:nvPr/>
        </p:nvCxnSpPr>
        <p:spPr>
          <a:xfrm flipH="1">
            <a:off x="3143250" y="3877850"/>
            <a:ext cx="732417" cy="83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C3B07A-64D7-4270-8549-9194AE58D133}"/>
              </a:ext>
            </a:extLst>
          </p:cNvPr>
          <p:cNvSpPr txBox="1"/>
          <p:nvPr/>
        </p:nvSpPr>
        <p:spPr>
          <a:xfrm>
            <a:off x="6463706" y="65795"/>
            <a:ext cx="673074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</p:spTree>
    <p:extLst>
      <p:ext uri="{BB962C8B-B14F-4D97-AF65-F5344CB8AC3E}">
        <p14:creationId xmlns:p14="http://schemas.microsoft.com/office/powerpoint/2010/main" val="4071041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618C5502-FCF6-4BAA-8EB6-1DB2DD1A9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215788"/>
            <a:ext cx="6682353" cy="487056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private void </a:t>
            </a:r>
            <a:r>
              <a:rPr lang="en-VI" altLang="en-VI" sz="1200" dirty="0" err="1">
                <a:solidFill>
                  <a:srgbClr val="00627A"/>
                </a:solidFill>
                <a:latin typeface="JetBrains Mono"/>
              </a:rPr>
              <a:t>runMenu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int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while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 !=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switch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(option){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1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2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printCurrentProducts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3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printAverageProductPrice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4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printCheapestProduct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case 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5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printProductsAboveAPrice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    </a:t>
            </a:r>
            <a:r>
              <a:rPr lang="en-VI" altLang="en-VI" sz="1200" dirty="0">
                <a:solidFill>
                  <a:srgbClr val="0033B3"/>
                </a:solidFill>
                <a:latin typeface="JetBrains Mono"/>
              </a:rPr>
              <a:t>default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-&gt;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"Invalid option entered: "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+ option);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//pause the program so that the user can read what we just printed to the terminal window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</a:t>
            </a:r>
            <a:r>
              <a:rPr lang="en-VI" altLang="en-VI" sz="1200" dirty="0">
                <a:solidFill>
                  <a:srgbClr val="0037A6"/>
                </a:solidFill>
                <a:latin typeface="JetBrains Mono"/>
              </a:rPr>
              <a:t>\</a:t>
            </a:r>
            <a:r>
              <a:rPr lang="en-VI" altLang="en-VI" sz="1200" dirty="0" err="1">
                <a:solidFill>
                  <a:srgbClr val="0037A6"/>
                </a:solidFill>
                <a:latin typeface="JetBrains Mono"/>
              </a:rPr>
              <a:t>n</a:t>
            </a:r>
            <a:r>
              <a:rPr lang="en-VI" altLang="en-VI" sz="1200" dirty="0" err="1">
                <a:solidFill>
                  <a:srgbClr val="067D17"/>
                </a:solidFill>
                <a:latin typeface="JetBrains Mono"/>
              </a:rPr>
              <a:t>Press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 enter key to continue..."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200" dirty="0" err="1">
                <a:solidFill>
                  <a:srgbClr val="871094"/>
                </a:solidFill>
                <a:latin typeface="JetBrains Mono"/>
              </a:rPr>
              <a:t>input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.nextLine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 </a:t>
            </a:r>
            <a:r>
              <a:rPr lang="en-VI" altLang="en-VI" sz="900" i="1" dirty="0">
                <a:solidFill>
                  <a:srgbClr val="8C8C8C"/>
                </a:solidFill>
                <a:latin typeface="JetBrains Mono"/>
              </a:rPr>
              <a:t>//second read is required - bug in Scanner class; a String read is ignored straight after reading an int.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//display the main menu again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    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option = 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mainMenu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}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//the user chose option 0, so exit the program</a:t>
            </a:r>
            <a:br>
              <a:rPr lang="en-VI" altLang="en-VI" sz="1200" i="1" dirty="0">
                <a:solidFill>
                  <a:srgbClr val="8C8C8C"/>
                </a:solidFill>
                <a:latin typeface="JetBrains Mono"/>
              </a:rPr>
            </a:br>
            <a:r>
              <a:rPr lang="en-VI" altLang="en-VI" sz="1200" i="1" dirty="0">
                <a:solidFill>
                  <a:srgbClr val="8C8C8C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871094"/>
                </a:solidFill>
                <a:latin typeface="JetBrains Mono"/>
              </a:rPr>
              <a:t>out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.println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067D17"/>
                </a:solidFill>
                <a:latin typeface="JetBrains Mono"/>
              </a:rPr>
              <a:t>"Exiting...bye"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200" dirty="0" err="1">
                <a:solidFill>
                  <a:srgbClr val="000000"/>
                </a:solidFill>
                <a:latin typeface="JetBrains Mono"/>
              </a:rPr>
              <a:t>System</a:t>
            </a:r>
            <a:r>
              <a:rPr lang="en-VI" altLang="en-VI" sz="1200" dirty="0" err="1">
                <a:solidFill>
                  <a:srgbClr val="080808"/>
                </a:solidFill>
                <a:latin typeface="JetBrains Mono"/>
              </a:rPr>
              <a:t>.</a:t>
            </a:r>
            <a:r>
              <a:rPr lang="en-VI" altLang="en-VI" sz="1200" i="1" dirty="0" err="1">
                <a:solidFill>
                  <a:srgbClr val="080808"/>
                </a:solidFill>
                <a:latin typeface="JetBrains Mono"/>
              </a:rPr>
              <a:t>exit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200" dirty="0">
                <a:solidFill>
                  <a:srgbClr val="1750EB"/>
                </a:solidFill>
                <a:latin typeface="JetBrains Mono"/>
              </a:rPr>
              <a:t>0</a:t>
            </a: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);</a:t>
            </a:r>
            <a:br>
              <a:rPr lang="en-VI" altLang="en-VI" sz="120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200" dirty="0">
                <a:solidFill>
                  <a:srgbClr val="080808"/>
                </a:solidFill>
                <a:latin typeface="JetBrains Mono"/>
              </a:rPr>
              <a:t>}</a:t>
            </a:r>
            <a:endParaRPr lang="en-VI" altLang="en-VI" sz="3000" dirty="0">
              <a:latin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ACFB69-5189-48EF-9436-110A484BA506}"/>
              </a:ext>
            </a:extLst>
          </p:cNvPr>
          <p:cNvSpPr txBox="1">
            <a:spLocks/>
          </p:cNvSpPr>
          <p:nvPr/>
        </p:nvSpPr>
        <p:spPr>
          <a:xfrm>
            <a:off x="5543550" y="4000501"/>
            <a:ext cx="2400300" cy="108584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68580" tIns="34290" rIns="68580" bIns="3429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400" dirty="0"/>
              <a:t>Note the methods in the switch statement are those that were in the main method in V2.1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53E9FAAC-20E2-45D0-8129-BEA1C6415DC4}"/>
              </a:ext>
            </a:extLst>
          </p:cNvPr>
          <p:cNvSpPr/>
          <p:nvPr/>
        </p:nvSpPr>
        <p:spPr>
          <a:xfrm>
            <a:off x="1143000" y="1200150"/>
            <a:ext cx="685800" cy="914401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 sz="1688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A96B7-9AB3-45D7-8830-24E01B7CD66F}"/>
              </a:ext>
            </a:extLst>
          </p:cNvPr>
          <p:cNvSpPr txBox="1"/>
          <p:nvPr/>
        </p:nvSpPr>
        <p:spPr>
          <a:xfrm>
            <a:off x="6463705" y="65795"/>
            <a:ext cx="639621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V2.2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A7B8ADA-56A7-4843-AABE-79DE089B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544333"/>
            <a:ext cx="2894921" cy="152349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VI" altLang="en-VI" sz="1050" i="1" dirty="0">
                <a:solidFill>
                  <a:srgbClr val="8C8C8C"/>
                </a:solidFill>
                <a:latin typeface="JetBrains Mono"/>
              </a:rPr>
              <a:t>   </a:t>
            </a:r>
            <a:r>
              <a:rPr lang="en-VI" altLang="en-VI" sz="1050" dirty="0">
                <a:solidFill>
                  <a:srgbClr val="0033B3"/>
                </a:solidFill>
                <a:latin typeface="JetBrains Mono"/>
              </a:rPr>
              <a:t>public static void </a:t>
            </a:r>
            <a:r>
              <a:rPr lang="en-VI" altLang="en-VI" sz="1050" dirty="0">
                <a:solidFill>
                  <a:srgbClr val="00627A"/>
                </a:solidFill>
                <a:latin typeface="JetBrains Mono"/>
              </a:rPr>
              <a:t>main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String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[] 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args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) {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Driver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>
                <a:solidFill>
                  <a:srgbClr val="000000"/>
                </a:solidFill>
                <a:latin typeface="JetBrains Mono"/>
              </a:rPr>
              <a:t>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= </a:t>
            </a:r>
            <a:r>
              <a:rPr lang="en-VI" altLang="en-VI" sz="1050" dirty="0">
                <a:solidFill>
                  <a:srgbClr val="0033B3"/>
                </a:solidFill>
                <a:latin typeface="JetBrains Mono"/>
              </a:rPr>
              <a:t>new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Driver();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.processOrder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</a:t>
            </a:r>
            <a:r>
              <a:rPr lang="en-GB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.printProducts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.printCurrentProducts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.printAverageProductPrice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.printCheapestProduct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     </a:t>
            </a:r>
            <a:r>
              <a:rPr lang="en-VI" altLang="en-VI" sz="1050" dirty="0" err="1">
                <a:solidFill>
                  <a:srgbClr val="000000"/>
                </a:solidFill>
                <a:latin typeface="JetBrains Mono"/>
              </a:rPr>
              <a:t>driver</a:t>
            </a:r>
            <a:r>
              <a:rPr lang="en-VI" altLang="en-VI" sz="1050" dirty="0" err="1">
                <a:solidFill>
                  <a:srgbClr val="080808"/>
                </a:solidFill>
                <a:latin typeface="JetBrains Mono"/>
              </a:rPr>
              <a:t>.printProductsAboveAPrice</a:t>
            </a: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();</a:t>
            </a:r>
            <a:br>
              <a:rPr lang="en-VI" altLang="en-VI" sz="1050" dirty="0">
                <a:solidFill>
                  <a:srgbClr val="080808"/>
                </a:solidFill>
                <a:latin typeface="JetBrains Mono"/>
              </a:rPr>
            </a:br>
            <a:r>
              <a:rPr lang="en-VI" altLang="en-VI" sz="1050" dirty="0">
                <a:solidFill>
                  <a:srgbClr val="080808"/>
                </a:solidFill>
                <a:latin typeface="JetBrains Mono"/>
              </a:rPr>
              <a:t>   }</a:t>
            </a:r>
            <a:endParaRPr lang="en-VI" altLang="en-VI" sz="2700" dirty="0"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7CC11-D44E-4F3A-86D4-E7A7CE6ECA94}"/>
              </a:ext>
            </a:extLst>
          </p:cNvPr>
          <p:cNvSpPr txBox="1"/>
          <p:nvPr/>
        </p:nvSpPr>
        <p:spPr>
          <a:xfrm>
            <a:off x="7524338" y="1137240"/>
            <a:ext cx="668806" cy="3520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1688" dirty="0"/>
              <a:t>V2.1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0EA77D-A1BC-4012-9716-E4C5D9C4BA38}"/>
              </a:ext>
            </a:extLst>
          </p:cNvPr>
          <p:cNvSpPr/>
          <p:nvPr/>
        </p:nvSpPr>
        <p:spPr>
          <a:xfrm>
            <a:off x="5086351" y="1085850"/>
            <a:ext cx="2194523" cy="8001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66737" rtl="0"/>
            <a:endParaRPr lang="en-IE" sz="1050"/>
          </a:p>
        </p:txBody>
      </p:sp>
    </p:spTree>
    <p:extLst>
      <p:ext uri="{BB962C8B-B14F-4D97-AF65-F5344CB8AC3E}">
        <p14:creationId xmlns:p14="http://schemas.microsoft.com/office/powerpoint/2010/main" val="3704624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665C3-2C83-616B-78A4-E905A66C1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49D7-55DD-C0B0-E136-9E1F53C7264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38680</TotalTime>
  <Words>1714</Words>
  <Application>Microsoft Macintosh PowerPoint</Application>
  <PresentationFormat>On-screen Show (16:9)</PresentationFormat>
  <Paragraphs>157</Paragraphs>
  <Slides>37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JetBrains Mono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Wingdings</vt:lpstr>
      <vt:lpstr>White</vt:lpstr>
      <vt:lpstr>Programming Fundamentals 1</vt:lpstr>
      <vt:lpstr>PowerPoint Presentation</vt:lpstr>
      <vt:lpstr>Agenda</vt:lpstr>
      <vt:lpstr>RECAP : SHOP V2.0</vt:lpstr>
      <vt:lpstr>Recap - Shop V2.0 - Product</vt:lpstr>
      <vt:lpstr>Recap - Shop V2.0</vt:lpstr>
      <vt:lpstr>SHOP V2.1</vt:lpstr>
      <vt:lpstr>Shop V2.1 – Lab Exercises</vt:lpstr>
      <vt:lpstr>Shop V2.1 – Lab Exercises</vt:lpstr>
      <vt:lpstr>Shop V2.1 – Lab Exercises</vt:lpstr>
      <vt:lpstr>SHOP V2.2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Shop V2.2 – Control with menu</vt:lpstr>
      <vt:lpstr>The Switch Statement</vt:lpstr>
      <vt:lpstr>The switch statement</vt:lpstr>
      <vt:lpstr>The switch statement</vt:lpstr>
      <vt:lpstr>The switch statement</vt:lpstr>
      <vt:lpstr>SHOP V2.2</vt:lpstr>
      <vt:lpstr>SHOP V2.2</vt:lpstr>
      <vt:lpstr>Shop V2.1       Shop V2.2</vt:lpstr>
      <vt:lpstr>Shop V2.1       Shop V2.2</vt:lpstr>
      <vt:lpstr>Shop V2.1 – main method</vt:lpstr>
      <vt:lpstr>Shop V2.1 – main method</vt:lpstr>
      <vt:lpstr>Shop V2.1 – main method</vt:lpstr>
      <vt:lpstr>Shop V2.2: - new Driver       constructor - changes to the         main method</vt:lpstr>
      <vt:lpstr>PowerPoint Presentation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275</cp:revision>
  <dcterms:created xsi:type="dcterms:W3CDTF">2019-01-29T16:40:14Z</dcterms:created>
  <dcterms:modified xsi:type="dcterms:W3CDTF">2023-09-12T09:16:45Z</dcterms:modified>
</cp:coreProperties>
</file>