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25" r:id="rId2"/>
    <p:sldId id="514" r:id="rId3"/>
    <p:sldId id="598" r:id="rId4"/>
    <p:sldId id="546" r:id="rId5"/>
    <p:sldId id="547" r:id="rId6"/>
    <p:sldId id="533" r:id="rId7"/>
    <p:sldId id="641" r:id="rId8"/>
    <p:sldId id="600" r:id="rId9"/>
    <p:sldId id="551" r:id="rId10"/>
    <p:sldId id="642" r:id="rId11"/>
    <p:sldId id="603" r:id="rId12"/>
    <p:sldId id="605" r:id="rId13"/>
    <p:sldId id="643" r:id="rId14"/>
    <p:sldId id="606" r:id="rId15"/>
    <p:sldId id="607" r:id="rId16"/>
    <p:sldId id="580" r:id="rId17"/>
    <p:sldId id="608" r:id="rId18"/>
    <p:sldId id="581" r:id="rId19"/>
    <p:sldId id="578" r:id="rId20"/>
    <p:sldId id="609" r:id="rId21"/>
    <p:sldId id="582" r:id="rId22"/>
    <p:sldId id="644" r:id="rId23"/>
    <p:sldId id="579" r:id="rId24"/>
    <p:sldId id="610" r:id="rId25"/>
    <p:sldId id="583" r:id="rId26"/>
    <p:sldId id="614" r:id="rId27"/>
    <p:sldId id="620" r:id="rId28"/>
    <p:sldId id="624" r:id="rId29"/>
    <p:sldId id="630" r:id="rId30"/>
    <p:sldId id="589" r:id="rId31"/>
    <p:sldId id="575" r:id="rId32"/>
    <p:sldId id="593" r:id="rId33"/>
    <p:sldId id="631" r:id="rId34"/>
    <p:sldId id="595" r:id="rId35"/>
    <p:sldId id="632" r:id="rId36"/>
    <p:sldId id="634" r:id="rId37"/>
    <p:sldId id="645" r:id="rId38"/>
    <p:sldId id="562" r:id="rId39"/>
    <p:sldId id="636" r:id="rId40"/>
    <p:sldId id="637" r:id="rId41"/>
    <p:sldId id="639" r:id="rId42"/>
    <p:sldId id="640" r:id="rId43"/>
    <p:sldId id="646" r:id="rId44"/>
    <p:sldId id="347" r:id="rId45"/>
    <p:sldId id="520"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89116" autoAdjust="0"/>
  </p:normalViewPr>
  <p:slideViewPr>
    <p:cSldViewPr>
      <p:cViewPr varScale="1">
        <p:scale>
          <a:sx n="109" d="100"/>
          <a:sy n="109" d="100"/>
        </p:scale>
        <p:origin x="2288" y="184"/>
      </p:cViewPr>
      <p:guideLst>
        <p:guide orient="horz" pos="2160"/>
        <p:guide pos="2880"/>
      </p:guideLst>
    </p:cSldViewPr>
  </p:slideViewPr>
  <p:outlineViewPr>
    <p:cViewPr>
      <p:scale>
        <a:sx n="33" d="100"/>
        <a:sy n="33" d="100"/>
      </p:scale>
      <p:origin x="0" y="139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C3D141-1E1C-433C-AD3A-CD56CBBB4F9F}" type="datetimeFigureOut">
              <a:rPr lang="en-IE" smtClean="0"/>
              <a:t>16/09/2021</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3DB36-5273-45A5-A77C-FE9BE0779D84}" type="slidenum">
              <a:rPr lang="en-IE" smtClean="0"/>
              <a:t>‹#›</a:t>
            </a:fld>
            <a:endParaRPr lang="en-IE"/>
          </a:p>
        </p:txBody>
      </p:sp>
    </p:spTree>
    <p:extLst>
      <p:ext uri="{BB962C8B-B14F-4D97-AF65-F5344CB8AC3E}">
        <p14:creationId xmlns:p14="http://schemas.microsoft.com/office/powerpoint/2010/main" val="3634544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9</a:t>
            </a:fld>
            <a:endParaRPr lang="en-IE"/>
          </a:p>
        </p:txBody>
      </p:sp>
    </p:spTree>
    <p:extLst>
      <p:ext uri="{BB962C8B-B14F-4D97-AF65-F5344CB8AC3E}">
        <p14:creationId xmlns:p14="http://schemas.microsoft.com/office/powerpoint/2010/main" val="2691101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Mention here that there is a bug in processing where it (incorrectly) allows classes outside of Spot to access private fields.  This bug is there because of how Processing builds the final code before running (it puts many classes in one *.java file).  This doesn’t happen in “real” IDEs. </a:t>
            </a:r>
          </a:p>
        </p:txBody>
      </p:sp>
      <p:sp>
        <p:nvSpPr>
          <p:cNvPr id="4" name="Slide Number Placeholder 3"/>
          <p:cNvSpPr>
            <a:spLocks noGrp="1"/>
          </p:cNvSpPr>
          <p:nvPr>
            <p:ph type="sldNum" sz="quarter" idx="10"/>
          </p:nvPr>
        </p:nvSpPr>
        <p:spPr/>
        <p:txBody>
          <a:bodyPr/>
          <a:lstStyle/>
          <a:p>
            <a:fld id="{F963DB36-5273-45A5-A77C-FE9BE0779D84}" type="slidenum">
              <a:rPr lang="en-IE" smtClean="0"/>
              <a:t>21</a:t>
            </a:fld>
            <a:endParaRPr lang="en-IE"/>
          </a:p>
        </p:txBody>
      </p:sp>
    </p:spTree>
    <p:extLst>
      <p:ext uri="{BB962C8B-B14F-4D97-AF65-F5344CB8AC3E}">
        <p14:creationId xmlns:p14="http://schemas.microsoft.com/office/powerpoint/2010/main" val="407371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Objects First with Java</a:t>
            </a:r>
          </a:p>
        </p:txBody>
      </p:sp>
      <p:sp>
        <p:nvSpPr>
          <p:cNvPr id="5" name="Rectangle 6"/>
          <p:cNvSpPr>
            <a:spLocks noGrp="1" noChangeArrowheads="1"/>
          </p:cNvSpPr>
          <p:nvPr>
            <p:ph type="ftr" sz="quarter" idx="4"/>
          </p:nvPr>
        </p:nvSpPr>
        <p:spPr>
          <a:ln/>
        </p:spPr>
        <p:txBody>
          <a:bodyPr/>
          <a:lstStyle/>
          <a:p>
            <a:r>
              <a:rPr lang="en-GB"/>
              <a:t>© David J. Barnes and Michael Kölling</a:t>
            </a:r>
          </a:p>
        </p:txBody>
      </p:sp>
      <p:sp>
        <p:nvSpPr>
          <p:cNvPr id="6" name="Rectangle 7"/>
          <p:cNvSpPr>
            <a:spLocks noGrp="1" noChangeArrowheads="1"/>
          </p:cNvSpPr>
          <p:nvPr>
            <p:ph type="sldNum" sz="quarter" idx="5"/>
          </p:nvPr>
        </p:nvSpPr>
        <p:spPr>
          <a:ln/>
        </p:spPr>
        <p:txBody>
          <a:bodyPr/>
          <a:lstStyle/>
          <a:p>
            <a:fld id="{A3E85BA6-CFDF-430E-8374-ADA2BF6C5E53}" type="slidenum">
              <a:rPr lang="en-GB"/>
              <a:pPr/>
              <a:t>27</a:t>
            </a:fld>
            <a:endParaRPr lang="en-GB"/>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13292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Objects First with Java</a:t>
            </a:r>
          </a:p>
        </p:txBody>
      </p:sp>
      <p:sp>
        <p:nvSpPr>
          <p:cNvPr id="5" name="Rectangle 6"/>
          <p:cNvSpPr>
            <a:spLocks noGrp="1" noChangeArrowheads="1"/>
          </p:cNvSpPr>
          <p:nvPr>
            <p:ph type="ftr" sz="quarter" idx="4"/>
          </p:nvPr>
        </p:nvSpPr>
        <p:spPr>
          <a:ln/>
        </p:spPr>
        <p:txBody>
          <a:bodyPr/>
          <a:lstStyle/>
          <a:p>
            <a:r>
              <a:rPr lang="en-GB"/>
              <a:t>© David J. Barnes and Michael Kölling</a:t>
            </a:r>
          </a:p>
        </p:txBody>
      </p:sp>
      <p:sp>
        <p:nvSpPr>
          <p:cNvPr id="6" name="Rectangle 7"/>
          <p:cNvSpPr>
            <a:spLocks noGrp="1" noChangeArrowheads="1"/>
          </p:cNvSpPr>
          <p:nvPr>
            <p:ph type="sldNum" sz="quarter" idx="5"/>
          </p:nvPr>
        </p:nvSpPr>
        <p:spPr>
          <a:ln/>
        </p:spPr>
        <p:txBody>
          <a:bodyPr/>
          <a:lstStyle/>
          <a:p>
            <a:fld id="{EC17B96C-5BE9-455B-93AF-B6A38B95CFEB}" type="slidenum">
              <a:rPr lang="en-GB"/>
              <a:pPr/>
              <a:t>29</a:t>
            </a:fld>
            <a:endParaRPr lang="en-GB"/>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67545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userDrawn="1"/>
        </p:nvCxnSpPr>
        <p:spPr>
          <a:xfrm>
            <a:off x="457200" y="1447800"/>
            <a:ext cx="83058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457200" y="1447800"/>
            <a:ext cx="8305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userDrawn="1"/>
        </p:nvCxnSpPr>
        <p:spPr>
          <a:xfrm>
            <a:off x="457200" y="1447800"/>
            <a:ext cx="8305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userDrawn="1"/>
        </p:nvCxnSpPr>
        <p:spPr>
          <a:xfrm>
            <a:off x="457200" y="1447800"/>
            <a:ext cx="8305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7772400" cy="1143000"/>
          </a:xfrm>
        </p:spPr>
        <p:txBody>
          <a:bodyPr/>
          <a:lstStyle/>
          <a:p>
            <a:r>
              <a:rPr lang="en-US"/>
              <a:t>Click to edit Master title style</a:t>
            </a:r>
            <a:endParaRPr lang="en-IE"/>
          </a:p>
        </p:txBody>
      </p:sp>
      <p:sp>
        <p:nvSpPr>
          <p:cNvPr id="3" name="SmartArt Placeholder 2"/>
          <p:cNvSpPr>
            <a:spLocks noGrp="1"/>
          </p:cNvSpPr>
          <p:nvPr>
            <p:ph type="dgm" idx="1"/>
          </p:nvPr>
        </p:nvSpPr>
        <p:spPr>
          <a:xfrm>
            <a:off x="1219200" y="1828800"/>
            <a:ext cx="7467600" cy="4267200"/>
          </a:xfrm>
        </p:spPr>
        <p:txBody>
          <a:bodyPr/>
          <a:lstStyle/>
          <a:p>
            <a:endParaRPr lang="en-IE"/>
          </a:p>
        </p:txBody>
      </p:sp>
      <p:sp>
        <p:nvSpPr>
          <p:cNvPr id="4" name="Footer Placeholder 3"/>
          <p:cNvSpPr>
            <a:spLocks noGrp="1"/>
          </p:cNvSpPr>
          <p:nvPr>
            <p:ph type="ftr" sz="quarter" idx="10"/>
          </p:nvPr>
        </p:nvSpPr>
        <p:spPr>
          <a:xfrm>
            <a:off x="1143000" y="6426200"/>
            <a:ext cx="6934200" cy="304800"/>
          </a:xfrm>
        </p:spPr>
        <p:txBody>
          <a:bodyPr/>
          <a:lstStyle>
            <a:lvl1pPr>
              <a:defRPr/>
            </a:lvl1pPr>
          </a:lstStyle>
          <a:p>
            <a:r>
              <a:rPr lang="en-GB"/>
              <a:t>Objects First with Java - A Practical Introduction using BlueJ, © David J. Barnes, Michael Kölling</a:t>
            </a:r>
          </a:p>
        </p:txBody>
      </p:sp>
    </p:spTree>
    <p:extLst>
      <p:ext uri="{BB962C8B-B14F-4D97-AF65-F5344CB8AC3E}">
        <p14:creationId xmlns:p14="http://schemas.microsoft.com/office/powerpoint/2010/main" val="621657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hyperlink" Target="http://www.tutorialspoint.com/java/java_encapsulation.htm" TargetMode="Externa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3" Type="http://schemas.openxmlformats.org/officeDocument/2006/relationships/hyperlink" Target="http://www.tutorialspoint.com/java/java_encapsulation.htm" TargetMode="Externa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3" Type="http://schemas.openxmlformats.org/officeDocument/2006/relationships/hyperlink" Target="http://www.tutorialspoint.com/java/java_modifier_types.htm" TargetMode="Externa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2" Type="http://schemas.openxmlformats.org/officeDocument/2006/relationships/hyperlink" Target="http://www.tutorialspoint.com/java/java_modifier_types.ht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5" Type="http://schemas.openxmlformats.org/officeDocument/2006/relationships/image" Target="../media/image4.jp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www.evinw.com/w/"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hyperlink" Target="http://www.evinw.com/w/" TargetMode="External"/><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6.xml"/><Relationship Id="rId4" Type="http://schemas.openxmlformats.org/officeDocument/2006/relationships/hyperlink" Target="http://www.evinw.com/w/"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6.xml"/><Relationship Id="rId4" Type="http://schemas.openxmlformats.org/officeDocument/2006/relationships/hyperlink" Target="http://www.evinw.com/w/" TargetMode="Externa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1641" y="914400"/>
            <a:ext cx="7772400" cy="1470025"/>
          </a:xfrm>
        </p:spPr>
        <p:txBody>
          <a:bodyPr>
            <a:normAutofit/>
          </a:bodyPr>
          <a:lstStyle/>
          <a:p>
            <a:pPr algn="l"/>
            <a:r>
              <a:rPr lang="en-IE" sz="4000" dirty="0"/>
              <a:t>Validation</a:t>
            </a:r>
          </a:p>
        </p:txBody>
      </p:sp>
      <p:sp>
        <p:nvSpPr>
          <p:cNvPr id="3" name="Subtitle 2"/>
          <p:cNvSpPr>
            <a:spLocks noGrp="1"/>
          </p:cNvSpPr>
          <p:nvPr>
            <p:ph type="subTitle" idx="1"/>
          </p:nvPr>
        </p:nvSpPr>
        <p:spPr>
          <a:xfrm>
            <a:off x="114300"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641" y="5715000"/>
            <a:ext cx="3771900" cy="847725"/>
          </a:xfrm>
          <a:prstGeom prst="rect">
            <a:avLst/>
          </a:prstGeom>
        </p:spPr>
      </p:pic>
      <p:cxnSp>
        <p:nvCxnSpPr>
          <p:cNvPr id="6" name="Straight Connector 5"/>
          <p:cNvCxnSpPr/>
          <p:nvPr/>
        </p:nvCxnSpPr>
        <p:spPr>
          <a:xfrm>
            <a:off x="727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953000" y="5943600"/>
            <a:ext cx="4072758" cy="584775"/>
          </a:xfrm>
          <a:prstGeom prst="rect">
            <a:avLst/>
          </a:prstGeom>
          <a:noFill/>
        </p:spPr>
        <p:txBody>
          <a:bodyPr wrap="square" rtlCol="0">
            <a:spAutoFit/>
          </a:bodyPr>
          <a:lstStyle/>
          <a:p>
            <a:r>
              <a:rPr lang="en-IE" sz="1600" dirty="0">
                <a:solidFill>
                  <a:schemeClr val="tx2">
                    <a:lumMod val="75000"/>
                  </a:schemeClr>
                </a:solidFill>
              </a:rPr>
              <a:t>Department of Computing and Mathematics</a:t>
            </a:r>
          </a:p>
          <a:p>
            <a:r>
              <a:rPr lang="en-IE" sz="1600" dirty="0">
                <a:solidFill>
                  <a:schemeClr val="tx2">
                    <a:lumMod val="75000"/>
                  </a:schemeClr>
                </a:solidFill>
              </a:rPr>
              <a:t>http://www.wit.ie/</a:t>
            </a:r>
          </a:p>
        </p:txBody>
      </p:sp>
      <p:sp>
        <p:nvSpPr>
          <p:cNvPr id="12" name="Title 1"/>
          <p:cNvSpPr txBox="1">
            <a:spLocks/>
          </p:cNvSpPr>
          <p:nvPr/>
        </p:nvSpPr>
        <p:spPr>
          <a:xfrm>
            <a:off x="651641" y="2133600"/>
            <a:ext cx="7772400" cy="9366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a:solidFill>
                  <a:schemeClr val="tx1">
                    <a:lumMod val="50000"/>
                    <a:lumOff val="50000"/>
                  </a:schemeClr>
                </a:solidFill>
              </a:rPr>
              <a:t>Validation in constructors, setters.</a:t>
            </a:r>
          </a:p>
        </p:txBody>
      </p:sp>
      <p:sp>
        <p:nvSpPr>
          <p:cNvPr id="11" name="TextBox 10">
            <a:extLst>
              <a:ext uri="{FF2B5EF4-FFF2-40B4-BE49-F238E27FC236}">
                <a16:creationId xmlns:a16="http://schemas.microsoft.com/office/drawing/2014/main" id="{EA677B55-D426-4543-B23A-EF19035B891C}"/>
              </a:ext>
            </a:extLst>
          </p:cNvPr>
          <p:cNvSpPr txBox="1"/>
          <p:nvPr/>
        </p:nvSpPr>
        <p:spPr>
          <a:xfrm>
            <a:off x="2209800" y="3810000"/>
            <a:ext cx="358140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E" sz="2400" dirty="0">
                <a:solidFill>
                  <a:schemeClr val="tx1">
                    <a:lumMod val="75000"/>
                    <a:lumOff val="25000"/>
                  </a:schemeClr>
                </a:solidFill>
              </a:rPr>
              <a:t>Ms. Mairead Meagher</a:t>
            </a:r>
          </a:p>
          <a:p>
            <a:r>
              <a:rPr lang="en-IE" sz="2400" dirty="0" err="1">
                <a:solidFill>
                  <a:schemeClr val="tx1">
                    <a:lumMod val="75000"/>
                    <a:lumOff val="25000"/>
                  </a:schemeClr>
                </a:solidFill>
              </a:rPr>
              <a:t>Dr.</a:t>
            </a:r>
            <a:r>
              <a:rPr lang="en-IE" sz="2400" dirty="0">
                <a:solidFill>
                  <a:schemeClr val="tx1">
                    <a:lumMod val="75000"/>
                    <a:lumOff val="25000"/>
                  </a:schemeClr>
                </a:solidFill>
              </a:rPr>
              <a:t> </a:t>
            </a:r>
            <a:r>
              <a:rPr lang="en-IE" sz="2400" dirty="0" err="1">
                <a:solidFill>
                  <a:schemeClr val="tx1">
                    <a:lumMod val="75000"/>
                    <a:lumOff val="25000"/>
                  </a:schemeClr>
                </a:solidFill>
              </a:rPr>
              <a:t>Siobhán</a:t>
            </a:r>
            <a:r>
              <a:rPr lang="en-IE" sz="2400" dirty="0">
                <a:solidFill>
                  <a:schemeClr val="tx1">
                    <a:lumMod val="75000"/>
                    <a:lumOff val="25000"/>
                  </a:schemeClr>
                </a:solidFill>
              </a:rPr>
              <a:t> Drohan</a:t>
            </a:r>
          </a:p>
        </p:txBody>
      </p:sp>
    </p:spTree>
    <p:extLst>
      <p:ext uri="{BB962C8B-B14F-4D97-AF65-F5344CB8AC3E}">
        <p14:creationId xmlns:p14="http://schemas.microsoft.com/office/powerpoint/2010/main" val="110643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Topics list</a:t>
            </a:r>
          </a:p>
        </p:txBody>
      </p:sp>
      <p:sp>
        <p:nvSpPr>
          <p:cNvPr id="5" name="Content Placeholder 4"/>
          <p:cNvSpPr>
            <a:spLocks noGrp="1"/>
          </p:cNvSpPr>
          <p:nvPr>
            <p:ph idx="1"/>
          </p:nvPr>
        </p:nvSpPr>
        <p:spPr>
          <a:xfrm>
            <a:off x="457200" y="1600200"/>
            <a:ext cx="8382000" cy="4525963"/>
          </a:xfrm>
        </p:spPr>
        <p:txBody>
          <a:bodyPr>
            <a:normAutofit/>
          </a:bodyPr>
          <a:lstStyle/>
          <a:p>
            <a:pPr marL="742950" indent="-742950">
              <a:buFont typeface="+mj-lt"/>
              <a:buAutoNum type="arabicPeriod"/>
            </a:pPr>
            <a:r>
              <a:rPr lang="en-IE" sz="3600" dirty="0"/>
              <a:t>Recap: Version 6.1</a:t>
            </a:r>
          </a:p>
          <a:p>
            <a:pPr marL="742950" indent="-742950">
              <a:buFont typeface="+mj-lt"/>
              <a:buAutoNum type="arabicPeriod"/>
            </a:pPr>
            <a:r>
              <a:rPr lang="en-IE" sz="3600" dirty="0"/>
              <a:t>Our design smells!</a:t>
            </a:r>
          </a:p>
          <a:p>
            <a:pPr marL="742950" indent="-742950">
              <a:buFont typeface="+mj-lt"/>
              <a:buAutoNum type="arabicPeriod"/>
            </a:pPr>
            <a:r>
              <a:rPr lang="en-IE" sz="3600" b="1" dirty="0"/>
              <a:t>Encapsulation</a:t>
            </a:r>
          </a:p>
          <a:p>
            <a:pPr marL="742950" indent="-742950">
              <a:buFont typeface="+mj-lt"/>
              <a:buAutoNum type="arabicPeriod"/>
            </a:pPr>
            <a:r>
              <a:rPr lang="en-IE" sz="3600" dirty="0"/>
              <a:t>Refactoring Spot:</a:t>
            </a:r>
          </a:p>
          <a:p>
            <a:pPr lvl="1"/>
            <a:r>
              <a:rPr lang="en-IE" b="1" dirty="0"/>
              <a:t>Access Modifiers</a:t>
            </a:r>
          </a:p>
          <a:p>
            <a:pPr lvl="1"/>
            <a:r>
              <a:rPr lang="en-IE" b="1" dirty="0"/>
              <a:t>Accessors and </a:t>
            </a:r>
            <a:r>
              <a:rPr lang="en-IE" b="1" dirty="0" err="1"/>
              <a:t>Mutators</a:t>
            </a:r>
            <a:endParaRPr lang="en-IE" b="1" dirty="0"/>
          </a:p>
          <a:p>
            <a:pPr lvl="1"/>
            <a:r>
              <a:rPr lang="en-IE" b="1" dirty="0"/>
              <a:t>Validation</a:t>
            </a:r>
          </a:p>
        </p:txBody>
      </p:sp>
      <p:sp>
        <p:nvSpPr>
          <p:cNvPr id="7" name="Rectangle 6"/>
          <p:cNvSpPr/>
          <p:nvPr/>
        </p:nvSpPr>
        <p:spPr>
          <a:xfrm>
            <a:off x="457200" y="1600200"/>
            <a:ext cx="8382000" cy="5334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custDataLst>
      <p:tags r:id="rId1"/>
    </p:custDataLst>
    <p:extLst>
      <p:ext uri="{BB962C8B-B14F-4D97-AF65-F5344CB8AC3E}">
        <p14:creationId xmlns:p14="http://schemas.microsoft.com/office/powerpoint/2010/main" val="126020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sz="3600" dirty="0"/>
              <a:t>Class Diagram for Spot Version 2</a:t>
            </a:r>
          </a:p>
        </p:txBody>
      </p:sp>
      <p:graphicFrame>
        <p:nvGraphicFramePr>
          <p:cNvPr id="7" name="Content Placeholder 5"/>
          <p:cNvGraphicFramePr>
            <a:graphicFrameLocks/>
          </p:cNvGraphicFramePr>
          <p:nvPr/>
        </p:nvGraphicFramePr>
        <p:xfrm>
          <a:off x="3581400" y="1578686"/>
          <a:ext cx="4876800" cy="5279314"/>
        </p:xfrm>
        <a:graphic>
          <a:graphicData uri="http://schemas.openxmlformats.org/drawingml/2006/table">
            <a:tbl>
              <a:tblPr firstRow="1" bandRow="1">
                <a:tableStyleId>{5940675A-B579-460E-94D1-54222C63F5DA}</a:tableStyleId>
              </a:tblPr>
              <a:tblGrid>
                <a:gridCol w="4876800">
                  <a:extLst>
                    <a:ext uri="{9D8B030D-6E8A-4147-A177-3AD203B41FA5}">
                      <a16:colId xmlns:a16="http://schemas.microsoft.com/office/drawing/2014/main" val="20000"/>
                    </a:ext>
                  </a:extLst>
                </a:gridCol>
              </a:tblGrid>
              <a:tr h="524434">
                <a:tc>
                  <a:txBody>
                    <a:bodyPr/>
                    <a:lstStyle/>
                    <a:p>
                      <a:pPr algn="ctr"/>
                      <a:r>
                        <a:rPr lang="en-IE" sz="2000" b="1" i="1" dirty="0"/>
                        <a:t>Spot</a:t>
                      </a:r>
                    </a:p>
                  </a:txBody>
                  <a:tcPr>
                    <a:solidFill>
                      <a:schemeClr val="bg2"/>
                    </a:solidFill>
                  </a:tcPr>
                </a:tc>
                <a:extLst>
                  <a:ext uri="{0D108BD9-81ED-4DB2-BD59-A6C34878D82A}">
                    <a16:rowId xmlns:a16="http://schemas.microsoft.com/office/drawing/2014/main" val="10000"/>
                  </a:ext>
                </a:extLst>
              </a:tr>
              <a:tr h="1407692">
                <a:tc>
                  <a:txBody>
                    <a:bodyPr/>
                    <a:lstStyle/>
                    <a:p>
                      <a:r>
                        <a:rPr lang="en-IE" sz="2000" i="1" dirty="0" err="1"/>
                        <a:t>xCoord</a:t>
                      </a:r>
                      <a:endParaRPr lang="en-IE" sz="2000" i="1" dirty="0"/>
                    </a:p>
                    <a:p>
                      <a:r>
                        <a:rPr lang="en-IE" sz="2000" i="1" dirty="0" err="1"/>
                        <a:t>yCoord</a:t>
                      </a:r>
                      <a:endParaRPr lang="en-IE" sz="2000" i="1" dirty="0"/>
                    </a:p>
                    <a:p>
                      <a:r>
                        <a:rPr lang="en-IE" sz="2000" i="1" dirty="0"/>
                        <a:t>diameter</a:t>
                      </a:r>
                    </a:p>
                    <a:p>
                      <a:r>
                        <a:rPr lang="en-IE" sz="2000" i="1" dirty="0"/>
                        <a:t>red</a:t>
                      </a:r>
                    </a:p>
                    <a:p>
                      <a:r>
                        <a:rPr lang="en-IE" sz="2000" i="1" dirty="0"/>
                        <a:t>green</a:t>
                      </a:r>
                    </a:p>
                    <a:p>
                      <a:r>
                        <a:rPr lang="en-IE" sz="2000" i="1" dirty="0"/>
                        <a:t>blue</a:t>
                      </a:r>
                    </a:p>
                    <a:p>
                      <a:r>
                        <a:rPr lang="en-IE" sz="2000" i="1" dirty="0" err="1"/>
                        <a:t>gray</a:t>
                      </a:r>
                      <a:endParaRPr lang="en-IE" sz="2000" i="1" dirty="0"/>
                    </a:p>
                  </a:txBody>
                  <a:tcPr>
                    <a:solidFill>
                      <a:schemeClr val="bg2"/>
                    </a:solidFill>
                  </a:tcPr>
                </a:tc>
                <a:extLst>
                  <a:ext uri="{0D108BD9-81ED-4DB2-BD59-A6C34878D82A}">
                    <a16:rowId xmlns:a16="http://schemas.microsoft.com/office/drawing/2014/main" val="10001"/>
                  </a:ext>
                </a:extLst>
              </a:tr>
              <a:tr h="1250944">
                <a:tc>
                  <a:txBody>
                    <a:bodyPr/>
                    <a:lstStyle/>
                    <a:p>
                      <a:r>
                        <a:rPr lang="en-IE" sz="2000" i="1" dirty="0"/>
                        <a:t>Spot()</a:t>
                      </a:r>
                    </a:p>
                    <a:p>
                      <a:r>
                        <a:rPr lang="en-IE" sz="2000" i="1" dirty="0"/>
                        <a:t>Spot</a:t>
                      </a:r>
                      <a:r>
                        <a:rPr lang="en-IE" sz="2000" i="1" baseline="0" dirty="0"/>
                        <a:t>(float, float, float)</a:t>
                      </a:r>
                    </a:p>
                    <a:p>
                      <a:r>
                        <a:rPr lang="en-IE" sz="2000" i="1" baseline="0" dirty="0"/>
                        <a:t>Spot(float, float, float, </a:t>
                      </a:r>
                      <a:r>
                        <a:rPr lang="en-IE" sz="2000" i="1" baseline="0" dirty="0" err="1"/>
                        <a:t>int</a:t>
                      </a:r>
                      <a:r>
                        <a:rPr lang="en-IE" sz="2000" i="1"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IE" sz="2000" i="1" baseline="0" dirty="0"/>
                        <a:t>Spot(float, float, float, </a:t>
                      </a:r>
                      <a:r>
                        <a:rPr lang="en-IE" sz="2000" i="1" baseline="0" dirty="0" err="1"/>
                        <a:t>int</a:t>
                      </a:r>
                      <a:r>
                        <a:rPr lang="en-IE" sz="2000" i="1" baseline="0" dirty="0"/>
                        <a:t>, </a:t>
                      </a:r>
                      <a:r>
                        <a:rPr lang="en-IE" sz="2000" i="1" baseline="0" dirty="0" err="1"/>
                        <a:t>int</a:t>
                      </a:r>
                      <a:r>
                        <a:rPr lang="en-IE" sz="2000" i="1" baseline="0" dirty="0"/>
                        <a:t>, </a:t>
                      </a:r>
                      <a:r>
                        <a:rPr lang="en-IE" sz="2000" i="1" baseline="0" dirty="0" err="1"/>
                        <a:t>int</a:t>
                      </a:r>
                      <a:r>
                        <a:rPr lang="en-IE" sz="2000" i="1" baseline="0" dirty="0"/>
                        <a:t>)</a:t>
                      </a:r>
                    </a:p>
                    <a:p>
                      <a:r>
                        <a:rPr lang="en-IE" sz="2000" i="1" baseline="0" dirty="0"/>
                        <a:t>display()</a:t>
                      </a:r>
                    </a:p>
                    <a:p>
                      <a:r>
                        <a:rPr lang="en-IE" sz="2000" i="1" baseline="0" dirty="0"/>
                        <a:t>colour(</a:t>
                      </a:r>
                      <a:r>
                        <a:rPr lang="en-IE" sz="2000" i="1" baseline="0" dirty="0" err="1"/>
                        <a:t>int</a:t>
                      </a:r>
                      <a:r>
                        <a:rPr lang="en-IE" sz="2000" i="1" baseline="0" dirty="0"/>
                        <a:t>, </a:t>
                      </a:r>
                      <a:r>
                        <a:rPr lang="en-IE" sz="2000" i="1" baseline="0" dirty="0" err="1"/>
                        <a:t>int</a:t>
                      </a:r>
                      <a:r>
                        <a:rPr lang="en-IE" sz="2000" i="1" baseline="0" dirty="0"/>
                        <a:t>, </a:t>
                      </a:r>
                      <a:r>
                        <a:rPr lang="en-IE" sz="2000" i="1" baseline="0" dirty="0" err="1"/>
                        <a:t>int</a:t>
                      </a:r>
                      <a:r>
                        <a:rPr lang="en-IE" sz="2000" i="1" baseline="0" dirty="0"/>
                        <a:t>)</a:t>
                      </a:r>
                    </a:p>
                    <a:p>
                      <a:r>
                        <a:rPr lang="en-IE" sz="2000" i="1" baseline="0" dirty="0"/>
                        <a:t>colour(</a:t>
                      </a:r>
                      <a:r>
                        <a:rPr lang="en-IE" sz="2000" i="1" baseline="0" dirty="0" err="1"/>
                        <a:t>int</a:t>
                      </a:r>
                      <a:r>
                        <a:rPr lang="en-IE" sz="2000" i="1" baseline="0" dirty="0"/>
                        <a:t>)</a:t>
                      </a:r>
                    </a:p>
                    <a:p>
                      <a:r>
                        <a:rPr lang="en-IE" sz="2000" i="1" baseline="0" dirty="0"/>
                        <a:t>move(float, float)</a:t>
                      </a:r>
                      <a:endParaRPr lang="en-IE" sz="2000" i="1" dirty="0"/>
                    </a:p>
                  </a:txBody>
                  <a:tcPr>
                    <a:solidFill>
                      <a:schemeClr val="bg2"/>
                    </a:solidFill>
                  </a:tcPr>
                </a:tc>
                <a:extLst>
                  <a:ext uri="{0D108BD9-81ED-4DB2-BD59-A6C34878D82A}">
                    <a16:rowId xmlns:a16="http://schemas.microsoft.com/office/drawing/2014/main" val="10002"/>
                  </a:ext>
                </a:extLst>
              </a:tr>
            </a:tbl>
          </a:graphicData>
        </a:graphic>
      </p:graphicFrame>
      <p:sp>
        <p:nvSpPr>
          <p:cNvPr id="4" name="TextBox 3">
            <a:extLst>
              <a:ext uri="{FF2B5EF4-FFF2-40B4-BE49-F238E27FC236}">
                <a16:creationId xmlns:a16="http://schemas.microsoft.com/office/drawing/2014/main" id="{AF55B6CE-98BC-4863-A435-E8D7EA6BEC92}"/>
              </a:ext>
            </a:extLst>
          </p:cNvPr>
          <p:cNvSpPr txBox="1"/>
          <p:nvPr/>
        </p:nvSpPr>
        <p:spPr>
          <a:xfrm>
            <a:off x="228600" y="1502486"/>
            <a:ext cx="22098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E" sz="2400" b="1" dirty="0"/>
              <a:t>Object</a:t>
            </a:r>
            <a:r>
              <a:rPr lang="en-IE" sz="2400" dirty="0"/>
              <a:t> Type/ </a:t>
            </a:r>
            <a:r>
              <a:rPr lang="en-IE" sz="2400" b="1" dirty="0"/>
              <a:t>Class</a:t>
            </a:r>
            <a:r>
              <a:rPr lang="en-IE" sz="2400" dirty="0"/>
              <a:t> Name</a:t>
            </a:r>
          </a:p>
        </p:txBody>
      </p:sp>
      <p:cxnSp>
        <p:nvCxnSpPr>
          <p:cNvPr id="5" name="Straight Arrow Connector 4">
            <a:extLst>
              <a:ext uri="{FF2B5EF4-FFF2-40B4-BE49-F238E27FC236}">
                <a16:creationId xmlns:a16="http://schemas.microsoft.com/office/drawing/2014/main" id="{4B579DCA-FE64-4FC1-AAA9-ADDA0D7F2487}"/>
              </a:ext>
            </a:extLst>
          </p:cNvPr>
          <p:cNvCxnSpPr>
            <a:cxnSpLocks/>
            <a:stCxn id="4" idx="3"/>
          </p:cNvCxnSpPr>
          <p:nvPr/>
        </p:nvCxnSpPr>
        <p:spPr>
          <a:xfrm>
            <a:off x="2438400" y="1917985"/>
            <a:ext cx="11430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B058B3F-4693-4F5F-8CA0-902626A3E2B9}"/>
              </a:ext>
            </a:extLst>
          </p:cNvPr>
          <p:cNvSpPr txBox="1"/>
          <p:nvPr/>
        </p:nvSpPr>
        <p:spPr>
          <a:xfrm>
            <a:off x="228600" y="2674203"/>
            <a:ext cx="28956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Fields</a:t>
            </a:r>
            <a:r>
              <a:rPr lang="en-IE" sz="2400" dirty="0"/>
              <a:t> i.e. the attributes of the class</a:t>
            </a:r>
          </a:p>
        </p:txBody>
      </p:sp>
      <p:cxnSp>
        <p:nvCxnSpPr>
          <p:cNvPr id="8" name="Straight Arrow Connector 7">
            <a:extLst>
              <a:ext uri="{FF2B5EF4-FFF2-40B4-BE49-F238E27FC236}">
                <a16:creationId xmlns:a16="http://schemas.microsoft.com/office/drawing/2014/main" id="{093F8315-FEA9-4B50-997B-D6EF5C737DC6}"/>
              </a:ext>
            </a:extLst>
          </p:cNvPr>
          <p:cNvCxnSpPr>
            <a:stCxn id="6" idx="3"/>
          </p:cNvCxnSpPr>
          <p:nvPr/>
        </p:nvCxnSpPr>
        <p:spPr>
          <a:xfrm>
            <a:off x="3124200" y="3089702"/>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A28F948-94CE-4F6C-A8F5-087C6D29DD24}"/>
              </a:ext>
            </a:extLst>
          </p:cNvPr>
          <p:cNvSpPr txBox="1"/>
          <p:nvPr/>
        </p:nvSpPr>
        <p:spPr>
          <a:xfrm>
            <a:off x="228600" y="4895671"/>
            <a:ext cx="289560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Methods</a:t>
            </a:r>
            <a:r>
              <a:rPr lang="en-IE" sz="2400" dirty="0"/>
              <a:t> </a:t>
            </a:r>
            <a:br>
              <a:rPr lang="en-IE" sz="2400" dirty="0"/>
            </a:br>
            <a:r>
              <a:rPr lang="en-IE" sz="2400" dirty="0"/>
              <a:t>i.e. the behaviours of the class</a:t>
            </a:r>
          </a:p>
        </p:txBody>
      </p:sp>
      <p:cxnSp>
        <p:nvCxnSpPr>
          <p:cNvPr id="10" name="Straight Arrow Connector 9">
            <a:extLst>
              <a:ext uri="{FF2B5EF4-FFF2-40B4-BE49-F238E27FC236}">
                <a16:creationId xmlns:a16="http://schemas.microsoft.com/office/drawing/2014/main" id="{E3DCA351-751B-4056-BA38-710740788F73}"/>
              </a:ext>
            </a:extLst>
          </p:cNvPr>
          <p:cNvCxnSpPr>
            <a:stCxn id="9" idx="3"/>
          </p:cNvCxnSpPr>
          <p:nvPr/>
        </p:nvCxnSpPr>
        <p:spPr>
          <a:xfrm flipV="1">
            <a:off x="3124200" y="5495835"/>
            <a:ext cx="457200"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Right Bracket 11"/>
          <p:cNvSpPr/>
          <p:nvPr/>
        </p:nvSpPr>
        <p:spPr>
          <a:xfrm>
            <a:off x="7095893" y="4369369"/>
            <a:ext cx="152400" cy="1219200"/>
          </a:xfrm>
          <a:prstGeom prst="rightBracket">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ight Bracket 12"/>
          <p:cNvSpPr/>
          <p:nvPr/>
        </p:nvSpPr>
        <p:spPr>
          <a:xfrm>
            <a:off x="5486400" y="5943600"/>
            <a:ext cx="152400" cy="533400"/>
          </a:xfrm>
          <a:prstGeom prst="rightBracket">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TextBox 13">
            <a:extLst>
              <a:ext uri="{FF2B5EF4-FFF2-40B4-BE49-F238E27FC236}">
                <a16:creationId xmlns:a16="http://schemas.microsoft.com/office/drawing/2014/main" id="{1A28F948-94CE-4F6C-A8F5-087C6D29DD24}"/>
              </a:ext>
            </a:extLst>
          </p:cNvPr>
          <p:cNvSpPr txBox="1"/>
          <p:nvPr/>
        </p:nvSpPr>
        <p:spPr>
          <a:xfrm>
            <a:off x="7386754" y="4563470"/>
            <a:ext cx="16764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a:t>Overloaded Constructor</a:t>
            </a:r>
            <a:endParaRPr lang="en-IE" sz="2400" dirty="0"/>
          </a:p>
        </p:txBody>
      </p:sp>
      <p:sp>
        <p:nvSpPr>
          <p:cNvPr id="15" name="TextBox 14">
            <a:extLst>
              <a:ext uri="{FF2B5EF4-FFF2-40B4-BE49-F238E27FC236}">
                <a16:creationId xmlns:a16="http://schemas.microsoft.com/office/drawing/2014/main" id="{1A28F948-94CE-4F6C-A8F5-087C6D29DD24}"/>
              </a:ext>
            </a:extLst>
          </p:cNvPr>
          <p:cNvSpPr txBox="1"/>
          <p:nvPr/>
        </p:nvSpPr>
        <p:spPr>
          <a:xfrm>
            <a:off x="7239000" y="5794801"/>
            <a:ext cx="16764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Overloaded Methods</a:t>
            </a:r>
            <a:endParaRPr lang="en-IE" sz="2400" dirty="0"/>
          </a:p>
        </p:txBody>
      </p:sp>
      <p:cxnSp>
        <p:nvCxnSpPr>
          <p:cNvPr id="16" name="Straight Arrow Connector 15">
            <a:extLst>
              <a:ext uri="{FF2B5EF4-FFF2-40B4-BE49-F238E27FC236}">
                <a16:creationId xmlns:a16="http://schemas.microsoft.com/office/drawing/2014/main" id="{E3DCA351-751B-4056-BA38-710740788F73}"/>
              </a:ext>
            </a:extLst>
          </p:cNvPr>
          <p:cNvCxnSpPr/>
          <p:nvPr/>
        </p:nvCxnSpPr>
        <p:spPr>
          <a:xfrm flipH="1" flipV="1">
            <a:off x="5638800" y="6210299"/>
            <a:ext cx="1533294"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0911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a:t>
            </a:r>
            <a:br>
              <a:rPr lang="en-IE" dirty="0"/>
            </a:br>
            <a:r>
              <a:rPr lang="en-IE" dirty="0"/>
              <a:t>– Version 2</a:t>
            </a:r>
          </a:p>
        </p:txBody>
      </p:sp>
      <p:sp>
        <p:nvSpPr>
          <p:cNvPr id="6" name="Rectangle 5"/>
          <p:cNvSpPr/>
          <p:nvPr/>
        </p:nvSpPr>
        <p:spPr>
          <a:xfrm>
            <a:off x="3581400" y="6581001"/>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3" name="Rectangle 2"/>
          <p:cNvSpPr/>
          <p:nvPr/>
        </p:nvSpPr>
        <p:spPr>
          <a:xfrm>
            <a:off x="3581400" y="152400"/>
            <a:ext cx="5334000" cy="624786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b="1" dirty="0"/>
              <a:t>class</a:t>
            </a:r>
            <a:r>
              <a:rPr lang="en-IE" sz="2000" dirty="0"/>
              <a:t>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Spot()</a:t>
            </a:r>
          </a:p>
          <a:p>
            <a:r>
              <a:rPr lang="en-IE" sz="2000" dirty="0"/>
              <a:t>  {</a:t>
            </a:r>
          </a:p>
          <a:p>
            <a:r>
              <a:rPr lang="en-IE" sz="2000" dirty="0"/>
              <a:t>  }</a:t>
            </a:r>
          </a:p>
          <a:p>
            <a:r>
              <a:rPr lang="en-IE" sz="2000" dirty="0"/>
              <a:t>  </a:t>
            </a:r>
          </a:p>
          <a:p>
            <a:r>
              <a:rPr lang="en-IE" sz="2000" dirty="0"/>
              <a:t> Spot (float </a:t>
            </a:r>
            <a:r>
              <a:rPr lang="en-IE" sz="2000" dirty="0" err="1"/>
              <a:t>xCoord</a:t>
            </a:r>
            <a:r>
              <a:rPr lang="en-IE" sz="2000" dirty="0"/>
              <a:t>, float </a:t>
            </a:r>
            <a:r>
              <a:rPr lang="en-IE" sz="2000" dirty="0" err="1"/>
              <a:t>yCoord</a:t>
            </a:r>
            <a:r>
              <a:rPr lang="en-IE" sz="2000" dirty="0"/>
              <a:t>, float diameter)</a:t>
            </a:r>
          </a:p>
          <a:p>
            <a:r>
              <a:rPr lang="en-IE" sz="2000" dirty="0"/>
              <a:t> {</a:t>
            </a:r>
          </a:p>
          <a:p>
            <a:r>
              <a:rPr lang="en-IE" sz="2000" dirty="0"/>
              <a:t>    </a:t>
            </a:r>
            <a:r>
              <a:rPr lang="en-IE" sz="2000" dirty="0" err="1"/>
              <a:t>this.xCoord</a:t>
            </a:r>
            <a:r>
              <a:rPr lang="en-IE" sz="2000" dirty="0"/>
              <a:t> = </a:t>
            </a:r>
            <a:r>
              <a:rPr lang="en-IE" sz="2000" dirty="0" err="1"/>
              <a:t>xCoord</a:t>
            </a:r>
            <a:r>
              <a:rPr lang="en-IE" sz="2000" dirty="0"/>
              <a:t>;</a:t>
            </a:r>
          </a:p>
          <a:p>
            <a:r>
              <a:rPr lang="en-IE" sz="2000" dirty="0"/>
              <a:t>    </a:t>
            </a:r>
            <a:r>
              <a:rPr lang="en-IE" sz="2000" dirty="0" err="1"/>
              <a:t>this.yCoord</a:t>
            </a:r>
            <a:r>
              <a:rPr lang="en-IE" sz="2000" dirty="0"/>
              <a:t> = </a:t>
            </a:r>
            <a:r>
              <a:rPr lang="en-IE" sz="2000" dirty="0" err="1"/>
              <a:t>yCoord</a:t>
            </a:r>
            <a:r>
              <a:rPr lang="en-IE" sz="2000" dirty="0"/>
              <a:t>;</a:t>
            </a:r>
          </a:p>
          <a:p>
            <a:r>
              <a:rPr lang="en-IE" sz="2000" dirty="0"/>
              <a:t>    </a:t>
            </a:r>
            <a:r>
              <a:rPr lang="en-IE" sz="2000" dirty="0" err="1"/>
              <a:t>this.diameter</a:t>
            </a:r>
            <a:r>
              <a:rPr lang="en-IE" sz="2000" dirty="0"/>
              <a:t> = diameter;</a:t>
            </a:r>
          </a:p>
          <a:p>
            <a:r>
              <a:rPr lang="en-IE" sz="2000" dirty="0"/>
              <a:t>  }</a:t>
            </a:r>
          </a:p>
          <a:p>
            <a:endParaRPr lang="en-IE" sz="2000" dirty="0">
              <a:solidFill>
                <a:schemeClr val="bg1">
                  <a:lumMod val="50000"/>
                </a:schemeClr>
              </a:solidFill>
            </a:endParaRPr>
          </a:p>
          <a:p>
            <a:r>
              <a:rPr lang="en-IE" sz="2000" b="1" dirty="0">
                <a:solidFill>
                  <a:srgbClr val="FF0000"/>
                </a:solidFill>
              </a:rPr>
              <a:t>  </a:t>
            </a:r>
            <a:r>
              <a:rPr lang="en-IE" sz="2000" dirty="0">
                <a:solidFill>
                  <a:schemeClr val="bg1">
                    <a:lumMod val="50000"/>
                  </a:schemeClr>
                </a:solidFill>
              </a:rPr>
              <a:t>// colour methods…</a:t>
            </a:r>
          </a:p>
          <a:p>
            <a:r>
              <a:rPr lang="en-IE" sz="2000" dirty="0">
                <a:solidFill>
                  <a:schemeClr val="bg1">
                    <a:lumMod val="50000"/>
                  </a:schemeClr>
                </a:solidFill>
              </a:rPr>
              <a:t>  // display method…</a:t>
            </a:r>
          </a:p>
          <a:p>
            <a:r>
              <a:rPr lang="en-IE" sz="2000" dirty="0">
                <a:solidFill>
                  <a:schemeClr val="bg1">
                    <a:lumMod val="50000"/>
                  </a:schemeClr>
                </a:solidFill>
              </a:rPr>
              <a:t>  // move method…</a:t>
            </a:r>
            <a:endParaRPr lang="en-IE" sz="2000" dirty="0"/>
          </a:p>
          <a:p>
            <a:r>
              <a:rPr lang="en-IE" sz="2000" dirty="0"/>
              <a:t>}</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294" t="14757" r="75087" b="69684"/>
          <a:stretch/>
        </p:blipFill>
        <p:spPr bwMode="auto">
          <a:xfrm>
            <a:off x="1219200" y="2625638"/>
            <a:ext cx="1295400" cy="165334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564325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a:t>
            </a:r>
            <a:br>
              <a:rPr lang="en-IE" dirty="0"/>
            </a:br>
            <a:r>
              <a:rPr lang="en-IE" dirty="0"/>
              <a:t>– Version 2</a:t>
            </a:r>
          </a:p>
        </p:txBody>
      </p:sp>
      <p:sp>
        <p:nvSpPr>
          <p:cNvPr id="6" name="Rectangle 5"/>
          <p:cNvSpPr/>
          <p:nvPr/>
        </p:nvSpPr>
        <p:spPr>
          <a:xfrm>
            <a:off x="3581400" y="6581001"/>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3" name="Rectangle 2"/>
          <p:cNvSpPr/>
          <p:nvPr/>
        </p:nvSpPr>
        <p:spPr>
          <a:xfrm>
            <a:off x="3352800" y="152400"/>
            <a:ext cx="5562600" cy="655564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b="1" dirty="0"/>
              <a:t>class</a:t>
            </a:r>
            <a:r>
              <a:rPr lang="en-IE" sz="2000" dirty="0"/>
              <a:t> Spot{</a:t>
            </a:r>
          </a:p>
          <a:p>
            <a:r>
              <a:rPr lang="en-IE" sz="2000" dirty="0">
                <a:solidFill>
                  <a:schemeClr val="bg1">
                    <a:lumMod val="50000"/>
                  </a:schemeClr>
                </a:solidFill>
              </a:rPr>
              <a:t>// fields and constructors…</a:t>
            </a:r>
          </a:p>
          <a:p>
            <a:endParaRPr lang="en-IE" sz="2000" dirty="0"/>
          </a:p>
          <a:p>
            <a:r>
              <a:rPr lang="en-IE" sz="2000" dirty="0"/>
              <a:t> void display ()</a:t>
            </a:r>
          </a:p>
          <a:p>
            <a:r>
              <a:rPr lang="en-IE" sz="2000" dirty="0"/>
              <a:t>  {</a:t>
            </a:r>
          </a:p>
          <a:p>
            <a:r>
              <a:rPr lang="en-IE" sz="2000" dirty="0"/>
              <a:t>    ellipse(</a:t>
            </a:r>
            <a:r>
              <a:rPr lang="en-IE" sz="2000" dirty="0" err="1"/>
              <a:t>xCoord</a:t>
            </a:r>
            <a:r>
              <a:rPr lang="en-IE" sz="2000" dirty="0"/>
              <a:t>, </a:t>
            </a:r>
            <a:r>
              <a:rPr lang="en-IE" sz="2000" dirty="0" err="1"/>
              <a:t>yCoord</a:t>
            </a:r>
            <a:r>
              <a:rPr lang="en-IE" sz="2000" dirty="0"/>
              <a:t>, diameter, diameter);</a:t>
            </a:r>
          </a:p>
          <a:p>
            <a:r>
              <a:rPr lang="en-IE" sz="2000" dirty="0"/>
              <a:t>  }</a:t>
            </a:r>
          </a:p>
          <a:p>
            <a:r>
              <a:rPr lang="en-IE" sz="2000" dirty="0"/>
              <a:t>  </a:t>
            </a:r>
          </a:p>
          <a:p>
            <a:r>
              <a:rPr lang="en-IE" sz="2000" dirty="0"/>
              <a:t> void colour (</a:t>
            </a:r>
            <a:r>
              <a:rPr lang="en-IE" sz="2000" dirty="0" err="1"/>
              <a:t>int</a:t>
            </a:r>
            <a:r>
              <a:rPr lang="en-IE" sz="2000" dirty="0"/>
              <a:t> red, </a:t>
            </a:r>
            <a:r>
              <a:rPr lang="en-IE" sz="2000" dirty="0" err="1"/>
              <a:t>int</a:t>
            </a:r>
            <a:r>
              <a:rPr lang="en-IE" sz="2000" dirty="0"/>
              <a:t> green, </a:t>
            </a:r>
            <a:r>
              <a:rPr lang="en-IE" sz="2000" dirty="0" err="1"/>
              <a:t>int</a:t>
            </a:r>
            <a:r>
              <a:rPr lang="en-IE" sz="2000" dirty="0"/>
              <a:t> blue)</a:t>
            </a:r>
          </a:p>
          <a:p>
            <a:r>
              <a:rPr lang="en-IE" sz="2000" dirty="0"/>
              <a:t>  {</a:t>
            </a:r>
          </a:p>
          <a:p>
            <a:r>
              <a:rPr lang="en-IE" sz="2000" dirty="0"/>
              <a:t>    </a:t>
            </a:r>
            <a:r>
              <a:rPr lang="en-IE" sz="2000" dirty="0" err="1"/>
              <a:t>this.red</a:t>
            </a:r>
            <a:r>
              <a:rPr lang="en-IE" sz="2000" dirty="0"/>
              <a:t> = red;</a:t>
            </a:r>
          </a:p>
          <a:p>
            <a:r>
              <a:rPr lang="en-IE" sz="2000" dirty="0"/>
              <a:t>    </a:t>
            </a:r>
            <a:r>
              <a:rPr lang="en-IE" sz="2000" dirty="0" err="1"/>
              <a:t>this.green</a:t>
            </a:r>
            <a:r>
              <a:rPr lang="en-IE" sz="2000" dirty="0"/>
              <a:t> = green;</a:t>
            </a:r>
          </a:p>
          <a:p>
            <a:r>
              <a:rPr lang="en-IE" sz="2000" dirty="0"/>
              <a:t>    </a:t>
            </a:r>
            <a:r>
              <a:rPr lang="en-IE" sz="2000" dirty="0" err="1"/>
              <a:t>this.blue</a:t>
            </a:r>
            <a:r>
              <a:rPr lang="en-IE" sz="2000" dirty="0"/>
              <a:t> = blue;</a:t>
            </a:r>
          </a:p>
          <a:p>
            <a:r>
              <a:rPr lang="en-IE" sz="2000" dirty="0"/>
              <a:t>    fill (red, green, blue);</a:t>
            </a:r>
          </a:p>
          <a:p>
            <a:r>
              <a:rPr lang="en-IE" sz="2000" dirty="0"/>
              <a:t>  }</a:t>
            </a:r>
          </a:p>
          <a:p>
            <a:endParaRPr lang="en-IE" sz="2000" dirty="0"/>
          </a:p>
          <a:p>
            <a:r>
              <a:rPr lang="en-IE" sz="2000" dirty="0"/>
              <a:t>  void colour (</a:t>
            </a:r>
            <a:r>
              <a:rPr lang="en-IE" sz="2000" dirty="0" err="1"/>
              <a:t>int</a:t>
            </a:r>
            <a:r>
              <a:rPr lang="en-IE" sz="2000" dirty="0"/>
              <a:t> </a:t>
            </a:r>
            <a:r>
              <a:rPr lang="en-IE" sz="2000" dirty="0" err="1"/>
              <a:t>gray</a:t>
            </a:r>
            <a:r>
              <a:rPr lang="en-IE" sz="2000" dirty="0"/>
              <a:t>){</a:t>
            </a:r>
          </a:p>
          <a:p>
            <a:r>
              <a:rPr lang="en-IE" sz="2000" dirty="0"/>
              <a:t>    </a:t>
            </a:r>
            <a:r>
              <a:rPr lang="en-IE" sz="2000" dirty="0" err="1"/>
              <a:t>this.gray</a:t>
            </a:r>
            <a:r>
              <a:rPr lang="en-IE" sz="2000" dirty="0"/>
              <a:t> = </a:t>
            </a:r>
            <a:r>
              <a:rPr lang="en-IE" sz="2000" dirty="0" err="1"/>
              <a:t>gray</a:t>
            </a:r>
            <a:r>
              <a:rPr lang="en-IE" sz="2000" dirty="0"/>
              <a:t>;</a:t>
            </a:r>
          </a:p>
          <a:p>
            <a:r>
              <a:rPr lang="en-IE" sz="2000" dirty="0"/>
              <a:t>    fill (</a:t>
            </a:r>
            <a:r>
              <a:rPr lang="en-IE" sz="2000" dirty="0" err="1"/>
              <a:t>this.gray</a:t>
            </a:r>
            <a:r>
              <a:rPr lang="en-IE" sz="2000" dirty="0"/>
              <a:t>);</a:t>
            </a:r>
          </a:p>
          <a:p>
            <a:r>
              <a:rPr lang="en-IE" sz="2000" dirty="0"/>
              <a:t>  }</a:t>
            </a:r>
          </a:p>
          <a:p>
            <a:r>
              <a:rPr lang="en-IE" sz="2000" dirty="0"/>
              <a:t>}</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294" t="14757" r="75087" b="69684"/>
          <a:stretch/>
        </p:blipFill>
        <p:spPr bwMode="auto">
          <a:xfrm>
            <a:off x="1219200" y="2625638"/>
            <a:ext cx="1405578" cy="179396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298335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 </a:t>
            </a:r>
            <a:br>
              <a:rPr lang="en-IE" dirty="0"/>
            </a:br>
            <a:r>
              <a:rPr lang="en-IE" b="1" dirty="0"/>
              <a:t>Version 7.0</a:t>
            </a:r>
          </a:p>
        </p:txBody>
      </p:sp>
      <p:sp>
        <p:nvSpPr>
          <p:cNvPr id="6" name="Rectangle 5"/>
          <p:cNvSpPr/>
          <p:nvPr/>
        </p:nvSpPr>
        <p:spPr>
          <a:xfrm>
            <a:off x="3581400" y="6581001"/>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4" name="Rectangle 3"/>
          <p:cNvSpPr/>
          <p:nvPr/>
        </p:nvSpPr>
        <p:spPr>
          <a:xfrm>
            <a:off x="76200" y="1469172"/>
            <a:ext cx="6705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400" b="1" dirty="0">
                <a:solidFill>
                  <a:srgbClr val="FF0000"/>
                </a:solidFill>
              </a:rPr>
              <a:t>  </a:t>
            </a:r>
            <a:r>
              <a:rPr lang="en-IE" sz="2400" b="1" dirty="0" err="1">
                <a:solidFill>
                  <a:srgbClr val="FF0000"/>
                </a:solidFill>
              </a:rPr>
              <a:t>sp.diameter</a:t>
            </a:r>
            <a:r>
              <a:rPr lang="en-IE" sz="2400" b="1" dirty="0">
                <a:solidFill>
                  <a:srgbClr val="FF0000"/>
                </a:solidFill>
              </a:rPr>
              <a:t> = 30000;</a:t>
            </a:r>
          </a:p>
          <a:p>
            <a:r>
              <a:rPr lang="en-IE" sz="2000" dirty="0"/>
              <a:t>  </a:t>
            </a:r>
            <a:r>
              <a:rPr lang="en-IE" sz="2000" dirty="0" err="1"/>
              <a:t>sp.display</a:t>
            </a:r>
            <a:r>
              <a:rPr lang="en-IE" sz="2000" dirty="0"/>
              <a:t>();</a:t>
            </a:r>
          </a:p>
          <a:p>
            <a:r>
              <a:rPr lang="en-IE" sz="2000" dirty="0"/>
              <a:t>}</a:t>
            </a:r>
          </a:p>
        </p:txBody>
      </p:sp>
      <p:sp>
        <p:nvSpPr>
          <p:cNvPr id="3" name="Rectangle 2"/>
          <p:cNvSpPr/>
          <p:nvPr/>
        </p:nvSpPr>
        <p:spPr>
          <a:xfrm>
            <a:off x="3200400" y="304800"/>
            <a:ext cx="5791200" cy="594008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class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t> void display(){</a:t>
            </a:r>
          </a:p>
          <a:p>
            <a:r>
              <a:rPr lang="en-IE" sz="2000" dirty="0"/>
              <a:t>    ellipse(</a:t>
            </a:r>
            <a:r>
              <a:rPr lang="en-IE" sz="2000" dirty="0" err="1"/>
              <a:t>xCoord</a:t>
            </a:r>
            <a:r>
              <a:rPr lang="en-IE" sz="2000" dirty="0"/>
              <a:t>, </a:t>
            </a:r>
            <a:r>
              <a:rPr lang="en-IE" sz="2000" dirty="0" err="1"/>
              <a:t>yCoord</a:t>
            </a:r>
            <a:r>
              <a:rPr lang="en-IE" sz="2000" dirty="0"/>
              <a:t>, diameter, diameter);</a:t>
            </a:r>
          </a:p>
          <a:p>
            <a:r>
              <a:rPr lang="en-IE" sz="2000" dirty="0"/>
              <a:t>  }</a:t>
            </a:r>
          </a:p>
          <a:p>
            <a:endParaRPr lang="en-IE" sz="2000" dirty="0"/>
          </a:p>
          <a:p>
            <a:r>
              <a:rPr lang="en-IE" sz="2000" dirty="0"/>
              <a:t> void colour(</a:t>
            </a:r>
            <a:r>
              <a:rPr lang="en-IE" sz="2000" dirty="0" err="1"/>
              <a:t>int</a:t>
            </a:r>
            <a:r>
              <a:rPr lang="en-IE" sz="2000" dirty="0"/>
              <a:t> red, </a:t>
            </a:r>
            <a:r>
              <a:rPr lang="en-IE" sz="2000" dirty="0" err="1"/>
              <a:t>int</a:t>
            </a:r>
            <a:r>
              <a:rPr lang="en-IE" sz="2000" dirty="0"/>
              <a:t> green, </a:t>
            </a:r>
            <a:r>
              <a:rPr lang="en-IE" sz="2000" dirty="0" err="1"/>
              <a:t>int</a:t>
            </a:r>
            <a:r>
              <a:rPr lang="en-IE" sz="2000" dirty="0"/>
              <a:t> blue)</a:t>
            </a:r>
          </a:p>
          <a:p>
            <a:r>
              <a:rPr lang="en-IE" sz="2000" dirty="0"/>
              <a:t>  {</a:t>
            </a:r>
          </a:p>
          <a:p>
            <a:r>
              <a:rPr lang="en-IE" sz="2000" dirty="0"/>
              <a:t>    </a:t>
            </a:r>
            <a:r>
              <a:rPr lang="en-IE" sz="2000" dirty="0" err="1"/>
              <a:t>this.red</a:t>
            </a:r>
            <a:r>
              <a:rPr lang="en-IE" sz="2000" dirty="0"/>
              <a:t> = red;</a:t>
            </a:r>
          </a:p>
          <a:p>
            <a:r>
              <a:rPr lang="en-IE" sz="2000" dirty="0"/>
              <a:t>    </a:t>
            </a:r>
            <a:r>
              <a:rPr lang="en-IE" sz="2000" dirty="0" err="1"/>
              <a:t>this.green</a:t>
            </a:r>
            <a:r>
              <a:rPr lang="en-IE" sz="2000" dirty="0"/>
              <a:t> = green;</a:t>
            </a:r>
          </a:p>
          <a:p>
            <a:r>
              <a:rPr lang="en-IE" sz="2000" dirty="0"/>
              <a:t>    </a:t>
            </a:r>
            <a:r>
              <a:rPr lang="en-IE" sz="2000" dirty="0" err="1"/>
              <a:t>this.blue</a:t>
            </a:r>
            <a:r>
              <a:rPr lang="en-IE" sz="2000" dirty="0"/>
              <a:t> = blue;</a:t>
            </a:r>
          </a:p>
          <a:p>
            <a:r>
              <a:rPr lang="en-IE" sz="2000" dirty="0"/>
              <a:t>    fill (red, green, blue);</a:t>
            </a:r>
          </a:p>
          <a:p>
            <a:r>
              <a:rPr lang="en-IE" sz="2000" dirty="0"/>
              <a:t>  }</a:t>
            </a:r>
          </a:p>
          <a:p>
            <a:r>
              <a:rPr lang="en-IE" sz="2000" b="1" dirty="0">
                <a:solidFill>
                  <a:srgbClr val="FF0000"/>
                </a:solidFill>
              </a:rPr>
              <a:t> </a:t>
            </a:r>
            <a:r>
              <a:rPr lang="en-IE" sz="2000" dirty="0">
                <a:solidFill>
                  <a:schemeClr val="bg1">
                    <a:lumMod val="50000"/>
                  </a:schemeClr>
                </a:solidFill>
              </a:rPr>
              <a:t>// move methods…</a:t>
            </a:r>
            <a:endParaRPr lang="en-IE" sz="2000" dirty="0"/>
          </a:p>
          <a:p>
            <a:r>
              <a:rPr lang="en-IE" sz="2000" dirty="0"/>
              <a:t>}</a:t>
            </a:r>
          </a:p>
        </p:txBody>
      </p:sp>
      <p:sp>
        <p:nvSpPr>
          <p:cNvPr id="7" name="Donut 6"/>
          <p:cNvSpPr/>
          <p:nvPr/>
        </p:nvSpPr>
        <p:spPr>
          <a:xfrm>
            <a:off x="-152400" y="5486400"/>
            <a:ext cx="3733800" cy="433026"/>
          </a:xfrm>
          <a:prstGeom prst="donut">
            <a:avLst>
              <a:gd name="adj" fmla="val 261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34606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Topics list</a:t>
            </a:r>
          </a:p>
        </p:txBody>
      </p:sp>
      <p:sp>
        <p:nvSpPr>
          <p:cNvPr id="5" name="Content Placeholder 4"/>
          <p:cNvSpPr>
            <a:spLocks noGrp="1"/>
          </p:cNvSpPr>
          <p:nvPr>
            <p:ph idx="1"/>
          </p:nvPr>
        </p:nvSpPr>
        <p:spPr>
          <a:xfrm>
            <a:off x="457200" y="1600200"/>
            <a:ext cx="8382000" cy="4525963"/>
          </a:xfrm>
        </p:spPr>
        <p:txBody>
          <a:bodyPr>
            <a:normAutofit/>
          </a:bodyPr>
          <a:lstStyle/>
          <a:p>
            <a:pPr marL="742950" indent="-742950">
              <a:buFont typeface="+mj-lt"/>
              <a:buAutoNum type="arabicPeriod"/>
            </a:pPr>
            <a:r>
              <a:rPr lang="en-IE" sz="3600" dirty="0"/>
              <a:t>Recap: Version 6.1</a:t>
            </a:r>
          </a:p>
          <a:p>
            <a:pPr marL="742950" indent="-742950">
              <a:buFont typeface="+mj-lt"/>
              <a:buAutoNum type="arabicPeriod"/>
            </a:pPr>
            <a:r>
              <a:rPr lang="en-IE" sz="3600" dirty="0"/>
              <a:t>Our design smells!</a:t>
            </a:r>
          </a:p>
          <a:p>
            <a:pPr marL="742950" indent="-742950">
              <a:buFont typeface="+mj-lt"/>
              <a:buAutoNum type="arabicPeriod"/>
            </a:pPr>
            <a:r>
              <a:rPr lang="en-IE" sz="3600" b="1" dirty="0"/>
              <a:t>Encapsulation</a:t>
            </a:r>
          </a:p>
          <a:p>
            <a:pPr marL="742950" indent="-742950">
              <a:buFont typeface="+mj-lt"/>
              <a:buAutoNum type="arabicPeriod"/>
            </a:pPr>
            <a:r>
              <a:rPr lang="en-IE" sz="3600" dirty="0"/>
              <a:t>Refactoring Spot:</a:t>
            </a:r>
          </a:p>
          <a:p>
            <a:pPr lvl="1"/>
            <a:r>
              <a:rPr lang="en-IE" b="1" dirty="0"/>
              <a:t>Access Modifiers</a:t>
            </a:r>
          </a:p>
          <a:p>
            <a:pPr lvl="1"/>
            <a:r>
              <a:rPr lang="en-IE" b="1" dirty="0"/>
              <a:t>Accessors and </a:t>
            </a:r>
            <a:r>
              <a:rPr lang="en-IE" b="1" dirty="0" err="1"/>
              <a:t>Mutators</a:t>
            </a:r>
            <a:endParaRPr lang="en-IE" b="1" dirty="0"/>
          </a:p>
          <a:p>
            <a:pPr lvl="1"/>
            <a:r>
              <a:rPr lang="en-IE" b="1" dirty="0"/>
              <a:t>Validation</a:t>
            </a:r>
          </a:p>
        </p:txBody>
      </p:sp>
      <p:sp>
        <p:nvSpPr>
          <p:cNvPr id="7" name="Rectangle 6"/>
          <p:cNvSpPr/>
          <p:nvPr/>
        </p:nvSpPr>
        <p:spPr>
          <a:xfrm>
            <a:off x="457200" y="2362200"/>
            <a:ext cx="8382000" cy="5334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custDataLst>
      <p:tags r:id="rId1"/>
    </p:custDataLst>
    <p:extLst>
      <p:ext uri="{BB962C8B-B14F-4D97-AF65-F5344CB8AC3E}">
        <p14:creationId xmlns:p14="http://schemas.microsoft.com/office/powerpoint/2010/main" val="8398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Our Our design smells!</a:t>
            </a:r>
          </a:p>
        </p:txBody>
      </p:sp>
      <p:sp>
        <p:nvSpPr>
          <p:cNvPr id="3" name="Content Placeholder 2"/>
          <p:cNvSpPr>
            <a:spLocks noGrp="1"/>
          </p:cNvSpPr>
          <p:nvPr>
            <p:ph idx="1"/>
          </p:nvPr>
        </p:nvSpPr>
        <p:spPr>
          <a:xfrm>
            <a:off x="457200" y="1600200"/>
            <a:ext cx="8229600" cy="5105400"/>
          </a:xfrm>
        </p:spPr>
        <p:txBody>
          <a:bodyPr>
            <a:noAutofit/>
          </a:bodyPr>
          <a:lstStyle/>
          <a:p>
            <a:r>
              <a:rPr lang="en-IE" sz="3000" dirty="0"/>
              <a:t>We can directly access the diameter field </a:t>
            </a:r>
            <a:br>
              <a:rPr lang="en-IE" sz="3000" dirty="0"/>
            </a:br>
            <a:r>
              <a:rPr lang="en-IE" sz="3000" dirty="0"/>
              <a:t>(and all other fields) in the Spot class </a:t>
            </a:r>
            <a:br>
              <a:rPr lang="en-IE" sz="3000" dirty="0"/>
            </a:br>
            <a:r>
              <a:rPr lang="en-IE" sz="3000" dirty="0"/>
              <a:t>from another class, and set it to a value that is completely preposterous!</a:t>
            </a:r>
          </a:p>
          <a:p>
            <a:endParaRPr lang="en-IE" sz="3000" dirty="0"/>
          </a:p>
          <a:p>
            <a:r>
              <a:rPr lang="en-IE" sz="3000" dirty="0"/>
              <a:t>Also, when we directly access a field in a class, </a:t>
            </a:r>
            <a:br>
              <a:rPr lang="en-IE" sz="3000" dirty="0"/>
            </a:br>
            <a:r>
              <a:rPr lang="en-IE" sz="3000" dirty="0"/>
              <a:t>we are applying a “</a:t>
            </a:r>
            <a:r>
              <a:rPr lang="en-IE" sz="3000" b="1" dirty="0"/>
              <a:t>behaviour</a:t>
            </a:r>
            <a:r>
              <a:rPr lang="en-IE" sz="3000" dirty="0"/>
              <a:t>” to that field </a:t>
            </a:r>
            <a:br>
              <a:rPr lang="en-IE" sz="3000" dirty="0"/>
            </a:br>
            <a:r>
              <a:rPr lang="en-IE" sz="3000" dirty="0"/>
              <a:t>i.e. resizing the circle.</a:t>
            </a:r>
          </a:p>
          <a:p>
            <a:pPr lvl="1"/>
            <a:r>
              <a:rPr lang="en-IE" sz="3000" dirty="0"/>
              <a:t>But, aren’t </a:t>
            </a:r>
            <a:r>
              <a:rPr lang="en-IE" sz="3000" b="1" dirty="0"/>
              <a:t>methods</a:t>
            </a:r>
            <a:r>
              <a:rPr lang="en-IE" sz="3000" dirty="0"/>
              <a:t> supposed to be the “behaviour” for a class???????</a:t>
            </a:r>
          </a:p>
          <a:p>
            <a:endParaRPr lang="en-IE" sz="3000" dirty="0"/>
          </a:p>
        </p:txBody>
      </p:sp>
    </p:spTree>
    <p:custDataLst>
      <p:tags r:id="rId1"/>
    </p:custDataLst>
    <p:extLst>
      <p:ext uri="{BB962C8B-B14F-4D97-AF65-F5344CB8AC3E}">
        <p14:creationId xmlns:p14="http://schemas.microsoft.com/office/powerpoint/2010/main" val="209573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Our Our design smells!</a:t>
            </a:r>
          </a:p>
        </p:txBody>
      </p:sp>
      <p:sp>
        <p:nvSpPr>
          <p:cNvPr id="3" name="Content Placeholder 2"/>
          <p:cNvSpPr>
            <a:spLocks noGrp="1"/>
          </p:cNvSpPr>
          <p:nvPr>
            <p:ph idx="1"/>
          </p:nvPr>
        </p:nvSpPr>
        <p:spPr/>
        <p:txBody>
          <a:bodyPr/>
          <a:lstStyle/>
          <a:p>
            <a:endParaRPr lang="en-IE" dirty="0"/>
          </a:p>
          <a:p>
            <a:r>
              <a:rPr lang="en-IE" dirty="0"/>
              <a:t>Our design violates one of the basic principles of object-oriented design:</a:t>
            </a:r>
          </a:p>
          <a:p>
            <a:endParaRPr lang="en-IE" dirty="0"/>
          </a:p>
          <a:p>
            <a:pPr marL="2171700" lvl="5" indent="0">
              <a:buNone/>
            </a:pPr>
            <a:r>
              <a:rPr lang="en-IE" sz="4800" i="1" dirty="0">
                <a:solidFill>
                  <a:srgbClr val="FF0000"/>
                </a:solidFill>
              </a:rPr>
              <a:t>Encapsulation!</a:t>
            </a:r>
          </a:p>
        </p:txBody>
      </p:sp>
    </p:spTree>
    <p:extLst>
      <p:ext uri="{BB962C8B-B14F-4D97-AF65-F5344CB8AC3E}">
        <p14:creationId xmlns:p14="http://schemas.microsoft.com/office/powerpoint/2010/main" val="810634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Topics list</a:t>
            </a:r>
          </a:p>
        </p:txBody>
      </p:sp>
      <p:sp>
        <p:nvSpPr>
          <p:cNvPr id="5" name="Content Placeholder 4"/>
          <p:cNvSpPr>
            <a:spLocks noGrp="1"/>
          </p:cNvSpPr>
          <p:nvPr>
            <p:ph idx="1"/>
          </p:nvPr>
        </p:nvSpPr>
        <p:spPr>
          <a:xfrm>
            <a:off x="457200" y="1600200"/>
            <a:ext cx="8382000" cy="4525963"/>
          </a:xfrm>
        </p:spPr>
        <p:txBody>
          <a:bodyPr>
            <a:normAutofit/>
          </a:bodyPr>
          <a:lstStyle/>
          <a:p>
            <a:pPr marL="742950" indent="-742950">
              <a:buFont typeface="+mj-lt"/>
              <a:buAutoNum type="arabicPeriod"/>
            </a:pPr>
            <a:r>
              <a:rPr lang="en-IE" sz="3600" dirty="0"/>
              <a:t>Recap: Version 6.1</a:t>
            </a:r>
          </a:p>
          <a:p>
            <a:pPr marL="742950" indent="-742950">
              <a:buFont typeface="+mj-lt"/>
              <a:buAutoNum type="arabicPeriod"/>
            </a:pPr>
            <a:r>
              <a:rPr lang="en-IE" sz="3600" dirty="0"/>
              <a:t>Our design smells!</a:t>
            </a:r>
          </a:p>
          <a:p>
            <a:pPr marL="742950" indent="-742950">
              <a:buFont typeface="+mj-lt"/>
              <a:buAutoNum type="arabicPeriod"/>
            </a:pPr>
            <a:r>
              <a:rPr lang="en-IE" sz="3600" b="1" dirty="0"/>
              <a:t>Encapsulation</a:t>
            </a:r>
          </a:p>
          <a:p>
            <a:pPr marL="742950" indent="-742950">
              <a:buFont typeface="+mj-lt"/>
              <a:buAutoNum type="arabicPeriod"/>
            </a:pPr>
            <a:r>
              <a:rPr lang="en-IE" sz="3600" dirty="0"/>
              <a:t>Refactoring Spot:</a:t>
            </a:r>
          </a:p>
          <a:p>
            <a:pPr lvl="1"/>
            <a:r>
              <a:rPr lang="en-IE" b="1" dirty="0"/>
              <a:t>Access Modifiers</a:t>
            </a:r>
          </a:p>
          <a:p>
            <a:pPr lvl="1"/>
            <a:r>
              <a:rPr lang="en-IE" b="1" dirty="0"/>
              <a:t>Accessors and </a:t>
            </a:r>
            <a:r>
              <a:rPr lang="en-IE" b="1" dirty="0" err="1"/>
              <a:t>Mutators</a:t>
            </a:r>
            <a:endParaRPr lang="en-IE" b="1" dirty="0"/>
          </a:p>
          <a:p>
            <a:pPr lvl="1"/>
            <a:r>
              <a:rPr lang="en-IE" b="1" dirty="0"/>
              <a:t>Validation</a:t>
            </a:r>
          </a:p>
        </p:txBody>
      </p:sp>
      <p:sp>
        <p:nvSpPr>
          <p:cNvPr id="7" name="Rectangle 6"/>
          <p:cNvSpPr/>
          <p:nvPr/>
        </p:nvSpPr>
        <p:spPr>
          <a:xfrm>
            <a:off x="457200" y="2971800"/>
            <a:ext cx="8382000" cy="5334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custDataLst>
      <p:tags r:id="rId1"/>
    </p:custDataLst>
    <p:extLst>
      <p:ext uri="{BB962C8B-B14F-4D97-AF65-F5344CB8AC3E}">
        <p14:creationId xmlns:p14="http://schemas.microsoft.com/office/powerpoint/2010/main" val="74647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a:t>
            </a:r>
          </a:p>
        </p:txBody>
      </p:sp>
      <p:sp>
        <p:nvSpPr>
          <p:cNvPr id="3" name="Content Placeholder 2"/>
          <p:cNvSpPr>
            <a:spLocks noGrp="1"/>
          </p:cNvSpPr>
          <p:nvPr>
            <p:ph idx="1"/>
          </p:nvPr>
        </p:nvSpPr>
        <p:spPr/>
        <p:txBody>
          <a:bodyPr>
            <a:normAutofit/>
          </a:bodyPr>
          <a:lstStyle/>
          <a:p>
            <a:r>
              <a:rPr lang="en-IE" b="1" dirty="0"/>
              <a:t>Encapsulation</a:t>
            </a:r>
            <a:r>
              <a:rPr lang="en-IE" dirty="0"/>
              <a:t> (data hiding) </a:t>
            </a:r>
            <a:br>
              <a:rPr lang="en-IE" dirty="0"/>
            </a:br>
            <a:r>
              <a:rPr lang="en-IE" dirty="0"/>
              <a:t>is a fundamental Object Oriented concept.</a:t>
            </a:r>
          </a:p>
          <a:p>
            <a:r>
              <a:rPr lang="en-IE" dirty="0"/>
              <a:t>How to achieve encapsulation?</a:t>
            </a:r>
          </a:p>
          <a:p>
            <a:pPr marL="971550" lvl="1" indent="-514350">
              <a:buFont typeface="+mj-lt"/>
              <a:buAutoNum type="arabicPeriod"/>
            </a:pPr>
            <a:r>
              <a:rPr lang="en-IE" b="1" i="1" dirty="0">
                <a:solidFill>
                  <a:srgbClr val="00B050"/>
                </a:solidFill>
              </a:rPr>
              <a:t>wrap</a:t>
            </a:r>
            <a:r>
              <a:rPr lang="en-IE" b="1" dirty="0">
                <a:solidFill>
                  <a:srgbClr val="00B050"/>
                </a:solidFill>
              </a:rPr>
              <a:t> </a:t>
            </a:r>
            <a:r>
              <a:rPr lang="en-IE" dirty="0"/>
              <a:t>the data (fields) and code acting on the data (methods) together as single unit. </a:t>
            </a:r>
          </a:p>
          <a:p>
            <a:pPr marL="971550" lvl="1" indent="-514350">
              <a:buFont typeface="+mj-lt"/>
              <a:buAutoNum type="arabicPeriod"/>
            </a:pPr>
            <a:r>
              <a:rPr lang="en-IE" b="1" i="1" dirty="0">
                <a:solidFill>
                  <a:srgbClr val="00B050"/>
                </a:solidFill>
              </a:rPr>
              <a:t>hide</a:t>
            </a:r>
            <a:r>
              <a:rPr lang="en-IE" i="1" dirty="0"/>
              <a:t> </a:t>
            </a:r>
            <a:r>
              <a:rPr lang="en-IE" dirty="0"/>
              <a:t>the fields from other classes.</a:t>
            </a:r>
          </a:p>
          <a:p>
            <a:pPr marL="971550" lvl="1" indent="-514350">
              <a:buFont typeface="+mj-lt"/>
              <a:buAutoNum type="arabicPeriod"/>
            </a:pPr>
            <a:r>
              <a:rPr lang="en-IE" b="1" i="1" dirty="0">
                <a:solidFill>
                  <a:srgbClr val="00B050"/>
                </a:solidFill>
              </a:rPr>
              <a:t>access</a:t>
            </a:r>
            <a:r>
              <a:rPr lang="en-IE" i="1" dirty="0"/>
              <a:t> </a:t>
            </a:r>
            <a:r>
              <a:rPr lang="en-IE" dirty="0"/>
              <a:t>the fields only through the methods of their current class. </a:t>
            </a:r>
          </a:p>
        </p:txBody>
      </p:sp>
      <p:sp>
        <p:nvSpPr>
          <p:cNvPr id="4" name="Rectangle 3"/>
          <p:cNvSpPr/>
          <p:nvPr/>
        </p:nvSpPr>
        <p:spPr>
          <a:xfrm>
            <a:off x="1876926" y="6488668"/>
            <a:ext cx="7299158" cy="369332"/>
          </a:xfrm>
          <a:prstGeom prst="rect">
            <a:avLst/>
          </a:prstGeom>
        </p:spPr>
        <p:txBody>
          <a:bodyPr wrap="square">
            <a:spAutoFit/>
          </a:bodyPr>
          <a:lstStyle/>
          <a:p>
            <a:pPr algn="r"/>
            <a:r>
              <a:rPr lang="en-IE" dirty="0">
                <a:hlinkClick r:id="rId3"/>
              </a:rPr>
              <a:t>http://www.tutorialspoint.com/java/java_encapsulation.htm</a:t>
            </a:r>
            <a:r>
              <a:rPr lang="en-IE" dirty="0"/>
              <a:t> </a:t>
            </a:r>
          </a:p>
        </p:txBody>
      </p:sp>
    </p:spTree>
    <p:custDataLst>
      <p:tags r:id="rId1"/>
    </p:custDataLst>
    <p:extLst>
      <p:ext uri="{BB962C8B-B14F-4D97-AF65-F5344CB8AC3E}">
        <p14:creationId xmlns:p14="http://schemas.microsoft.com/office/powerpoint/2010/main" val="414101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 in Java </a:t>
            </a:r>
            <a:r>
              <a:rPr lang="mr-IN" dirty="0"/>
              <a:t>–</a:t>
            </a:r>
            <a:r>
              <a:rPr lang="en-IE" dirty="0"/>
              <a:t> </a:t>
            </a:r>
            <a:r>
              <a:rPr lang="en-IE" b="1" dirty="0"/>
              <a:t>steps 1-3</a:t>
            </a:r>
          </a:p>
        </p:txBody>
      </p:sp>
      <p:sp>
        <p:nvSpPr>
          <p:cNvPr id="4" name="Rectangle 3"/>
          <p:cNvSpPr/>
          <p:nvPr/>
        </p:nvSpPr>
        <p:spPr>
          <a:xfrm>
            <a:off x="1876926" y="6488668"/>
            <a:ext cx="7299158" cy="369332"/>
          </a:xfrm>
          <a:prstGeom prst="rect">
            <a:avLst/>
          </a:prstGeom>
        </p:spPr>
        <p:txBody>
          <a:bodyPr wrap="square">
            <a:spAutoFit/>
          </a:bodyPr>
          <a:lstStyle/>
          <a:p>
            <a:pPr algn="r"/>
            <a:r>
              <a:rPr lang="en-IE" dirty="0">
                <a:hlinkClick r:id="rId3"/>
              </a:rPr>
              <a:t>http://www.tutorialspoint.com/java/java_encapsulation.htm</a:t>
            </a:r>
            <a:r>
              <a:rPr lang="en-IE" dirty="0"/>
              <a:t> </a:t>
            </a:r>
          </a:p>
        </p:txBody>
      </p:sp>
      <p:graphicFrame>
        <p:nvGraphicFramePr>
          <p:cNvPr id="5" name="Table 4"/>
          <p:cNvGraphicFramePr>
            <a:graphicFrameLocks noGrp="1"/>
          </p:cNvGraphicFramePr>
          <p:nvPr>
            <p:extLst>
              <p:ext uri="{D42A27DB-BD31-4B8C-83A1-F6EECF244321}">
                <p14:modId xmlns:p14="http://schemas.microsoft.com/office/powerpoint/2010/main" val="792263952"/>
              </p:ext>
            </p:extLst>
          </p:nvPr>
        </p:nvGraphicFramePr>
        <p:xfrm>
          <a:off x="533399" y="1597062"/>
          <a:ext cx="8229600" cy="2632038"/>
        </p:xfrm>
        <a:graphic>
          <a:graphicData uri="http://schemas.openxmlformats.org/drawingml/2006/table">
            <a:tbl>
              <a:tblPr firstRow="1"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28918">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2400" dirty="0"/>
                        <a:t>Encapsulation Step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E" sz="2400" dirty="0"/>
                        <a:t>Approach</a:t>
                      </a:r>
                      <a:r>
                        <a:rPr lang="en-IE" sz="2400" baseline="0" dirty="0"/>
                        <a:t> in Java</a:t>
                      </a:r>
                      <a:endParaRPr lang="en-IE"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89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1. </a:t>
                      </a:r>
                      <a:r>
                        <a:rPr lang="en-IE" sz="2400" b="1" dirty="0">
                          <a:solidFill>
                            <a:srgbClr val="00B050"/>
                          </a:solidFill>
                        </a:rPr>
                        <a:t>Wrap</a:t>
                      </a:r>
                      <a:r>
                        <a:rPr lang="en-IE" sz="2400" dirty="0"/>
                        <a:t> the data (fields) and code acting on the data (methods) together as single unit.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eaLnBrk="1" hangingPunct="1"/>
                      <a:r>
                        <a:rPr lang="en-US" sz="2200" b="1" dirty="0">
                          <a:solidFill>
                            <a:schemeClr val="tx1"/>
                          </a:solidFill>
                          <a:latin typeface="Courier New" pitchFamily="49" charset="0"/>
                          <a:cs typeface="Times" pitchFamily="-32" charset="0"/>
                        </a:rPr>
                        <a:t>public</a:t>
                      </a:r>
                      <a:r>
                        <a:rPr lang="en-US" sz="2200" dirty="0">
                          <a:solidFill>
                            <a:schemeClr val="tx1"/>
                          </a:solidFill>
                          <a:latin typeface="Courier New" pitchFamily="49" charset="0"/>
                          <a:cs typeface="Times" pitchFamily="-32" charset="0"/>
                        </a:rPr>
                        <a:t> class </a:t>
                      </a:r>
                      <a:r>
                        <a:rPr lang="en-US" sz="2200" i="1" dirty="0" err="1">
                          <a:solidFill>
                            <a:schemeClr val="tx1"/>
                          </a:solidFill>
                          <a:latin typeface="Courier New" pitchFamily="49" charset="0"/>
                          <a:cs typeface="Times" pitchFamily="-32" charset="0"/>
                        </a:rPr>
                        <a:t>ClassName</a:t>
                      </a:r>
                      <a:endParaRPr lang="en-US" sz="2200" dirty="0">
                        <a:solidFill>
                          <a:schemeClr val="tx1"/>
                        </a:solidFill>
                        <a:latin typeface="Courier New" pitchFamily="49" charset="0"/>
                        <a:cs typeface="Times" pitchFamily="-32" charset="0"/>
                      </a:endParaRPr>
                    </a:p>
                    <a:p>
                      <a:pPr algn="l" eaLnBrk="1" hangingPunct="1"/>
                      <a:r>
                        <a:rPr lang="en-US" sz="2200" dirty="0">
                          <a:solidFill>
                            <a:schemeClr val="tx1"/>
                          </a:solidFill>
                          <a:latin typeface="Courier New" pitchFamily="49" charset="0"/>
                          <a:cs typeface="Times" pitchFamily="-32" charset="0"/>
                        </a:rPr>
                        <a:t>{</a:t>
                      </a:r>
                    </a:p>
                    <a:p>
                      <a:pPr algn="l" eaLnBrk="1" hangingPunct="1"/>
                      <a:r>
                        <a:rPr lang="en-US" sz="2200" dirty="0">
                          <a:solidFill>
                            <a:schemeClr val="tx1"/>
                          </a:solidFill>
                          <a:latin typeface="Courier New" pitchFamily="49" charset="0"/>
                          <a:cs typeface="Times" pitchFamily="-32" charset="0"/>
                        </a:rPr>
                        <a:t>  </a:t>
                      </a:r>
                      <a:r>
                        <a:rPr lang="en-US" sz="2200" b="0" dirty="0">
                          <a:solidFill>
                            <a:schemeClr val="tx1"/>
                          </a:solidFill>
                          <a:latin typeface="Courier New" pitchFamily="49" charset="0"/>
                          <a:cs typeface="Times" pitchFamily="-32" charset="0"/>
                        </a:rPr>
                        <a:t>  </a:t>
                      </a:r>
                      <a:r>
                        <a:rPr lang="en-US" sz="2200" b="0" i="1" dirty="0">
                          <a:solidFill>
                            <a:schemeClr val="tx1"/>
                          </a:solidFill>
                          <a:latin typeface="Courier New" pitchFamily="49" charset="0"/>
                          <a:cs typeface="Times" pitchFamily="-32" charset="0"/>
                        </a:rPr>
                        <a:t>Fields</a:t>
                      </a:r>
                      <a:endParaRPr lang="en-US" sz="2200" b="0" dirty="0">
                        <a:solidFill>
                          <a:schemeClr val="tx1"/>
                        </a:solidFill>
                        <a:latin typeface="Courier New" pitchFamily="49" charset="0"/>
                        <a:cs typeface="Times" pitchFamily="-32" charset="0"/>
                      </a:endParaRPr>
                    </a:p>
                    <a:p>
                      <a:pPr algn="l" eaLnBrk="1" hangingPunct="1"/>
                      <a:r>
                        <a:rPr lang="en-US" sz="2200" b="0" i="1" dirty="0">
                          <a:solidFill>
                            <a:schemeClr val="tx1"/>
                          </a:solidFill>
                          <a:latin typeface="Courier New" pitchFamily="49" charset="0"/>
                          <a:cs typeface="Times" pitchFamily="-32" charset="0"/>
                        </a:rPr>
                        <a:t>  </a:t>
                      </a:r>
                      <a:r>
                        <a:rPr lang="en-US" sz="2200" i="1" dirty="0">
                          <a:solidFill>
                            <a:schemeClr val="tx1"/>
                          </a:solidFill>
                          <a:latin typeface="Courier New" pitchFamily="49" charset="0"/>
                          <a:cs typeface="Times" pitchFamily="-32" charset="0"/>
                        </a:rPr>
                        <a:t>  Constructors</a:t>
                      </a:r>
                      <a:endParaRPr lang="en-US" sz="2200" dirty="0">
                        <a:solidFill>
                          <a:schemeClr val="tx1"/>
                        </a:solidFill>
                        <a:latin typeface="Courier New" pitchFamily="49" charset="0"/>
                        <a:cs typeface="Times" pitchFamily="-32" charset="0"/>
                      </a:endParaRPr>
                    </a:p>
                    <a:p>
                      <a:pPr algn="l" eaLnBrk="1" hangingPunct="1"/>
                      <a:r>
                        <a:rPr lang="en-US" sz="2200" i="1" dirty="0">
                          <a:solidFill>
                            <a:schemeClr val="tx1"/>
                          </a:solidFill>
                          <a:latin typeface="Courier New" pitchFamily="49" charset="0"/>
                          <a:cs typeface="Times" pitchFamily="-32" charset="0"/>
                        </a:rPr>
                        <a:t>    Methods</a:t>
                      </a:r>
                      <a:endParaRPr lang="en-US" sz="2200" dirty="0">
                        <a:solidFill>
                          <a:schemeClr val="tx1"/>
                        </a:solidFill>
                        <a:latin typeface="Courier New" pitchFamily="49" charset="0"/>
                        <a:cs typeface="Times" pitchFamily="-32" charset="0"/>
                      </a:endParaRPr>
                    </a:p>
                    <a:p>
                      <a:pPr algn="l" eaLnBrk="1" hangingPunct="1"/>
                      <a:r>
                        <a:rPr lang="en-US" sz="2200" dirty="0">
                          <a:solidFill>
                            <a:schemeClr val="tx1"/>
                          </a:solidFill>
                          <a:latin typeface="Courier New" pitchFamily="49" charset="0"/>
                          <a:cs typeface="Times" pitchFamily="-32" charset="0"/>
                        </a:rPr>
                        <a:t>}</a:t>
                      </a:r>
                      <a:r>
                        <a:rPr lang="en-US" sz="2200" dirty="0">
                          <a:solidFill>
                            <a:schemeClr val="tx1"/>
                          </a:solidFill>
                          <a:latin typeface="Courier New"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7797141"/>
              </p:ext>
            </p:extLst>
          </p:nvPr>
        </p:nvGraphicFramePr>
        <p:xfrm>
          <a:off x="534364" y="4275248"/>
          <a:ext cx="8229600" cy="925606"/>
        </p:xfrm>
        <a:graphic>
          <a:graphicData uri="http://schemas.openxmlformats.org/drawingml/2006/table">
            <a:tbl>
              <a:tblPr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92560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2. </a:t>
                      </a:r>
                      <a:r>
                        <a:rPr lang="en-IE" sz="2400" b="1" kern="1200" dirty="0">
                          <a:solidFill>
                            <a:srgbClr val="00B050"/>
                          </a:solidFill>
                          <a:latin typeface="+mn-lt"/>
                          <a:ea typeface="+mn-ea"/>
                          <a:cs typeface="+mn-cs"/>
                        </a:rPr>
                        <a:t>Hide</a:t>
                      </a:r>
                      <a:r>
                        <a:rPr lang="en-IE" sz="2400" dirty="0"/>
                        <a:t> </a:t>
                      </a:r>
                      <a:r>
                        <a:rPr lang="en-IE" sz="2400" b="0" dirty="0"/>
                        <a:t>the fields from other classes</a:t>
                      </a:r>
                      <a:r>
                        <a:rPr lang="en-IE"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2400" b="1" dirty="0"/>
                        <a:t>Declare the fields of a class as </a:t>
                      </a:r>
                      <a:r>
                        <a:rPr lang="en-IE" sz="2400" b="1" u="sng" dirty="0"/>
                        <a:t>private</a:t>
                      </a:r>
                      <a:r>
                        <a:rPr lang="en-IE"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20156758"/>
              </p:ext>
            </p:extLst>
          </p:nvPr>
        </p:nvGraphicFramePr>
        <p:xfrm>
          <a:off x="533399" y="5258332"/>
          <a:ext cx="8229600" cy="1322294"/>
        </p:xfrm>
        <a:graphic>
          <a:graphicData uri="http://schemas.openxmlformats.org/drawingml/2006/table">
            <a:tbl>
              <a:tblPr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132229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3. </a:t>
                      </a:r>
                      <a:r>
                        <a:rPr lang="en-IE" sz="2400" b="1" kern="1200" dirty="0">
                          <a:solidFill>
                            <a:srgbClr val="00B050"/>
                          </a:solidFill>
                        </a:rPr>
                        <a:t>Access</a:t>
                      </a:r>
                      <a:r>
                        <a:rPr lang="en-IE" sz="2400" dirty="0">
                          <a:solidFill>
                            <a:srgbClr val="00B050"/>
                          </a:solidFill>
                        </a:rPr>
                        <a:t> </a:t>
                      </a:r>
                      <a:r>
                        <a:rPr lang="en-IE" sz="2400" dirty="0"/>
                        <a:t>the fields only through the methods of their current class.</a:t>
                      </a:r>
                      <a:endParaRPr lang="en-IE" sz="2400" b="0" dirty="0"/>
                    </a:p>
                  </a:txBody>
                  <a:tcPr>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2400" b="1" dirty="0"/>
                        <a:t>Provide </a:t>
                      </a:r>
                      <a:r>
                        <a:rPr lang="en-IE" sz="2400" b="1" u="sng" dirty="0"/>
                        <a:t>public</a:t>
                      </a:r>
                      <a:r>
                        <a:rPr lang="en-IE" sz="2400" b="1" dirty="0"/>
                        <a:t> set</a:t>
                      </a:r>
                      <a:r>
                        <a:rPr lang="en-IE" sz="2400" b="0" dirty="0"/>
                        <a:t>ter</a:t>
                      </a:r>
                      <a:r>
                        <a:rPr lang="en-IE" sz="2400" b="1" dirty="0"/>
                        <a:t> and get</a:t>
                      </a:r>
                      <a:r>
                        <a:rPr lang="en-IE" sz="2400" b="0" dirty="0"/>
                        <a:t>ter</a:t>
                      </a:r>
                      <a:r>
                        <a:rPr lang="en-IE" sz="2400" b="1" dirty="0"/>
                        <a:t> </a:t>
                      </a:r>
                      <a:r>
                        <a:rPr lang="en-IE" sz="2400" dirty="0"/>
                        <a:t>methods to modify and view the fields values.</a:t>
                      </a:r>
                      <a:endParaRPr lang="en-IE" sz="2400" b="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Tree>
    <p:custDataLst>
      <p:tags r:id="rId1"/>
    </p:custDataLst>
    <p:extLst>
      <p:ext uri="{BB962C8B-B14F-4D97-AF65-F5344CB8AC3E}">
        <p14:creationId xmlns:p14="http://schemas.microsoft.com/office/powerpoint/2010/main" val="403485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Topics list</a:t>
            </a:r>
          </a:p>
        </p:txBody>
      </p:sp>
      <p:sp>
        <p:nvSpPr>
          <p:cNvPr id="5" name="Content Placeholder 4"/>
          <p:cNvSpPr>
            <a:spLocks noGrp="1"/>
          </p:cNvSpPr>
          <p:nvPr>
            <p:ph idx="1"/>
          </p:nvPr>
        </p:nvSpPr>
        <p:spPr>
          <a:xfrm>
            <a:off x="457200" y="1600200"/>
            <a:ext cx="8382000" cy="4525963"/>
          </a:xfrm>
        </p:spPr>
        <p:txBody>
          <a:bodyPr>
            <a:normAutofit/>
          </a:bodyPr>
          <a:lstStyle/>
          <a:p>
            <a:pPr marL="742950" indent="-742950">
              <a:buFont typeface="+mj-lt"/>
              <a:buAutoNum type="arabicPeriod"/>
            </a:pPr>
            <a:r>
              <a:rPr lang="en-IE" sz="3600" dirty="0"/>
              <a:t>Recap: Version 6.1</a:t>
            </a:r>
          </a:p>
          <a:p>
            <a:pPr marL="742950" indent="-742950">
              <a:buFont typeface="+mj-lt"/>
              <a:buAutoNum type="arabicPeriod"/>
            </a:pPr>
            <a:r>
              <a:rPr lang="en-IE" sz="3600" dirty="0"/>
              <a:t>Our design smells!</a:t>
            </a:r>
          </a:p>
          <a:p>
            <a:pPr marL="742950" indent="-742950">
              <a:buFont typeface="+mj-lt"/>
              <a:buAutoNum type="arabicPeriod"/>
            </a:pPr>
            <a:r>
              <a:rPr lang="en-IE" sz="3600" b="1" dirty="0"/>
              <a:t>Encapsulation</a:t>
            </a:r>
          </a:p>
          <a:p>
            <a:pPr marL="742950" indent="-742950">
              <a:buFont typeface="+mj-lt"/>
              <a:buAutoNum type="arabicPeriod"/>
            </a:pPr>
            <a:r>
              <a:rPr lang="en-IE" sz="3600" dirty="0"/>
              <a:t>Refactoring Spot:</a:t>
            </a:r>
          </a:p>
          <a:p>
            <a:pPr lvl="1"/>
            <a:r>
              <a:rPr lang="en-IE" b="1" dirty="0"/>
              <a:t>Access Modifiers</a:t>
            </a:r>
          </a:p>
          <a:p>
            <a:pPr lvl="1"/>
            <a:r>
              <a:rPr lang="en-IE" b="1" dirty="0"/>
              <a:t>Accessors and </a:t>
            </a:r>
            <a:r>
              <a:rPr lang="en-IE" b="1" dirty="0" err="1"/>
              <a:t>Mutators</a:t>
            </a:r>
            <a:endParaRPr lang="en-IE" b="1" dirty="0"/>
          </a:p>
          <a:p>
            <a:pPr lvl="1"/>
            <a:r>
              <a:rPr lang="en-IE" b="1" dirty="0"/>
              <a:t>Validation</a:t>
            </a:r>
          </a:p>
        </p:txBody>
      </p:sp>
      <p:sp>
        <p:nvSpPr>
          <p:cNvPr id="7" name="Rectangle 6"/>
          <p:cNvSpPr/>
          <p:nvPr/>
        </p:nvSpPr>
        <p:spPr>
          <a:xfrm>
            <a:off x="457200" y="3581400"/>
            <a:ext cx="8382000" cy="22860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Right Arrow 2"/>
          <p:cNvSpPr/>
          <p:nvPr/>
        </p:nvSpPr>
        <p:spPr>
          <a:xfrm>
            <a:off x="228600" y="43434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08525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Refactoring Spot: </a:t>
            </a:r>
            <a:r>
              <a:rPr lang="en-IE" b="1" dirty="0"/>
              <a:t>Access Modifiers</a:t>
            </a:r>
          </a:p>
        </p:txBody>
      </p:sp>
      <p:sp>
        <p:nvSpPr>
          <p:cNvPr id="3" name="Content Placeholder 2"/>
          <p:cNvSpPr>
            <a:spLocks noGrp="1"/>
          </p:cNvSpPr>
          <p:nvPr>
            <p:ph idx="1"/>
          </p:nvPr>
        </p:nvSpPr>
        <p:spPr/>
        <p:txBody>
          <a:bodyPr>
            <a:normAutofit fontScale="92500"/>
          </a:bodyPr>
          <a:lstStyle/>
          <a:p>
            <a:r>
              <a:rPr lang="en-IE" dirty="0"/>
              <a:t>Java provides a number of access modifiers to set access levels for classes, fields, methods and constructors. </a:t>
            </a:r>
          </a:p>
          <a:p>
            <a:r>
              <a:rPr lang="en-IE" dirty="0"/>
              <a:t>The </a:t>
            </a:r>
            <a:r>
              <a:rPr lang="en-IE" b="1" dirty="0"/>
              <a:t>four access levels </a:t>
            </a:r>
            <a:r>
              <a:rPr lang="en-IE" dirty="0"/>
              <a:t>are:</a:t>
            </a:r>
          </a:p>
          <a:p>
            <a:pPr lvl="1"/>
            <a:r>
              <a:rPr lang="en-IE" dirty="0"/>
              <a:t>Visible to the </a:t>
            </a:r>
            <a:r>
              <a:rPr lang="en-IE" b="1" dirty="0">
                <a:solidFill>
                  <a:srgbClr val="FF0000"/>
                </a:solidFill>
              </a:rPr>
              <a:t>package</a:t>
            </a:r>
            <a:r>
              <a:rPr lang="en-IE" dirty="0"/>
              <a:t>, the default. No modifiers needed.</a:t>
            </a:r>
          </a:p>
          <a:p>
            <a:pPr lvl="1"/>
            <a:r>
              <a:rPr lang="en-IE" dirty="0"/>
              <a:t>Visible to the class only (</a:t>
            </a:r>
            <a:r>
              <a:rPr lang="en-IE" b="1" dirty="0">
                <a:solidFill>
                  <a:srgbClr val="FF0000"/>
                </a:solidFill>
              </a:rPr>
              <a:t>private</a:t>
            </a:r>
            <a:r>
              <a:rPr lang="en-IE" dirty="0"/>
              <a:t>).</a:t>
            </a:r>
          </a:p>
          <a:p>
            <a:pPr lvl="1"/>
            <a:r>
              <a:rPr lang="en-IE" dirty="0"/>
              <a:t>Visible to the world (</a:t>
            </a:r>
            <a:r>
              <a:rPr lang="en-IE" b="1" dirty="0">
                <a:solidFill>
                  <a:srgbClr val="FF0000"/>
                </a:solidFill>
              </a:rPr>
              <a:t>public</a:t>
            </a:r>
            <a:r>
              <a:rPr lang="en-IE" dirty="0"/>
              <a:t>).</a:t>
            </a:r>
          </a:p>
          <a:p>
            <a:pPr lvl="1"/>
            <a:r>
              <a:rPr lang="en-IE" dirty="0"/>
              <a:t>Visible to the package and all subclasses (</a:t>
            </a:r>
            <a:r>
              <a:rPr lang="en-IE" b="1" dirty="0">
                <a:solidFill>
                  <a:srgbClr val="FF0000"/>
                </a:solidFill>
              </a:rPr>
              <a:t>protected</a:t>
            </a:r>
            <a:r>
              <a:rPr lang="en-IE" dirty="0"/>
              <a:t>).</a:t>
            </a:r>
          </a:p>
          <a:p>
            <a:endParaRPr lang="en-IE" dirty="0"/>
          </a:p>
        </p:txBody>
      </p:sp>
      <p:sp>
        <p:nvSpPr>
          <p:cNvPr id="4" name="Rectangle 3"/>
          <p:cNvSpPr/>
          <p:nvPr/>
        </p:nvSpPr>
        <p:spPr>
          <a:xfrm>
            <a:off x="3124200" y="6488668"/>
            <a:ext cx="6035842" cy="369332"/>
          </a:xfrm>
          <a:prstGeom prst="rect">
            <a:avLst/>
          </a:prstGeom>
        </p:spPr>
        <p:txBody>
          <a:bodyPr wrap="square">
            <a:spAutoFit/>
          </a:bodyPr>
          <a:lstStyle/>
          <a:p>
            <a:pPr algn="r"/>
            <a:r>
              <a:rPr lang="en-IE" dirty="0">
                <a:hlinkClick r:id="rId3"/>
              </a:rPr>
              <a:t>http://www.tutorialspoint.com/java/java_modifier_types.htm</a:t>
            </a:r>
            <a:r>
              <a:rPr lang="en-IE" dirty="0"/>
              <a:t> </a:t>
            </a:r>
          </a:p>
        </p:txBody>
      </p:sp>
      <p:sp>
        <p:nvSpPr>
          <p:cNvPr id="5" name="Rectangle 4"/>
          <p:cNvSpPr/>
          <p:nvPr/>
        </p:nvSpPr>
        <p:spPr>
          <a:xfrm>
            <a:off x="456235" y="3153052"/>
            <a:ext cx="8382000" cy="2790547"/>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custDataLst>
      <p:tags r:id="rId1"/>
    </p:custDataLst>
    <p:extLst>
      <p:ext uri="{BB962C8B-B14F-4D97-AF65-F5344CB8AC3E}">
        <p14:creationId xmlns:p14="http://schemas.microsoft.com/office/powerpoint/2010/main" val="229649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par>
                          <p:cTn id="15" fill="hold">
                            <p:stCondLst>
                              <p:cond delay="0"/>
                            </p:stCondLst>
                            <p:childTnLst>
                              <p:par>
                                <p:cTn id="16" presetID="21" presetClass="entr" presetSubtype="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heel(1)">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Refactoring Spot: </a:t>
            </a:r>
            <a:r>
              <a:rPr lang="en-IE" b="1" dirty="0"/>
              <a:t>Access Modifiers</a:t>
            </a:r>
          </a:p>
        </p:txBody>
      </p:sp>
      <p:sp>
        <p:nvSpPr>
          <p:cNvPr id="3" name="Content Placeholder 2"/>
          <p:cNvSpPr>
            <a:spLocks noGrp="1"/>
          </p:cNvSpPr>
          <p:nvPr>
            <p:ph idx="1"/>
          </p:nvPr>
        </p:nvSpPr>
        <p:spPr/>
        <p:txBody>
          <a:bodyPr>
            <a:normAutofit fontScale="92500"/>
          </a:bodyPr>
          <a:lstStyle/>
          <a:p>
            <a:r>
              <a:rPr lang="en-IE" dirty="0"/>
              <a:t>Java provides a number of access modifiers to set access levels for classes, fields, methods and constructors. </a:t>
            </a:r>
          </a:p>
          <a:p>
            <a:r>
              <a:rPr lang="en-IE" dirty="0"/>
              <a:t>The four access levels are:</a:t>
            </a:r>
          </a:p>
          <a:p>
            <a:pPr lvl="1"/>
            <a:r>
              <a:rPr lang="en-IE" dirty="0"/>
              <a:t>Visible to the </a:t>
            </a:r>
            <a:r>
              <a:rPr lang="en-IE" dirty="0">
                <a:solidFill>
                  <a:srgbClr val="FF0000"/>
                </a:solidFill>
              </a:rPr>
              <a:t>package</a:t>
            </a:r>
            <a:r>
              <a:rPr lang="en-IE" dirty="0"/>
              <a:t>, the default. No modifiers needed.</a:t>
            </a:r>
          </a:p>
          <a:p>
            <a:pPr lvl="1"/>
            <a:r>
              <a:rPr lang="en-IE" b="1" dirty="0"/>
              <a:t>Visible to the class only (</a:t>
            </a:r>
            <a:r>
              <a:rPr lang="en-IE" b="1" dirty="0">
                <a:solidFill>
                  <a:srgbClr val="FF0000"/>
                </a:solidFill>
              </a:rPr>
              <a:t>private</a:t>
            </a:r>
            <a:r>
              <a:rPr lang="en-IE" b="1" dirty="0"/>
              <a:t>).</a:t>
            </a:r>
          </a:p>
          <a:p>
            <a:pPr lvl="1"/>
            <a:r>
              <a:rPr lang="en-IE" b="1" dirty="0"/>
              <a:t>Visible to the world (</a:t>
            </a:r>
            <a:r>
              <a:rPr lang="en-IE" b="1" dirty="0">
                <a:solidFill>
                  <a:srgbClr val="FF0000"/>
                </a:solidFill>
              </a:rPr>
              <a:t>public</a:t>
            </a:r>
            <a:r>
              <a:rPr lang="en-IE" b="1" dirty="0"/>
              <a:t>).</a:t>
            </a:r>
          </a:p>
          <a:p>
            <a:pPr lvl="1"/>
            <a:r>
              <a:rPr lang="en-IE" dirty="0"/>
              <a:t>Visible to the package and all subclasses (</a:t>
            </a:r>
            <a:r>
              <a:rPr lang="en-IE" dirty="0">
                <a:solidFill>
                  <a:srgbClr val="FF0000"/>
                </a:solidFill>
              </a:rPr>
              <a:t>protected</a:t>
            </a:r>
            <a:r>
              <a:rPr lang="en-IE" dirty="0"/>
              <a:t>).</a:t>
            </a:r>
          </a:p>
          <a:p>
            <a:endParaRPr lang="en-IE" dirty="0"/>
          </a:p>
        </p:txBody>
      </p:sp>
      <p:sp>
        <p:nvSpPr>
          <p:cNvPr id="4" name="Rectangle 3"/>
          <p:cNvSpPr/>
          <p:nvPr/>
        </p:nvSpPr>
        <p:spPr>
          <a:xfrm>
            <a:off x="3124200" y="6488668"/>
            <a:ext cx="6035842" cy="369332"/>
          </a:xfrm>
          <a:prstGeom prst="rect">
            <a:avLst/>
          </a:prstGeom>
        </p:spPr>
        <p:txBody>
          <a:bodyPr wrap="square">
            <a:spAutoFit/>
          </a:bodyPr>
          <a:lstStyle/>
          <a:p>
            <a:pPr algn="r"/>
            <a:r>
              <a:rPr lang="en-IE" dirty="0">
                <a:hlinkClick r:id="rId2"/>
              </a:rPr>
              <a:t>http://www.tutorialspoint.com/java/java_modifier_types.htm</a:t>
            </a:r>
            <a:r>
              <a:rPr lang="en-IE" dirty="0"/>
              <a:t> </a:t>
            </a:r>
          </a:p>
        </p:txBody>
      </p:sp>
      <p:sp>
        <p:nvSpPr>
          <p:cNvPr id="5" name="Arrow: Left 4">
            <a:extLst>
              <a:ext uri="{FF2B5EF4-FFF2-40B4-BE49-F238E27FC236}">
                <a16:creationId xmlns:a16="http://schemas.microsoft.com/office/drawing/2014/main" id="{9ADD0303-9083-4341-BA8E-8057CCDC2165}"/>
              </a:ext>
            </a:extLst>
          </p:cNvPr>
          <p:cNvSpPr/>
          <p:nvPr/>
        </p:nvSpPr>
        <p:spPr>
          <a:xfrm>
            <a:off x="5867400" y="4343400"/>
            <a:ext cx="3124200" cy="1295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In Processing, we will focus on public and private.</a:t>
            </a:r>
          </a:p>
        </p:txBody>
      </p:sp>
      <p:sp>
        <p:nvSpPr>
          <p:cNvPr id="6" name="Rectangle 5"/>
          <p:cNvSpPr/>
          <p:nvPr/>
        </p:nvSpPr>
        <p:spPr>
          <a:xfrm>
            <a:off x="914400" y="4495800"/>
            <a:ext cx="4876800" cy="990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33741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2" presetClass="entr" presetSubtype="2"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Refactoring Spot 7.0: </a:t>
            </a:r>
            <a:r>
              <a:rPr lang="en-IE" b="1" dirty="0"/>
              <a:t>Access Modifiers</a:t>
            </a:r>
          </a:p>
        </p:txBody>
      </p:sp>
      <p:sp>
        <p:nvSpPr>
          <p:cNvPr id="6" name="Rectangle 5"/>
          <p:cNvSpPr/>
          <p:nvPr/>
        </p:nvSpPr>
        <p:spPr>
          <a:xfrm>
            <a:off x="457200" y="1524000"/>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b="1" dirty="0">
                <a:solidFill>
                  <a:srgbClr val="FF0000"/>
                </a:solidFill>
              </a:rPr>
              <a:t>public </a:t>
            </a:r>
            <a:r>
              <a:rPr lang="en-IE" sz="2100" dirty="0"/>
              <a:t>class Spot{</a:t>
            </a:r>
          </a:p>
          <a:p>
            <a:r>
              <a:rPr lang="en-IE" sz="2100" dirty="0"/>
              <a:t>   float </a:t>
            </a:r>
            <a:r>
              <a:rPr lang="en-IE" sz="2100" dirty="0" err="1"/>
              <a:t>xCoord</a:t>
            </a:r>
            <a:r>
              <a:rPr lang="en-IE" sz="2100" dirty="0"/>
              <a:t>, </a:t>
            </a:r>
            <a:r>
              <a:rPr lang="en-IE" sz="2100" dirty="0" err="1"/>
              <a:t>yCoord</a:t>
            </a:r>
            <a:r>
              <a:rPr lang="en-IE" sz="2100" dirty="0"/>
              <a:t>;</a:t>
            </a:r>
          </a:p>
          <a:p>
            <a:r>
              <a:rPr lang="en-IE" sz="2100" dirty="0"/>
              <a:t>   float diameter;</a:t>
            </a:r>
          </a:p>
          <a:p>
            <a:r>
              <a:rPr lang="en-IE" sz="2100" dirty="0"/>
              <a:t>   </a:t>
            </a:r>
            <a:r>
              <a:rPr lang="en-IE" sz="2100" dirty="0" err="1"/>
              <a:t>int</a:t>
            </a:r>
            <a:r>
              <a:rPr lang="en-IE" sz="2100" dirty="0"/>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3200400" y="1600200"/>
            <a:ext cx="5638800" cy="212365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b="1" dirty="0">
                <a:solidFill>
                  <a:srgbClr val="00B050"/>
                </a:solidFill>
              </a:rPr>
              <a:t>Encapsulation step 1 </a:t>
            </a:r>
            <a:r>
              <a:rPr lang="en-IE" sz="2200" dirty="0"/>
              <a:t>is complete; </a:t>
            </a:r>
            <a:br>
              <a:rPr lang="en-IE" sz="2200" dirty="0"/>
            </a:br>
            <a:r>
              <a:rPr lang="en-IE" sz="2200" dirty="0"/>
              <a:t>all fields, constructors and methods  </a:t>
            </a:r>
            <a:br>
              <a:rPr lang="en-IE" sz="2200" dirty="0"/>
            </a:br>
            <a:r>
              <a:rPr lang="en-IE" sz="2200" dirty="0"/>
              <a:t>are all in a single unit, called Spot.</a:t>
            </a:r>
          </a:p>
          <a:p>
            <a:endParaRPr lang="en-IE" sz="2200" dirty="0"/>
          </a:p>
          <a:p>
            <a:r>
              <a:rPr lang="en-IE" sz="2200" dirty="0"/>
              <a:t>We just changed the class access level to </a:t>
            </a:r>
            <a:r>
              <a:rPr lang="en-IE" sz="2200" b="1" dirty="0"/>
              <a:t>public </a:t>
            </a:r>
            <a:r>
              <a:rPr lang="en-IE" sz="2200" dirty="0"/>
              <a:t>(default is </a:t>
            </a:r>
            <a:r>
              <a:rPr lang="en-IE" sz="2200" b="1" dirty="0"/>
              <a:t>package</a:t>
            </a:r>
            <a:r>
              <a:rPr lang="en-IE" sz="2200" dirty="0"/>
              <a:t>).</a:t>
            </a:r>
          </a:p>
        </p:txBody>
      </p:sp>
      <p:sp>
        <p:nvSpPr>
          <p:cNvPr id="3" name="TextBox 2"/>
          <p:cNvSpPr txBox="1"/>
          <p:nvPr/>
        </p:nvSpPr>
        <p:spPr>
          <a:xfrm>
            <a:off x="6400800" y="6417647"/>
            <a:ext cx="1585690" cy="369332"/>
          </a:xfrm>
          <a:prstGeom prst="rect">
            <a:avLst/>
          </a:prstGeom>
          <a:noFill/>
        </p:spPr>
        <p:txBody>
          <a:bodyPr wrap="none" rtlCol="0">
            <a:spAutoFit/>
          </a:bodyPr>
          <a:lstStyle/>
          <a:p>
            <a:r>
              <a:rPr lang="en-GB" dirty="0">
                <a:solidFill>
                  <a:schemeClr val="tx2">
                    <a:lumMod val="60000"/>
                    <a:lumOff val="40000"/>
                  </a:schemeClr>
                </a:solidFill>
              </a:rPr>
              <a:t>Filename: Spot</a:t>
            </a:r>
          </a:p>
        </p:txBody>
      </p:sp>
      <p:cxnSp>
        <p:nvCxnSpPr>
          <p:cNvPr id="5" name="Straight Arrow Connector 4"/>
          <p:cNvCxnSpPr/>
          <p:nvPr/>
        </p:nvCxnSpPr>
        <p:spPr>
          <a:xfrm>
            <a:off x="5486400" y="2590800"/>
            <a:ext cx="1066800" cy="3826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654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Refactoring Spot 7.0: Access Modifiers</a:t>
            </a:r>
          </a:p>
        </p:txBody>
      </p:sp>
      <p:sp>
        <p:nvSpPr>
          <p:cNvPr id="6" name="Rectangle 5"/>
          <p:cNvSpPr/>
          <p:nvPr/>
        </p:nvSpPr>
        <p:spPr>
          <a:xfrm>
            <a:off x="457200" y="1524000"/>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a:t>
            </a:r>
            <a:r>
              <a:rPr lang="en-IE" sz="2100" b="1" dirty="0">
                <a:solidFill>
                  <a:srgbClr val="FF0000"/>
                </a:solidFill>
              </a:rPr>
              <a:t> </a:t>
            </a:r>
            <a:r>
              <a:rPr lang="en-IE" sz="2100" dirty="0"/>
              <a:t>class Spot{</a:t>
            </a:r>
          </a:p>
          <a:p>
            <a:r>
              <a:rPr lang="en-IE" sz="2100" b="1" dirty="0">
                <a:solidFill>
                  <a:srgbClr val="FF0000"/>
                </a:solidFill>
              </a:rPr>
              <a:t>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dirty="0">
                <a:solidFill>
                  <a:srgbClr val="FF0000"/>
                </a:solidFill>
              </a:rPr>
              <a:t>   float diameter;</a:t>
            </a:r>
          </a:p>
          <a:p>
            <a:r>
              <a:rPr lang="en-IE" sz="2100" dirty="0">
                <a:solidFill>
                  <a:srgbClr val="FF0000"/>
                </a:solidFill>
              </a:rPr>
              <a:t>   </a:t>
            </a:r>
            <a:r>
              <a:rPr lang="en-IE" sz="2100" dirty="0" err="1">
                <a:solidFill>
                  <a:srgbClr val="FF0000"/>
                </a:solidFill>
              </a:rPr>
              <a:t>int</a:t>
            </a:r>
            <a:r>
              <a:rPr lang="en-IE" sz="2100" dirty="0">
                <a:solidFill>
                  <a:srgbClr val="FF0000"/>
                </a:solidFill>
              </a:rPr>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3124200" y="2743200"/>
            <a:ext cx="5867400" cy="212365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dirty="0"/>
              <a:t>However, as the default access level is </a:t>
            </a:r>
            <a:r>
              <a:rPr lang="en-IE" sz="2200" b="1" dirty="0"/>
              <a:t>package</a:t>
            </a:r>
          </a:p>
          <a:p>
            <a:r>
              <a:rPr lang="en-IE" sz="2200" b="1" dirty="0">
                <a:sym typeface="Wingdings" panose="05000000000000000000" pitchFamily="2" charset="2"/>
              </a:rPr>
              <a:t> </a:t>
            </a:r>
            <a:r>
              <a:rPr lang="en-IE" sz="2200" dirty="0"/>
              <a:t>our methods and fields are all </a:t>
            </a:r>
            <a:r>
              <a:rPr lang="en-IE" sz="2200" b="1" dirty="0"/>
              <a:t>package</a:t>
            </a:r>
            <a:r>
              <a:rPr lang="en-IE" sz="2200" dirty="0"/>
              <a:t> level access.</a:t>
            </a:r>
          </a:p>
          <a:p>
            <a:endParaRPr lang="en-IE" sz="2200" dirty="0"/>
          </a:p>
          <a:p>
            <a:r>
              <a:rPr lang="en-IE" sz="2200" i="1" dirty="0">
                <a:sym typeface="Wingdings" panose="05000000000000000000" pitchFamily="2" charset="2"/>
              </a:rPr>
              <a:t>Problem:  </a:t>
            </a:r>
            <a:r>
              <a:rPr lang="en-IE" sz="2200" dirty="0">
                <a:sym typeface="Wingdings" panose="05000000000000000000" pitchFamily="2" charset="2"/>
              </a:rPr>
              <a:t>t</a:t>
            </a:r>
            <a:r>
              <a:rPr lang="en-IE" sz="2200" dirty="0"/>
              <a:t>his breaks </a:t>
            </a:r>
            <a:r>
              <a:rPr lang="en-IE" sz="2200" b="1" dirty="0">
                <a:solidFill>
                  <a:srgbClr val="00B050"/>
                </a:solidFill>
              </a:rPr>
              <a:t>Encapsulation step 2 </a:t>
            </a:r>
            <a:br>
              <a:rPr lang="en-IE" sz="2200" b="1" dirty="0">
                <a:solidFill>
                  <a:srgbClr val="00B050"/>
                </a:solidFill>
              </a:rPr>
            </a:br>
            <a:r>
              <a:rPr lang="en-IE" sz="2200" dirty="0"/>
              <a:t>i.e. the fields of a class should be </a:t>
            </a:r>
            <a:r>
              <a:rPr lang="en-IE" sz="2200" b="1" dirty="0"/>
              <a:t>private</a:t>
            </a:r>
            <a:r>
              <a:rPr lang="en-IE" sz="2200" dirty="0"/>
              <a:t>.</a:t>
            </a:r>
          </a:p>
        </p:txBody>
      </p:sp>
    </p:spTree>
    <p:extLst>
      <p:ext uri="{BB962C8B-B14F-4D97-AF65-F5344CB8AC3E}">
        <p14:creationId xmlns:p14="http://schemas.microsoft.com/office/powerpoint/2010/main" val="807032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Refactoring Spot 7.0: Access Modifiers</a:t>
            </a:r>
          </a:p>
        </p:txBody>
      </p:sp>
      <p:sp>
        <p:nvSpPr>
          <p:cNvPr id="6" name="Rectangle 5"/>
          <p:cNvSpPr/>
          <p:nvPr/>
        </p:nvSpPr>
        <p:spPr>
          <a:xfrm>
            <a:off x="457200" y="1524000"/>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err="1">
                <a:solidFill>
                  <a:srgbClr val="FF0000"/>
                </a:solidFill>
              </a:rPr>
              <a:t>int</a:t>
            </a:r>
            <a:r>
              <a:rPr lang="en-IE" sz="2100" dirty="0">
                <a:solidFill>
                  <a:srgbClr val="FF0000"/>
                </a:solidFill>
              </a:rPr>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3581400" y="3176874"/>
            <a:ext cx="5334000" cy="76944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dirty="0"/>
              <a:t>To fix </a:t>
            </a:r>
            <a:r>
              <a:rPr lang="en-IE" sz="2200" b="1" dirty="0">
                <a:solidFill>
                  <a:srgbClr val="00B050"/>
                </a:solidFill>
              </a:rPr>
              <a:t>Encapsulation step 2</a:t>
            </a:r>
            <a:r>
              <a:rPr lang="en-IE" sz="2200" dirty="0"/>
              <a:t>, </a:t>
            </a:r>
            <a:br>
              <a:rPr lang="en-IE" sz="2200" dirty="0"/>
            </a:br>
            <a:r>
              <a:rPr lang="en-IE" sz="2200" dirty="0"/>
              <a:t>we </a:t>
            </a:r>
            <a:r>
              <a:rPr lang="en-IE" sz="2200" b="1" dirty="0"/>
              <a:t>declare all the fields </a:t>
            </a:r>
            <a:r>
              <a:rPr lang="en-IE" sz="2200" dirty="0"/>
              <a:t>with </a:t>
            </a:r>
            <a:r>
              <a:rPr lang="en-IE" sz="2200" b="1" dirty="0">
                <a:solidFill>
                  <a:srgbClr val="FF0000"/>
                </a:solidFill>
              </a:rPr>
              <a:t>private</a:t>
            </a:r>
            <a:r>
              <a:rPr lang="en-IE" sz="2200" dirty="0">
                <a:solidFill>
                  <a:srgbClr val="FF0000"/>
                </a:solidFill>
              </a:rPr>
              <a:t> </a:t>
            </a:r>
            <a:r>
              <a:rPr lang="en-IE" sz="2200" dirty="0"/>
              <a:t>access.</a:t>
            </a:r>
          </a:p>
        </p:txBody>
      </p:sp>
      <p:sp>
        <p:nvSpPr>
          <p:cNvPr id="5" name="Rectangle 4"/>
          <p:cNvSpPr/>
          <p:nvPr/>
        </p:nvSpPr>
        <p:spPr>
          <a:xfrm>
            <a:off x="609600" y="1900158"/>
            <a:ext cx="3429000" cy="990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9944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Refactoring Spot 7.0: Access Modifiers</a:t>
            </a:r>
            <a:endParaRPr lang="en-GB" dirty="0"/>
          </a:p>
        </p:txBody>
      </p:sp>
      <p:sp>
        <p:nvSpPr>
          <p:cNvPr id="7" name="TextBox 6"/>
          <p:cNvSpPr txBox="1"/>
          <p:nvPr/>
        </p:nvSpPr>
        <p:spPr>
          <a:xfrm>
            <a:off x="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sharpenSoften amount="45000"/>
                    </a14:imgEffect>
                  </a14:imgLayer>
                </a14:imgProps>
              </a:ext>
              <a:ext uri="{28A0092B-C50C-407E-A947-70E740481C1C}">
                <a14:useLocalDpi xmlns:a14="http://schemas.microsoft.com/office/drawing/2010/main" val="0"/>
              </a:ext>
            </a:extLst>
          </a:blip>
          <a:stretch>
            <a:fillRect/>
          </a:stretch>
        </p:blipFill>
        <p:spPr>
          <a:xfrm>
            <a:off x="457199" y="1523999"/>
            <a:ext cx="5370095" cy="2859401"/>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4272381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Refactoring Spot 7.0: Access Modifiers</a:t>
            </a:r>
            <a:endParaRPr lang="en-GB" dirty="0"/>
          </a:p>
        </p:txBody>
      </p:sp>
      <p:sp>
        <p:nvSpPr>
          <p:cNvPr id="7" name="TextBox 6"/>
          <p:cNvSpPr txBox="1"/>
          <p:nvPr/>
        </p:nvSpPr>
        <p:spPr>
          <a:xfrm>
            <a:off x="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sharpenSoften amount="45000"/>
                    </a14:imgEffect>
                  </a14:imgLayer>
                </a14:imgProps>
              </a:ext>
              <a:ext uri="{28A0092B-C50C-407E-A947-70E740481C1C}">
                <a14:useLocalDpi xmlns:a14="http://schemas.microsoft.com/office/drawing/2010/main" val="0"/>
              </a:ext>
            </a:extLst>
          </a:blip>
          <a:stretch>
            <a:fillRect/>
          </a:stretch>
        </p:blipFill>
        <p:spPr>
          <a:xfrm>
            <a:off x="457199" y="1523999"/>
            <a:ext cx="5370095" cy="2859401"/>
          </a:xfrm>
          <a:prstGeom prst="rect">
            <a:avLst/>
          </a:prstGeom>
          <a:ln>
            <a:solidFill>
              <a:schemeClr val="accent1"/>
            </a:solidFill>
          </a:ln>
          <a:effectLst>
            <a:innerShdw blurRad="63500" dist="50800" dir="16200000">
              <a:schemeClr val="accent2">
                <a:lumMod val="60000"/>
                <a:lumOff val="40000"/>
                <a:alpha val="50000"/>
              </a:schemeClr>
            </a:innerShdw>
          </a:effectLst>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0" y="3926305"/>
            <a:ext cx="5199883" cy="2768769"/>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592772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Refactoring Spot 7.0: Access Modifiers</a:t>
            </a:r>
            <a:endParaRPr lang="en-GB" dirty="0"/>
          </a:p>
        </p:txBody>
      </p:sp>
      <p:sp>
        <p:nvSpPr>
          <p:cNvPr id="9" name="Rectangle 8"/>
          <p:cNvSpPr/>
          <p:nvPr/>
        </p:nvSpPr>
        <p:spPr>
          <a:xfrm>
            <a:off x="152400" y="1521382"/>
            <a:ext cx="3733800" cy="300082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err="1">
                <a:solidFill>
                  <a:srgbClr val="FF0000"/>
                </a:solidFill>
              </a:rPr>
              <a:t>int</a:t>
            </a:r>
            <a:r>
              <a:rPr lang="en-IE" sz="2100" dirty="0">
                <a:solidFill>
                  <a:srgbClr val="FF0000"/>
                </a:solidFill>
              </a:rPr>
              <a:t> red, green, blue;</a:t>
            </a:r>
            <a:endParaRPr lang="en-IE" sz="2100" dirty="0">
              <a:solidFill>
                <a:schemeClr val="bg1">
                  <a:lumMod val="50000"/>
                </a:schemeClr>
              </a:solidFill>
            </a:endParaRPr>
          </a:p>
          <a:p>
            <a:r>
              <a:rPr lang="en-IE" sz="2100" dirty="0">
                <a:solidFill>
                  <a:schemeClr val="bg1">
                    <a:lumMod val="50000"/>
                  </a:schemeClr>
                </a:solidFill>
              </a:rPr>
              <a:t>   //constructors…</a:t>
            </a:r>
          </a:p>
          <a:p>
            <a:r>
              <a:rPr lang="en-IE" sz="2100" dirty="0">
                <a:solidFill>
                  <a:schemeClr val="bg1">
                    <a:lumMod val="50000"/>
                  </a:schemeClr>
                </a:solidFill>
              </a:rPr>
              <a:t>   //display method…</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pic>
        <p:nvPicPr>
          <p:cNvPr id="6" name="Picture 5">
            <a:extLst>
              <a:ext uri="{FF2B5EF4-FFF2-40B4-BE49-F238E27FC236}">
                <a16:creationId xmlns:a16="http://schemas.microsoft.com/office/drawing/2014/main" id="{8D2179C6-55A4-4FEF-BC0A-79F3F554FA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3926305"/>
            <a:ext cx="5199883" cy="2768769"/>
          </a:xfrm>
          <a:prstGeom prst="rect">
            <a:avLst/>
          </a:prstGeom>
          <a:ln>
            <a:solidFill>
              <a:schemeClr val="accent1"/>
            </a:solidFill>
          </a:ln>
          <a:effectLst>
            <a:innerShdw blurRad="63500" dist="50800" dir="16200000">
              <a:schemeClr val="accent2">
                <a:lumMod val="60000"/>
                <a:lumOff val="40000"/>
                <a:alpha val="50000"/>
              </a:schemeClr>
            </a:innerShdw>
          </a:effectLst>
        </p:spPr>
      </p:pic>
      <p:sp>
        <p:nvSpPr>
          <p:cNvPr id="3" name="Arrow: Left 2">
            <a:extLst>
              <a:ext uri="{FF2B5EF4-FFF2-40B4-BE49-F238E27FC236}">
                <a16:creationId xmlns:a16="http://schemas.microsoft.com/office/drawing/2014/main" id="{A8D02C4D-3C13-4B6A-8EFE-D03B474CA417}"/>
              </a:ext>
            </a:extLst>
          </p:cNvPr>
          <p:cNvSpPr/>
          <p:nvPr/>
        </p:nvSpPr>
        <p:spPr>
          <a:xfrm>
            <a:off x="3555206" y="1258252"/>
            <a:ext cx="5428483" cy="2491643"/>
          </a:xfrm>
          <a:prstGeom prst="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300" dirty="0"/>
              <a:t>The </a:t>
            </a:r>
            <a:r>
              <a:rPr lang="en-IE" sz="2300" b="1" u="sng" dirty="0"/>
              <a:t>private</a:t>
            </a:r>
            <a:r>
              <a:rPr lang="en-IE" sz="2300" b="1" dirty="0"/>
              <a:t> </a:t>
            </a:r>
            <a:r>
              <a:rPr lang="en-IE" sz="2300" dirty="0"/>
              <a:t>fields are not viewable or updatable outside the class </a:t>
            </a:r>
            <a:r>
              <a:rPr lang="en-IE" sz="2300" b="1" dirty="0"/>
              <a:t>Spot</a:t>
            </a:r>
            <a:r>
              <a:rPr lang="en-IE" sz="2300" dirty="0"/>
              <a:t>.  Other classes don’t know these exist.</a:t>
            </a:r>
          </a:p>
        </p:txBody>
      </p:sp>
      <p:sp>
        <p:nvSpPr>
          <p:cNvPr id="10" name="TextBox 9">
            <a:extLst>
              <a:ext uri="{FF2B5EF4-FFF2-40B4-BE49-F238E27FC236}">
                <a16:creationId xmlns:a16="http://schemas.microsoft.com/office/drawing/2014/main" id="{CFB4EA4D-546E-4EFA-9F8F-7E81E07D57FE}"/>
              </a:ext>
            </a:extLst>
          </p:cNvPr>
          <p:cNvSpPr txBox="1"/>
          <p:nvPr/>
        </p:nvSpPr>
        <p:spPr>
          <a:xfrm>
            <a:off x="0" y="6525797"/>
            <a:ext cx="3352800" cy="338554"/>
          </a:xfrm>
          <a:prstGeom prst="rect">
            <a:avLst/>
          </a:prstGeom>
          <a:noFill/>
        </p:spPr>
        <p:txBody>
          <a:bodyPr wrap="square" rtlCol="0">
            <a:spAutoFit/>
          </a:bodyPr>
          <a:lstStyle/>
          <a:p>
            <a:r>
              <a:rPr lang="en-GB" sz="1600" dirty="0">
                <a:hlinkClick r:id="rId4"/>
              </a:rPr>
              <a:t>http://www.evinw.com/w/</a:t>
            </a:r>
            <a:r>
              <a:rPr lang="en-GB" sz="1600" dirty="0"/>
              <a:t> </a:t>
            </a:r>
          </a:p>
        </p:txBody>
      </p:sp>
    </p:spTree>
    <p:extLst>
      <p:ext uri="{BB962C8B-B14F-4D97-AF65-F5344CB8AC3E}">
        <p14:creationId xmlns:p14="http://schemas.microsoft.com/office/powerpoint/2010/main" val="19488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Topics list</a:t>
            </a:r>
          </a:p>
        </p:txBody>
      </p:sp>
      <p:sp>
        <p:nvSpPr>
          <p:cNvPr id="5" name="Content Placeholder 4"/>
          <p:cNvSpPr>
            <a:spLocks noGrp="1"/>
          </p:cNvSpPr>
          <p:nvPr>
            <p:ph idx="1"/>
          </p:nvPr>
        </p:nvSpPr>
        <p:spPr>
          <a:xfrm>
            <a:off x="457200" y="1600200"/>
            <a:ext cx="8382000" cy="4525963"/>
          </a:xfrm>
        </p:spPr>
        <p:txBody>
          <a:bodyPr>
            <a:normAutofit/>
          </a:bodyPr>
          <a:lstStyle/>
          <a:p>
            <a:pPr marL="742950" indent="-742950">
              <a:buFont typeface="+mj-lt"/>
              <a:buAutoNum type="arabicPeriod"/>
            </a:pPr>
            <a:r>
              <a:rPr lang="en-IE" sz="3600" dirty="0"/>
              <a:t>Recap: Version 6.1</a:t>
            </a:r>
          </a:p>
          <a:p>
            <a:pPr marL="742950" indent="-742950">
              <a:buFont typeface="+mj-lt"/>
              <a:buAutoNum type="arabicPeriod"/>
            </a:pPr>
            <a:r>
              <a:rPr lang="en-IE" sz="3600" dirty="0"/>
              <a:t>Our design smells!</a:t>
            </a:r>
          </a:p>
          <a:p>
            <a:pPr marL="742950" indent="-742950">
              <a:buFont typeface="+mj-lt"/>
              <a:buAutoNum type="arabicPeriod"/>
            </a:pPr>
            <a:r>
              <a:rPr lang="en-IE" sz="3600" b="1" dirty="0"/>
              <a:t>Encapsulation</a:t>
            </a:r>
          </a:p>
          <a:p>
            <a:pPr marL="742950" indent="-742950">
              <a:buFont typeface="+mj-lt"/>
              <a:buAutoNum type="arabicPeriod"/>
            </a:pPr>
            <a:r>
              <a:rPr lang="en-IE" sz="3600" dirty="0"/>
              <a:t>Refactoring Spot:</a:t>
            </a:r>
          </a:p>
          <a:p>
            <a:pPr lvl="1"/>
            <a:r>
              <a:rPr lang="en-IE" b="1" dirty="0"/>
              <a:t>Access Modifiers</a:t>
            </a:r>
          </a:p>
          <a:p>
            <a:pPr lvl="1"/>
            <a:r>
              <a:rPr lang="en-IE" b="1" dirty="0"/>
              <a:t>Accessors and </a:t>
            </a:r>
            <a:r>
              <a:rPr lang="en-IE" b="1" dirty="0" err="1"/>
              <a:t>Mutators</a:t>
            </a:r>
            <a:r>
              <a:rPr lang="en-IE" b="1" dirty="0"/>
              <a:t> (getters &amp; setters)</a:t>
            </a:r>
          </a:p>
          <a:p>
            <a:pPr lvl="1"/>
            <a:r>
              <a:rPr lang="en-IE" b="1" dirty="0"/>
              <a:t>Validation</a:t>
            </a:r>
          </a:p>
        </p:txBody>
      </p:sp>
      <p:sp>
        <p:nvSpPr>
          <p:cNvPr id="7" name="Rectangle 6"/>
          <p:cNvSpPr/>
          <p:nvPr/>
        </p:nvSpPr>
        <p:spPr>
          <a:xfrm>
            <a:off x="457200" y="3581400"/>
            <a:ext cx="8382000" cy="22860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Right Arrow 2"/>
          <p:cNvSpPr/>
          <p:nvPr/>
        </p:nvSpPr>
        <p:spPr>
          <a:xfrm>
            <a:off x="228600" y="48768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04094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sp>
        <p:nvSpPr>
          <p:cNvPr id="7" name="TextBox 6">
            <a:extLst>
              <a:ext uri="{FF2B5EF4-FFF2-40B4-BE49-F238E27FC236}">
                <a16:creationId xmlns:a16="http://schemas.microsoft.com/office/drawing/2014/main" id="{6A67FA51-9BC6-4D63-A8F9-DF1FF607EF9A}"/>
              </a:ext>
            </a:extLst>
          </p:cNvPr>
          <p:cNvSpPr txBox="1"/>
          <p:nvPr/>
        </p:nvSpPr>
        <p:spPr>
          <a:xfrm>
            <a:off x="0" y="6525797"/>
            <a:ext cx="3352800" cy="338554"/>
          </a:xfrm>
          <a:prstGeom prst="rect">
            <a:avLst/>
          </a:prstGeom>
          <a:noFill/>
        </p:spPr>
        <p:txBody>
          <a:bodyPr wrap="square" rtlCol="0">
            <a:spAutoFit/>
          </a:bodyPr>
          <a:lstStyle/>
          <a:p>
            <a:r>
              <a:rPr lang="en-GB" sz="1600" dirty="0">
                <a:hlinkClick r:id="rId3"/>
              </a:rPr>
              <a:t>http://www.evinw.com/w/</a:t>
            </a:r>
            <a:r>
              <a:rPr lang="en-GB" sz="1600" dirty="0"/>
              <a:t> </a:t>
            </a:r>
          </a:p>
        </p:txBody>
      </p:sp>
      <p:sp>
        <p:nvSpPr>
          <p:cNvPr id="8" name="Title 1"/>
          <p:cNvSpPr>
            <a:spLocks noGrp="1"/>
          </p:cNvSpPr>
          <p:nvPr>
            <p:ph type="title"/>
          </p:nvPr>
        </p:nvSpPr>
        <p:spPr>
          <a:xfrm>
            <a:off x="457200" y="274638"/>
            <a:ext cx="8686800" cy="1143000"/>
          </a:xfrm>
        </p:spPr>
        <p:txBody>
          <a:bodyPr>
            <a:normAutofit fontScale="90000"/>
          </a:bodyPr>
          <a:lstStyle/>
          <a:p>
            <a:r>
              <a:rPr lang="en-IE" dirty="0"/>
              <a:t>Refactoring Spot 7.0: </a:t>
            </a:r>
            <a:r>
              <a:rPr lang="en-IE" b="1" dirty="0"/>
              <a:t>Setters and Getters</a:t>
            </a:r>
            <a:endParaRPr lang="en-GB" b="1" dirty="0"/>
          </a:p>
        </p:txBody>
      </p:sp>
    </p:spTree>
    <p:extLst>
      <p:ext uri="{BB962C8B-B14F-4D97-AF65-F5344CB8AC3E}">
        <p14:creationId xmlns:p14="http://schemas.microsoft.com/office/powerpoint/2010/main" val="770929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rmAutofit fontScale="90000"/>
          </a:bodyPr>
          <a:lstStyle/>
          <a:p>
            <a:r>
              <a:rPr lang="en-IE" dirty="0"/>
              <a:t>Refactoring Spot 7.0: </a:t>
            </a:r>
            <a:r>
              <a:rPr lang="en-IE" b="1" dirty="0"/>
              <a:t>Setters and Getters</a:t>
            </a:r>
            <a:endParaRPr lang="en-GB"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8606" y="3962400"/>
            <a:ext cx="5259194" cy="2800350"/>
          </a:xfrm>
          <a:prstGeom prst="rect">
            <a:avLst/>
          </a:prstGeom>
          <a:ln>
            <a:solidFill>
              <a:schemeClr val="accent1"/>
            </a:solidFill>
          </a:ln>
          <a:effectLst>
            <a:innerShdw blurRad="63500" dist="50800" dir="18900000">
              <a:schemeClr val="accent2">
                <a:lumMod val="40000"/>
                <a:lumOff val="60000"/>
                <a:alpha val="50000"/>
              </a:schemeClr>
            </a:innerShdw>
          </a:effectLst>
        </p:spPr>
      </p:pic>
      <p:sp>
        <p:nvSpPr>
          <p:cNvPr id="7" name="TextBox 6">
            <a:extLst>
              <a:ext uri="{FF2B5EF4-FFF2-40B4-BE49-F238E27FC236}">
                <a16:creationId xmlns:a16="http://schemas.microsoft.com/office/drawing/2014/main" id="{CD1172D8-00C4-4593-89E3-84ED3AAF75F6}"/>
              </a:ext>
            </a:extLst>
          </p:cNvPr>
          <p:cNvSpPr txBox="1"/>
          <p:nvPr/>
        </p:nvSpPr>
        <p:spPr>
          <a:xfrm>
            <a:off x="0" y="6525797"/>
            <a:ext cx="3352800" cy="338554"/>
          </a:xfrm>
          <a:prstGeom prst="rect">
            <a:avLst/>
          </a:prstGeom>
          <a:noFill/>
        </p:spPr>
        <p:txBody>
          <a:bodyPr wrap="square" rtlCol="0">
            <a:spAutoFit/>
          </a:bodyPr>
          <a:lstStyle/>
          <a:p>
            <a:r>
              <a:rPr lang="en-GB" sz="1600" dirty="0">
                <a:hlinkClick r:id="rId4"/>
              </a:rPr>
              <a:t>http://www.evinw.com/w/</a:t>
            </a:r>
            <a:r>
              <a:rPr lang="en-GB" sz="1600" dirty="0"/>
              <a:t> </a:t>
            </a:r>
          </a:p>
        </p:txBody>
      </p:sp>
    </p:spTree>
    <p:extLst>
      <p:ext uri="{BB962C8B-B14F-4D97-AF65-F5344CB8AC3E}">
        <p14:creationId xmlns:p14="http://schemas.microsoft.com/office/powerpoint/2010/main" val="968492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839200" cy="1143000"/>
          </a:xfrm>
        </p:spPr>
        <p:txBody>
          <a:bodyPr>
            <a:normAutofit fontScale="90000"/>
          </a:bodyPr>
          <a:lstStyle/>
          <a:p>
            <a:r>
              <a:rPr lang="en-IE" dirty="0"/>
              <a:t>Refactoring Spot 7.0: </a:t>
            </a:r>
            <a:r>
              <a:rPr lang="en-IE" b="1" dirty="0"/>
              <a:t>Setters and Getters</a:t>
            </a:r>
            <a:endParaRPr lang="en-GB"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8606" y="3962400"/>
            <a:ext cx="5259194" cy="2800350"/>
          </a:xfrm>
          <a:prstGeom prst="rect">
            <a:avLst/>
          </a:prstGeom>
          <a:ln>
            <a:solidFill>
              <a:schemeClr val="accent1"/>
            </a:solidFill>
          </a:ln>
          <a:effectLst>
            <a:innerShdw blurRad="63500" dist="50800" dir="18900000">
              <a:schemeClr val="accent2">
                <a:lumMod val="40000"/>
                <a:lumOff val="60000"/>
                <a:alpha val="50000"/>
              </a:schemeClr>
            </a:innerShdw>
          </a:effectLst>
        </p:spPr>
      </p:pic>
      <p:sp>
        <p:nvSpPr>
          <p:cNvPr id="3" name="Rectangle 2"/>
          <p:cNvSpPr/>
          <p:nvPr/>
        </p:nvSpPr>
        <p:spPr>
          <a:xfrm>
            <a:off x="381000" y="4461808"/>
            <a:ext cx="3276600" cy="193899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2400" b="1" dirty="0">
                <a:solidFill>
                  <a:srgbClr val="00B050"/>
                </a:solidFill>
              </a:rPr>
              <a:t>Encapsulation Step 3: </a:t>
            </a:r>
            <a:r>
              <a:rPr lang="en-IE" sz="2400" b="1" dirty="0"/>
              <a:t>Provide </a:t>
            </a:r>
            <a:r>
              <a:rPr lang="en-IE" sz="2400" b="1" u="sng" dirty="0"/>
              <a:t>public</a:t>
            </a:r>
            <a:r>
              <a:rPr lang="en-IE" sz="2400" b="1" dirty="0"/>
              <a:t> setter and getter methods </a:t>
            </a:r>
            <a:r>
              <a:rPr lang="en-IE" sz="2400" dirty="0"/>
              <a:t>to modify and view the fields values.</a:t>
            </a:r>
          </a:p>
        </p:txBody>
      </p:sp>
      <p:sp>
        <p:nvSpPr>
          <p:cNvPr id="7" name="TextBox 6">
            <a:extLst>
              <a:ext uri="{FF2B5EF4-FFF2-40B4-BE49-F238E27FC236}">
                <a16:creationId xmlns:a16="http://schemas.microsoft.com/office/drawing/2014/main" id="{819C7A1B-DC8F-4C7E-BCD1-9547B9BAC363}"/>
              </a:ext>
            </a:extLst>
          </p:cNvPr>
          <p:cNvSpPr txBox="1"/>
          <p:nvPr/>
        </p:nvSpPr>
        <p:spPr>
          <a:xfrm>
            <a:off x="0" y="6525797"/>
            <a:ext cx="3352800" cy="338554"/>
          </a:xfrm>
          <a:prstGeom prst="rect">
            <a:avLst/>
          </a:prstGeom>
          <a:noFill/>
        </p:spPr>
        <p:txBody>
          <a:bodyPr wrap="square" rtlCol="0">
            <a:spAutoFit/>
          </a:bodyPr>
          <a:lstStyle/>
          <a:p>
            <a:r>
              <a:rPr lang="en-GB" sz="1600" dirty="0">
                <a:hlinkClick r:id="rId4"/>
              </a:rPr>
              <a:t>http://www.evinw.com/w/</a:t>
            </a:r>
            <a:r>
              <a:rPr lang="en-GB" sz="1600" dirty="0"/>
              <a:t> </a:t>
            </a:r>
          </a:p>
        </p:txBody>
      </p:sp>
    </p:spTree>
    <p:extLst>
      <p:ext uri="{BB962C8B-B14F-4D97-AF65-F5344CB8AC3E}">
        <p14:creationId xmlns:p14="http://schemas.microsoft.com/office/powerpoint/2010/main" val="3012638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t>Get</a:t>
            </a:r>
            <a:r>
              <a:rPr lang="en-IE" dirty="0"/>
              <a:t>ters (Accessor Methods)</a:t>
            </a:r>
          </a:p>
        </p:txBody>
      </p:sp>
      <p:sp>
        <p:nvSpPr>
          <p:cNvPr id="3" name="Content Placeholder 2"/>
          <p:cNvSpPr>
            <a:spLocks noGrp="1"/>
          </p:cNvSpPr>
          <p:nvPr>
            <p:ph idx="1"/>
          </p:nvPr>
        </p:nvSpPr>
        <p:spPr/>
        <p:txBody>
          <a:bodyPr>
            <a:normAutofit/>
          </a:bodyPr>
          <a:lstStyle/>
          <a:p>
            <a:r>
              <a:rPr lang="en-US" sz="2800" b="1" dirty="0">
                <a:solidFill>
                  <a:srgbClr val="00B050"/>
                </a:solidFill>
              </a:rPr>
              <a:t>Accessor</a:t>
            </a:r>
            <a:r>
              <a:rPr lang="en-US" sz="2800" dirty="0"/>
              <a:t> methods </a:t>
            </a:r>
          </a:p>
          <a:p>
            <a:pPr lvl="1"/>
            <a:r>
              <a:rPr lang="en-US" sz="2400" dirty="0"/>
              <a:t>return information about the </a:t>
            </a:r>
            <a:r>
              <a:rPr lang="en-US" sz="2400" b="1" dirty="0"/>
              <a:t>state</a:t>
            </a:r>
            <a:r>
              <a:rPr lang="en-US" sz="2400" dirty="0"/>
              <a:t> of an object </a:t>
            </a:r>
          </a:p>
          <a:p>
            <a:pPr lvl="1"/>
            <a:r>
              <a:rPr lang="en-US" sz="2400" dirty="0"/>
              <a:t>i.e. the values stored in the fields.</a:t>
            </a:r>
          </a:p>
          <a:p>
            <a:endParaRPr lang="en-US" sz="2800" dirty="0"/>
          </a:p>
          <a:p>
            <a:r>
              <a:rPr lang="en-US" sz="2800" dirty="0"/>
              <a:t>A </a:t>
            </a:r>
            <a:r>
              <a:rPr lang="en-US" sz="2800" dirty="0">
                <a:solidFill>
                  <a:srgbClr val="FF0000"/>
                </a:solidFill>
              </a:rPr>
              <a:t>‘getter’ </a:t>
            </a:r>
            <a:r>
              <a:rPr lang="en-US" sz="2800" dirty="0"/>
              <a:t>method </a:t>
            </a:r>
          </a:p>
          <a:p>
            <a:pPr lvl="1"/>
            <a:r>
              <a:rPr lang="en-US" sz="2400" dirty="0"/>
              <a:t>is a specific type of </a:t>
            </a:r>
            <a:r>
              <a:rPr lang="en-US" sz="2400" b="1" dirty="0">
                <a:solidFill>
                  <a:srgbClr val="00B050"/>
                </a:solidFill>
              </a:rPr>
              <a:t>accessor</a:t>
            </a:r>
            <a:r>
              <a:rPr lang="en-US" sz="2400" dirty="0"/>
              <a:t> method and typically:</a:t>
            </a:r>
          </a:p>
          <a:p>
            <a:pPr lvl="2"/>
            <a:r>
              <a:rPr lang="en-US" sz="2000" b="1" dirty="0"/>
              <a:t>contains a return statement </a:t>
            </a:r>
            <a:br>
              <a:rPr lang="en-US" sz="2000" b="1" dirty="0"/>
            </a:br>
            <a:r>
              <a:rPr lang="en-US" sz="2000" dirty="0"/>
              <a:t>(as the last executable statement in the method).</a:t>
            </a:r>
          </a:p>
          <a:p>
            <a:pPr lvl="2"/>
            <a:r>
              <a:rPr lang="en-US" sz="2000" dirty="0"/>
              <a:t>defines a </a:t>
            </a:r>
            <a:r>
              <a:rPr lang="en-US" sz="2000" b="1" dirty="0"/>
              <a:t>return</a:t>
            </a:r>
            <a:r>
              <a:rPr lang="en-US" sz="2000" dirty="0"/>
              <a:t> </a:t>
            </a:r>
            <a:r>
              <a:rPr lang="en-US" sz="2000" b="1" dirty="0"/>
              <a:t>type</a:t>
            </a:r>
            <a:r>
              <a:rPr lang="en-US" sz="2000" dirty="0"/>
              <a:t>.</a:t>
            </a:r>
          </a:p>
          <a:p>
            <a:pPr lvl="2"/>
            <a:r>
              <a:rPr lang="en-US" sz="2000" b="1" dirty="0"/>
              <a:t>does NOT change the object state</a:t>
            </a:r>
            <a:r>
              <a:rPr lang="en-US" sz="2000" dirty="0"/>
              <a:t>.</a:t>
            </a:r>
            <a:endParaRPr lang="en-US" dirty="0"/>
          </a:p>
          <a:p>
            <a:pPr marL="0" indent="0">
              <a:buNone/>
            </a:pPr>
            <a:endParaRPr lang="en-IE" dirty="0"/>
          </a:p>
        </p:txBody>
      </p:sp>
    </p:spTree>
    <p:custDataLst>
      <p:tags r:id="rId1"/>
    </p:custDataLst>
    <p:extLst>
      <p:ext uri="{BB962C8B-B14F-4D97-AF65-F5344CB8AC3E}">
        <p14:creationId xmlns:p14="http://schemas.microsoft.com/office/powerpoint/2010/main" val="405737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IE" b="1" dirty="0"/>
              <a:t>Get</a:t>
            </a:r>
            <a:r>
              <a:rPr lang="en-IE" dirty="0"/>
              <a:t>ters</a:t>
            </a:r>
            <a:endParaRPr lang="en-US" dirty="0"/>
          </a:p>
        </p:txBody>
      </p:sp>
      <p:sp>
        <p:nvSpPr>
          <p:cNvPr id="17412" name="Text Box 4"/>
          <p:cNvSpPr txBox="1">
            <a:spLocks noChangeArrowheads="1"/>
          </p:cNvSpPr>
          <p:nvPr/>
        </p:nvSpPr>
        <p:spPr bwMode="auto">
          <a:xfrm>
            <a:off x="1727955" y="3281289"/>
            <a:ext cx="4977645" cy="1569660"/>
          </a:xfrm>
          <a:prstGeom prst="rect">
            <a:avLst/>
          </a:prstGeom>
          <a:noFill/>
          <a:ln w="19050">
            <a:solidFill>
              <a:schemeClr val="tx2"/>
            </a:solidFill>
            <a:miter lim="800000"/>
            <a:headEnd/>
            <a:tailEnd/>
          </a:ln>
          <a:effectLst/>
        </p:spPr>
        <p:txBody>
          <a:bodyPr wrap="none">
            <a:spAutoFit/>
          </a:bodyPr>
          <a:lstStyle/>
          <a:p>
            <a:r>
              <a:rPr lang="en-IE" sz="2400" dirty="0">
                <a:latin typeface="Courier New" pitchFamily="49" charset="0"/>
                <a:cs typeface="Times" pitchFamily="-32" charset="0"/>
              </a:rPr>
              <a:t>public float </a:t>
            </a:r>
            <a:r>
              <a:rPr lang="en-IE" sz="2400" dirty="0" err="1">
                <a:latin typeface="Courier New" pitchFamily="49" charset="0"/>
                <a:cs typeface="Times" pitchFamily="-32" charset="0"/>
              </a:rPr>
              <a:t>getDiameter</a:t>
            </a:r>
            <a:r>
              <a:rPr lang="en-IE" sz="2400" dirty="0">
                <a:latin typeface="Courier New" pitchFamily="49" charset="0"/>
                <a:cs typeface="Times" pitchFamily="-32" charset="0"/>
              </a:rPr>
              <a:t>()</a:t>
            </a:r>
          </a:p>
          <a:p>
            <a:r>
              <a:rPr lang="en-IE" sz="2400" dirty="0">
                <a:latin typeface="Courier New" pitchFamily="49" charset="0"/>
                <a:cs typeface="Times" pitchFamily="-32" charset="0"/>
              </a:rPr>
              <a:t>{</a:t>
            </a:r>
          </a:p>
          <a:p>
            <a:r>
              <a:rPr lang="en-IE" sz="2400" dirty="0">
                <a:latin typeface="Courier New" pitchFamily="49" charset="0"/>
                <a:cs typeface="Times" pitchFamily="-32" charset="0"/>
              </a:rPr>
              <a:t>     return diameter;</a:t>
            </a:r>
          </a:p>
          <a:p>
            <a:r>
              <a:rPr lang="en-IE" sz="2400" dirty="0">
                <a:latin typeface="Courier New" pitchFamily="49" charset="0"/>
                <a:cs typeface="Times" pitchFamily="-32" charset="0"/>
              </a:rPr>
              <a:t>}</a:t>
            </a:r>
          </a:p>
        </p:txBody>
      </p:sp>
      <p:sp>
        <p:nvSpPr>
          <p:cNvPr id="17413" name="Text Box 5"/>
          <p:cNvSpPr txBox="1">
            <a:spLocks noChangeArrowheads="1"/>
          </p:cNvSpPr>
          <p:nvPr/>
        </p:nvSpPr>
        <p:spPr bwMode="auto">
          <a:xfrm>
            <a:off x="3352800" y="2168525"/>
            <a:ext cx="1571625" cy="396875"/>
          </a:xfrm>
          <a:prstGeom prst="rect">
            <a:avLst/>
          </a:prstGeom>
          <a:noFill/>
          <a:ln w="9525">
            <a:noFill/>
            <a:miter lim="800000"/>
            <a:headEnd/>
            <a:tailEnd/>
          </a:ln>
          <a:effectLst/>
        </p:spPr>
        <p:txBody>
          <a:bodyPr>
            <a:spAutoFit/>
          </a:bodyPr>
          <a:lstStyle/>
          <a:p>
            <a:pPr algn="l" eaLnBrk="1" hangingPunct="1"/>
            <a:r>
              <a:rPr lang="en-US" sz="2000" b="0" dirty="0">
                <a:solidFill>
                  <a:srgbClr val="A57133"/>
                </a:solidFill>
              </a:rPr>
              <a:t>return type</a:t>
            </a:r>
          </a:p>
        </p:txBody>
      </p:sp>
      <p:sp>
        <p:nvSpPr>
          <p:cNvPr id="17414" name="Text Box 6"/>
          <p:cNvSpPr txBox="1">
            <a:spLocks noChangeArrowheads="1"/>
          </p:cNvSpPr>
          <p:nvPr/>
        </p:nvSpPr>
        <p:spPr bwMode="auto">
          <a:xfrm>
            <a:off x="5435600" y="2489200"/>
            <a:ext cx="1749425" cy="396875"/>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method name</a:t>
            </a:r>
          </a:p>
        </p:txBody>
      </p:sp>
      <p:sp>
        <p:nvSpPr>
          <p:cNvPr id="17415" name="Text Box 7"/>
          <p:cNvSpPr txBox="1">
            <a:spLocks noChangeArrowheads="1"/>
          </p:cNvSpPr>
          <p:nvPr/>
        </p:nvSpPr>
        <p:spPr bwMode="auto">
          <a:xfrm>
            <a:off x="6934200" y="3032125"/>
            <a:ext cx="2063750" cy="701675"/>
          </a:xfrm>
          <a:prstGeom prst="rect">
            <a:avLst/>
          </a:prstGeom>
          <a:noFill/>
          <a:ln w="9525">
            <a:noFill/>
            <a:miter lim="800000"/>
            <a:headEnd/>
            <a:tailEnd/>
          </a:ln>
          <a:effectLst/>
        </p:spPr>
        <p:txBody>
          <a:bodyPr>
            <a:spAutoFit/>
          </a:bodyPr>
          <a:lstStyle/>
          <a:p>
            <a:pPr algn="l" eaLnBrk="1" hangingPunct="1"/>
            <a:r>
              <a:rPr lang="en-US" sz="2000" b="0" dirty="0">
                <a:solidFill>
                  <a:srgbClr val="A57133"/>
                </a:solidFill>
              </a:rPr>
              <a:t>parameter list (empty)</a:t>
            </a:r>
          </a:p>
        </p:txBody>
      </p:sp>
      <p:sp>
        <p:nvSpPr>
          <p:cNvPr id="17416" name="Oval 8"/>
          <p:cNvSpPr>
            <a:spLocks noChangeArrowheads="1"/>
          </p:cNvSpPr>
          <p:nvPr/>
        </p:nvSpPr>
        <p:spPr bwMode="auto">
          <a:xfrm>
            <a:off x="1744682" y="3752776"/>
            <a:ext cx="365125" cy="1098173"/>
          </a:xfrm>
          <a:prstGeom prst="ellipse">
            <a:avLst/>
          </a:prstGeom>
          <a:noFill/>
          <a:ln w="28575">
            <a:solidFill>
              <a:srgbClr val="A57133"/>
            </a:solidFill>
            <a:round/>
            <a:headEnd/>
            <a:tailEnd/>
          </a:ln>
          <a:effectLst/>
        </p:spPr>
        <p:txBody>
          <a:bodyPr wrap="none" anchor="ctr"/>
          <a:lstStyle/>
          <a:p>
            <a:endParaRPr lang="en-IE"/>
          </a:p>
        </p:txBody>
      </p:sp>
      <p:sp>
        <p:nvSpPr>
          <p:cNvPr id="17417" name="Text Box 9"/>
          <p:cNvSpPr txBox="1">
            <a:spLocks noChangeArrowheads="1"/>
          </p:cNvSpPr>
          <p:nvPr/>
        </p:nvSpPr>
        <p:spPr bwMode="auto">
          <a:xfrm>
            <a:off x="2133600" y="5089525"/>
            <a:ext cx="4552950" cy="396875"/>
          </a:xfrm>
          <a:prstGeom prst="rect">
            <a:avLst/>
          </a:prstGeom>
          <a:noFill/>
          <a:ln w="9525">
            <a:noFill/>
            <a:miter lim="800000"/>
            <a:headEnd/>
            <a:tailEnd/>
          </a:ln>
          <a:effectLst/>
        </p:spPr>
        <p:txBody>
          <a:bodyPr>
            <a:spAutoFit/>
          </a:bodyPr>
          <a:lstStyle/>
          <a:p>
            <a:pPr algn="l" eaLnBrk="1" hangingPunct="1"/>
            <a:r>
              <a:rPr lang="en-US" sz="2000" b="0" dirty="0">
                <a:solidFill>
                  <a:srgbClr val="A57133"/>
                </a:solidFill>
              </a:rPr>
              <a:t>start and end of method body (block)</a:t>
            </a:r>
          </a:p>
        </p:txBody>
      </p:sp>
      <p:sp>
        <p:nvSpPr>
          <p:cNvPr id="17418" name="Text Box 10"/>
          <p:cNvSpPr txBox="1">
            <a:spLocks noChangeArrowheads="1"/>
          </p:cNvSpPr>
          <p:nvPr/>
        </p:nvSpPr>
        <p:spPr bwMode="auto">
          <a:xfrm>
            <a:off x="6775450" y="4038600"/>
            <a:ext cx="2000612" cy="400110"/>
          </a:xfrm>
          <a:prstGeom prst="rect">
            <a:avLst/>
          </a:prstGeom>
          <a:noFill/>
          <a:ln w="9525">
            <a:noFill/>
            <a:miter lim="800000"/>
            <a:headEnd/>
            <a:tailEnd/>
          </a:ln>
          <a:effectLst/>
        </p:spPr>
        <p:txBody>
          <a:bodyPr wrap="none">
            <a:spAutoFit/>
          </a:bodyPr>
          <a:lstStyle/>
          <a:p>
            <a:pPr algn="l" eaLnBrk="1" hangingPunct="1"/>
            <a:r>
              <a:rPr lang="en-US" sz="2000" b="1" dirty="0">
                <a:solidFill>
                  <a:srgbClr val="A57133"/>
                </a:solidFill>
              </a:rPr>
              <a:t>return statement</a:t>
            </a:r>
          </a:p>
        </p:txBody>
      </p:sp>
      <p:sp>
        <p:nvSpPr>
          <p:cNvPr id="17419" name="Line 11"/>
          <p:cNvSpPr>
            <a:spLocks noChangeShapeType="1"/>
          </p:cNvSpPr>
          <p:nvPr/>
        </p:nvSpPr>
        <p:spPr bwMode="auto">
          <a:xfrm flipH="1" flipV="1">
            <a:off x="1905000" y="4876800"/>
            <a:ext cx="228600" cy="304800"/>
          </a:xfrm>
          <a:prstGeom prst="line">
            <a:avLst/>
          </a:prstGeom>
          <a:noFill/>
          <a:ln w="9525">
            <a:solidFill>
              <a:schemeClr val="tx1"/>
            </a:solidFill>
            <a:round/>
            <a:headEnd/>
            <a:tailEnd type="triangle" w="med" len="med"/>
          </a:ln>
          <a:effectLst/>
        </p:spPr>
        <p:txBody>
          <a:bodyPr/>
          <a:lstStyle/>
          <a:p>
            <a:endParaRPr lang="en-IE"/>
          </a:p>
        </p:txBody>
      </p:sp>
      <p:sp>
        <p:nvSpPr>
          <p:cNvPr id="17420" name="Line 12"/>
          <p:cNvSpPr>
            <a:spLocks noChangeShapeType="1"/>
          </p:cNvSpPr>
          <p:nvPr/>
        </p:nvSpPr>
        <p:spPr bwMode="auto">
          <a:xfrm flipH="1">
            <a:off x="3581400" y="2574925"/>
            <a:ext cx="381000" cy="685800"/>
          </a:xfrm>
          <a:prstGeom prst="line">
            <a:avLst/>
          </a:prstGeom>
          <a:noFill/>
          <a:ln w="9525">
            <a:solidFill>
              <a:schemeClr val="tx1"/>
            </a:solidFill>
            <a:round/>
            <a:headEnd/>
            <a:tailEnd type="triangle" w="med" len="med"/>
          </a:ln>
          <a:effectLst/>
        </p:spPr>
        <p:txBody>
          <a:bodyPr/>
          <a:lstStyle/>
          <a:p>
            <a:endParaRPr lang="en-IE"/>
          </a:p>
        </p:txBody>
      </p:sp>
      <p:sp>
        <p:nvSpPr>
          <p:cNvPr id="17421" name="Line 13"/>
          <p:cNvSpPr>
            <a:spLocks noChangeShapeType="1"/>
          </p:cNvSpPr>
          <p:nvPr/>
        </p:nvSpPr>
        <p:spPr bwMode="auto">
          <a:xfrm flipH="1">
            <a:off x="5410200" y="2819399"/>
            <a:ext cx="558800" cy="461889"/>
          </a:xfrm>
          <a:prstGeom prst="line">
            <a:avLst/>
          </a:prstGeom>
          <a:noFill/>
          <a:ln w="9525">
            <a:solidFill>
              <a:schemeClr val="tx1"/>
            </a:solidFill>
            <a:round/>
            <a:headEnd/>
            <a:tailEnd type="triangle" w="med" len="med"/>
          </a:ln>
          <a:effectLst/>
        </p:spPr>
        <p:txBody>
          <a:bodyPr/>
          <a:lstStyle/>
          <a:p>
            <a:endParaRPr lang="en-IE"/>
          </a:p>
        </p:txBody>
      </p:sp>
      <p:sp>
        <p:nvSpPr>
          <p:cNvPr id="17422" name="Line 14"/>
          <p:cNvSpPr>
            <a:spLocks noChangeShapeType="1"/>
          </p:cNvSpPr>
          <p:nvPr/>
        </p:nvSpPr>
        <p:spPr bwMode="auto">
          <a:xfrm flipH="1">
            <a:off x="6476999" y="3306846"/>
            <a:ext cx="479425" cy="228600"/>
          </a:xfrm>
          <a:prstGeom prst="line">
            <a:avLst/>
          </a:prstGeom>
          <a:noFill/>
          <a:ln w="9525">
            <a:solidFill>
              <a:schemeClr val="tx1"/>
            </a:solidFill>
            <a:round/>
            <a:headEnd/>
            <a:tailEnd type="triangle" w="med" len="med"/>
          </a:ln>
          <a:effectLst/>
        </p:spPr>
        <p:txBody>
          <a:bodyPr/>
          <a:lstStyle/>
          <a:p>
            <a:endParaRPr lang="en-IE"/>
          </a:p>
        </p:txBody>
      </p:sp>
      <p:sp>
        <p:nvSpPr>
          <p:cNvPr id="17423" name="Line 15"/>
          <p:cNvSpPr>
            <a:spLocks noChangeShapeType="1"/>
          </p:cNvSpPr>
          <p:nvPr/>
        </p:nvSpPr>
        <p:spPr bwMode="auto">
          <a:xfrm flipH="1">
            <a:off x="5715000" y="4267200"/>
            <a:ext cx="1066800" cy="0"/>
          </a:xfrm>
          <a:prstGeom prst="line">
            <a:avLst/>
          </a:prstGeom>
          <a:noFill/>
          <a:ln w="9525">
            <a:solidFill>
              <a:schemeClr val="tx1"/>
            </a:solidFill>
            <a:round/>
            <a:headEnd/>
            <a:tailEnd type="triangle" w="med" len="med"/>
          </a:ln>
          <a:effectLst/>
        </p:spPr>
        <p:txBody>
          <a:bodyPr/>
          <a:lstStyle/>
          <a:p>
            <a:endParaRPr lang="en-IE"/>
          </a:p>
        </p:txBody>
      </p:sp>
      <p:sp>
        <p:nvSpPr>
          <p:cNvPr id="17424" name="Text Box 16"/>
          <p:cNvSpPr txBox="1">
            <a:spLocks noChangeArrowheads="1"/>
          </p:cNvSpPr>
          <p:nvPr/>
        </p:nvSpPr>
        <p:spPr bwMode="auto">
          <a:xfrm>
            <a:off x="954088" y="2489200"/>
            <a:ext cx="2184400" cy="396875"/>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visibility modifier</a:t>
            </a:r>
          </a:p>
        </p:txBody>
      </p:sp>
      <p:sp>
        <p:nvSpPr>
          <p:cNvPr id="17425" name="Line 17"/>
          <p:cNvSpPr>
            <a:spLocks noChangeShapeType="1"/>
          </p:cNvSpPr>
          <p:nvPr/>
        </p:nvSpPr>
        <p:spPr bwMode="auto">
          <a:xfrm>
            <a:off x="1600201" y="2895600"/>
            <a:ext cx="762000" cy="365125"/>
          </a:xfrm>
          <a:prstGeom prst="line">
            <a:avLst/>
          </a:prstGeom>
          <a:noFill/>
          <a:ln w="9525">
            <a:solidFill>
              <a:schemeClr val="tx1"/>
            </a:solidFill>
            <a:round/>
            <a:headEnd/>
            <a:tailEnd type="triangle" w="med" len="med"/>
          </a:ln>
          <a:effectLst/>
        </p:spPr>
        <p:txBody>
          <a:bodyPr/>
          <a:lstStyle/>
          <a:p>
            <a:endParaRPr lang="en-IE"/>
          </a:p>
        </p:txBody>
      </p:sp>
      <p:sp>
        <p:nvSpPr>
          <p:cNvPr id="17" name="Oval 8"/>
          <p:cNvSpPr>
            <a:spLocks noChangeArrowheads="1"/>
          </p:cNvSpPr>
          <p:nvPr/>
        </p:nvSpPr>
        <p:spPr bwMode="auto">
          <a:xfrm>
            <a:off x="1626221" y="3255438"/>
            <a:ext cx="1421779" cy="478362"/>
          </a:xfrm>
          <a:prstGeom prst="ellipse">
            <a:avLst/>
          </a:prstGeom>
          <a:noFill/>
          <a:ln w="28575">
            <a:solidFill>
              <a:srgbClr val="A57133"/>
            </a:solidFill>
            <a:round/>
            <a:headEnd/>
            <a:tailEnd/>
          </a:ln>
          <a:effectLst/>
        </p:spPr>
        <p:txBody>
          <a:bodyPr wrap="none" anchor="ctr"/>
          <a:lstStyle/>
          <a:p>
            <a:endParaRPr lang="en-IE"/>
          </a:p>
        </p:txBody>
      </p:sp>
    </p:spTree>
    <p:custDataLst>
      <p:tags r:id="rId1"/>
    </p:custDataLst>
    <p:extLst>
      <p:ext uri="{BB962C8B-B14F-4D97-AF65-F5344CB8AC3E}">
        <p14:creationId xmlns:p14="http://schemas.microsoft.com/office/powerpoint/2010/main" val="120591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4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4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4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4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P spid="17414" grpId="0"/>
      <p:bldP spid="17415" grpId="0"/>
      <p:bldP spid="17416" grpId="0" animBg="1"/>
      <p:bldP spid="17417" grpId="0"/>
      <p:bldP spid="17418" grpId="0"/>
      <p:bldP spid="17419" grpId="0" animBg="1"/>
      <p:bldP spid="17420" grpId="0" animBg="1"/>
      <p:bldP spid="17421" grpId="0" animBg="1"/>
      <p:bldP spid="17422" grpId="0" animBg="1"/>
      <p:bldP spid="17423" grpId="0" animBg="1"/>
      <p:bldP spid="17424" grpId="0"/>
      <p:bldP spid="17425"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t>Set</a:t>
            </a:r>
            <a:r>
              <a:rPr lang="en-IE" dirty="0"/>
              <a:t>ters (</a:t>
            </a:r>
            <a:r>
              <a:rPr lang="en-IE" dirty="0" err="1"/>
              <a:t>Mutator</a:t>
            </a:r>
            <a:r>
              <a:rPr lang="en-IE" dirty="0"/>
              <a:t> methods)</a:t>
            </a:r>
          </a:p>
        </p:txBody>
      </p:sp>
      <p:sp>
        <p:nvSpPr>
          <p:cNvPr id="3" name="Content Placeholder 2"/>
          <p:cNvSpPr>
            <a:spLocks noGrp="1"/>
          </p:cNvSpPr>
          <p:nvPr>
            <p:ph idx="1"/>
          </p:nvPr>
        </p:nvSpPr>
        <p:spPr/>
        <p:txBody>
          <a:bodyPr>
            <a:normAutofit/>
          </a:bodyPr>
          <a:lstStyle/>
          <a:p>
            <a:r>
              <a:rPr lang="en-US" b="1" dirty="0" err="1">
                <a:solidFill>
                  <a:srgbClr val="00B050"/>
                </a:solidFill>
              </a:rPr>
              <a:t>Mutator</a:t>
            </a:r>
            <a:r>
              <a:rPr lang="en-US" dirty="0"/>
              <a:t> methods </a:t>
            </a:r>
          </a:p>
          <a:p>
            <a:pPr lvl="1"/>
            <a:r>
              <a:rPr lang="en-US" dirty="0"/>
              <a:t>change (i.e. mutate!) an object’s state.</a:t>
            </a:r>
          </a:p>
          <a:p>
            <a:endParaRPr lang="en-US" dirty="0"/>
          </a:p>
          <a:p>
            <a:r>
              <a:rPr lang="en-US" dirty="0"/>
              <a:t>A </a:t>
            </a:r>
            <a:r>
              <a:rPr lang="en-US" dirty="0">
                <a:solidFill>
                  <a:srgbClr val="FF0000"/>
                </a:solidFill>
              </a:rPr>
              <a:t>‘setter’ </a:t>
            </a:r>
            <a:r>
              <a:rPr lang="en-US" dirty="0"/>
              <a:t>method </a:t>
            </a:r>
          </a:p>
          <a:p>
            <a:pPr lvl="1"/>
            <a:r>
              <a:rPr lang="en-US" dirty="0"/>
              <a:t>is a specific type of </a:t>
            </a:r>
            <a:r>
              <a:rPr lang="en-US" b="1" dirty="0" err="1">
                <a:solidFill>
                  <a:srgbClr val="00B050"/>
                </a:solidFill>
              </a:rPr>
              <a:t>mutator</a:t>
            </a:r>
            <a:r>
              <a:rPr lang="en-US" dirty="0"/>
              <a:t> method and typically:</a:t>
            </a:r>
          </a:p>
          <a:p>
            <a:pPr lvl="2"/>
            <a:r>
              <a:rPr lang="en-US" dirty="0"/>
              <a:t>contains an </a:t>
            </a:r>
            <a:r>
              <a:rPr lang="en-US" b="1" dirty="0"/>
              <a:t>assignment statement </a:t>
            </a:r>
          </a:p>
          <a:p>
            <a:pPr lvl="2"/>
            <a:r>
              <a:rPr lang="en-US" dirty="0"/>
              <a:t>takes in a </a:t>
            </a:r>
            <a:r>
              <a:rPr lang="en-US" b="1" dirty="0"/>
              <a:t>parameter</a:t>
            </a:r>
          </a:p>
          <a:p>
            <a:pPr lvl="2"/>
            <a:r>
              <a:rPr lang="en-US" b="1" dirty="0"/>
              <a:t>changes the object state</a:t>
            </a:r>
            <a:r>
              <a:rPr lang="en-US" dirty="0"/>
              <a:t>.</a:t>
            </a:r>
          </a:p>
        </p:txBody>
      </p:sp>
    </p:spTree>
    <p:extLst>
      <p:ext uri="{BB962C8B-B14F-4D97-AF65-F5344CB8AC3E}">
        <p14:creationId xmlns:p14="http://schemas.microsoft.com/office/powerpoint/2010/main" val="3603059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IE" dirty="0"/>
              <a:t>Setters</a:t>
            </a:r>
            <a:endParaRPr lang="en-US" dirty="0"/>
          </a:p>
        </p:txBody>
      </p:sp>
      <p:sp>
        <p:nvSpPr>
          <p:cNvPr id="19459" name="Text Box 3"/>
          <p:cNvSpPr txBox="1">
            <a:spLocks noChangeArrowheads="1"/>
          </p:cNvSpPr>
          <p:nvPr/>
        </p:nvSpPr>
        <p:spPr bwMode="auto">
          <a:xfrm>
            <a:off x="1066800" y="3203575"/>
            <a:ext cx="7374135" cy="1569660"/>
          </a:xfrm>
          <a:prstGeom prst="rect">
            <a:avLst/>
          </a:prstGeom>
          <a:noFill/>
          <a:ln w="12700">
            <a:solidFill>
              <a:schemeClr val="tx2"/>
            </a:solidFill>
            <a:miter lim="800000"/>
            <a:headEnd/>
            <a:tailEnd/>
          </a:ln>
          <a:effectLst/>
        </p:spPr>
        <p:txBody>
          <a:bodyPr wrap="none">
            <a:spAutoFit/>
          </a:bodyPr>
          <a:lstStyle/>
          <a:p>
            <a:pPr algn="l" eaLnBrk="1" hangingPunct="1"/>
            <a:r>
              <a:rPr lang="en-US" sz="2400" dirty="0">
                <a:solidFill>
                  <a:schemeClr val="tx1"/>
                </a:solidFill>
                <a:latin typeface="Courier New" pitchFamily="49" charset="0"/>
                <a:cs typeface="Times" pitchFamily="-32" charset="0"/>
              </a:rPr>
              <a:t>public void </a:t>
            </a:r>
            <a:r>
              <a:rPr lang="en-US" sz="2400" dirty="0" err="1">
                <a:solidFill>
                  <a:schemeClr val="tx1"/>
                </a:solidFill>
                <a:latin typeface="Courier New" pitchFamily="49" charset="0"/>
                <a:cs typeface="Times" pitchFamily="-32" charset="0"/>
              </a:rPr>
              <a:t>setDiameter</a:t>
            </a:r>
            <a:r>
              <a:rPr lang="en-US" sz="2400" dirty="0">
                <a:solidFill>
                  <a:schemeClr val="tx1"/>
                </a:solidFill>
                <a:latin typeface="Courier New" pitchFamily="49" charset="0"/>
                <a:cs typeface="Times" pitchFamily="-32" charset="0"/>
              </a:rPr>
              <a:t>(float diameter)</a:t>
            </a:r>
          </a:p>
          <a:p>
            <a:pPr algn="l" eaLnBrk="1" hangingPunct="1"/>
            <a:r>
              <a:rPr lang="en-US" sz="2400" dirty="0">
                <a:solidFill>
                  <a:schemeClr val="tx1"/>
                </a:solidFill>
                <a:latin typeface="Courier New" pitchFamily="49" charset="0"/>
                <a:cs typeface="Times" pitchFamily="-32" charset="0"/>
              </a:rPr>
              <a:t>{</a:t>
            </a:r>
          </a:p>
          <a:p>
            <a:pPr algn="l" eaLnBrk="1" hangingPunct="1"/>
            <a:r>
              <a:rPr lang="en-US" sz="2400" dirty="0">
                <a:solidFill>
                  <a:schemeClr val="tx1"/>
                </a:solidFill>
                <a:latin typeface="Courier New" pitchFamily="49" charset="0"/>
                <a:cs typeface="Times" pitchFamily="-32" charset="0"/>
              </a:rPr>
              <a:t>    </a:t>
            </a:r>
            <a:r>
              <a:rPr lang="en-US" sz="2400" dirty="0" err="1">
                <a:solidFill>
                  <a:schemeClr val="tx1"/>
                </a:solidFill>
                <a:latin typeface="Courier New" pitchFamily="49" charset="0"/>
                <a:cs typeface="Times" pitchFamily="-32" charset="0"/>
              </a:rPr>
              <a:t>this.diameter</a:t>
            </a:r>
            <a:r>
              <a:rPr lang="en-US" sz="2400" dirty="0">
                <a:solidFill>
                  <a:schemeClr val="tx1"/>
                </a:solidFill>
                <a:latin typeface="Courier New" pitchFamily="49" charset="0"/>
                <a:cs typeface="Times" pitchFamily="-32" charset="0"/>
              </a:rPr>
              <a:t> = diameter;</a:t>
            </a:r>
          </a:p>
          <a:p>
            <a:pPr algn="l" eaLnBrk="1" hangingPunct="1"/>
            <a:r>
              <a:rPr lang="en-US" sz="2400" dirty="0">
                <a:solidFill>
                  <a:schemeClr val="tx1"/>
                </a:solidFill>
                <a:latin typeface="Courier New" pitchFamily="49" charset="0"/>
                <a:cs typeface="Times" pitchFamily="-32" charset="0"/>
              </a:rPr>
              <a:t>}</a:t>
            </a:r>
            <a:r>
              <a:rPr lang="en-US" sz="2400" dirty="0">
                <a:solidFill>
                  <a:schemeClr val="tx1"/>
                </a:solidFill>
                <a:latin typeface="Courier New" pitchFamily="49" charset="0"/>
              </a:rPr>
              <a:t> </a:t>
            </a:r>
          </a:p>
        </p:txBody>
      </p:sp>
      <p:sp>
        <p:nvSpPr>
          <p:cNvPr id="19460" name="Text Box 4"/>
          <p:cNvSpPr txBox="1">
            <a:spLocks noChangeArrowheads="1"/>
          </p:cNvSpPr>
          <p:nvPr/>
        </p:nvSpPr>
        <p:spPr bwMode="auto">
          <a:xfrm>
            <a:off x="2514600" y="1752600"/>
            <a:ext cx="1481138" cy="396875"/>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return type</a:t>
            </a:r>
          </a:p>
        </p:txBody>
      </p:sp>
      <p:sp>
        <p:nvSpPr>
          <p:cNvPr id="19461" name="Text Box 5"/>
          <p:cNvSpPr txBox="1">
            <a:spLocks noChangeArrowheads="1"/>
          </p:cNvSpPr>
          <p:nvPr/>
        </p:nvSpPr>
        <p:spPr bwMode="auto">
          <a:xfrm>
            <a:off x="3965575" y="2286000"/>
            <a:ext cx="1749425" cy="396875"/>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method name</a:t>
            </a:r>
          </a:p>
        </p:txBody>
      </p:sp>
      <p:sp>
        <p:nvSpPr>
          <p:cNvPr id="19462" name="Text Box 6"/>
          <p:cNvSpPr txBox="1">
            <a:spLocks noChangeArrowheads="1"/>
          </p:cNvSpPr>
          <p:nvPr/>
        </p:nvSpPr>
        <p:spPr bwMode="auto">
          <a:xfrm>
            <a:off x="6934200" y="2286000"/>
            <a:ext cx="1377950" cy="396875"/>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parameter</a:t>
            </a:r>
          </a:p>
        </p:txBody>
      </p:sp>
      <p:sp>
        <p:nvSpPr>
          <p:cNvPr id="19463" name="Line 7"/>
          <p:cNvSpPr>
            <a:spLocks noChangeShapeType="1"/>
          </p:cNvSpPr>
          <p:nvPr/>
        </p:nvSpPr>
        <p:spPr bwMode="auto">
          <a:xfrm flipH="1">
            <a:off x="2744786" y="2133599"/>
            <a:ext cx="455613" cy="1135063"/>
          </a:xfrm>
          <a:prstGeom prst="line">
            <a:avLst/>
          </a:prstGeom>
          <a:noFill/>
          <a:ln w="9525">
            <a:solidFill>
              <a:schemeClr val="tx1"/>
            </a:solidFill>
            <a:round/>
            <a:headEnd/>
            <a:tailEnd type="triangle" w="med" len="med"/>
          </a:ln>
          <a:effectLst/>
        </p:spPr>
        <p:txBody>
          <a:bodyPr/>
          <a:lstStyle/>
          <a:p>
            <a:endParaRPr lang="en-IE"/>
          </a:p>
        </p:txBody>
      </p:sp>
      <p:sp>
        <p:nvSpPr>
          <p:cNvPr id="19464" name="Line 8"/>
          <p:cNvSpPr>
            <a:spLocks noChangeShapeType="1"/>
          </p:cNvSpPr>
          <p:nvPr/>
        </p:nvSpPr>
        <p:spPr bwMode="auto">
          <a:xfrm flipH="1">
            <a:off x="4419600" y="2667000"/>
            <a:ext cx="457200" cy="601662"/>
          </a:xfrm>
          <a:prstGeom prst="line">
            <a:avLst/>
          </a:prstGeom>
          <a:noFill/>
          <a:ln w="9525">
            <a:solidFill>
              <a:schemeClr val="tx1"/>
            </a:solidFill>
            <a:round/>
            <a:headEnd/>
            <a:tailEnd type="triangle" w="med" len="med"/>
          </a:ln>
          <a:effectLst/>
        </p:spPr>
        <p:txBody>
          <a:bodyPr/>
          <a:lstStyle/>
          <a:p>
            <a:endParaRPr lang="en-IE"/>
          </a:p>
        </p:txBody>
      </p:sp>
      <p:sp>
        <p:nvSpPr>
          <p:cNvPr id="19465" name="Line 9"/>
          <p:cNvSpPr>
            <a:spLocks noChangeShapeType="1"/>
          </p:cNvSpPr>
          <p:nvPr/>
        </p:nvSpPr>
        <p:spPr bwMode="auto">
          <a:xfrm flipH="1">
            <a:off x="7366000" y="2686969"/>
            <a:ext cx="266700" cy="499143"/>
          </a:xfrm>
          <a:prstGeom prst="line">
            <a:avLst/>
          </a:prstGeom>
          <a:noFill/>
          <a:ln w="9525">
            <a:solidFill>
              <a:schemeClr val="tx1"/>
            </a:solidFill>
            <a:round/>
            <a:headEnd/>
            <a:tailEnd type="triangle" w="med" len="med"/>
          </a:ln>
          <a:effectLst/>
        </p:spPr>
        <p:txBody>
          <a:bodyPr/>
          <a:lstStyle/>
          <a:p>
            <a:endParaRPr lang="en-IE"/>
          </a:p>
        </p:txBody>
      </p:sp>
      <p:sp>
        <p:nvSpPr>
          <p:cNvPr id="19466" name="Text Box 10"/>
          <p:cNvSpPr txBox="1">
            <a:spLocks noChangeArrowheads="1"/>
          </p:cNvSpPr>
          <p:nvPr/>
        </p:nvSpPr>
        <p:spPr bwMode="auto">
          <a:xfrm>
            <a:off x="304800" y="2270125"/>
            <a:ext cx="2184400" cy="396875"/>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visibility modifier</a:t>
            </a:r>
          </a:p>
        </p:txBody>
      </p:sp>
      <p:sp>
        <p:nvSpPr>
          <p:cNvPr id="19467" name="Line 11"/>
          <p:cNvSpPr>
            <a:spLocks noChangeShapeType="1"/>
          </p:cNvSpPr>
          <p:nvPr/>
        </p:nvSpPr>
        <p:spPr bwMode="auto">
          <a:xfrm>
            <a:off x="1447800" y="2667000"/>
            <a:ext cx="131763" cy="519113"/>
          </a:xfrm>
          <a:prstGeom prst="line">
            <a:avLst/>
          </a:prstGeom>
          <a:noFill/>
          <a:ln w="9525">
            <a:solidFill>
              <a:schemeClr val="tx1"/>
            </a:solidFill>
            <a:round/>
            <a:headEnd/>
            <a:tailEnd type="triangle" w="med" len="med"/>
          </a:ln>
          <a:effectLst/>
        </p:spPr>
        <p:txBody>
          <a:bodyPr/>
          <a:lstStyle/>
          <a:p>
            <a:endParaRPr lang="en-IE"/>
          </a:p>
        </p:txBody>
      </p:sp>
      <p:sp>
        <p:nvSpPr>
          <p:cNvPr id="19468" name="Text Box 12"/>
          <p:cNvSpPr txBox="1">
            <a:spLocks noChangeArrowheads="1"/>
          </p:cNvSpPr>
          <p:nvPr/>
        </p:nvSpPr>
        <p:spPr bwMode="auto">
          <a:xfrm>
            <a:off x="4052161" y="5029200"/>
            <a:ext cx="1434239" cy="707886"/>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assignment </a:t>
            </a:r>
          </a:p>
          <a:p>
            <a:pPr algn="l" eaLnBrk="1" hangingPunct="1"/>
            <a:r>
              <a:rPr lang="en-US" sz="2000" b="0" dirty="0">
                <a:solidFill>
                  <a:srgbClr val="A57133"/>
                </a:solidFill>
              </a:rPr>
              <a:t>statement</a:t>
            </a:r>
          </a:p>
        </p:txBody>
      </p:sp>
      <p:sp>
        <p:nvSpPr>
          <p:cNvPr id="19469" name="Line 13"/>
          <p:cNvSpPr>
            <a:spLocks noChangeShapeType="1"/>
          </p:cNvSpPr>
          <p:nvPr/>
        </p:nvSpPr>
        <p:spPr bwMode="auto">
          <a:xfrm flipH="1" flipV="1">
            <a:off x="4495800" y="4239835"/>
            <a:ext cx="0" cy="773490"/>
          </a:xfrm>
          <a:prstGeom prst="line">
            <a:avLst/>
          </a:prstGeom>
          <a:noFill/>
          <a:ln w="9525">
            <a:solidFill>
              <a:schemeClr val="tx1"/>
            </a:solidFill>
            <a:round/>
            <a:headEnd/>
            <a:tailEnd type="triangle" w="med" len="med"/>
          </a:ln>
          <a:effectLst/>
        </p:spPr>
        <p:txBody>
          <a:bodyPr/>
          <a:lstStyle/>
          <a:p>
            <a:endParaRPr lang="en-IE"/>
          </a:p>
        </p:txBody>
      </p:sp>
      <p:sp>
        <p:nvSpPr>
          <p:cNvPr id="19470" name="Text Box 14"/>
          <p:cNvSpPr txBox="1">
            <a:spLocks noChangeArrowheads="1"/>
          </p:cNvSpPr>
          <p:nvPr/>
        </p:nvSpPr>
        <p:spPr bwMode="auto">
          <a:xfrm>
            <a:off x="1467853" y="5089525"/>
            <a:ext cx="2292359" cy="400110"/>
          </a:xfrm>
          <a:prstGeom prst="rect">
            <a:avLst/>
          </a:prstGeom>
          <a:noFill/>
          <a:ln w="9525">
            <a:noFill/>
            <a:miter lim="800000"/>
            <a:headEnd/>
            <a:tailEnd/>
          </a:ln>
          <a:effectLst/>
        </p:spPr>
        <p:txBody>
          <a:bodyPr wrap="none">
            <a:spAutoFit/>
          </a:bodyPr>
          <a:lstStyle/>
          <a:p>
            <a:pPr algn="l" eaLnBrk="1" hangingPunct="1"/>
            <a:r>
              <a:rPr lang="en-US" sz="2000" b="0" dirty="0">
                <a:solidFill>
                  <a:srgbClr val="A57133"/>
                </a:solidFill>
              </a:rPr>
              <a:t>field being mutated</a:t>
            </a:r>
          </a:p>
        </p:txBody>
      </p:sp>
      <p:sp>
        <p:nvSpPr>
          <p:cNvPr id="19471" name="Line 15"/>
          <p:cNvSpPr>
            <a:spLocks noChangeShapeType="1"/>
          </p:cNvSpPr>
          <p:nvPr/>
        </p:nvSpPr>
        <p:spPr bwMode="auto">
          <a:xfrm flipV="1">
            <a:off x="2744786" y="4343399"/>
            <a:ext cx="379414" cy="669925"/>
          </a:xfrm>
          <a:prstGeom prst="line">
            <a:avLst/>
          </a:prstGeom>
          <a:noFill/>
          <a:ln w="9525">
            <a:solidFill>
              <a:schemeClr val="tx1"/>
            </a:solidFill>
            <a:round/>
            <a:headEnd/>
            <a:tailEnd type="triangle" w="med" len="med"/>
          </a:ln>
          <a:effectLst/>
        </p:spPr>
        <p:txBody>
          <a:bodyPr/>
          <a:lstStyle/>
          <a:p>
            <a:endParaRPr lang="en-IE"/>
          </a:p>
        </p:txBody>
      </p:sp>
      <p:sp>
        <p:nvSpPr>
          <p:cNvPr id="16" name="Text Box 12"/>
          <p:cNvSpPr txBox="1">
            <a:spLocks noChangeArrowheads="1"/>
          </p:cNvSpPr>
          <p:nvPr/>
        </p:nvSpPr>
        <p:spPr bwMode="auto">
          <a:xfrm>
            <a:off x="6019800" y="5083314"/>
            <a:ext cx="1775551" cy="707886"/>
          </a:xfrm>
          <a:prstGeom prst="rect">
            <a:avLst/>
          </a:prstGeom>
          <a:noFill/>
          <a:ln w="9525">
            <a:noFill/>
            <a:miter lim="800000"/>
            <a:headEnd/>
            <a:tailEnd/>
          </a:ln>
          <a:effectLst/>
        </p:spPr>
        <p:txBody>
          <a:bodyPr wrap="none">
            <a:spAutoFit/>
          </a:bodyPr>
          <a:lstStyle/>
          <a:p>
            <a:pPr algn="l" eaLnBrk="1" hangingPunct="1"/>
            <a:r>
              <a:rPr lang="en-US" sz="2000" b="1" dirty="0">
                <a:solidFill>
                  <a:srgbClr val="A57133"/>
                </a:solidFill>
              </a:rPr>
              <a:t>Value passed </a:t>
            </a:r>
          </a:p>
          <a:p>
            <a:pPr algn="l" eaLnBrk="1" hangingPunct="1"/>
            <a:r>
              <a:rPr lang="en-US" sz="2000" b="1" dirty="0">
                <a:solidFill>
                  <a:srgbClr val="A57133"/>
                </a:solidFill>
              </a:rPr>
              <a:t>as a parameter</a:t>
            </a:r>
          </a:p>
        </p:txBody>
      </p:sp>
      <p:sp>
        <p:nvSpPr>
          <p:cNvPr id="17" name="Line 13"/>
          <p:cNvSpPr>
            <a:spLocks noChangeShapeType="1"/>
          </p:cNvSpPr>
          <p:nvPr/>
        </p:nvSpPr>
        <p:spPr bwMode="auto">
          <a:xfrm flipH="1" flipV="1">
            <a:off x="5486400" y="4343399"/>
            <a:ext cx="977039" cy="724040"/>
          </a:xfrm>
          <a:prstGeom prst="line">
            <a:avLst/>
          </a:prstGeom>
          <a:noFill/>
          <a:ln w="9525">
            <a:solidFill>
              <a:schemeClr val="tx1"/>
            </a:solidFill>
            <a:round/>
            <a:headEnd/>
            <a:tailEnd type="triangle" w="med" len="med"/>
          </a:ln>
          <a:effectLst/>
        </p:spPr>
        <p:txBody>
          <a:bodyPr/>
          <a:lstStyle/>
          <a:p>
            <a:endParaRPr lang="en-IE"/>
          </a:p>
        </p:txBody>
      </p:sp>
    </p:spTree>
    <p:custDataLst>
      <p:tags r:id="rId1"/>
    </p:custDataLst>
    <p:extLst>
      <p:ext uri="{BB962C8B-B14F-4D97-AF65-F5344CB8AC3E}">
        <p14:creationId xmlns:p14="http://schemas.microsoft.com/office/powerpoint/2010/main" val="401216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4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4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4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47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47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4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4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1" grpId="0"/>
      <p:bldP spid="19462" grpId="0"/>
      <p:bldP spid="19463" grpId="0" animBg="1"/>
      <p:bldP spid="19464" grpId="0" animBg="1"/>
      <p:bldP spid="19465" grpId="0" animBg="1"/>
      <p:bldP spid="19466" grpId="0"/>
      <p:bldP spid="19467" grpId="0" animBg="1"/>
      <p:bldP spid="19468" grpId="0"/>
      <p:bldP spid="19469" grpId="0" animBg="1"/>
      <p:bldP spid="19470" grpId="0"/>
      <p:bldP spid="19471" grpId="0" animBg="1"/>
      <p:bldP spid="16" grpId="0"/>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Getters/Setters</a:t>
            </a:r>
          </a:p>
        </p:txBody>
      </p:sp>
      <p:sp>
        <p:nvSpPr>
          <p:cNvPr id="3" name="Content Placeholder 2"/>
          <p:cNvSpPr>
            <a:spLocks noGrp="1"/>
          </p:cNvSpPr>
          <p:nvPr>
            <p:ph idx="1"/>
          </p:nvPr>
        </p:nvSpPr>
        <p:spPr/>
        <p:txBody>
          <a:bodyPr/>
          <a:lstStyle/>
          <a:p>
            <a:r>
              <a:rPr lang="en-IE" dirty="0"/>
              <a:t>For </a:t>
            </a:r>
            <a:r>
              <a:rPr lang="en-IE" dirty="0">
                <a:solidFill>
                  <a:srgbClr val="FF0000"/>
                </a:solidFill>
              </a:rPr>
              <a:t>each instance field </a:t>
            </a:r>
            <a:r>
              <a:rPr lang="en-IE" dirty="0"/>
              <a:t>in a class, </a:t>
            </a:r>
            <a:br>
              <a:rPr lang="en-IE" dirty="0"/>
            </a:br>
            <a:r>
              <a:rPr lang="en-IE" dirty="0"/>
              <a:t>you are normally asked to write: </a:t>
            </a:r>
          </a:p>
          <a:p>
            <a:pPr marL="0" indent="0">
              <a:buNone/>
            </a:pPr>
            <a:endParaRPr lang="en-IE" dirty="0"/>
          </a:p>
          <a:p>
            <a:pPr lvl="1"/>
            <a:r>
              <a:rPr lang="en-IE" dirty="0"/>
              <a:t>A </a:t>
            </a:r>
            <a:r>
              <a:rPr lang="en-IE" b="1" dirty="0"/>
              <a:t>get</a:t>
            </a:r>
            <a:r>
              <a:rPr lang="en-IE" dirty="0"/>
              <a:t>ter</a:t>
            </a:r>
          </a:p>
          <a:p>
            <a:pPr lvl="2"/>
            <a:r>
              <a:rPr lang="en-IE" dirty="0"/>
              <a:t>Return statement</a:t>
            </a:r>
          </a:p>
          <a:p>
            <a:pPr marL="457200" lvl="1" indent="0">
              <a:buNone/>
            </a:pPr>
            <a:endParaRPr lang="en-IE" dirty="0"/>
          </a:p>
          <a:p>
            <a:pPr lvl="1"/>
            <a:r>
              <a:rPr lang="en-IE" dirty="0"/>
              <a:t>A </a:t>
            </a:r>
            <a:r>
              <a:rPr lang="en-IE" b="1" dirty="0"/>
              <a:t>set</a:t>
            </a:r>
            <a:r>
              <a:rPr lang="en-IE" dirty="0"/>
              <a:t>ter</a:t>
            </a:r>
          </a:p>
          <a:p>
            <a:pPr lvl="2"/>
            <a:r>
              <a:rPr lang="en-IE" dirty="0"/>
              <a:t>Assignment statement</a:t>
            </a:r>
          </a:p>
        </p:txBody>
      </p:sp>
    </p:spTree>
    <p:extLst>
      <p:ext uri="{BB962C8B-B14F-4D97-AF65-F5344CB8AC3E}">
        <p14:creationId xmlns:p14="http://schemas.microsoft.com/office/powerpoint/2010/main" val="2723850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7.0: </a:t>
            </a:r>
            <a:r>
              <a:rPr lang="en-IE" b="1" dirty="0"/>
              <a:t>Get</a:t>
            </a:r>
            <a:r>
              <a:rPr lang="en-IE" dirty="0"/>
              <a:t>ters</a:t>
            </a:r>
          </a:p>
        </p:txBody>
      </p:sp>
      <p:sp>
        <p:nvSpPr>
          <p:cNvPr id="5" name="Rectangle 4"/>
          <p:cNvSpPr/>
          <p:nvPr/>
        </p:nvSpPr>
        <p:spPr>
          <a:xfrm>
            <a:off x="0" y="1521382"/>
            <a:ext cx="3962400" cy="461664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a:solidFill>
                  <a:srgbClr val="FF0000"/>
                </a:solidFill>
              </a:rPr>
              <a:t>int red, green, blue;</a:t>
            </a:r>
            <a:endParaRPr lang="en-IE" sz="2100" dirty="0">
              <a:solidFill>
                <a:schemeClr val="bg1">
                  <a:lumMod val="50000"/>
                </a:schemeClr>
              </a:solidFill>
            </a:endParaRPr>
          </a:p>
          <a:p>
            <a:r>
              <a:rPr lang="en-IE" sz="2100" dirty="0">
                <a:solidFill>
                  <a:schemeClr val="bg1">
                    <a:lumMod val="50000"/>
                  </a:schemeClr>
                </a:solidFill>
              </a:rPr>
              <a:t>   </a:t>
            </a:r>
          </a:p>
          <a:p>
            <a:r>
              <a:rPr lang="en-IE" sz="2100" dirty="0">
                <a:solidFill>
                  <a:schemeClr val="bg1">
                    <a:lumMod val="50000"/>
                  </a:schemeClr>
                </a:solidFill>
              </a:rPr>
              <a:t>   //constructors…</a:t>
            </a:r>
          </a:p>
          <a:p>
            <a:r>
              <a:rPr lang="en-IE" sz="2100" dirty="0">
                <a:solidFill>
                  <a:schemeClr val="bg1">
                    <a:lumMod val="50000"/>
                  </a:schemeClr>
                </a:solidFill>
              </a:rPr>
              <a:t>   //display method…</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endParaRPr lang="en-IE" sz="2100" dirty="0">
              <a:solidFill>
                <a:schemeClr val="bg1">
                  <a:lumMod val="50000"/>
                </a:schemeClr>
              </a:solidFill>
            </a:endParaRPr>
          </a:p>
          <a:p>
            <a:r>
              <a:rPr lang="en-IE" sz="2100" dirty="0">
                <a:solidFill>
                  <a:schemeClr val="bg1">
                    <a:lumMod val="50000"/>
                  </a:schemeClr>
                </a:solidFill>
              </a:rPr>
              <a:t>   </a:t>
            </a:r>
            <a:r>
              <a:rPr lang="en-IE" sz="2100" dirty="0">
                <a:solidFill>
                  <a:schemeClr val="tx1"/>
                </a:solidFill>
              </a:rPr>
              <a:t>public float </a:t>
            </a:r>
            <a:r>
              <a:rPr lang="en-IE" sz="2100" b="1" dirty="0" err="1">
                <a:solidFill>
                  <a:schemeClr val="tx1"/>
                </a:solidFill>
              </a:rPr>
              <a:t>getDiameter</a:t>
            </a:r>
            <a:r>
              <a:rPr lang="en-IE" sz="2100" dirty="0">
                <a:solidFill>
                  <a:schemeClr val="tx1"/>
                </a:solidFill>
              </a:rPr>
              <a:t>(){</a:t>
            </a:r>
          </a:p>
          <a:p>
            <a:r>
              <a:rPr lang="en-IE" sz="2100" dirty="0">
                <a:solidFill>
                  <a:schemeClr val="tx1"/>
                </a:solidFill>
              </a:rPr>
              <a:t>      return diameter;</a:t>
            </a:r>
          </a:p>
          <a:p>
            <a:r>
              <a:rPr lang="en-IE" sz="2100" dirty="0">
                <a:solidFill>
                  <a:schemeClr val="tx1"/>
                </a:solidFill>
              </a:rPr>
              <a:t>   }</a:t>
            </a:r>
          </a:p>
          <a:p>
            <a:endParaRPr lang="en-IE" sz="2100" dirty="0">
              <a:solidFill>
                <a:schemeClr val="tx1"/>
              </a:solidFill>
            </a:endParaRPr>
          </a:p>
        </p:txBody>
      </p:sp>
      <p:sp>
        <p:nvSpPr>
          <p:cNvPr id="6" name="Rectangle 5"/>
          <p:cNvSpPr/>
          <p:nvPr/>
        </p:nvSpPr>
        <p:spPr>
          <a:xfrm>
            <a:off x="3770971" y="1295400"/>
            <a:ext cx="2971800" cy="429348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 </a:t>
            </a:r>
          </a:p>
          <a:p>
            <a:r>
              <a:rPr lang="en-IE" sz="2100" dirty="0">
                <a:solidFill>
                  <a:schemeClr val="tx1"/>
                </a:solidFill>
              </a:rPr>
              <a:t> public float </a:t>
            </a:r>
            <a:r>
              <a:rPr lang="en-IE" sz="2100" b="1" dirty="0" err="1">
                <a:solidFill>
                  <a:schemeClr val="tx1"/>
                </a:solidFill>
              </a:rPr>
              <a:t>getXCoord</a:t>
            </a:r>
            <a:r>
              <a:rPr lang="en-IE" sz="2100" dirty="0">
                <a:solidFill>
                  <a:schemeClr val="tx1"/>
                </a:solidFill>
              </a:rPr>
              <a:t>(){</a:t>
            </a:r>
          </a:p>
          <a:p>
            <a:r>
              <a:rPr lang="en-IE" sz="2100" dirty="0">
                <a:solidFill>
                  <a:schemeClr val="tx1"/>
                </a:solidFill>
              </a:rPr>
              <a:t>      return </a:t>
            </a:r>
            <a:r>
              <a:rPr lang="en-IE" sz="2100" dirty="0" err="1">
                <a:solidFill>
                  <a:schemeClr val="tx1"/>
                </a:solidFill>
              </a:rPr>
              <a:t>xCoord</a:t>
            </a:r>
            <a:r>
              <a:rPr lang="en-IE" sz="2100" dirty="0">
                <a:solidFill>
                  <a:schemeClr val="tx1"/>
                </a:solidFill>
              </a:rPr>
              <a:t>;</a:t>
            </a:r>
          </a:p>
          <a:p>
            <a:r>
              <a:rPr lang="en-IE" sz="2100" dirty="0">
                <a:solidFill>
                  <a:schemeClr val="tx1"/>
                </a:solidFill>
              </a:rPr>
              <a:t>   }</a:t>
            </a:r>
          </a:p>
          <a:p>
            <a:endParaRPr lang="en-IE" sz="2100" dirty="0">
              <a:solidFill>
                <a:schemeClr val="tx1"/>
              </a:solidFill>
            </a:endParaRPr>
          </a:p>
          <a:p>
            <a:r>
              <a:rPr lang="en-IE" sz="2100" dirty="0">
                <a:solidFill>
                  <a:schemeClr val="tx1"/>
                </a:solidFill>
              </a:rPr>
              <a:t>public float </a:t>
            </a:r>
            <a:r>
              <a:rPr lang="en-IE" sz="2100" b="1" dirty="0" err="1">
                <a:solidFill>
                  <a:schemeClr val="tx1"/>
                </a:solidFill>
              </a:rPr>
              <a:t>getYCoord</a:t>
            </a:r>
            <a:r>
              <a:rPr lang="en-IE" sz="2100" dirty="0">
                <a:solidFill>
                  <a:schemeClr val="tx1"/>
                </a:solidFill>
              </a:rPr>
              <a:t>(){</a:t>
            </a:r>
          </a:p>
          <a:p>
            <a:r>
              <a:rPr lang="en-IE" sz="2100" dirty="0">
                <a:solidFill>
                  <a:schemeClr val="tx1"/>
                </a:solidFill>
              </a:rPr>
              <a:t>    return </a:t>
            </a:r>
            <a:r>
              <a:rPr lang="en-IE" sz="2100" dirty="0" err="1">
                <a:solidFill>
                  <a:schemeClr val="tx1"/>
                </a:solidFill>
              </a:rPr>
              <a:t>yCoord</a:t>
            </a:r>
            <a:r>
              <a:rPr lang="en-IE" sz="2100" dirty="0">
                <a:solidFill>
                  <a:schemeClr val="tx1"/>
                </a:solidFill>
              </a:rPr>
              <a:t>;</a:t>
            </a:r>
          </a:p>
          <a:p>
            <a:r>
              <a:rPr lang="en-IE" sz="2100" dirty="0">
                <a:solidFill>
                  <a:schemeClr val="tx1"/>
                </a:solidFill>
              </a:rPr>
              <a:t>  }</a:t>
            </a:r>
          </a:p>
          <a:p>
            <a:r>
              <a:rPr lang="en-IE" sz="2100" dirty="0">
                <a:solidFill>
                  <a:schemeClr val="tx1"/>
                </a:solidFill>
              </a:rPr>
              <a:t>  </a:t>
            </a:r>
          </a:p>
          <a:p>
            <a:r>
              <a:rPr lang="en-IE" sz="2100" dirty="0">
                <a:solidFill>
                  <a:schemeClr val="tx1"/>
                </a:solidFill>
              </a:rPr>
              <a:t>  public </a:t>
            </a:r>
            <a:r>
              <a:rPr lang="en-IE" sz="2100" dirty="0" err="1">
                <a:solidFill>
                  <a:schemeClr val="tx1"/>
                </a:solidFill>
              </a:rPr>
              <a:t>int</a:t>
            </a:r>
            <a:r>
              <a:rPr lang="en-IE" sz="2100" dirty="0">
                <a:solidFill>
                  <a:schemeClr val="tx1"/>
                </a:solidFill>
              </a:rPr>
              <a:t> </a:t>
            </a:r>
            <a:r>
              <a:rPr lang="en-IE" sz="2100" b="1" dirty="0" err="1">
                <a:solidFill>
                  <a:schemeClr val="tx1"/>
                </a:solidFill>
              </a:rPr>
              <a:t>getRed</a:t>
            </a:r>
            <a:r>
              <a:rPr lang="en-IE" sz="2100" dirty="0">
                <a:solidFill>
                  <a:schemeClr val="tx1"/>
                </a:solidFill>
              </a:rPr>
              <a:t>(){</a:t>
            </a:r>
          </a:p>
          <a:p>
            <a:r>
              <a:rPr lang="en-IE" sz="2100" dirty="0">
                <a:solidFill>
                  <a:schemeClr val="tx1"/>
                </a:solidFill>
              </a:rPr>
              <a:t>    return red;</a:t>
            </a:r>
          </a:p>
          <a:p>
            <a:r>
              <a:rPr lang="en-IE" sz="2100" dirty="0">
                <a:solidFill>
                  <a:schemeClr val="tx1"/>
                </a:solidFill>
              </a:rPr>
              <a:t>  }</a:t>
            </a:r>
          </a:p>
          <a:p>
            <a:r>
              <a:rPr lang="en-IE" sz="2100" dirty="0">
                <a:solidFill>
                  <a:schemeClr val="tx1"/>
                </a:solidFill>
              </a:rPr>
              <a:t>    </a:t>
            </a:r>
          </a:p>
        </p:txBody>
      </p:sp>
      <p:sp>
        <p:nvSpPr>
          <p:cNvPr id="8" name="Rectangle 7"/>
          <p:cNvSpPr/>
          <p:nvPr/>
        </p:nvSpPr>
        <p:spPr>
          <a:xfrm>
            <a:off x="6553200" y="1959543"/>
            <a:ext cx="2743200" cy="332398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endParaRPr lang="en-IE" sz="2100" dirty="0"/>
          </a:p>
          <a:p>
            <a:r>
              <a:rPr lang="en-IE" sz="2100" dirty="0"/>
              <a:t> </a:t>
            </a:r>
            <a:r>
              <a:rPr lang="en-IE" sz="2100" dirty="0">
                <a:solidFill>
                  <a:schemeClr val="tx1"/>
                </a:solidFill>
              </a:rPr>
              <a:t> public </a:t>
            </a:r>
            <a:r>
              <a:rPr lang="en-IE" sz="2100" dirty="0" err="1">
                <a:solidFill>
                  <a:schemeClr val="tx1"/>
                </a:solidFill>
              </a:rPr>
              <a:t>int</a:t>
            </a:r>
            <a:r>
              <a:rPr lang="en-IE" sz="2100" dirty="0">
                <a:solidFill>
                  <a:schemeClr val="tx1"/>
                </a:solidFill>
              </a:rPr>
              <a:t> </a:t>
            </a:r>
            <a:r>
              <a:rPr lang="en-IE" sz="2100" b="1" dirty="0" err="1">
                <a:solidFill>
                  <a:schemeClr val="tx1"/>
                </a:solidFill>
              </a:rPr>
              <a:t>getGreen</a:t>
            </a:r>
            <a:r>
              <a:rPr lang="en-IE" sz="2100" dirty="0">
                <a:solidFill>
                  <a:schemeClr val="tx1"/>
                </a:solidFill>
              </a:rPr>
              <a:t>(){</a:t>
            </a:r>
          </a:p>
          <a:p>
            <a:r>
              <a:rPr lang="en-IE" sz="2100" dirty="0">
                <a:solidFill>
                  <a:schemeClr val="tx1"/>
                </a:solidFill>
              </a:rPr>
              <a:t>    return green;</a:t>
            </a:r>
          </a:p>
          <a:p>
            <a:r>
              <a:rPr lang="en-IE" sz="2100" dirty="0">
                <a:solidFill>
                  <a:schemeClr val="tx1"/>
                </a:solidFill>
              </a:rPr>
              <a:t>  }</a:t>
            </a:r>
          </a:p>
          <a:p>
            <a:endParaRPr lang="en-IE" sz="2100" dirty="0"/>
          </a:p>
          <a:p>
            <a:r>
              <a:rPr lang="en-IE" sz="2100" dirty="0"/>
              <a:t>  public </a:t>
            </a:r>
            <a:r>
              <a:rPr lang="en-IE" sz="2100" dirty="0" err="1"/>
              <a:t>int</a:t>
            </a:r>
            <a:r>
              <a:rPr lang="en-IE" sz="2100" dirty="0"/>
              <a:t> </a:t>
            </a:r>
            <a:r>
              <a:rPr lang="en-IE" sz="2100" b="1" dirty="0" err="1"/>
              <a:t>getBlue</a:t>
            </a:r>
            <a:r>
              <a:rPr lang="en-IE" sz="2100" dirty="0"/>
              <a:t>(){</a:t>
            </a:r>
          </a:p>
          <a:p>
            <a:r>
              <a:rPr lang="en-IE" sz="2100" dirty="0"/>
              <a:t>    return blue;</a:t>
            </a:r>
          </a:p>
          <a:p>
            <a:r>
              <a:rPr lang="en-IE" sz="2100" dirty="0"/>
              <a:t>  }</a:t>
            </a:r>
          </a:p>
          <a:p>
            <a:r>
              <a:rPr lang="en-IE" sz="2100" dirty="0">
                <a:solidFill>
                  <a:schemeClr val="tx1"/>
                </a:solidFill>
              </a:rPr>
              <a:t> </a:t>
            </a:r>
          </a:p>
          <a:p>
            <a:r>
              <a:rPr lang="en-IE" sz="2100" dirty="0">
                <a:solidFill>
                  <a:schemeClr val="tx1"/>
                </a:solidFill>
              </a:rPr>
              <a:t>} </a:t>
            </a:r>
            <a:r>
              <a:rPr lang="en-IE" sz="2100" dirty="0">
                <a:solidFill>
                  <a:schemeClr val="bg1">
                    <a:lumMod val="50000"/>
                  </a:schemeClr>
                </a:solidFill>
              </a:rPr>
              <a:t>//end Spot class</a:t>
            </a:r>
          </a:p>
        </p:txBody>
      </p:sp>
    </p:spTree>
    <p:extLst>
      <p:ext uri="{BB962C8B-B14F-4D97-AF65-F5344CB8AC3E}">
        <p14:creationId xmlns:p14="http://schemas.microsoft.com/office/powerpoint/2010/main" val="3262041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7.0: </a:t>
            </a:r>
            <a:r>
              <a:rPr lang="en-IE" b="1" dirty="0"/>
              <a:t>Set</a:t>
            </a:r>
            <a:r>
              <a:rPr lang="en-IE" dirty="0"/>
              <a:t>ters</a:t>
            </a:r>
          </a:p>
        </p:txBody>
      </p:sp>
      <p:sp>
        <p:nvSpPr>
          <p:cNvPr id="5" name="Rectangle 4"/>
          <p:cNvSpPr/>
          <p:nvPr/>
        </p:nvSpPr>
        <p:spPr>
          <a:xfrm>
            <a:off x="152400" y="1981200"/>
            <a:ext cx="5181600" cy="440120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public </a:t>
            </a:r>
            <a:r>
              <a:rPr lang="en-IE" sz="2000" dirty="0"/>
              <a:t>class Spot{</a:t>
            </a:r>
          </a:p>
          <a:p>
            <a:r>
              <a:rPr lang="en-IE" sz="2000" b="1" dirty="0">
                <a:solidFill>
                  <a:srgbClr val="FF0000"/>
                </a:solidFill>
              </a:rPr>
              <a:t>   private </a:t>
            </a:r>
            <a:r>
              <a:rPr lang="en-IE" sz="2000" dirty="0">
                <a:solidFill>
                  <a:srgbClr val="FF0000"/>
                </a:solidFill>
              </a:rPr>
              <a:t>float </a:t>
            </a:r>
            <a:r>
              <a:rPr lang="en-IE" sz="2000" dirty="0" err="1">
                <a:solidFill>
                  <a:srgbClr val="FF0000"/>
                </a:solidFill>
              </a:rPr>
              <a:t>xCoord</a:t>
            </a:r>
            <a:r>
              <a:rPr lang="en-IE" sz="2000" dirty="0">
                <a:solidFill>
                  <a:srgbClr val="FF0000"/>
                </a:solidFill>
              </a:rPr>
              <a:t>, </a:t>
            </a:r>
            <a:r>
              <a:rPr lang="en-IE" sz="2000" dirty="0" err="1">
                <a:solidFill>
                  <a:srgbClr val="FF0000"/>
                </a:solidFill>
              </a:rPr>
              <a:t>yCoord</a:t>
            </a:r>
            <a:r>
              <a:rPr lang="en-IE" sz="2000" dirty="0">
                <a:solidFill>
                  <a:srgbClr val="FF0000"/>
                </a:solidFill>
              </a:rPr>
              <a:t>;</a:t>
            </a:r>
          </a:p>
          <a:p>
            <a:r>
              <a:rPr lang="en-IE" sz="2000" b="1" dirty="0">
                <a:solidFill>
                  <a:srgbClr val="FF0000"/>
                </a:solidFill>
              </a:rPr>
              <a:t>   private </a:t>
            </a:r>
            <a:r>
              <a:rPr lang="en-IE" sz="2000" dirty="0">
                <a:solidFill>
                  <a:srgbClr val="FF0000"/>
                </a:solidFill>
              </a:rPr>
              <a:t>float diameter;</a:t>
            </a:r>
          </a:p>
          <a:p>
            <a:r>
              <a:rPr lang="en-IE" sz="2000" b="1" dirty="0">
                <a:solidFill>
                  <a:srgbClr val="FF0000"/>
                </a:solidFill>
              </a:rPr>
              <a:t>   private </a:t>
            </a:r>
            <a:r>
              <a:rPr lang="en-IE" sz="2000" dirty="0">
                <a:solidFill>
                  <a:srgbClr val="FF0000"/>
                </a:solidFill>
              </a:rPr>
              <a:t>int red, green, blue;</a:t>
            </a:r>
            <a:endParaRPr lang="en-IE" sz="2000" dirty="0">
              <a:solidFill>
                <a:schemeClr val="bg1">
                  <a:lumMod val="50000"/>
                </a:schemeClr>
              </a:solidFill>
            </a:endParaRPr>
          </a:p>
          <a:p>
            <a:r>
              <a:rPr lang="en-IE" sz="2000" dirty="0">
                <a:solidFill>
                  <a:schemeClr val="bg1">
                    <a:lumMod val="50000"/>
                  </a:schemeClr>
                </a:solidFill>
              </a:rPr>
              <a:t>   </a:t>
            </a:r>
          </a:p>
          <a:p>
            <a:r>
              <a:rPr lang="en-IE" sz="2000" dirty="0">
                <a:solidFill>
                  <a:schemeClr val="bg1">
                    <a:lumMod val="50000"/>
                  </a:schemeClr>
                </a:solidFill>
              </a:rPr>
              <a:t>   //constructors…</a:t>
            </a:r>
          </a:p>
          <a:p>
            <a:r>
              <a:rPr lang="en-IE" sz="2000" dirty="0">
                <a:solidFill>
                  <a:schemeClr val="bg1">
                    <a:lumMod val="50000"/>
                  </a:schemeClr>
                </a:solidFill>
              </a:rPr>
              <a:t>   //display method…</a:t>
            </a:r>
          </a:p>
          <a:p>
            <a:r>
              <a:rPr lang="en-IE" sz="2000" dirty="0">
                <a:solidFill>
                  <a:schemeClr val="bg1">
                    <a:lumMod val="50000"/>
                  </a:schemeClr>
                </a:solidFill>
              </a:rPr>
              <a:t>   // move method…</a:t>
            </a:r>
            <a:endParaRPr lang="en-IE" sz="2000" dirty="0"/>
          </a:p>
          <a:p>
            <a:r>
              <a:rPr lang="en-IE" sz="2000" b="1" dirty="0">
                <a:solidFill>
                  <a:srgbClr val="FF0000"/>
                </a:solidFill>
              </a:rPr>
              <a:t>   </a:t>
            </a:r>
            <a:r>
              <a:rPr lang="en-IE" sz="2000" dirty="0">
                <a:solidFill>
                  <a:schemeClr val="bg1">
                    <a:lumMod val="50000"/>
                  </a:schemeClr>
                </a:solidFill>
              </a:rPr>
              <a:t>// colour methods…</a:t>
            </a:r>
          </a:p>
          <a:p>
            <a:r>
              <a:rPr lang="en-IE" sz="2000" b="1" dirty="0">
                <a:solidFill>
                  <a:srgbClr val="FF0000"/>
                </a:solidFill>
              </a:rPr>
              <a:t>   </a:t>
            </a:r>
            <a:r>
              <a:rPr lang="en-IE" sz="2000" dirty="0">
                <a:solidFill>
                  <a:schemeClr val="bg1">
                    <a:lumMod val="50000"/>
                  </a:schemeClr>
                </a:solidFill>
              </a:rPr>
              <a:t>// assessor methods…</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setDiameter</a:t>
            </a:r>
            <a:r>
              <a:rPr lang="en-IE" sz="2000" dirty="0">
                <a:solidFill>
                  <a:schemeClr val="tx1"/>
                </a:solidFill>
              </a:rPr>
              <a:t> (float diameter){</a:t>
            </a:r>
          </a:p>
          <a:p>
            <a:r>
              <a:rPr lang="en-IE" sz="2000" dirty="0">
                <a:solidFill>
                  <a:schemeClr val="tx1"/>
                </a:solidFill>
              </a:rPr>
              <a:t>     </a:t>
            </a:r>
            <a:r>
              <a:rPr lang="en-IE" sz="2000" dirty="0" err="1">
                <a:solidFill>
                  <a:schemeClr val="tx1"/>
                </a:solidFill>
              </a:rPr>
              <a:t>this.diameter</a:t>
            </a:r>
            <a:r>
              <a:rPr lang="en-IE" sz="2000" dirty="0">
                <a:solidFill>
                  <a:schemeClr val="tx1"/>
                </a:solidFill>
              </a:rPr>
              <a:t> = diameter;</a:t>
            </a:r>
          </a:p>
          <a:p>
            <a:r>
              <a:rPr lang="en-IE" sz="2000" dirty="0">
                <a:solidFill>
                  <a:schemeClr val="tx1"/>
                </a:solidFill>
              </a:rPr>
              <a:t>  } </a:t>
            </a:r>
          </a:p>
        </p:txBody>
      </p:sp>
      <p:sp>
        <p:nvSpPr>
          <p:cNvPr id="6" name="Rectangle 5"/>
          <p:cNvSpPr/>
          <p:nvPr/>
        </p:nvSpPr>
        <p:spPr>
          <a:xfrm>
            <a:off x="4724400" y="1524000"/>
            <a:ext cx="4203031" cy="410881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 </a:t>
            </a:r>
          </a:p>
          <a:p>
            <a:r>
              <a:rPr lang="en-IE" sz="2000" dirty="0">
                <a:solidFill>
                  <a:schemeClr val="tx1"/>
                </a:solidFill>
              </a:rPr>
              <a:t>  public void </a:t>
            </a:r>
            <a:r>
              <a:rPr lang="en-IE" sz="2000" b="1" dirty="0" err="1">
                <a:solidFill>
                  <a:schemeClr val="tx1"/>
                </a:solidFill>
              </a:rPr>
              <a:t>setXCoord</a:t>
            </a:r>
            <a:r>
              <a:rPr lang="en-IE" sz="2000" dirty="0">
                <a:solidFill>
                  <a:schemeClr val="tx1"/>
                </a:solidFill>
              </a:rPr>
              <a:t> (float </a:t>
            </a:r>
            <a:r>
              <a:rPr lang="en-IE" sz="2000" dirty="0" err="1">
                <a:solidFill>
                  <a:schemeClr val="tx1"/>
                </a:solidFill>
              </a:rPr>
              <a:t>xCoord</a:t>
            </a:r>
            <a:r>
              <a:rPr lang="en-IE" sz="2000" dirty="0">
                <a:solidFill>
                  <a:schemeClr val="tx1"/>
                </a:solidFill>
              </a:rPr>
              <a:t>){</a:t>
            </a:r>
          </a:p>
          <a:p>
            <a:r>
              <a:rPr lang="en-IE" sz="2000" dirty="0">
                <a:solidFill>
                  <a:schemeClr val="tx1"/>
                </a:solidFill>
              </a:rPr>
              <a:t>     </a:t>
            </a:r>
            <a:r>
              <a:rPr lang="en-IE" sz="2000" dirty="0" err="1">
                <a:solidFill>
                  <a:schemeClr val="tx1"/>
                </a:solidFill>
              </a:rPr>
              <a:t>this.xCoord</a:t>
            </a:r>
            <a:r>
              <a:rPr lang="en-IE" sz="2000" dirty="0">
                <a:solidFill>
                  <a:schemeClr val="tx1"/>
                </a:solidFill>
              </a:rPr>
              <a:t> = </a:t>
            </a:r>
            <a:r>
              <a:rPr lang="en-IE" sz="2000" dirty="0" err="1">
                <a:solidFill>
                  <a:schemeClr val="tx1"/>
                </a:solidFill>
              </a:rPr>
              <a:t>xCoord</a:t>
            </a:r>
            <a:r>
              <a:rPr lang="en-IE" sz="2000" dirty="0">
                <a:solidFill>
                  <a:schemeClr val="tx1"/>
                </a:solidFill>
              </a:rPr>
              <a:t>;</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setYCoord</a:t>
            </a:r>
            <a:r>
              <a:rPr lang="en-IE" sz="2000" dirty="0">
                <a:solidFill>
                  <a:schemeClr val="tx1"/>
                </a:solidFill>
              </a:rPr>
              <a:t> (float </a:t>
            </a:r>
            <a:r>
              <a:rPr lang="en-IE" sz="2000" dirty="0" err="1">
                <a:solidFill>
                  <a:schemeClr val="tx1"/>
                </a:solidFill>
              </a:rPr>
              <a:t>yCoord</a:t>
            </a:r>
            <a:r>
              <a:rPr lang="en-IE" sz="2000" dirty="0">
                <a:solidFill>
                  <a:schemeClr val="tx1"/>
                </a:solidFill>
              </a:rPr>
              <a:t>){</a:t>
            </a:r>
          </a:p>
          <a:p>
            <a:r>
              <a:rPr lang="en-IE" sz="2000" dirty="0">
                <a:solidFill>
                  <a:schemeClr val="tx1"/>
                </a:solidFill>
              </a:rPr>
              <a:t>     </a:t>
            </a:r>
            <a:r>
              <a:rPr lang="en-IE" sz="2000" dirty="0" err="1">
                <a:solidFill>
                  <a:schemeClr val="tx1"/>
                </a:solidFill>
              </a:rPr>
              <a:t>this.yCoord</a:t>
            </a:r>
            <a:r>
              <a:rPr lang="en-IE" sz="2000" dirty="0">
                <a:solidFill>
                  <a:schemeClr val="tx1"/>
                </a:solidFill>
              </a:rPr>
              <a:t> = </a:t>
            </a:r>
            <a:r>
              <a:rPr lang="en-IE" sz="2000" dirty="0" err="1">
                <a:solidFill>
                  <a:schemeClr val="tx1"/>
                </a:solidFill>
              </a:rPr>
              <a:t>yCoord</a:t>
            </a:r>
            <a:r>
              <a:rPr lang="en-IE" sz="2000" dirty="0">
                <a:solidFill>
                  <a:schemeClr val="tx1"/>
                </a:solidFill>
              </a:rPr>
              <a:t>;</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setRed</a:t>
            </a:r>
            <a:r>
              <a:rPr lang="en-IE" sz="2000" dirty="0">
                <a:solidFill>
                  <a:schemeClr val="tx1"/>
                </a:solidFill>
              </a:rPr>
              <a:t> (</a:t>
            </a:r>
            <a:r>
              <a:rPr lang="en-IE" sz="2000" dirty="0" err="1">
                <a:solidFill>
                  <a:schemeClr val="tx1"/>
                </a:solidFill>
              </a:rPr>
              <a:t>int</a:t>
            </a:r>
            <a:r>
              <a:rPr lang="en-IE" sz="2000" dirty="0">
                <a:solidFill>
                  <a:schemeClr val="tx1"/>
                </a:solidFill>
              </a:rPr>
              <a:t> red){</a:t>
            </a:r>
          </a:p>
          <a:p>
            <a:r>
              <a:rPr lang="en-IE" sz="2000" dirty="0">
                <a:solidFill>
                  <a:schemeClr val="tx1"/>
                </a:solidFill>
              </a:rPr>
              <a:t>     </a:t>
            </a:r>
            <a:r>
              <a:rPr lang="en-IE" sz="2000" dirty="0" err="1">
                <a:solidFill>
                  <a:schemeClr val="tx1"/>
                </a:solidFill>
              </a:rPr>
              <a:t>this.red</a:t>
            </a:r>
            <a:r>
              <a:rPr lang="en-IE" sz="2000" dirty="0">
                <a:solidFill>
                  <a:schemeClr val="tx1"/>
                </a:solidFill>
              </a:rPr>
              <a:t> = red;</a:t>
            </a:r>
          </a:p>
          <a:p>
            <a:r>
              <a:rPr lang="en-IE" sz="2000" dirty="0">
                <a:solidFill>
                  <a:schemeClr val="tx1"/>
                </a:solidFill>
              </a:rPr>
              <a:t>  } </a:t>
            </a:r>
          </a:p>
          <a:p>
            <a:r>
              <a:rPr lang="en-IE" sz="2100" dirty="0">
                <a:solidFill>
                  <a:schemeClr val="tx1"/>
                </a:solidFill>
              </a:rPr>
              <a:t>    </a:t>
            </a:r>
          </a:p>
        </p:txBody>
      </p:sp>
      <p:sp>
        <p:nvSpPr>
          <p:cNvPr id="10" name="Rectangle 9"/>
          <p:cNvSpPr/>
          <p:nvPr/>
        </p:nvSpPr>
        <p:spPr>
          <a:xfrm>
            <a:off x="4712368" y="5234458"/>
            <a:ext cx="4215063" cy="38164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  public void </a:t>
            </a:r>
            <a:r>
              <a:rPr lang="en-IE" sz="2000" b="1" dirty="0" err="1">
                <a:solidFill>
                  <a:schemeClr val="tx1"/>
                </a:solidFill>
              </a:rPr>
              <a:t>setGreen</a:t>
            </a:r>
            <a:r>
              <a:rPr lang="en-IE" sz="2000" dirty="0">
                <a:solidFill>
                  <a:schemeClr val="tx1"/>
                </a:solidFill>
              </a:rPr>
              <a:t> (</a:t>
            </a:r>
            <a:r>
              <a:rPr lang="en-IE" sz="2000" dirty="0" err="1">
                <a:solidFill>
                  <a:schemeClr val="tx1"/>
                </a:solidFill>
              </a:rPr>
              <a:t>int</a:t>
            </a:r>
            <a:r>
              <a:rPr lang="en-IE" sz="2000" dirty="0">
                <a:solidFill>
                  <a:schemeClr val="tx1"/>
                </a:solidFill>
              </a:rPr>
              <a:t> green){</a:t>
            </a:r>
          </a:p>
          <a:p>
            <a:r>
              <a:rPr lang="en-IE" sz="2000" dirty="0">
                <a:solidFill>
                  <a:schemeClr val="tx1"/>
                </a:solidFill>
              </a:rPr>
              <a:t>     </a:t>
            </a:r>
            <a:r>
              <a:rPr lang="en-IE" sz="2000" dirty="0" err="1">
                <a:solidFill>
                  <a:schemeClr val="tx1"/>
                </a:solidFill>
              </a:rPr>
              <a:t>this.green</a:t>
            </a:r>
            <a:r>
              <a:rPr lang="en-IE" sz="2000" dirty="0">
                <a:solidFill>
                  <a:schemeClr val="tx1"/>
                </a:solidFill>
              </a:rPr>
              <a:t> = green;</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setBlue</a:t>
            </a:r>
            <a:r>
              <a:rPr lang="en-IE" sz="2000" dirty="0">
                <a:solidFill>
                  <a:schemeClr val="tx1"/>
                </a:solidFill>
              </a:rPr>
              <a:t> (</a:t>
            </a:r>
            <a:r>
              <a:rPr lang="en-IE" sz="2000" dirty="0" err="1">
                <a:solidFill>
                  <a:schemeClr val="tx1"/>
                </a:solidFill>
              </a:rPr>
              <a:t>int</a:t>
            </a:r>
            <a:r>
              <a:rPr lang="en-IE" sz="2000" dirty="0">
                <a:solidFill>
                  <a:schemeClr val="tx1"/>
                </a:solidFill>
              </a:rPr>
              <a:t> blue){</a:t>
            </a:r>
          </a:p>
          <a:p>
            <a:r>
              <a:rPr lang="en-IE" sz="2000" dirty="0">
                <a:solidFill>
                  <a:schemeClr val="tx1"/>
                </a:solidFill>
              </a:rPr>
              <a:t>     </a:t>
            </a:r>
            <a:r>
              <a:rPr lang="en-IE" sz="2000" dirty="0" err="1">
                <a:solidFill>
                  <a:schemeClr val="tx1"/>
                </a:solidFill>
              </a:rPr>
              <a:t>this.blue</a:t>
            </a:r>
            <a:r>
              <a:rPr lang="en-IE" sz="2000" dirty="0">
                <a:solidFill>
                  <a:schemeClr val="tx1"/>
                </a:solidFill>
              </a:rPr>
              <a:t> = blue;</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setGray</a:t>
            </a:r>
            <a:r>
              <a:rPr lang="en-IE" sz="2000" dirty="0">
                <a:solidFill>
                  <a:schemeClr val="tx1"/>
                </a:solidFill>
              </a:rPr>
              <a:t> (</a:t>
            </a:r>
            <a:r>
              <a:rPr lang="en-IE" sz="2000" dirty="0" err="1">
                <a:solidFill>
                  <a:schemeClr val="tx1"/>
                </a:solidFill>
              </a:rPr>
              <a:t>int</a:t>
            </a:r>
            <a:r>
              <a:rPr lang="en-IE" sz="2000" dirty="0">
                <a:solidFill>
                  <a:schemeClr val="tx1"/>
                </a:solidFill>
              </a:rPr>
              <a:t> </a:t>
            </a:r>
            <a:r>
              <a:rPr lang="en-IE" sz="2000" dirty="0" err="1">
                <a:solidFill>
                  <a:schemeClr val="tx1"/>
                </a:solidFill>
              </a:rPr>
              <a:t>gray</a:t>
            </a:r>
            <a:r>
              <a:rPr lang="en-IE" sz="2000" dirty="0">
                <a:solidFill>
                  <a:schemeClr val="tx1"/>
                </a:solidFill>
              </a:rPr>
              <a:t>){</a:t>
            </a:r>
          </a:p>
          <a:p>
            <a:r>
              <a:rPr lang="en-IE" sz="2000" dirty="0">
                <a:solidFill>
                  <a:schemeClr val="tx1"/>
                </a:solidFill>
              </a:rPr>
              <a:t>     </a:t>
            </a:r>
            <a:r>
              <a:rPr lang="en-IE" sz="2000" dirty="0" err="1">
                <a:solidFill>
                  <a:schemeClr val="tx1"/>
                </a:solidFill>
              </a:rPr>
              <a:t>this.gray</a:t>
            </a:r>
            <a:r>
              <a:rPr lang="en-IE" sz="2000" dirty="0">
                <a:solidFill>
                  <a:schemeClr val="tx1"/>
                </a:solidFill>
              </a:rPr>
              <a:t> = </a:t>
            </a:r>
            <a:r>
              <a:rPr lang="en-IE" sz="2000" dirty="0" err="1">
                <a:solidFill>
                  <a:schemeClr val="tx1"/>
                </a:solidFill>
              </a:rPr>
              <a:t>gray</a:t>
            </a:r>
            <a:r>
              <a:rPr lang="en-IE" sz="2000" dirty="0">
                <a:solidFill>
                  <a:schemeClr val="tx1"/>
                </a:solidFill>
              </a:rPr>
              <a:t>;</a:t>
            </a:r>
          </a:p>
          <a:p>
            <a:r>
              <a:rPr lang="en-IE" sz="2000" dirty="0">
                <a:solidFill>
                  <a:schemeClr val="tx1"/>
                </a:solidFill>
              </a:rPr>
              <a:t>  }</a:t>
            </a:r>
            <a:r>
              <a:rPr lang="en-IE" sz="2100" dirty="0">
                <a:solidFill>
                  <a:schemeClr val="tx1"/>
                </a:solidFill>
              </a:rPr>
              <a:t>    </a:t>
            </a:r>
          </a:p>
          <a:p>
            <a:r>
              <a:rPr lang="en-IE" sz="2100" dirty="0">
                <a:solidFill>
                  <a:schemeClr val="tx1"/>
                </a:solidFill>
              </a:rPr>
              <a:t>}</a:t>
            </a:r>
          </a:p>
        </p:txBody>
      </p:sp>
    </p:spTree>
    <p:extLst>
      <p:ext uri="{BB962C8B-B14F-4D97-AF65-F5344CB8AC3E}">
        <p14:creationId xmlns:p14="http://schemas.microsoft.com/office/powerpoint/2010/main" val="3773103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Spot Class – Version 7.0</a:t>
            </a:r>
          </a:p>
        </p:txBody>
      </p:sp>
      <p:sp>
        <p:nvSpPr>
          <p:cNvPr id="6" name="Rectangle 5"/>
          <p:cNvSpPr/>
          <p:nvPr/>
        </p:nvSpPr>
        <p:spPr>
          <a:xfrm>
            <a:off x="3581400" y="6581001"/>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4" name="Rectangle 3"/>
          <p:cNvSpPr/>
          <p:nvPr/>
        </p:nvSpPr>
        <p:spPr>
          <a:xfrm>
            <a:off x="190500" y="1517928"/>
            <a:ext cx="3276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400" b="1" dirty="0">
                <a:solidFill>
                  <a:srgbClr val="FF0000"/>
                </a:solidFill>
              </a:rPr>
              <a:t>  </a:t>
            </a:r>
            <a:r>
              <a:rPr lang="en-IE" sz="2400" b="1" dirty="0" err="1">
                <a:solidFill>
                  <a:srgbClr val="FF0000"/>
                </a:solidFill>
              </a:rPr>
              <a:t>sp.diameter</a:t>
            </a:r>
            <a:r>
              <a:rPr lang="en-IE" sz="2400" b="1" dirty="0">
                <a:solidFill>
                  <a:srgbClr val="FF0000"/>
                </a:solidFill>
              </a:rPr>
              <a:t> = 30000;</a:t>
            </a:r>
          </a:p>
          <a:p>
            <a:r>
              <a:rPr lang="en-IE" sz="2000" dirty="0"/>
              <a:t>  </a:t>
            </a:r>
            <a:r>
              <a:rPr lang="en-IE" sz="2000" dirty="0" err="1"/>
              <a:t>sp.display</a:t>
            </a:r>
            <a:r>
              <a:rPr lang="en-IE" sz="2000" dirty="0"/>
              <a:t>();</a:t>
            </a:r>
          </a:p>
          <a:p>
            <a:r>
              <a:rPr lang="en-IE" sz="2000" dirty="0"/>
              <a:t>}</a:t>
            </a:r>
          </a:p>
        </p:txBody>
      </p:sp>
      <p:sp>
        <p:nvSpPr>
          <p:cNvPr id="3" name="Rectangle 2"/>
          <p:cNvSpPr/>
          <p:nvPr/>
        </p:nvSpPr>
        <p:spPr>
          <a:xfrm>
            <a:off x="4953000" y="1752600"/>
            <a:ext cx="2743200" cy="317009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class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solidFill>
                  <a:schemeClr val="bg1">
                    <a:lumMod val="50000"/>
                  </a:schemeClr>
                </a:solidFill>
              </a:rPr>
              <a:t>  // display method…</a:t>
            </a:r>
          </a:p>
          <a:p>
            <a:r>
              <a:rPr lang="en-IE" sz="2000" dirty="0">
                <a:solidFill>
                  <a:schemeClr val="bg1">
                    <a:lumMod val="50000"/>
                  </a:schemeClr>
                </a:solidFill>
              </a:rPr>
              <a:t>  // colour methods…</a:t>
            </a:r>
          </a:p>
          <a:p>
            <a:r>
              <a:rPr lang="en-IE" sz="2000" dirty="0">
                <a:solidFill>
                  <a:schemeClr val="bg1">
                    <a:lumMod val="50000"/>
                  </a:schemeClr>
                </a:solidFill>
              </a:rPr>
              <a:t>  // move methods…</a:t>
            </a:r>
            <a:endParaRPr lang="en-IE" sz="2000" dirty="0"/>
          </a:p>
          <a:p>
            <a:r>
              <a:rPr lang="en-IE" sz="2000" dirty="0"/>
              <a:t>}</a:t>
            </a:r>
          </a:p>
        </p:txBody>
      </p:sp>
      <p:sp>
        <p:nvSpPr>
          <p:cNvPr id="5" name="Arrow: Left 4">
            <a:extLst>
              <a:ext uri="{FF2B5EF4-FFF2-40B4-BE49-F238E27FC236}">
                <a16:creationId xmlns:a16="http://schemas.microsoft.com/office/drawing/2014/main" id="{4D95B9CA-3060-4743-A9C6-6BF20F75BDE6}"/>
              </a:ext>
            </a:extLst>
          </p:cNvPr>
          <p:cNvSpPr/>
          <p:nvPr/>
        </p:nvSpPr>
        <p:spPr>
          <a:xfrm>
            <a:off x="3124200" y="4609513"/>
            <a:ext cx="5943600" cy="223760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Before refactoring</a:t>
            </a:r>
            <a:r>
              <a:rPr lang="en-IE" sz="2400"/>
              <a:t>, </a:t>
            </a:r>
            <a:br>
              <a:rPr lang="en-IE" sz="2400"/>
            </a:br>
            <a:r>
              <a:rPr lang="en-IE" sz="2400"/>
              <a:t>we </a:t>
            </a:r>
            <a:r>
              <a:rPr lang="en-IE" sz="2400" dirty="0"/>
              <a:t>directly accessed the diameter </a:t>
            </a:r>
            <a:r>
              <a:rPr lang="en-IE" sz="2400"/>
              <a:t>field… this </a:t>
            </a:r>
            <a:r>
              <a:rPr lang="en-IE" sz="2400" dirty="0"/>
              <a:t>broke Encapsulation rules.</a:t>
            </a:r>
          </a:p>
        </p:txBody>
      </p:sp>
    </p:spTree>
    <p:extLst>
      <p:ext uri="{BB962C8B-B14F-4D97-AF65-F5344CB8AC3E}">
        <p14:creationId xmlns:p14="http://schemas.microsoft.com/office/powerpoint/2010/main" val="729168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E" sz="3600" dirty="0"/>
              <a:t>Refactoring Spot 7.0 – getters and setters</a:t>
            </a:r>
          </a:p>
        </p:txBody>
      </p:sp>
      <p:sp>
        <p:nvSpPr>
          <p:cNvPr id="4" name="Rectangle 3"/>
          <p:cNvSpPr/>
          <p:nvPr/>
        </p:nvSpPr>
        <p:spPr>
          <a:xfrm>
            <a:off x="457200" y="1551087"/>
            <a:ext cx="3276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000" b="1" dirty="0">
                <a:solidFill>
                  <a:srgbClr val="FF0000"/>
                </a:solidFill>
              </a:rPr>
              <a:t>  </a:t>
            </a:r>
            <a:r>
              <a:rPr lang="en-IE" sz="2000" b="1" dirty="0" err="1">
                <a:solidFill>
                  <a:srgbClr val="FF0000"/>
                </a:solidFill>
              </a:rPr>
              <a:t>sp.setDiameter</a:t>
            </a:r>
            <a:r>
              <a:rPr lang="en-IE" sz="2000" b="1" dirty="0">
                <a:solidFill>
                  <a:srgbClr val="FF0000"/>
                </a:solidFill>
              </a:rPr>
              <a:t>(30000);</a:t>
            </a:r>
          </a:p>
          <a:p>
            <a:r>
              <a:rPr lang="en-IE" sz="2000" dirty="0"/>
              <a:t>  </a:t>
            </a:r>
            <a:r>
              <a:rPr lang="en-IE" sz="2000" dirty="0" err="1"/>
              <a:t>sp.display</a:t>
            </a:r>
            <a:r>
              <a:rPr lang="en-IE" sz="2000" dirty="0"/>
              <a:t>();</a:t>
            </a:r>
          </a:p>
          <a:p>
            <a:r>
              <a:rPr lang="en-IE" sz="2000" dirty="0"/>
              <a:t>}</a:t>
            </a:r>
          </a:p>
        </p:txBody>
      </p:sp>
      <p:sp>
        <p:nvSpPr>
          <p:cNvPr id="7" name="Rectangle 6">
            <a:extLst>
              <a:ext uri="{FF2B5EF4-FFF2-40B4-BE49-F238E27FC236}">
                <a16:creationId xmlns:a16="http://schemas.microsoft.com/office/drawing/2014/main" id="{5953AB21-B7BA-4366-926E-8CBF7DA9BA7D}"/>
              </a:ext>
            </a:extLst>
          </p:cNvPr>
          <p:cNvSpPr/>
          <p:nvPr/>
        </p:nvSpPr>
        <p:spPr>
          <a:xfrm>
            <a:off x="4038600" y="1143000"/>
            <a:ext cx="4876800" cy="470898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public class Spot{</a:t>
            </a:r>
          </a:p>
          <a:p>
            <a:r>
              <a:rPr lang="en-IE" sz="2000" dirty="0"/>
              <a:t>    private float </a:t>
            </a:r>
            <a:r>
              <a:rPr lang="en-IE" sz="2000" dirty="0" err="1"/>
              <a:t>xCoord</a:t>
            </a:r>
            <a:r>
              <a:rPr lang="en-IE" sz="2000" dirty="0"/>
              <a:t>, </a:t>
            </a:r>
            <a:r>
              <a:rPr lang="en-IE" sz="2000" dirty="0" err="1"/>
              <a:t>yCoord</a:t>
            </a:r>
            <a:r>
              <a:rPr lang="en-IE" sz="2000" dirty="0"/>
              <a:t>;</a:t>
            </a:r>
          </a:p>
          <a:p>
            <a:r>
              <a:rPr lang="en-IE" sz="2000" dirty="0"/>
              <a:t>    </a:t>
            </a:r>
            <a:r>
              <a:rPr lang="en-IE" sz="2000" b="1" dirty="0">
                <a:solidFill>
                  <a:srgbClr val="FF0000"/>
                </a:solidFill>
              </a:rPr>
              <a:t>private </a:t>
            </a:r>
            <a:r>
              <a:rPr lang="en-IE" sz="2000" dirty="0">
                <a:solidFill>
                  <a:srgbClr val="FF0000"/>
                </a:solidFill>
              </a:rPr>
              <a:t>float</a:t>
            </a:r>
            <a:r>
              <a:rPr lang="en-IE" sz="2000" b="1" dirty="0">
                <a:solidFill>
                  <a:srgbClr val="FF0000"/>
                </a:solidFill>
              </a:rPr>
              <a:t> diameter;</a:t>
            </a:r>
          </a:p>
          <a:p>
            <a:r>
              <a:rPr lang="en-IE" sz="2000" dirty="0"/>
              <a:t>    private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solidFill>
                  <a:schemeClr val="bg1">
                    <a:lumMod val="50000"/>
                  </a:schemeClr>
                </a:solidFill>
              </a:rPr>
              <a:t>  // display method…</a:t>
            </a:r>
          </a:p>
          <a:p>
            <a:r>
              <a:rPr lang="en-IE" sz="2000" dirty="0">
                <a:solidFill>
                  <a:schemeClr val="bg1">
                    <a:lumMod val="50000"/>
                  </a:schemeClr>
                </a:solidFill>
              </a:rPr>
              <a:t>  // colour methods…</a:t>
            </a:r>
          </a:p>
          <a:p>
            <a:r>
              <a:rPr lang="en-IE" sz="2000" dirty="0">
                <a:solidFill>
                  <a:schemeClr val="bg1">
                    <a:lumMod val="50000"/>
                  </a:schemeClr>
                </a:solidFill>
              </a:rPr>
              <a:t>  // move methods…</a:t>
            </a:r>
          </a:p>
          <a:p>
            <a:r>
              <a:rPr lang="en-IE" sz="2000" dirty="0">
                <a:solidFill>
                  <a:schemeClr val="bg1">
                    <a:lumMod val="50000"/>
                  </a:schemeClr>
                </a:solidFill>
              </a:rPr>
              <a:t>  //getter methods…</a:t>
            </a:r>
          </a:p>
          <a:p>
            <a:r>
              <a:rPr lang="en-IE" sz="2000" dirty="0">
                <a:solidFill>
                  <a:schemeClr val="bg1">
                    <a:lumMod val="50000"/>
                  </a:schemeClr>
                </a:solidFill>
              </a:rPr>
              <a:t>  //setter methods…</a:t>
            </a:r>
          </a:p>
          <a:p>
            <a:r>
              <a:rPr lang="en-IE" sz="2000" b="1" dirty="0">
                <a:solidFill>
                  <a:srgbClr val="FF0000"/>
                </a:solidFill>
              </a:rPr>
              <a:t>  public void </a:t>
            </a:r>
            <a:r>
              <a:rPr lang="en-IE" sz="2000" b="1" dirty="0" err="1">
                <a:solidFill>
                  <a:srgbClr val="FF0000"/>
                </a:solidFill>
              </a:rPr>
              <a:t>setDiameter</a:t>
            </a:r>
            <a:r>
              <a:rPr lang="en-IE" sz="2000" dirty="0">
                <a:solidFill>
                  <a:srgbClr val="FF0000"/>
                </a:solidFill>
              </a:rPr>
              <a:t> (float</a:t>
            </a:r>
            <a:r>
              <a:rPr lang="en-IE" sz="2000" b="1" dirty="0">
                <a:solidFill>
                  <a:srgbClr val="FF0000"/>
                </a:solidFill>
              </a:rPr>
              <a:t> diameter) {</a:t>
            </a:r>
          </a:p>
          <a:p>
            <a:r>
              <a:rPr lang="en-IE" sz="2000" b="1" dirty="0">
                <a:solidFill>
                  <a:srgbClr val="FF0000"/>
                </a:solidFill>
              </a:rPr>
              <a:t>      </a:t>
            </a:r>
            <a:r>
              <a:rPr lang="en-IE" sz="2000" b="1" dirty="0" err="1">
                <a:solidFill>
                  <a:srgbClr val="FF0000"/>
                </a:solidFill>
              </a:rPr>
              <a:t>this.diameter</a:t>
            </a:r>
            <a:r>
              <a:rPr lang="en-IE" sz="2000" b="1" dirty="0">
                <a:solidFill>
                  <a:srgbClr val="FF0000"/>
                </a:solidFill>
              </a:rPr>
              <a:t> = diameter;</a:t>
            </a:r>
          </a:p>
          <a:p>
            <a:r>
              <a:rPr lang="en-IE" sz="2000" b="1" dirty="0">
                <a:solidFill>
                  <a:srgbClr val="FF0000"/>
                </a:solidFill>
              </a:rPr>
              <a:t>  } </a:t>
            </a:r>
            <a:endParaRPr lang="en-IE" sz="2000" dirty="0"/>
          </a:p>
          <a:p>
            <a:r>
              <a:rPr lang="en-IE" sz="2000" dirty="0"/>
              <a:t>}</a:t>
            </a:r>
          </a:p>
        </p:txBody>
      </p:sp>
      <p:sp>
        <p:nvSpPr>
          <p:cNvPr id="8" name="Rectangle: Rounded Corners 7">
            <a:extLst>
              <a:ext uri="{FF2B5EF4-FFF2-40B4-BE49-F238E27FC236}">
                <a16:creationId xmlns:a16="http://schemas.microsoft.com/office/drawing/2014/main" id="{F3E17597-D3EF-441B-93AA-8A4917E7A570}"/>
              </a:ext>
            </a:extLst>
          </p:cNvPr>
          <p:cNvSpPr/>
          <p:nvPr/>
        </p:nvSpPr>
        <p:spPr>
          <a:xfrm>
            <a:off x="2209800" y="5944987"/>
            <a:ext cx="5867400" cy="5692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Now we update via the appropriate setter</a:t>
            </a:r>
          </a:p>
        </p:txBody>
      </p:sp>
      <p:sp>
        <p:nvSpPr>
          <p:cNvPr id="6" name="Donut 5"/>
          <p:cNvSpPr/>
          <p:nvPr/>
        </p:nvSpPr>
        <p:spPr>
          <a:xfrm>
            <a:off x="419100" y="5562599"/>
            <a:ext cx="3086100" cy="382387"/>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Donut 8"/>
          <p:cNvSpPr/>
          <p:nvPr/>
        </p:nvSpPr>
        <p:spPr>
          <a:xfrm>
            <a:off x="3657600" y="4495800"/>
            <a:ext cx="5900854" cy="762000"/>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Donut 9"/>
          <p:cNvSpPr/>
          <p:nvPr/>
        </p:nvSpPr>
        <p:spPr>
          <a:xfrm>
            <a:off x="3886200" y="1838092"/>
            <a:ext cx="3429000" cy="266733"/>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32526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heel(1)">
                                      <p:cBhvr>
                                        <p:cTn id="11" dur="2000"/>
                                        <p:tgtEl>
                                          <p:spTgt spid="10"/>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heel(1)">
                                      <p:cBhvr>
                                        <p:cTn id="1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Review </a:t>
            </a:r>
            <a:r>
              <a:rPr lang="mr-IN" dirty="0"/>
              <a:t>–</a:t>
            </a:r>
            <a:r>
              <a:rPr lang="en-IE" dirty="0"/>
              <a:t> Encapsulation steps</a:t>
            </a:r>
          </a:p>
        </p:txBody>
      </p:sp>
      <p:sp>
        <p:nvSpPr>
          <p:cNvPr id="3" name="Content Placeholder 2"/>
          <p:cNvSpPr>
            <a:spLocks noGrp="1"/>
          </p:cNvSpPr>
          <p:nvPr>
            <p:ph idx="1"/>
          </p:nvPr>
        </p:nvSpPr>
        <p:spPr>
          <a:xfrm>
            <a:off x="457200" y="1600200"/>
            <a:ext cx="8229600" cy="4525963"/>
          </a:xfrm>
        </p:spPr>
        <p:txBody>
          <a:bodyPr>
            <a:normAutofit/>
          </a:bodyPr>
          <a:lstStyle/>
          <a:p>
            <a:pPr marL="0" indent="0">
              <a:buNone/>
            </a:pPr>
            <a:r>
              <a:rPr lang="en-IE" sz="3000" dirty="0"/>
              <a:t>We have: </a:t>
            </a:r>
          </a:p>
          <a:p>
            <a:r>
              <a:rPr lang="en-IE" sz="3000" dirty="0"/>
              <a:t>Wrapped the fields &amp; methods into a single unit</a:t>
            </a:r>
          </a:p>
          <a:p>
            <a:r>
              <a:rPr lang="en-IE" sz="3000" dirty="0"/>
              <a:t>Hidden our fields (they are </a:t>
            </a:r>
            <a:r>
              <a:rPr lang="en-IE" sz="3000" b="1" dirty="0"/>
              <a:t>private</a:t>
            </a:r>
            <a:r>
              <a:rPr lang="en-IE" sz="3000" dirty="0"/>
              <a:t>) </a:t>
            </a:r>
          </a:p>
          <a:p>
            <a:r>
              <a:rPr lang="en-IE" sz="3000" dirty="0"/>
              <a:t>Implemented</a:t>
            </a:r>
            <a:r>
              <a:rPr lang="en-IE" sz="3000" b="1" dirty="0"/>
              <a:t> </a:t>
            </a:r>
            <a:r>
              <a:rPr lang="en-IE" sz="3000" b="1" dirty="0">
                <a:solidFill>
                  <a:srgbClr val="00B050"/>
                </a:solidFill>
              </a:rPr>
              <a:t>getter</a:t>
            </a:r>
            <a:r>
              <a:rPr lang="en-IE" sz="3000" dirty="0"/>
              <a:t> and </a:t>
            </a:r>
            <a:r>
              <a:rPr lang="en-IE" sz="3000" b="1" dirty="0">
                <a:solidFill>
                  <a:srgbClr val="00B050"/>
                </a:solidFill>
              </a:rPr>
              <a:t>setter</a:t>
            </a:r>
            <a:r>
              <a:rPr lang="en-IE" sz="3000" dirty="0"/>
              <a:t> methods </a:t>
            </a:r>
          </a:p>
          <a:p>
            <a:pPr lvl="1"/>
            <a:r>
              <a:rPr lang="en-IE" sz="2600" dirty="0"/>
              <a:t>to view/update the fields.  </a:t>
            </a:r>
          </a:p>
          <a:p>
            <a:pPr marL="0" indent="0">
              <a:buNone/>
            </a:pPr>
            <a:endParaRPr lang="en-IE" sz="2000" dirty="0"/>
          </a:p>
        </p:txBody>
      </p:sp>
      <p:pic>
        <p:nvPicPr>
          <p:cNvPr id="4" name="Picture 3"/>
          <p:cNvPicPr>
            <a:picLocks noChangeAspect="1"/>
          </p:cNvPicPr>
          <p:nvPr/>
        </p:nvPicPr>
        <p:blipFill>
          <a:blip r:embed="rId2"/>
          <a:stretch>
            <a:fillRect/>
          </a:stretch>
        </p:blipFill>
        <p:spPr>
          <a:xfrm>
            <a:off x="7086600" y="3733800"/>
            <a:ext cx="1947582" cy="3009900"/>
          </a:xfrm>
          <a:prstGeom prst="rect">
            <a:avLst/>
          </a:prstGeom>
        </p:spPr>
      </p:pic>
      <p:sp>
        <p:nvSpPr>
          <p:cNvPr id="5" name="TextBox 4"/>
          <p:cNvSpPr txBox="1"/>
          <p:nvPr/>
        </p:nvSpPr>
        <p:spPr>
          <a:xfrm>
            <a:off x="555571" y="5234602"/>
            <a:ext cx="6315640"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IE" sz="3600" dirty="0"/>
              <a:t>Enforced the </a:t>
            </a:r>
            <a:r>
              <a:rPr lang="en-IE" sz="3600"/>
              <a:t>Encapsulation rules</a:t>
            </a:r>
            <a:endParaRPr lang="en-GB" sz="3600" dirty="0"/>
          </a:p>
        </p:txBody>
      </p:sp>
    </p:spTree>
    <p:extLst>
      <p:ext uri="{BB962C8B-B14F-4D97-AF65-F5344CB8AC3E}">
        <p14:creationId xmlns:p14="http://schemas.microsoft.com/office/powerpoint/2010/main" val="1478538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But Our Design Still Smells!</a:t>
            </a:r>
          </a:p>
        </p:txBody>
      </p:sp>
      <p:sp>
        <p:nvSpPr>
          <p:cNvPr id="3" name="Content Placeholder 2"/>
          <p:cNvSpPr>
            <a:spLocks noGrp="1"/>
          </p:cNvSpPr>
          <p:nvPr>
            <p:ph idx="1"/>
          </p:nvPr>
        </p:nvSpPr>
        <p:spPr>
          <a:xfrm>
            <a:off x="457200" y="1600200"/>
            <a:ext cx="8229600" cy="4525963"/>
          </a:xfrm>
        </p:spPr>
        <p:txBody>
          <a:bodyPr>
            <a:normAutofit/>
          </a:bodyPr>
          <a:lstStyle/>
          <a:p>
            <a:pPr marL="0" indent="0">
              <a:buNone/>
            </a:pPr>
            <a:r>
              <a:rPr lang="en-IE" sz="2800" dirty="0">
                <a:solidFill>
                  <a:srgbClr val="FF0000"/>
                </a:solidFill>
              </a:rPr>
              <a:t>BECAUSE</a:t>
            </a:r>
            <a:endParaRPr lang="en-IE" sz="2800" dirty="0"/>
          </a:p>
        </p:txBody>
      </p:sp>
      <p:sp>
        <p:nvSpPr>
          <p:cNvPr id="4" name="Rectangle 3">
            <a:extLst>
              <a:ext uri="{FF2B5EF4-FFF2-40B4-BE49-F238E27FC236}">
                <a16:creationId xmlns:a16="http://schemas.microsoft.com/office/drawing/2014/main" id="{FE3BC4EB-1174-4591-8C87-3BEAED92C2A1}"/>
              </a:ext>
            </a:extLst>
          </p:cNvPr>
          <p:cNvSpPr/>
          <p:nvPr/>
        </p:nvSpPr>
        <p:spPr>
          <a:xfrm>
            <a:off x="1066800" y="2201187"/>
            <a:ext cx="8077200" cy="3785652"/>
          </a:xfrm>
          <a:prstGeom prst="rect">
            <a:avLst/>
          </a:prstGeom>
        </p:spPr>
        <p:txBody>
          <a:bodyPr wrap="square">
            <a:spAutoFit/>
          </a:bodyPr>
          <a:lstStyle/>
          <a:p>
            <a:r>
              <a:rPr lang="en-IE" sz="3000" dirty="0"/>
              <a:t>While we can no longer directly access the field/property, </a:t>
            </a:r>
            <a:br>
              <a:rPr lang="en-IE" sz="3000" dirty="0"/>
            </a:br>
            <a:br>
              <a:rPr lang="en-IE" sz="3000" dirty="0"/>
            </a:br>
            <a:r>
              <a:rPr lang="en-IE" sz="3000" dirty="0"/>
              <a:t>we can still set the field values </a:t>
            </a:r>
            <a:br>
              <a:rPr lang="en-IE" sz="3000" dirty="0"/>
            </a:br>
            <a:r>
              <a:rPr lang="en-IE" sz="3000" dirty="0"/>
              <a:t>to undesirable values by passing in a parameter … e.g. 30000</a:t>
            </a:r>
          </a:p>
          <a:p>
            <a:endParaRPr lang="en-IE" sz="3000" dirty="0"/>
          </a:p>
          <a:p>
            <a:r>
              <a:rPr lang="en-IE" sz="3000" dirty="0">
                <a:sym typeface="Wingdings" panose="05000000000000000000" pitchFamily="2" charset="2"/>
              </a:rPr>
              <a:t> </a:t>
            </a:r>
            <a:r>
              <a:rPr lang="en-IE" sz="3000" dirty="0"/>
              <a:t>We need </a:t>
            </a:r>
            <a:r>
              <a:rPr lang="en-IE" sz="3000" b="1" dirty="0"/>
              <a:t>validation</a:t>
            </a:r>
            <a:r>
              <a:rPr lang="en-IE" sz="3000" dirty="0"/>
              <a:t>!</a:t>
            </a:r>
          </a:p>
        </p:txBody>
      </p:sp>
    </p:spTree>
    <p:extLst>
      <p:ext uri="{BB962C8B-B14F-4D97-AF65-F5344CB8AC3E}">
        <p14:creationId xmlns:p14="http://schemas.microsoft.com/office/powerpoint/2010/main" val="86457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Topics list</a:t>
            </a:r>
          </a:p>
        </p:txBody>
      </p:sp>
      <p:sp>
        <p:nvSpPr>
          <p:cNvPr id="5" name="Content Placeholder 4"/>
          <p:cNvSpPr>
            <a:spLocks noGrp="1"/>
          </p:cNvSpPr>
          <p:nvPr>
            <p:ph idx="1"/>
          </p:nvPr>
        </p:nvSpPr>
        <p:spPr>
          <a:xfrm>
            <a:off x="457200" y="1600200"/>
            <a:ext cx="8382000" cy="4525963"/>
          </a:xfrm>
        </p:spPr>
        <p:txBody>
          <a:bodyPr>
            <a:normAutofit/>
          </a:bodyPr>
          <a:lstStyle/>
          <a:p>
            <a:pPr marL="742950" indent="-742950">
              <a:buFont typeface="+mj-lt"/>
              <a:buAutoNum type="arabicPeriod"/>
            </a:pPr>
            <a:r>
              <a:rPr lang="en-IE" sz="3600" dirty="0"/>
              <a:t>Recap: Version 6.1</a:t>
            </a:r>
          </a:p>
          <a:p>
            <a:pPr marL="742950" indent="-742950">
              <a:buFont typeface="+mj-lt"/>
              <a:buAutoNum type="arabicPeriod"/>
            </a:pPr>
            <a:r>
              <a:rPr lang="en-IE" sz="3600" dirty="0"/>
              <a:t>Our design smells!</a:t>
            </a:r>
          </a:p>
          <a:p>
            <a:pPr marL="742950" indent="-742950">
              <a:buFont typeface="+mj-lt"/>
              <a:buAutoNum type="arabicPeriod"/>
            </a:pPr>
            <a:r>
              <a:rPr lang="en-IE" sz="3600" b="1" dirty="0"/>
              <a:t>Encapsulation</a:t>
            </a:r>
          </a:p>
          <a:p>
            <a:pPr marL="742950" indent="-742950">
              <a:buFont typeface="+mj-lt"/>
              <a:buAutoNum type="arabicPeriod"/>
            </a:pPr>
            <a:r>
              <a:rPr lang="en-IE" sz="3600" dirty="0"/>
              <a:t>Refactoring Spot:</a:t>
            </a:r>
          </a:p>
          <a:p>
            <a:pPr lvl="1"/>
            <a:r>
              <a:rPr lang="en-IE" b="1" dirty="0"/>
              <a:t>Access Modifiers</a:t>
            </a:r>
          </a:p>
          <a:p>
            <a:pPr lvl="1"/>
            <a:r>
              <a:rPr lang="en-IE" b="1" dirty="0"/>
              <a:t>Accessors and </a:t>
            </a:r>
            <a:r>
              <a:rPr lang="en-IE" b="1" dirty="0" err="1"/>
              <a:t>Mutators</a:t>
            </a:r>
            <a:endParaRPr lang="en-IE" b="1" dirty="0"/>
          </a:p>
          <a:p>
            <a:pPr lvl="1"/>
            <a:r>
              <a:rPr lang="en-IE" b="1" dirty="0"/>
              <a:t>Validation</a:t>
            </a:r>
          </a:p>
        </p:txBody>
      </p:sp>
      <p:sp>
        <p:nvSpPr>
          <p:cNvPr id="7" name="Rectangle 6"/>
          <p:cNvSpPr/>
          <p:nvPr/>
        </p:nvSpPr>
        <p:spPr>
          <a:xfrm>
            <a:off x="457200" y="3581400"/>
            <a:ext cx="8382000" cy="22860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Right Arrow 2"/>
          <p:cNvSpPr/>
          <p:nvPr/>
        </p:nvSpPr>
        <p:spPr>
          <a:xfrm>
            <a:off x="228600" y="53340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148668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1066800" y="1905000"/>
            <a:ext cx="6858000" cy="2209800"/>
          </a:xfrm>
          <a:prstGeom prst="rect">
            <a:avLst/>
          </a:prstGeom>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latin typeface="Courier New" pitchFamily="49" charset="0"/>
                <a:cs typeface="Times" pitchFamily="-32" charset="0"/>
              </a:rPr>
              <a:t>Spot(float </a:t>
            </a:r>
            <a:r>
              <a:rPr lang="en-US" sz="1800" dirty="0" err="1">
                <a:latin typeface="Courier New" pitchFamily="49" charset="0"/>
                <a:cs typeface="Times" pitchFamily="-32" charset="0"/>
              </a:rPr>
              <a:t>xCoord</a:t>
            </a:r>
            <a:r>
              <a:rPr lang="en-US" sz="1800" dirty="0">
                <a:latin typeface="Courier New" pitchFamily="49" charset="0"/>
                <a:cs typeface="Times" pitchFamily="-32" charset="0"/>
              </a:rPr>
              <a:t>, float </a:t>
            </a:r>
            <a:r>
              <a:rPr lang="en-US" sz="1800" dirty="0" err="1">
                <a:latin typeface="Courier New" pitchFamily="49" charset="0"/>
                <a:cs typeface="Times" pitchFamily="-32" charset="0"/>
              </a:rPr>
              <a:t>yCoord</a:t>
            </a:r>
            <a:r>
              <a:rPr lang="en-US" sz="1800" dirty="0">
                <a:latin typeface="Courier New" pitchFamily="49" charset="0"/>
                <a:cs typeface="Times" pitchFamily="-32" charset="0"/>
              </a:rPr>
              <a:t>, float diameter)</a:t>
            </a:r>
          </a:p>
          <a:p>
            <a:pPr marL="0" indent="0">
              <a:buNone/>
            </a:pPr>
            <a:r>
              <a:rPr lang="en-US" sz="1800" dirty="0">
                <a:latin typeface="Courier New" pitchFamily="49" charset="0"/>
                <a:cs typeface="Times" pitchFamily="-32" charset="0"/>
              </a:rPr>
              <a:t>{</a:t>
            </a:r>
          </a:p>
          <a:p>
            <a:pPr marL="0" indent="0">
              <a:buNone/>
            </a:pPr>
            <a:r>
              <a:rPr lang="en-US" sz="1800" dirty="0">
                <a:latin typeface="Courier New" pitchFamily="49" charset="0"/>
                <a:cs typeface="Times" pitchFamily="-32" charset="0"/>
              </a:rPr>
              <a:t>  </a:t>
            </a:r>
            <a:r>
              <a:rPr lang="en-US" sz="1800" dirty="0" err="1">
                <a:latin typeface="Courier New" pitchFamily="49" charset="0"/>
                <a:cs typeface="Times" pitchFamily="-32" charset="0"/>
              </a:rPr>
              <a:t>this.xCoord</a:t>
            </a:r>
            <a:r>
              <a:rPr lang="en-US" sz="1800" dirty="0">
                <a:latin typeface="Courier New" pitchFamily="49" charset="0"/>
                <a:cs typeface="Times" pitchFamily="-32" charset="0"/>
              </a:rPr>
              <a:t> = </a:t>
            </a:r>
            <a:r>
              <a:rPr lang="en-US" sz="1800" dirty="0" err="1">
                <a:latin typeface="Courier New" pitchFamily="49" charset="0"/>
                <a:cs typeface="Times" pitchFamily="-32" charset="0"/>
              </a:rPr>
              <a:t>xCoord</a:t>
            </a:r>
            <a:r>
              <a:rPr lang="en-US" sz="1800" dirty="0">
                <a:latin typeface="Courier New" pitchFamily="49" charset="0"/>
                <a:cs typeface="Times" pitchFamily="-32" charset="0"/>
              </a:rPr>
              <a:t>;</a:t>
            </a:r>
          </a:p>
          <a:p>
            <a:pPr marL="0" indent="0">
              <a:buNone/>
            </a:pPr>
            <a:r>
              <a:rPr lang="en-US" sz="1800" dirty="0">
                <a:latin typeface="Courier New" pitchFamily="49" charset="0"/>
                <a:cs typeface="Times" pitchFamily="-32" charset="0"/>
              </a:rPr>
              <a:t>  </a:t>
            </a:r>
            <a:r>
              <a:rPr lang="en-US" sz="1800" dirty="0" err="1">
                <a:latin typeface="Courier New" pitchFamily="49" charset="0"/>
                <a:cs typeface="Times" pitchFamily="-32" charset="0"/>
              </a:rPr>
              <a:t>this.yCoord</a:t>
            </a:r>
            <a:r>
              <a:rPr lang="en-US" sz="1800" dirty="0">
                <a:latin typeface="Courier New" pitchFamily="49" charset="0"/>
                <a:cs typeface="Times" pitchFamily="-32" charset="0"/>
              </a:rPr>
              <a:t> = </a:t>
            </a:r>
            <a:r>
              <a:rPr lang="en-US" sz="1800" dirty="0" err="1">
                <a:latin typeface="Courier New" pitchFamily="49" charset="0"/>
                <a:cs typeface="Times" pitchFamily="-32" charset="0"/>
              </a:rPr>
              <a:t>yCoord</a:t>
            </a:r>
            <a:r>
              <a:rPr lang="en-US" sz="1800" dirty="0">
                <a:latin typeface="Courier New" pitchFamily="49" charset="0"/>
                <a:cs typeface="Times" pitchFamily="-32" charset="0"/>
              </a:rPr>
              <a:t>;</a:t>
            </a:r>
          </a:p>
          <a:p>
            <a:pPr marL="0" indent="0">
              <a:buNone/>
            </a:pPr>
            <a:r>
              <a:rPr lang="en-US" sz="1800" dirty="0">
                <a:latin typeface="Courier New" pitchFamily="49" charset="0"/>
                <a:cs typeface="Times" pitchFamily="-32" charset="0"/>
              </a:rPr>
              <a:t>  </a:t>
            </a:r>
            <a:r>
              <a:rPr lang="en-US" sz="1800" dirty="0" err="1">
                <a:latin typeface="Courier New" pitchFamily="49" charset="0"/>
                <a:cs typeface="Times" pitchFamily="-32" charset="0"/>
              </a:rPr>
              <a:t>this.diameter</a:t>
            </a:r>
            <a:r>
              <a:rPr lang="en-US" sz="1800" dirty="0">
                <a:latin typeface="Courier New" pitchFamily="49" charset="0"/>
                <a:cs typeface="Times" pitchFamily="-32" charset="0"/>
              </a:rPr>
              <a:t> = diameter;</a:t>
            </a:r>
          </a:p>
          <a:p>
            <a:pPr marL="0" indent="0">
              <a:buNone/>
            </a:pPr>
            <a:r>
              <a:rPr lang="en-US" sz="1800" dirty="0">
                <a:latin typeface="Courier New" pitchFamily="49" charset="0"/>
                <a:cs typeface="Times" pitchFamily="-32" charset="0"/>
              </a:rPr>
              <a:t>}</a:t>
            </a:r>
            <a:endParaRPr lang="en-US" sz="1800" dirty="0">
              <a:latin typeface="Courier New" pitchFamily="49" charset="0"/>
            </a:endParaRPr>
          </a:p>
        </p:txBody>
      </p:sp>
      <p:sp>
        <p:nvSpPr>
          <p:cNvPr id="2" name="Title 1"/>
          <p:cNvSpPr>
            <a:spLocks noGrp="1"/>
          </p:cNvSpPr>
          <p:nvPr>
            <p:ph type="title"/>
          </p:nvPr>
        </p:nvSpPr>
        <p:spPr/>
        <p:txBody>
          <a:bodyPr>
            <a:normAutofit/>
          </a:bodyPr>
          <a:lstStyle/>
          <a:p>
            <a:r>
              <a:rPr lang="en-IE" dirty="0"/>
              <a:t>Improving the constructor</a:t>
            </a:r>
          </a:p>
        </p:txBody>
      </p:sp>
      <p:sp>
        <p:nvSpPr>
          <p:cNvPr id="9" name="TextBox 8">
            <a:extLst>
              <a:ext uri="{FF2B5EF4-FFF2-40B4-BE49-F238E27FC236}">
                <a16:creationId xmlns:a16="http://schemas.microsoft.com/office/drawing/2014/main" id="{61E1B11B-F984-4208-9489-75DC70681658}"/>
              </a:ext>
            </a:extLst>
          </p:cNvPr>
          <p:cNvSpPr txBox="1"/>
          <p:nvPr/>
        </p:nvSpPr>
        <p:spPr>
          <a:xfrm>
            <a:off x="3581400" y="4419600"/>
            <a:ext cx="3505200"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E" sz="3200" dirty="0"/>
              <a:t>Current constructor with </a:t>
            </a:r>
            <a:r>
              <a:rPr lang="en-IE" sz="3200" b="1" u="sng" dirty="0"/>
              <a:t>no</a:t>
            </a:r>
            <a:r>
              <a:rPr lang="en-IE" sz="3200" dirty="0"/>
              <a:t> validation.</a:t>
            </a:r>
          </a:p>
        </p:txBody>
      </p:sp>
    </p:spTree>
    <p:extLst>
      <p:ext uri="{BB962C8B-B14F-4D97-AF65-F5344CB8AC3E}">
        <p14:creationId xmlns:p14="http://schemas.microsoft.com/office/powerpoint/2010/main" val="3991165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Improving the </a:t>
            </a:r>
            <a:r>
              <a:rPr lang="en-IE" b="1" dirty="0"/>
              <a:t>constructor</a:t>
            </a:r>
          </a:p>
        </p:txBody>
      </p:sp>
      <p:sp>
        <p:nvSpPr>
          <p:cNvPr id="3" name="Content Placeholder 2"/>
          <p:cNvSpPr>
            <a:spLocks noGrp="1"/>
          </p:cNvSpPr>
          <p:nvPr>
            <p:ph idx="1"/>
          </p:nvPr>
        </p:nvSpPr>
        <p:spPr>
          <a:xfrm>
            <a:off x="685800" y="1524000"/>
            <a:ext cx="7924800" cy="3962400"/>
          </a:xfrm>
          <a:solidFill>
            <a:schemeClr val="bg2"/>
          </a:solidFill>
          <a:ln>
            <a:solidFill>
              <a:srgbClr val="FF0000"/>
            </a:solidFill>
          </a:ln>
        </p:spPr>
        <p:txBody>
          <a:bodyPr>
            <a:noAutofit/>
          </a:bodyPr>
          <a:lstStyle/>
          <a:p>
            <a:pPr marL="0" indent="0">
              <a:buNone/>
            </a:pPr>
            <a:r>
              <a:rPr lang="en-US" sz="2000" dirty="0">
                <a:latin typeface="Courier New" pitchFamily="49" charset="0"/>
                <a:cs typeface="Times" pitchFamily="-32" charset="0"/>
              </a:rPr>
              <a:t>Spot(float </a:t>
            </a:r>
            <a:r>
              <a:rPr lang="en-US" sz="2000" dirty="0" err="1">
                <a:latin typeface="Courier New" pitchFamily="49" charset="0"/>
                <a:cs typeface="Times" pitchFamily="-32" charset="0"/>
              </a:rPr>
              <a:t>xCoord</a:t>
            </a:r>
            <a:r>
              <a:rPr lang="en-US" sz="2000" dirty="0">
                <a:latin typeface="Courier New" pitchFamily="49" charset="0"/>
                <a:cs typeface="Times" pitchFamily="-32" charset="0"/>
              </a:rPr>
              <a:t>, float </a:t>
            </a:r>
            <a:r>
              <a:rPr lang="en-US" sz="2000" dirty="0" err="1">
                <a:latin typeface="Courier New" pitchFamily="49" charset="0"/>
                <a:cs typeface="Times" pitchFamily="-32" charset="0"/>
              </a:rPr>
              <a:t>yCoord</a:t>
            </a:r>
            <a:r>
              <a:rPr lang="en-US" sz="2000" dirty="0">
                <a:latin typeface="Courier New" pitchFamily="49" charset="0"/>
                <a:cs typeface="Times" pitchFamily="-32" charset="0"/>
              </a:rPr>
              <a:t>, float diameter)</a:t>
            </a:r>
          </a:p>
          <a:p>
            <a:pPr marL="0" indent="0">
              <a:buNone/>
            </a:pPr>
            <a:r>
              <a:rPr lang="en-US" sz="2000" dirty="0">
                <a:latin typeface="Courier New" pitchFamily="49" charset="0"/>
                <a:cs typeface="Times" pitchFamily="-32" charset="0"/>
              </a:rPr>
              <a:t>{</a:t>
            </a:r>
          </a:p>
          <a:p>
            <a:pPr marL="0" indent="0">
              <a:buNone/>
            </a:pPr>
            <a:r>
              <a:rPr lang="en-US" sz="2000" dirty="0">
                <a:latin typeface="Courier New" pitchFamily="49" charset="0"/>
                <a:cs typeface="Times" pitchFamily="-32" charset="0"/>
              </a:rPr>
              <a:t>  </a:t>
            </a:r>
            <a:r>
              <a:rPr lang="en-US" sz="2000" dirty="0" err="1">
                <a:latin typeface="Courier New" pitchFamily="49" charset="0"/>
                <a:cs typeface="Times" pitchFamily="-32" charset="0"/>
              </a:rPr>
              <a:t>this.xCoord</a:t>
            </a:r>
            <a:r>
              <a:rPr lang="en-US" sz="2000" dirty="0">
                <a:latin typeface="Courier New" pitchFamily="49" charset="0"/>
                <a:cs typeface="Times" pitchFamily="-32" charset="0"/>
              </a:rPr>
              <a:t> = </a:t>
            </a:r>
            <a:r>
              <a:rPr lang="en-US" sz="2000" dirty="0" err="1">
                <a:latin typeface="Courier New" pitchFamily="49" charset="0"/>
                <a:cs typeface="Times" pitchFamily="-32" charset="0"/>
              </a:rPr>
              <a:t>xCoord</a:t>
            </a:r>
            <a:r>
              <a:rPr lang="en-US" sz="2000" dirty="0">
                <a:latin typeface="Courier New" pitchFamily="49" charset="0"/>
                <a:cs typeface="Times" pitchFamily="-32" charset="0"/>
              </a:rPr>
              <a:t>;</a:t>
            </a:r>
          </a:p>
          <a:p>
            <a:pPr marL="0" indent="0">
              <a:buNone/>
            </a:pPr>
            <a:r>
              <a:rPr lang="en-US" sz="2000" dirty="0">
                <a:latin typeface="Courier New" pitchFamily="49" charset="0"/>
                <a:cs typeface="Times" pitchFamily="-32" charset="0"/>
              </a:rPr>
              <a:t>  </a:t>
            </a:r>
            <a:r>
              <a:rPr lang="en-US" sz="2000" dirty="0" err="1">
                <a:latin typeface="Courier New" pitchFamily="49" charset="0"/>
                <a:cs typeface="Times" pitchFamily="-32" charset="0"/>
              </a:rPr>
              <a:t>this.yCoord</a:t>
            </a:r>
            <a:r>
              <a:rPr lang="en-US" sz="2000" dirty="0">
                <a:latin typeface="Courier New" pitchFamily="49" charset="0"/>
                <a:cs typeface="Times" pitchFamily="-32" charset="0"/>
              </a:rPr>
              <a:t> = </a:t>
            </a:r>
            <a:r>
              <a:rPr lang="en-US" sz="2000" dirty="0" err="1">
                <a:latin typeface="Courier New" pitchFamily="49" charset="0"/>
                <a:cs typeface="Times" pitchFamily="-32" charset="0"/>
              </a:rPr>
              <a:t>yCoord</a:t>
            </a:r>
            <a:r>
              <a:rPr lang="en-US" sz="2000" dirty="0">
                <a:latin typeface="Courier New" pitchFamily="49" charset="0"/>
                <a:cs typeface="Times" pitchFamily="-32" charset="0"/>
              </a:rPr>
              <a:t>;</a:t>
            </a:r>
          </a:p>
          <a:p>
            <a:pPr marL="0" indent="0">
              <a:buNone/>
            </a:pPr>
            <a:r>
              <a:rPr lang="en-US" sz="2000" dirty="0">
                <a:latin typeface="Courier New" pitchFamily="49" charset="0"/>
                <a:cs typeface="Times" pitchFamily="-32" charset="0"/>
              </a:rPr>
              <a:t>  </a:t>
            </a:r>
            <a:r>
              <a:rPr lang="en-US" sz="2000" b="1" dirty="0">
                <a:latin typeface="Courier New" pitchFamily="49" charset="0"/>
                <a:cs typeface="Times" pitchFamily="-32" charset="0"/>
              </a:rPr>
              <a:t>if ((diameter &gt;= 20) &amp;&amp; (diameter &lt;= 50)){</a:t>
            </a:r>
          </a:p>
          <a:p>
            <a:pPr marL="0" indent="0">
              <a:buNone/>
            </a:pPr>
            <a:r>
              <a:rPr lang="en-US" sz="2000" b="1" dirty="0">
                <a:latin typeface="Courier New" pitchFamily="49" charset="0"/>
                <a:cs typeface="Times" pitchFamily="-32" charset="0"/>
              </a:rPr>
              <a:t>     </a:t>
            </a:r>
            <a:r>
              <a:rPr lang="en-US" sz="2000" b="1" dirty="0" err="1">
                <a:latin typeface="Courier New" pitchFamily="49" charset="0"/>
                <a:cs typeface="Times" pitchFamily="-32" charset="0"/>
              </a:rPr>
              <a:t>this.diameter</a:t>
            </a:r>
            <a:r>
              <a:rPr lang="en-US" sz="2000" b="1" dirty="0">
                <a:latin typeface="Courier New" pitchFamily="49" charset="0"/>
                <a:cs typeface="Times" pitchFamily="-32" charset="0"/>
              </a:rPr>
              <a:t> = diameter;</a:t>
            </a:r>
          </a:p>
          <a:p>
            <a:pPr marL="0" indent="0">
              <a:buNone/>
            </a:pPr>
            <a:r>
              <a:rPr lang="en-US" sz="2000" b="1" dirty="0">
                <a:latin typeface="Courier New" pitchFamily="49" charset="0"/>
                <a:cs typeface="Times" pitchFamily="-32" charset="0"/>
              </a:rPr>
              <a:t>  }</a:t>
            </a:r>
          </a:p>
          <a:p>
            <a:pPr marL="0" indent="0">
              <a:buNone/>
            </a:pPr>
            <a:r>
              <a:rPr lang="en-US" sz="2000" b="1" dirty="0">
                <a:latin typeface="Courier New" pitchFamily="49" charset="0"/>
                <a:cs typeface="Times" pitchFamily="-32" charset="0"/>
              </a:rPr>
              <a:t>  else{</a:t>
            </a:r>
          </a:p>
          <a:p>
            <a:pPr marL="0" indent="0">
              <a:buNone/>
            </a:pPr>
            <a:r>
              <a:rPr lang="en-US" sz="2000" b="1" dirty="0">
                <a:latin typeface="Courier New" pitchFamily="49" charset="0"/>
                <a:cs typeface="Times" pitchFamily="-32" charset="0"/>
              </a:rPr>
              <a:t>     </a:t>
            </a:r>
            <a:r>
              <a:rPr lang="en-US" sz="2000" b="1" dirty="0" err="1">
                <a:latin typeface="Courier New" pitchFamily="49" charset="0"/>
                <a:cs typeface="Times" pitchFamily="-32" charset="0"/>
              </a:rPr>
              <a:t>this.diameter</a:t>
            </a:r>
            <a:r>
              <a:rPr lang="en-US" sz="2000" b="1" dirty="0">
                <a:latin typeface="Courier New" pitchFamily="49" charset="0"/>
                <a:cs typeface="Times" pitchFamily="-32" charset="0"/>
              </a:rPr>
              <a:t> = 20;</a:t>
            </a:r>
          </a:p>
          <a:p>
            <a:pPr marL="0" indent="0">
              <a:buNone/>
            </a:pPr>
            <a:r>
              <a:rPr lang="en-US" sz="2000" dirty="0">
                <a:latin typeface="Courier New" pitchFamily="49" charset="0"/>
                <a:cs typeface="Times" pitchFamily="-32" charset="0"/>
              </a:rPr>
              <a:t>  } </a:t>
            </a:r>
          </a:p>
          <a:p>
            <a:pPr marL="0" indent="0">
              <a:buNone/>
            </a:pPr>
            <a:r>
              <a:rPr lang="en-US" sz="2000" dirty="0">
                <a:latin typeface="Courier New" pitchFamily="49" charset="0"/>
                <a:cs typeface="Times" pitchFamily="-32" charset="0"/>
              </a:rPr>
              <a:t>}</a:t>
            </a:r>
            <a:endParaRPr lang="en-US" sz="2000" dirty="0">
              <a:latin typeface="Courier New" pitchFamily="49" charset="0"/>
            </a:endParaRPr>
          </a:p>
        </p:txBody>
      </p:sp>
      <p:sp>
        <p:nvSpPr>
          <p:cNvPr id="4" name="TextBox 3"/>
          <p:cNvSpPr txBox="1"/>
          <p:nvPr/>
        </p:nvSpPr>
        <p:spPr>
          <a:xfrm>
            <a:off x="304800" y="5791200"/>
            <a:ext cx="8534400" cy="830997"/>
          </a:xfrm>
          <a:prstGeom prst="rect">
            <a:avLst/>
          </a:prstGeom>
          <a:noFill/>
          <a:ln w="38100">
            <a:solidFill>
              <a:srgbClr val="007E4F"/>
            </a:solidFill>
          </a:ln>
        </p:spPr>
        <p:txBody>
          <a:bodyPr wrap="square" rtlCol="0">
            <a:spAutoFit/>
          </a:bodyPr>
          <a:lstStyle/>
          <a:p>
            <a:pPr algn="ctr"/>
            <a:r>
              <a:rPr lang="en-IE" sz="2400" b="1" dirty="0"/>
              <a:t>Note:  in the constructor, you typically set the field </a:t>
            </a:r>
            <a:br>
              <a:rPr lang="en-IE" sz="2400" b="1" dirty="0"/>
            </a:br>
            <a:r>
              <a:rPr lang="en-IE" sz="2400" b="1" dirty="0"/>
              <a:t>to a </a:t>
            </a:r>
            <a:r>
              <a:rPr lang="en-IE" sz="2400" b="1" u="sng" dirty="0">
                <a:solidFill>
                  <a:srgbClr val="FF0000"/>
                </a:solidFill>
              </a:rPr>
              <a:t>default</a:t>
            </a:r>
            <a:r>
              <a:rPr lang="en-IE" sz="2400" b="1" dirty="0"/>
              <a:t> value if invalid data was entered.</a:t>
            </a:r>
          </a:p>
        </p:txBody>
      </p:sp>
      <p:cxnSp>
        <p:nvCxnSpPr>
          <p:cNvPr id="6" name="Straight Arrow Connector 5"/>
          <p:cNvCxnSpPr>
            <a:cxnSpLocks/>
            <a:stCxn id="4" idx="0"/>
          </p:cNvCxnSpPr>
          <p:nvPr/>
        </p:nvCxnSpPr>
        <p:spPr>
          <a:xfrm flipH="1" flipV="1">
            <a:off x="4191000" y="4800600"/>
            <a:ext cx="381000" cy="99060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02E1CD9-B965-418A-A2DC-E77761771F85}"/>
              </a:ext>
            </a:extLst>
          </p:cNvPr>
          <p:cNvSpPr txBox="1"/>
          <p:nvPr/>
        </p:nvSpPr>
        <p:spPr>
          <a:xfrm>
            <a:off x="4572000" y="3769548"/>
            <a:ext cx="4267200"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E" sz="3200" dirty="0"/>
              <a:t>Updated  </a:t>
            </a:r>
            <a:r>
              <a:rPr lang="en-IE" sz="3200"/>
              <a:t>constructor </a:t>
            </a:r>
            <a:br>
              <a:rPr lang="en-IE" sz="3200"/>
            </a:br>
            <a:r>
              <a:rPr lang="en-IE" sz="3200" b="1" u="sng"/>
              <a:t>with</a:t>
            </a:r>
            <a:r>
              <a:rPr lang="en-IE" sz="3200"/>
              <a:t> </a:t>
            </a:r>
            <a:r>
              <a:rPr lang="en-IE" sz="3200" dirty="0"/>
              <a:t>some </a:t>
            </a:r>
            <a:r>
              <a:rPr lang="en-IE" sz="3200" b="1" dirty="0"/>
              <a:t>validation</a:t>
            </a:r>
            <a:r>
              <a:rPr lang="en-IE" sz="3200" dirty="0"/>
              <a:t>.</a:t>
            </a:r>
          </a:p>
        </p:txBody>
      </p:sp>
      <p:sp>
        <p:nvSpPr>
          <p:cNvPr id="7" name="Donut 6"/>
          <p:cNvSpPr/>
          <p:nvPr/>
        </p:nvSpPr>
        <p:spPr>
          <a:xfrm>
            <a:off x="762000" y="3969604"/>
            <a:ext cx="3962400" cy="990600"/>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custDataLst>
      <p:tags r:id="rId1"/>
    </p:custDataLst>
    <p:extLst>
      <p:ext uri="{BB962C8B-B14F-4D97-AF65-F5344CB8AC3E}">
        <p14:creationId xmlns:p14="http://schemas.microsoft.com/office/powerpoint/2010/main" val="361427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0"/>
                            </p:stCondLst>
                            <p:childTnLst>
                              <p:par>
                                <p:cTn id="10" presetID="21"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Improving the </a:t>
            </a:r>
            <a:r>
              <a:rPr lang="en-IE" b="1" dirty="0"/>
              <a:t>setter</a:t>
            </a:r>
            <a:r>
              <a:rPr lang="en-IE" dirty="0"/>
              <a:t> / </a:t>
            </a:r>
            <a:r>
              <a:rPr lang="en-IE" dirty="0" err="1"/>
              <a:t>mutator</a:t>
            </a:r>
            <a:endParaRPr lang="en-IE" dirty="0"/>
          </a:p>
        </p:txBody>
      </p:sp>
      <p:sp>
        <p:nvSpPr>
          <p:cNvPr id="6" name="Text Box 3"/>
          <p:cNvSpPr txBox="1">
            <a:spLocks noChangeArrowheads="1"/>
          </p:cNvSpPr>
          <p:nvPr/>
        </p:nvSpPr>
        <p:spPr bwMode="auto">
          <a:xfrm>
            <a:off x="838201" y="1645384"/>
            <a:ext cx="7391399" cy="1631216"/>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r>
              <a:rPr lang="en-US" sz="2000" dirty="0">
                <a:solidFill>
                  <a:schemeClr val="tx1"/>
                </a:solidFill>
                <a:latin typeface="Courier New" pitchFamily="49" charset="0"/>
                <a:cs typeface="Times" pitchFamily="-32" charset="0"/>
              </a:rPr>
              <a:t>public void </a:t>
            </a:r>
            <a:r>
              <a:rPr lang="en-US" sz="2000" b="1" dirty="0" err="1">
                <a:solidFill>
                  <a:schemeClr val="tx1"/>
                </a:solidFill>
                <a:latin typeface="Courier New" pitchFamily="49" charset="0"/>
                <a:cs typeface="Times" pitchFamily="-32" charset="0"/>
              </a:rPr>
              <a:t>setDiameter</a:t>
            </a:r>
            <a:r>
              <a:rPr lang="en-US" sz="2000" dirty="0">
                <a:solidFill>
                  <a:schemeClr val="tx1"/>
                </a:solidFill>
                <a:latin typeface="Courier New" pitchFamily="49" charset="0"/>
                <a:cs typeface="Times" pitchFamily="-32" charset="0"/>
              </a:rPr>
              <a:t> (float diameter){</a:t>
            </a:r>
          </a:p>
          <a:p>
            <a:r>
              <a:rPr lang="en-US" sz="2000" dirty="0">
                <a:solidFill>
                  <a:schemeClr val="tx1"/>
                </a:solidFill>
                <a:latin typeface="Courier New" pitchFamily="49" charset="0"/>
                <a:cs typeface="Times" pitchFamily="-32" charset="0"/>
              </a:rPr>
              <a:t>    </a:t>
            </a:r>
            <a:r>
              <a:rPr lang="en-US" sz="2000" b="1" dirty="0">
                <a:solidFill>
                  <a:schemeClr val="tx1"/>
                </a:solidFill>
                <a:latin typeface="Courier New" pitchFamily="49" charset="0"/>
                <a:cs typeface="Times" pitchFamily="-32" charset="0"/>
              </a:rPr>
              <a:t>if ((diameter &gt;= 20) &amp;&amp; (diameter &lt;= 50)){</a:t>
            </a:r>
          </a:p>
          <a:p>
            <a:r>
              <a:rPr lang="en-US" sz="2000" b="1" dirty="0">
                <a:solidFill>
                  <a:schemeClr val="tx1"/>
                </a:solidFill>
                <a:latin typeface="Courier New" pitchFamily="49" charset="0"/>
                <a:cs typeface="Times" pitchFamily="-32" charset="0"/>
              </a:rPr>
              <a:t>        </a:t>
            </a:r>
            <a:r>
              <a:rPr lang="en-US" sz="2000" b="1" dirty="0" err="1">
                <a:solidFill>
                  <a:schemeClr val="tx1"/>
                </a:solidFill>
                <a:latin typeface="Courier New" pitchFamily="49" charset="0"/>
                <a:cs typeface="Times" pitchFamily="-32" charset="0"/>
              </a:rPr>
              <a:t>this.diameter</a:t>
            </a:r>
            <a:r>
              <a:rPr lang="en-US" sz="2000" b="1" dirty="0">
                <a:solidFill>
                  <a:schemeClr val="tx1"/>
                </a:solidFill>
                <a:latin typeface="Courier New" pitchFamily="49" charset="0"/>
                <a:cs typeface="Times" pitchFamily="-32" charset="0"/>
              </a:rPr>
              <a:t> = diameter;</a:t>
            </a:r>
          </a:p>
          <a:p>
            <a:r>
              <a:rPr lang="en-US" sz="2000" b="1" dirty="0">
                <a:solidFill>
                  <a:schemeClr val="tx1"/>
                </a:solidFill>
                <a:latin typeface="Courier New" pitchFamily="49" charset="0"/>
                <a:cs typeface="Times" pitchFamily="-32" charset="0"/>
              </a:rPr>
              <a:t>    }</a:t>
            </a:r>
          </a:p>
          <a:p>
            <a:r>
              <a:rPr lang="en-US" sz="2000" dirty="0">
                <a:solidFill>
                  <a:schemeClr val="tx1"/>
                </a:solidFill>
                <a:latin typeface="Courier New" pitchFamily="49" charset="0"/>
                <a:cs typeface="Times" pitchFamily="-32" charset="0"/>
              </a:rPr>
              <a:t>} </a:t>
            </a:r>
          </a:p>
        </p:txBody>
      </p:sp>
      <p:sp>
        <p:nvSpPr>
          <p:cNvPr id="3" name="TextBox 2"/>
          <p:cNvSpPr txBox="1"/>
          <p:nvPr/>
        </p:nvSpPr>
        <p:spPr>
          <a:xfrm>
            <a:off x="838200" y="3581400"/>
            <a:ext cx="7391400" cy="1384995"/>
          </a:xfrm>
          <a:prstGeom prst="rect">
            <a:avLst/>
          </a:prstGeom>
          <a:noFill/>
          <a:ln w="28575">
            <a:solidFill>
              <a:srgbClr val="007E4F"/>
            </a:solidFill>
          </a:ln>
        </p:spPr>
        <p:txBody>
          <a:bodyPr wrap="square" rtlCol="0">
            <a:spAutoFit/>
          </a:bodyPr>
          <a:lstStyle/>
          <a:p>
            <a:r>
              <a:rPr lang="en-IE" sz="2800" dirty="0"/>
              <a:t>Note: The validation done at constructor level </a:t>
            </a:r>
            <a:r>
              <a:rPr lang="en-IE" sz="2800" u="sng" dirty="0"/>
              <a:t>must</a:t>
            </a:r>
            <a:r>
              <a:rPr lang="en-IE" sz="2800" dirty="0"/>
              <a:t> be </a:t>
            </a:r>
            <a:r>
              <a:rPr lang="en-IE" sz="2800" b="1" dirty="0"/>
              <a:t>repeated at setter level </a:t>
            </a:r>
            <a:r>
              <a:rPr lang="en-IE" sz="2800" dirty="0"/>
              <a:t>for that field  </a:t>
            </a:r>
            <a:br>
              <a:rPr lang="en-IE" sz="2800" dirty="0"/>
            </a:br>
            <a:r>
              <a:rPr lang="en-IE" sz="2800" dirty="0">
                <a:sym typeface="Wingdings" panose="05000000000000000000" pitchFamily="2" charset="2"/>
              </a:rPr>
              <a:t> </a:t>
            </a:r>
            <a:r>
              <a:rPr lang="en-IE" sz="2800" b="1" dirty="0">
                <a:solidFill>
                  <a:srgbClr val="00B050"/>
                </a:solidFill>
                <a:sym typeface="Wingdings" panose="05000000000000000000" pitchFamily="2" charset="2"/>
              </a:rPr>
              <a:t>data integrity</a:t>
            </a:r>
            <a:r>
              <a:rPr lang="en-IE" sz="2800" dirty="0">
                <a:sym typeface="Wingdings" panose="05000000000000000000" pitchFamily="2" charset="2"/>
              </a:rPr>
              <a:t>!</a:t>
            </a:r>
            <a:endParaRPr lang="en-IE" sz="2800" dirty="0"/>
          </a:p>
        </p:txBody>
      </p:sp>
      <p:sp>
        <p:nvSpPr>
          <p:cNvPr id="5" name="TextBox 4">
            <a:extLst>
              <a:ext uri="{FF2B5EF4-FFF2-40B4-BE49-F238E27FC236}">
                <a16:creationId xmlns:a16="http://schemas.microsoft.com/office/drawing/2014/main" id="{EDD1AD10-D966-4683-93E7-AAA1E708D453}"/>
              </a:ext>
            </a:extLst>
          </p:cNvPr>
          <p:cNvSpPr txBox="1"/>
          <p:nvPr/>
        </p:nvSpPr>
        <p:spPr>
          <a:xfrm>
            <a:off x="228600" y="5105400"/>
            <a:ext cx="8610600" cy="1384995"/>
          </a:xfrm>
          <a:prstGeom prst="rect">
            <a:avLst/>
          </a:prstGeom>
          <a:noFill/>
          <a:ln w="28575">
            <a:solidFill>
              <a:srgbClr val="007E4F"/>
            </a:solidFill>
          </a:ln>
        </p:spPr>
        <p:txBody>
          <a:bodyPr wrap="square" rtlCol="0">
            <a:spAutoFit/>
          </a:bodyPr>
          <a:lstStyle/>
          <a:p>
            <a:pPr algn="ctr"/>
            <a:r>
              <a:rPr lang="en-IE" sz="2800" dirty="0"/>
              <a:t>However, in setter methods, </a:t>
            </a:r>
            <a:r>
              <a:rPr lang="en-IE" sz="2800" b="1" dirty="0"/>
              <a:t>you </a:t>
            </a:r>
            <a:r>
              <a:rPr lang="en-IE" sz="2800" b="1" u="sng" dirty="0"/>
              <a:t>typically</a:t>
            </a:r>
            <a:r>
              <a:rPr lang="en-IE" sz="2800" b="1" dirty="0"/>
              <a:t> do not update the field’s value if invalid data was entered </a:t>
            </a:r>
            <a:br>
              <a:rPr lang="en-IE" sz="2800" b="1" dirty="0"/>
            </a:br>
            <a:r>
              <a:rPr lang="en-IE" sz="2800" dirty="0"/>
              <a:t>(no “else” branch).</a:t>
            </a:r>
          </a:p>
        </p:txBody>
      </p:sp>
    </p:spTree>
    <p:custDataLst>
      <p:tags r:id="rId1"/>
    </p:custDataLst>
    <p:extLst>
      <p:ext uri="{BB962C8B-B14F-4D97-AF65-F5344CB8AC3E}">
        <p14:creationId xmlns:p14="http://schemas.microsoft.com/office/powerpoint/2010/main" val="382623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a:t>Summary - Encapsulation (data hiding)</a:t>
            </a:r>
          </a:p>
        </p:txBody>
      </p:sp>
      <p:sp>
        <p:nvSpPr>
          <p:cNvPr id="5" name="Content Placeholder 4"/>
          <p:cNvSpPr>
            <a:spLocks noGrp="1"/>
          </p:cNvSpPr>
          <p:nvPr>
            <p:ph sz="half" idx="1"/>
          </p:nvPr>
        </p:nvSpPr>
        <p:spPr>
          <a:xfrm>
            <a:off x="457200" y="1600200"/>
            <a:ext cx="4038600" cy="5029200"/>
          </a:xfrm>
        </p:spPr>
        <p:txBody>
          <a:bodyPr>
            <a:normAutofit fontScale="92500" lnSpcReduction="10000"/>
          </a:bodyPr>
          <a:lstStyle/>
          <a:p>
            <a:r>
              <a:rPr lang="en-GB" dirty="0"/>
              <a:t>Hide fields</a:t>
            </a:r>
          </a:p>
          <a:p>
            <a:pPr lvl="1"/>
            <a:r>
              <a:rPr lang="en-GB" dirty="0"/>
              <a:t>Access them only through methods of the class </a:t>
            </a:r>
            <a:br>
              <a:rPr lang="en-GB" dirty="0"/>
            </a:br>
            <a:r>
              <a:rPr lang="en-GB" dirty="0"/>
              <a:t>e.g. </a:t>
            </a:r>
            <a:r>
              <a:rPr lang="en-GB" b="1" dirty="0"/>
              <a:t>get</a:t>
            </a:r>
            <a:r>
              <a:rPr lang="en-GB" dirty="0"/>
              <a:t>ters &amp; </a:t>
            </a:r>
            <a:r>
              <a:rPr lang="en-GB" b="1" dirty="0"/>
              <a:t>set</a:t>
            </a:r>
            <a:r>
              <a:rPr lang="en-GB" dirty="0"/>
              <a:t>ters</a:t>
            </a:r>
          </a:p>
          <a:p>
            <a:r>
              <a:rPr lang="en-GB" dirty="0"/>
              <a:t>Make the</a:t>
            </a:r>
          </a:p>
          <a:p>
            <a:pPr lvl="1"/>
            <a:r>
              <a:rPr lang="en-GB" b="1" dirty="0"/>
              <a:t>class</a:t>
            </a:r>
            <a:r>
              <a:rPr lang="en-GB" dirty="0"/>
              <a:t> </a:t>
            </a:r>
            <a:r>
              <a:rPr lang="en-GB" b="1" dirty="0"/>
              <a:t>public </a:t>
            </a:r>
          </a:p>
          <a:p>
            <a:pPr lvl="1"/>
            <a:r>
              <a:rPr lang="en-GB" dirty="0"/>
              <a:t>and the </a:t>
            </a:r>
            <a:r>
              <a:rPr lang="en-GB" b="1" dirty="0"/>
              <a:t>fields</a:t>
            </a:r>
            <a:r>
              <a:rPr lang="en-GB" dirty="0"/>
              <a:t> </a:t>
            </a:r>
            <a:r>
              <a:rPr lang="en-GB" b="1" dirty="0"/>
              <a:t>private</a:t>
            </a:r>
          </a:p>
          <a:p>
            <a:r>
              <a:rPr lang="en-GB" dirty="0"/>
              <a:t>4 Access Levels </a:t>
            </a:r>
            <a:br>
              <a:rPr lang="en-GB" dirty="0"/>
            </a:br>
            <a:r>
              <a:rPr lang="en-GB" dirty="0"/>
              <a:t>(2 for processing)</a:t>
            </a:r>
          </a:p>
          <a:p>
            <a:pPr lvl="1"/>
            <a:r>
              <a:rPr lang="en-GB" dirty="0"/>
              <a:t>package</a:t>
            </a:r>
          </a:p>
          <a:p>
            <a:pPr lvl="1"/>
            <a:r>
              <a:rPr lang="en-GB" b="1" dirty="0"/>
              <a:t>private</a:t>
            </a:r>
          </a:p>
          <a:p>
            <a:pPr lvl="1"/>
            <a:r>
              <a:rPr lang="en-GB" b="1" dirty="0"/>
              <a:t>public</a:t>
            </a:r>
          </a:p>
          <a:p>
            <a:pPr lvl="1"/>
            <a:r>
              <a:rPr lang="en-GB" dirty="0"/>
              <a:t>Protected</a:t>
            </a:r>
          </a:p>
        </p:txBody>
      </p:sp>
      <p:sp>
        <p:nvSpPr>
          <p:cNvPr id="6" name="Content Placeholder 5"/>
          <p:cNvSpPr>
            <a:spLocks noGrp="1"/>
          </p:cNvSpPr>
          <p:nvPr>
            <p:ph sz="half" idx="2"/>
          </p:nvPr>
        </p:nvSpPr>
        <p:spPr>
          <a:xfrm>
            <a:off x="4648200" y="1600200"/>
            <a:ext cx="4419600" cy="5029200"/>
          </a:xfrm>
        </p:spPr>
        <p:txBody>
          <a:bodyPr>
            <a:normAutofit fontScale="92500" lnSpcReduction="10000"/>
          </a:bodyPr>
          <a:lstStyle/>
          <a:p>
            <a:r>
              <a:rPr lang="en-GB" dirty="0"/>
              <a:t>Accessors</a:t>
            </a:r>
          </a:p>
          <a:p>
            <a:pPr lvl="1"/>
            <a:r>
              <a:rPr lang="en-GB" b="1" dirty="0"/>
              <a:t>get</a:t>
            </a:r>
          </a:p>
          <a:p>
            <a:r>
              <a:rPr lang="en-GB" dirty="0" err="1"/>
              <a:t>Mutators</a:t>
            </a:r>
            <a:endParaRPr lang="en-GB" dirty="0"/>
          </a:p>
          <a:p>
            <a:pPr lvl="1"/>
            <a:r>
              <a:rPr lang="en-GB" b="1" dirty="0"/>
              <a:t>set</a:t>
            </a:r>
          </a:p>
          <a:p>
            <a:r>
              <a:rPr lang="en-GB" dirty="0"/>
              <a:t>Write a getter &amp; setter for each each field</a:t>
            </a:r>
          </a:p>
          <a:p>
            <a:r>
              <a:rPr lang="en-GB" b="1" dirty="0"/>
              <a:t>Validation</a:t>
            </a:r>
          </a:p>
          <a:p>
            <a:pPr lvl="1"/>
            <a:r>
              <a:rPr lang="en-GB" dirty="0"/>
              <a:t>Test min / max values</a:t>
            </a:r>
          </a:p>
          <a:p>
            <a:pPr lvl="1"/>
            <a:r>
              <a:rPr lang="en-GB" dirty="0"/>
              <a:t>in </a:t>
            </a:r>
            <a:r>
              <a:rPr lang="en-GB" b="1" dirty="0"/>
              <a:t>constructor</a:t>
            </a:r>
          </a:p>
          <a:p>
            <a:pPr lvl="2"/>
            <a:r>
              <a:rPr lang="en-GB" dirty="0"/>
              <a:t>Apply default if value fails</a:t>
            </a:r>
          </a:p>
          <a:p>
            <a:pPr lvl="1"/>
            <a:r>
              <a:rPr lang="en-GB"/>
              <a:t>in </a:t>
            </a:r>
            <a:r>
              <a:rPr lang="en-GB" b="1" dirty="0"/>
              <a:t>setter</a:t>
            </a:r>
          </a:p>
          <a:p>
            <a:pPr lvl="2"/>
            <a:r>
              <a:rPr lang="en-GB" dirty="0"/>
              <a:t>Ignore the update if value fails</a:t>
            </a:r>
          </a:p>
        </p:txBody>
      </p:sp>
    </p:spTree>
    <p:extLst>
      <p:ext uri="{BB962C8B-B14F-4D97-AF65-F5344CB8AC3E}">
        <p14:creationId xmlns:p14="http://schemas.microsoft.com/office/powerpoint/2010/main" val="1848914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 continued</a:t>
            </a:r>
          </a:p>
        </p:txBody>
      </p:sp>
      <p:sp>
        <p:nvSpPr>
          <p:cNvPr id="3" name="Content Placeholder 2"/>
          <p:cNvSpPr>
            <a:spLocks noGrp="1"/>
          </p:cNvSpPr>
          <p:nvPr>
            <p:ph idx="1"/>
          </p:nvPr>
        </p:nvSpPr>
        <p:spPr/>
        <p:txBody>
          <a:bodyPr/>
          <a:lstStyle/>
          <a:p>
            <a:pPr marL="0" indent="0">
              <a:buNone/>
            </a:pPr>
            <a:r>
              <a:rPr lang="en-GB" dirty="0"/>
              <a:t>Encapsulation </a:t>
            </a:r>
            <a:r>
              <a:rPr lang="mr-IN" dirty="0"/>
              <a:t>–</a:t>
            </a:r>
            <a:r>
              <a:rPr lang="en-GB" dirty="0"/>
              <a:t> Steps</a:t>
            </a:r>
          </a:p>
          <a:p>
            <a:pPr marL="514350" indent="-514350">
              <a:buFont typeface="+mj-lt"/>
              <a:buAutoNum type="arabicPeriod"/>
            </a:pPr>
            <a:r>
              <a:rPr lang="en-GB" dirty="0"/>
              <a:t>Wrap Fields &amp; Methods in single file</a:t>
            </a:r>
          </a:p>
          <a:p>
            <a:pPr marL="514350" indent="-514350">
              <a:buFont typeface="+mj-lt"/>
              <a:buAutoNum type="arabicPeriod"/>
            </a:pPr>
            <a:r>
              <a:rPr lang="en-GB" dirty="0"/>
              <a:t>Hide the fields from other classes using private</a:t>
            </a:r>
          </a:p>
          <a:p>
            <a:pPr marL="514350" indent="-514350">
              <a:buFont typeface="+mj-lt"/>
              <a:buAutoNum type="arabicPeriod"/>
            </a:pPr>
            <a:r>
              <a:rPr lang="en-GB" dirty="0"/>
              <a:t>Access only through getter &amp; setters</a:t>
            </a:r>
          </a:p>
          <a:p>
            <a:pPr marL="514350" indent="-514350">
              <a:buFont typeface="+mj-lt"/>
              <a:buAutoNum type="arabicPeriod"/>
            </a:pPr>
            <a:r>
              <a:rPr lang="en-GB" dirty="0"/>
              <a:t>Apply validation in constructors &amp; setters</a:t>
            </a:r>
          </a:p>
          <a:p>
            <a:endParaRPr lang="en-GB" dirty="0"/>
          </a:p>
        </p:txBody>
      </p:sp>
    </p:spTree>
    <p:extLst>
      <p:ext uri="{BB962C8B-B14F-4D97-AF65-F5344CB8AC3E}">
        <p14:creationId xmlns:p14="http://schemas.microsoft.com/office/powerpoint/2010/main" val="349262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CAVEAT…</a:t>
            </a:r>
          </a:p>
        </p:txBody>
      </p:sp>
      <p:sp>
        <p:nvSpPr>
          <p:cNvPr id="3" name="Content Placeholder 2"/>
          <p:cNvSpPr>
            <a:spLocks noGrp="1"/>
          </p:cNvSpPr>
          <p:nvPr>
            <p:ph idx="1"/>
          </p:nvPr>
        </p:nvSpPr>
        <p:spPr/>
        <p:txBody>
          <a:bodyPr/>
          <a:lstStyle/>
          <a:p>
            <a:r>
              <a:rPr lang="en-GB" dirty="0"/>
              <a:t>Processing PDE is not a software development environment.</a:t>
            </a:r>
          </a:p>
          <a:p>
            <a:r>
              <a:rPr lang="en-GB" dirty="0"/>
              <a:t>Therefore, it doesn’t follow the strict rules of encapsulation…it allows you to directly access a private field.</a:t>
            </a:r>
          </a:p>
          <a:p>
            <a:r>
              <a:rPr lang="en-GB" dirty="0"/>
              <a:t>This WILL NOT happen in a proper development environment i.e. IntelliJ, which we will be using after Christmas.   </a:t>
            </a:r>
          </a:p>
        </p:txBody>
      </p:sp>
    </p:spTree>
    <p:extLst>
      <p:ext uri="{BB962C8B-B14F-4D97-AF65-F5344CB8AC3E}">
        <p14:creationId xmlns:p14="http://schemas.microsoft.com/office/powerpoint/2010/main" val="24884525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3074" name="Picture 2" descr="Image result for ques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057400"/>
            <a:ext cx="4343400" cy="3509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503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References</a:t>
            </a:r>
          </a:p>
        </p:txBody>
      </p:sp>
      <p:sp>
        <p:nvSpPr>
          <p:cNvPr id="3" name="Content Placeholder 2"/>
          <p:cNvSpPr>
            <a:spLocks noGrp="1"/>
          </p:cNvSpPr>
          <p:nvPr>
            <p:ph idx="1"/>
          </p:nvPr>
        </p:nvSpPr>
        <p:spPr/>
        <p:txBody>
          <a:bodyPr/>
          <a:lstStyle/>
          <a:p>
            <a:r>
              <a:rPr lang="en-IE" dirty="0" err="1"/>
              <a:t>Reas</a:t>
            </a:r>
            <a:r>
              <a:rPr lang="en-IE" dirty="0"/>
              <a:t>, C. &amp; Fry, B. (2014) Processing – A Programming Handbook for Visual Designers and Artists, 2</a:t>
            </a:r>
            <a:r>
              <a:rPr lang="en-IE" baseline="30000" dirty="0"/>
              <a:t>nd</a:t>
            </a:r>
            <a:r>
              <a:rPr lang="en-IE" dirty="0"/>
              <a:t> Edition, MIT Press, London.</a:t>
            </a:r>
          </a:p>
          <a:p>
            <a:endParaRPr lang="en-IE" dirty="0"/>
          </a:p>
        </p:txBody>
      </p:sp>
    </p:spTree>
    <p:extLst>
      <p:ext uri="{BB962C8B-B14F-4D97-AF65-F5344CB8AC3E}">
        <p14:creationId xmlns:p14="http://schemas.microsoft.com/office/powerpoint/2010/main" val="24550113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
</p:tagLst>
</file>

<file path=ppt/tags/tag2.xml><?xml version="1.0" encoding="utf-8"?>
<p:tagLst xmlns:a="http://schemas.openxmlformats.org/drawingml/2006/main" xmlns:r="http://schemas.openxmlformats.org/officeDocument/2006/relationships" xmlns:p="http://schemas.openxmlformats.org/presentationml/2006/main">
  <p:tag name="TIMING" val="|4.4|9.5|6|7.8|19.6"/>
</p:tagLst>
</file>

<file path=ppt/tags/tag3.xml><?xml version="1.0" encoding="utf-8"?>
<p:tagLst xmlns:a="http://schemas.openxmlformats.org/drawingml/2006/main" xmlns:r="http://schemas.openxmlformats.org/officeDocument/2006/relationships" xmlns:p="http://schemas.openxmlformats.org/presentationml/2006/main">
  <p:tag name="TIMING" val="|12.9"/>
</p:tagLst>
</file>

<file path=ppt/tags/tag4.xml><?xml version="1.0" encoding="utf-8"?>
<p:tagLst xmlns:a="http://schemas.openxmlformats.org/drawingml/2006/main" xmlns:r="http://schemas.openxmlformats.org/officeDocument/2006/relationships" xmlns:p="http://schemas.openxmlformats.org/presentationml/2006/main">
  <p:tag name="TIMING" val="|1.5|14.4"/>
</p:tagLst>
</file>

<file path=ppt/tags/tag5.xml><?xml version="1.0" encoding="utf-8"?>
<p:tagLst xmlns:a="http://schemas.openxmlformats.org/drawingml/2006/main" xmlns:r="http://schemas.openxmlformats.org/officeDocument/2006/relationships" xmlns:p="http://schemas.openxmlformats.org/presentationml/2006/main">
  <p:tag name="TIMING" val="|0.4"/>
</p:tagLst>
</file>

<file path=ppt/tags/tag6.xml><?xml version="1.0" encoding="utf-8"?>
<p:tagLst xmlns:a="http://schemas.openxmlformats.org/drawingml/2006/main" xmlns:r="http://schemas.openxmlformats.org/officeDocument/2006/relationships" xmlns:p="http://schemas.openxmlformats.org/presentationml/2006/main">
  <p:tag name="TIMING" val="|0.9|12.9|2.5|10.4|5.2"/>
</p:tagLst>
</file>

<file path=ppt/tags/tag7.xml><?xml version="1.0" encoding="utf-8"?>
<p:tagLst xmlns:a="http://schemas.openxmlformats.org/drawingml/2006/main" xmlns:r="http://schemas.openxmlformats.org/officeDocument/2006/relationships" xmlns:p="http://schemas.openxmlformats.org/presentationml/2006/main">
  <p:tag name="TIMING" val="|0.9|44.5|18.4"/>
</p:tagLst>
</file>

<file path=ppt/tags/tag8.xml><?xml version="1.0" encoding="utf-8"?>
<p:tagLst xmlns:a="http://schemas.openxmlformats.org/drawingml/2006/main" xmlns:r="http://schemas.openxmlformats.org/officeDocument/2006/relationships" xmlns:p="http://schemas.openxmlformats.org/presentationml/2006/main">
  <p:tag name="TIMING" val="|0.6|2.6"/>
</p:tagLst>
</file>

<file path=ppt/tags/tag9.xml><?xml version="1.0" encoding="utf-8"?>
<p:tagLst xmlns:a="http://schemas.openxmlformats.org/drawingml/2006/main" xmlns:r="http://schemas.openxmlformats.org/officeDocument/2006/relationships" xmlns:p="http://schemas.openxmlformats.org/presentationml/2006/main">
  <p:tag name="TIMING" val="|9.7"/>
</p:tagLst>
</file>

<file path=ppt/tags/tag10.xml><?xml version="1.0" encoding="utf-8"?>
<p:tagLst xmlns:a="http://schemas.openxmlformats.org/drawingml/2006/main" xmlns:r="http://schemas.openxmlformats.org/officeDocument/2006/relationships" xmlns:p="http://schemas.openxmlformats.org/presentationml/2006/main">
  <p:tag name="TIMING" val="|1.1|2.5"/>
</p:tagLst>
</file>

<file path=ppt/tags/tag11.xml><?xml version="1.0" encoding="utf-8"?>
<p:tagLst xmlns:a="http://schemas.openxmlformats.org/drawingml/2006/main" xmlns:r="http://schemas.openxmlformats.org/officeDocument/2006/relationships" xmlns:p="http://schemas.openxmlformats.org/presentationml/2006/main">
  <p:tag name="TIMING" val="|14.5"/>
</p:tagLst>
</file>

<file path=ppt/tags/tag12.xml><?xml version="1.0" encoding="utf-8"?>
<p:tagLst xmlns:a="http://schemas.openxmlformats.org/drawingml/2006/main" xmlns:r="http://schemas.openxmlformats.org/officeDocument/2006/relationships" xmlns:p="http://schemas.openxmlformats.org/presentationml/2006/main">
  <p:tag name="TIMING" val="|14|4.4|3.4|2.3|9.1|18.9"/>
</p:tagLst>
</file>

<file path=ppt/tags/tag13.xml><?xml version="1.0" encoding="utf-8"?>
<p:tagLst xmlns:a="http://schemas.openxmlformats.org/drawingml/2006/main" xmlns:r="http://schemas.openxmlformats.org/officeDocument/2006/relationships" xmlns:p="http://schemas.openxmlformats.org/presentationml/2006/main">
  <p:tag name="TIMING" val="|4.7|15|19.1|6|50.9|1.8"/>
</p:tagLst>
</file>

<file path=ppt/tags/tag14.xml><?xml version="1.0" encoding="utf-8"?>
<p:tagLst xmlns:a="http://schemas.openxmlformats.org/drawingml/2006/main" xmlns:r="http://schemas.openxmlformats.org/officeDocument/2006/relationships" xmlns:p="http://schemas.openxmlformats.org/presentationml/2006/main">
  <p:tag name="TIMING" val="|0.8|2.5"/>
</p:tagLst>
</file>

<file path=ppt/tags/tag15.xml><?xml version="1.0" encoding="utf-8"?>
<p:tagLst xmlns:a="http://schemas.openxmlformats.org/drawingml/2006/main" xmlns:r="http://schemas.openxmlformats.org/officeDocument/2006/relationships" xmlns:p="http://schemas.openxmlformats.org/presentationml/2006/main">
  <p:tag name="TIMING" val="|59.7"/>
</p:tagLst>
</file>

<file path=ppt/tags/tag16.xml><?xml version="1.0" encoding="utf-8"?>
<p:tagLst xmlns:a="http://schemas.openxmlformats.org/drawingml/2006/main" xmlns:r="http://schemas.openxmlformats.org/officeDocument/2006/relationships" xmlns:p="http://schemas.openxmlformats.org/presentationml/2006/main">
  <p:tag name="TIMING" val="|53|4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3396</TotalTime>
  <Words>2972</Words>
  <Application>Microsoft Macintosh PowerPoint</Application>
  <PresentationFormat>On-screen Show (4:3)</PresentationFormat>
  <Paragraphs>569</Paragraphs>
  <Slides>45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Courier New</vt:lpstr>
      <vt:lpstr>Office Theme</vt:lpstr>
      <vt:lpstr>Validation</vt:lpstr>
      <vt:lpstr>Topics list</vt:lpstr>
      <vt:lpstr>Class Diagram for Spot Version 2</vt:lpstr>
      <vt:lpstr>Spot Class  – Version 2</vt:lpstr>
      <vt:lpstr>Spot Class  – Version 2</vt:lpstr>
      <vt:lpstr>Spot Class –  Version 7.0</vt:lpstr>
      <vt:lpstr>Topics list</vt:lpstr>
      <vt:lpstr>Our Our design smells!</vt:lpstr>
      <vt:lpstr>Our Our design smells!</vt:lpstr>
      <vt:lpstr>Topics list</vt:lpstr>
      <vt:lpstr>Encapsulation</vt:lpstr>
      <vt:lpstr>Encapsulation in Java – steps 1-3</vt:lpstr>
      <vt:lpstr>Topics list</vt:lpstr>
      <vt:lpstr>Refactoring Spot: Access Modifiers</vt:lpstr>
      <vt:lpstr>Refactoring Spot: Access Modifiers</vt:lpstr>
      <vt:lpstr>Refactoring Spot 7.0: Access Modifiers</vt:lpstr>
      <vt:lpstr>Refactoring Spot 7.0: Access Modifiers</vt:lpstr>
      <vt:lpstr>Refactoring Spot 7.0: Access Modifiers</vt:lpstr>
      <vt:lpstr>Refactoring Spot 7.0: Access Modifiers</vt:lpstr>
      <vt:lpstr>Refactoring Spot 7.0: Access Modifiers</vt:lpstr>
      <vt:lpstr>Refactoring Spot 7.0: Access Modifiers</vt:lpstr>
      <vt:lpstr>Topics list</vt:lpstr>
      <vt:lpstr>Refactoring Spot 7.0: Setters and Getters</vt:lpstr>
      <vt:lpstr>Refactoring Spot 7.0: Setters and Getters</vt:lpstr>
      <vt:lpstr>Refactoring Spot 7.0: Setters and Getters</vt:lpstr>
      <vt:lpstr>Getters (Accessor Methods)</vt:lpstr>
      <vt:lpstr>Getters</vt:lpstr>
      <vt:lpstr>Setters (Mutator methods)</vt:lpstr>
      <vt:lpstr>Setters</vt:lpstr>
      <vt:lpstr>Getters/Setters</vt:lpstr>
      <vt:lpstr>Refactoring Spot 7.0: Getters</vt:lpstr>
      <vt:lpstr>Refactoring Spot 7.0: Setters</vt:lpstr>
      <vt:lpstr>Spot Class – Version 7.0</vt:lpstr>
      <vt:lpstr>Refactoring Spot 7.0 – getters and setters</vt:lpstr>
      <vt:lpstr>Review – Encapsulation steps</vt:lpstr>
      <vt:lpstr>But Our Design Still Smells!</vt:lpstr>
      <vt:lpstr>Topics list</vt:lpstr>
      <vt:lpstr>Improving the constructor</vt:lpstr>
      <vt:lpstr>Improving the constructor</vt:lpstr>
      <vt:lpstr>Improving the setter / mutator</vt:lpstr>
      <vt:lpstr>Summary - Encapsulation (data hiding)</vt:lpstr>
      <vt:lpstr>Summary continued</vt:lpstr>
      <vt:lpstr>CAVEAT…</vt:lpstr>
      <vt:lpstr>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 in classes</dc:title>
  <dc:creator>Siobhan Drohan</dc:creator>
  <cp:lastModifiedBy>Mairead Meagher</cp:lastModifiedBy>
  <cp:revision>354</cp:revision>
  <dcterms:created xsi:type="dcterms:W3CDTF">2006-08-16T00:00:00Z</dcterms:created>
  <dcterms:modified xsi:type="dcterms:W3CDTF">2021-09-16T23:33:11Z</dcterms:modified>
</cp:coreProperties>
</file>